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Default Extension="jpeg" ContentType="image/jpeg"/>
  <Default Extension="png" ContentType="image/png"/>
  <Override PartName="/ppt/presentation.xml" ContentType="application/vnd.openxmlformats-officedocument.presentationml.presentation.main+xml"/>
  <Override PartName="/ppt/slideMasters/slideMaster.xml" ContentType="application/vnd.openxmlformats-officedocument.presentationml.slideMaster+xml"/>
  <Override PartName="/ppt/slideLayouts/slideLayout.xml" ContentType="application/vnd.openxmlformats-officedocument.presentationml.slideLayout+xml"/>
  <Override PartName="/ppt/theme/theme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</Types>
</file>

<file path=_rels/.rels>&#65279;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MasterIdLst>
    <p:sldMasterId id="2147483648" r:id="rId1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</p:sldIdLst>
  <p:sldSz cx="18288000" cy="10287000"/>
  <p:notesSz cx="6858000" cy="9144000"/>
</p:presentation>
</file>

<file path=ppt/presProps.xml><?xml version="1.0" encoding="utf-8"?>
<p:presentationPr xmlns:p="http://schemas.openxmlformats.org/presentationml/2006/main" xmlns:a="http://schemas.openxmlformats.org/drawingml/2006/main" xmlns:r="http://schemas.openxmlformats.org/officeDocument/2006/relationships">
</p:presentationPr>
</file>

<file path=ppt/tableStyles.xml><?xml version="1.0" encoding="utf-8"?>
<a:tblStyleLst xmlns:a="http://schemas.openxmlformats.org/drawingml/2006/main" def="{5C22544A-7EE6-4342-B048-85BDC9FD1C3A}">
</a:tblStyleLst>
</file>

<file path=ppt/_rels/presentation.xml.rels>&#65279;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.xml"/><Relationship Id="rId2" Type="http://schemas.openxmlformats.org/officeDocument/2006/relationships/theme" Target="theme/theme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/Relationships>
</file>

<file path=ppt/slideLayouts/_rels/slideLayout.xml.rels>&#65279;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.xml"/></Relationships>
</file>

<file path=ppt/slideLayouts/slideLayout.xml><?xml version="1.0" encoding="utf-8"?>
<p:sldLayout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.xml.rels>&#65279;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.xml"/><Relationship Id="rId2" Type="http://schemas.openxmlformats.org/officeDocument/2006/relationships/theme" Target="../theme/theme.xml"/></Relationships>
</file>

<file path=ppt/slideMasters/slideMaster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&#65279;<?xml version="1.0" encoding="UTF-8" standalone="yes"?>
<Relationships xmlns="http://schemas.openxmlformats.org/package/2006/relationships"><Relationship Id="rPictId0" Type="http://schemas.openxmlformats.org/officeDocument/2006/relationships/image" Target="../media/image1.jpeg"/><Relationship Id="rId1" Type="http://schemas.openxmlformats.org/officeDocument/2006/relationships/slideLayout" Target="../slideLayouts/slideLayout.xml"/></Relationships>
</file>

<file path=ppt/slides/_rels/slide2.xml.rels>&#65279;<?xml version="1.0" encoding="UTF-8" standalone="yes"?>
<Relationships xmlns="http://schemas.openxmlformats.org/package/2006/relationships"><Relationship Id="rPictId0" Type="http://schemas.openxmlformats.org/officeDocument/2006/relationships/image" Target="../media/image2.jpeg"/><Relationship Id="rPictId1" Type="http://schemas.openxmlformats.org/officeDocument/2006/relationships/image" Target="../media/image3.jpeg"/><Relationship Id="rId1" Type="http://schemas.openxmlformats.org/officeDocument/2006/relationships/slideLayout" Target="../slideLayouts/slideLayout.xml"/></Relationships>
</file>

<file path=ppt/slides/_rels/slide3.xml.rels>&#65279;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.xml"/></Relationships>
</file>

<file path=ppt/slides/_rels/slide4.xml.rels>&#65279;<?xml version="1.0" encoding="UTF-8" standalone="yes"?>
<Relationships xmlns="http://schemas.openxmlformats.org/package/2006/relationships"><Relationship Id="rPictId0" Type="http://schemas.openxmlformats.org/officeDocument/2006/relationships/image" Target="../media/image4.jpeg"/><Relationship Id="rId1" Type="http://schemas.openxmlformats.org/officeDocument/2006/relationships/slideLayout" Target="../slideLayouts/slideLayout.xml"/></Relationships>
</file>

<file path=ppt/slides/_rels/slide5.xml.rels>&#65279;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.xml"/></Relationships>
</file>

<file path=ppt/slides/_rels/slide6.xml.rels>&#65279;<?xml version="1.0" encoding="UTF-8" standalone="yes"?>
<Relationships xmlns="http://schemas.openxmlformats.org/package/2006/relationships"><Relationship Id="rPictId0" Type="http://schemas.openxmlformats.org/officeDocument/2006/relationships/image" Target="../media/image5.jpeg"/><Relationship Id="rPictId1" Type="http://schemas.openxmlformats.org/officeDocument/2006/relationships/image" Target="../media/image6.jpeg"/><Relationship Id="rPictId2" Type="http://schemas.openxmlformats.org/officeDocument/2006/relationships/image" Target="../media/image7.jpeg"/><Relationship Id="rId1" Type="http://schemas.openxmlformats.org/officeDocument/2006/relationships/slideLayout" Target="../slideLayouts/slideLayout.xml"/></Relationships>
</file>

<file path=ppt/slides/_rels/slide7.xml.rels>&#65279;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.xml"/></Relationships>
</file>

<file path=ppt/slides/_rels/slide8.xml.rels>&#65279;<?xml version="1.0" encoding="UTF-8" standalone="yes"?>
<Relationships xmlns="http://schemas.openxmlformats.org/package/2006/relationships"><Relationship Id="rPictId0" Type="http://schemas.openxmlformats.org/officeDocument/2006/relationships/image" Target="../media/image8.jpeg"/><Relationship Id="rId1" Type="http://schemas.openxmlformats.org/officeDocument/2006/relationships/slideLayout" Target="../slideLayouts/slideLayout.xml"/></Relationships>
</file>

<file path=ppt/slides/_rels/slide9.xml.rels>&#65279;<?xml version="1.0" encoding="UTF-8" standalone="yes"?>
<Relationships xmlns="http://schemas.openxmlformats.org/package/2006/relationships"><Relationship Id="rPictId0" Type="http://schemas.openxmlformats.org/officeDocument/2006/relationships/image" Target="../media/image9.jpeg"/><Relationship Id="rPictId1" Type="http://schemas.openxmlformats.org/officeDocument/2006/relationships/image" Target="../media/image10.jpeg"/><Relationship Id="rId1" Type="http://schemas.openxmlformats.org/officeDocument/2006/relationships/slideLayout" Target="../slideLayouts/slideLayout.xml"/></Relationships>
</file>

<file path=ppt/slides/_rels/slide10.xml.rels>&#65279;<?xml version="1.0" encoding="UTF-8" standalone="yes"?>
<Relationships xmlns="http://schemas.openxmlformats.org/package/2006/relationships"><Relationship Id="rPictId0" Type="http://schemas.openxmlformats.org/officeDocument/2006/relationships/image" Target="../media/image11.jpeg"/><Relationship Id="rPictId1" Type="http://schemas.openxmlformats.org/officeDocument/2006/relationships/image" Target="../media/image12.jpeg"/><Relationship Id="rId1" Type="http://schemas.openxmlformats.org/officeDocument/2006/relationships/slideLayout" Target="../slideLayouts/slideLayout.xml"/></Relationships>
</file>

<file path=ppt/slides/_rels/slide11.xml.rels>&#65279;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.xml"/></Relationships>
</file>

<file path=ppt/slides/_rels/slide12.xml.rels>&#65279;<?xml version="1.0" encoding="UTF-8" standalone="yes"?>
<Relationships xmlns="http://schemas.openxmlformats.org/package/2006/relationships"><Relationship Id="rPictId0" Type="http://schemas.openxmlformats.org/officeDocument/2006/relationships/image" Target="../media/image13.jpeg"/><Relationship Id="rPictId1" Type="http://schemas.openxmlformats.org/officeDocument/2006/relationships/image" Target="../media/image14.jpeg"/><Relationship Id="rPictId2" Type="http://schemas.openxmlformats.org/officeDocument/2006/relationships/image" Target="../media/image15.jpeg"/><Relationship Id="rId1" Type="http://schemas.openxmlformats.org/officeDocument/2006/relationships/slideLayout" Target="../slideLayouts/slideLayout.xml"/></Relationships>
</file>

<file path=ppt/slides/_rels/slide13.xml.rels>&#65279;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.xml"/></Relationships>
</file>

<file path=ppt/slides/_rels/slide14.xml.rels>&#65279;<?xml version="1.0" encoding="UTF-8" standalone="yes"?>
<Relationships xmlns="http://schemas.openxmlformats.org/package/2006/relationships"><Relationship Id="rPictId0" Type="http://schemas.openxmlformats.org/officeDocument/2006/relationships/image" Target="../media/image16.jpeg"/><Relationship Id="rPictId1" Type="http://schemas.openxmlformats.org/officeDocument/2006/relationships/image" Target="../media/image17.jpeg"/><Relationship Id="rPictId2" Type="http://schemas.openxmlformats.org/officeDocument/2006/relationships/image" Target="../media/image18.jpeg"/><Relationship Id="rPictId3" Type="http://schemas.openxmlformats.org/officeDocument/2006/relationships/image" Target="../media/image19.jpeg"/><Relationship Id="rId1" Type="http://schemas.openxmlformats.org/officeDocument/2006/relationships/slideLayout" Target="../slideLayouts/slideLayout.xml"/></Relationships>
</file>

<file path=ppt/slides/_rels/slide15.xml.rels>&#65279;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.xml"/></Relationships>
</file>

<file path=ppt/slides/_rels/slide16.xml.rels>&#65279;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.xml"/></Relationships>
</file>

<file path=ppt/slides/_rels/slide17.xml.rels>&#65279;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.xml"/></Relationships>
</file>

<file path=ppt/slides/_rels/slide18.xml.rels>&#65279;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.xml"/></Relationships>
</file>

<file path=ppt/slides/_rels/slide19.xml.rels>&#65279;<?xml version="1.0" encoding="UTF-8" standalone="yes"?>
<Relationships xmlns="http://schemas.openxmlformats.org/package/2006/relationships"><Relationship Id="rPictId0" Type="http://schemas.openxmlformats.org/officeDocument/2006/relationships/image" Target="../media/image20.jpeg"/><Relationship Id="rId1" Type="http://schemas.openxmlformats.org/officeDocument/2006/relationships/slideLayout" Target="../slideLayouts/slideLayout.xml"/></Relationships>
</file>

<file path=ppt/slides/_rels/slide20.xml.rels>&#65279;<?xml version="1.0" encoding="UTF-8" standalone="yes"?>
<Relationships xmlns="http://schemas.openxmlformats.org/package/2006/relationships"><Relationship Id="rPictId0" Type="http://schemas.openxmlformats.org/officeDocument/2006/relationships/image" Target="../media/image21.jpeg"/><Relationship Id="rPictId1" Type="http://schemas.openxmlformats.org/officeDocument/2006/relationships/image" Target="../media/image22.jpeg"/><Relationship Id="rPictId2" Type="http://schemas.openxmlformats.org/officeDocument/2006/relationships/image" Target="../media/image23.jpeg"/><Relationship Id="rId1" Type="http://schemas.openxmlformats.org/officeDocument/2006/relationships/slideLayout" Target="../slideLayouts/slideLayout.xml"/><Relationship Id="rLinkId0" Type="http://schemas.openxmlformats.org/officeDocument/2006/relationships/hyperlink" Target="file:///C:/cdn-cgi/l/email-protection" TargetMode="Externa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"/>
          <p:cNvPicPr>
            <a:picLocks noChangeAspect="1"/>
          </p:cNvPicPr>
          <p:nvPr/>
        </p:nvPicPr>
        <p:blipFill>
          <a:blip r:embed="rPictId0"/>
          <a:stretch>
            <a:fillRect/>
          </a:stretch>
        </p:blipFill>
        <p:spPr>
          <a:xfrm>
            <a:off x="1043685" y="759257"/>
            <a:ext cx="810972" cy="810972"/>
          </a:xfrm>
          <a:prstGeom prst="rect">
            <a:avLst/>
          </a:prstGeom>
        </p:spPr>
      </p:pic>
      <p:sp>
        <p:nvSpPr>
          <p:cNvPr id="3" name=""/>
          <p:cNvSpPr/>
          <p:nvPr/>
        </p:nvSpPr>
        <p:spPr>
          <a:xfrm>
            <a:off x="1974539" y="947308"/>
            <a:ext cx="2569253" cy="507739"/>
          </a:xfrm>
          <a:prstGeom prst="rect">
            <a:avLst/>
          </a:prstGeom>
          <a:solidFill>
            <a:srgbClr val="F5EBE1"/>
          </a:solidFill>
        </p:spPr>
        <p:txBody>
          <a:bodyPr lIns="0" tIns="0" rIns="0" bIns="0">
            <a:noAutofit/>
          </a:bodyPr>
          <a:p>
            <a:pPr indent="0">
              <a:spcAft>
                <a:spcPts val="840"/>
              </a:spcAft>
            </a:pPr>
            <a:r>
              <a:rPr lang="en-US" sz="2300">
                <a:latin typeface="Sylfaen"/>
              </a:rPr>
              <a:t>Give For Society</a:t>
            </a:r>
          </a:p>
          <a:p>
            <a:pPr algn="just" indent="0"/>
            <a:r>
              <a:rPr lang="en-US" sz="1100" spc="200">
                <a:solidFill>
                  <a:srgbClr val="68686F"/>
                </a:solidFill>
                <a:latin typeface="Consolas"/>
              </a:rPr>
              <a:t>REG. 1255/2017    • HYDERABAD</a:t>
            </a:r>
          </a:p>
        </p:txBody>
      </p:sp>
      <p:sp>
        <p:nvSpPr>
          <p:cNvPr id="4" name=""/>
          <p:cNvSpPr/>
          <p:nvPr/>
        </p:nvSpPr>
        <p:spPr>
          <a:xfrm>
            <a:off x="1027230" y="3194523"/>
            <a:ext cx="7731264" cy="5131453"/>
          </a:xfrm>
          <a:prstGeom prst="rect">
            <a:avLst/>
          </a:prstGeom>
          <a:solidFill>
            <a:srgbClr val="F5EBE1"/>
          </a:solidFill>
        </p:spPr>
        <p:txBody>
          <a:bodyPr lIns="0" tIns="0" rIns="0" bIns="0">
            <a:noAutofit/>
          </a:bodyPr>
          <a:p>
            <a:pPr algn="just" indent="0">
              <a:spcAft>
                <a:spcPts val="2100"/>
              </a:spcAft>
            </a:pPr>
            <a:r>
              <a:rPr lang="en-US" sz="1800" spc="450">
                <a:solidFill>
                  <a:srgbClr val="78292E"/>
                </a:solidFill>
                <a:latin typeface="Sylfaen"/>
              </a:rPr>
              <a:t>- MENSTRUAL HYGIENE &amp; DIGNITY INITIATIVE</a:t>
            </a:r>
          </a:p>
          <a:p>
            <a:pPr indent="0">
              <a:spcAft>
                <a:spcPts val="1050"/>
              </a:spcAft>
            </a:pPr>
            <a:r>
              <a:rPr lang="en-US" sz="12900" spc="-100">
                <a:latin typeface="Sylfaen"/>
              </a:rPr>
              <a:t>Sthree</a:t>
            </a:r>
          </a:p>
          <a:p>
            <a:pPr indent="0">
              <a:spcAft>
                <a:spcPts val="3990"/>
              </a:spcAft>
            </a:pPr>
            <a:r>
              <a:rPr lang="en-US" i="1" sz="12400" spc="-200">
                <a:solidFill>
                  <a:srgbClr val="78292E"/>
                </a:solidFill>
                <a:latin typeface="Times New Roman"/>
              </a:rPr>
              <a:t>Swabhiman</a:t>
            </a:r>
          </a:p>
          <a:p>
            <a:pPr indent="0">
              <a:lnSpc>
                <a:spcPts val="3276"/>
              </a:lnSpc>
              <a:spcAft>
                <a:spcPts val="5670"/>
              </a:spcAft>
            </a:pPr>
            <a:r>
              <a:rPr lang="en-US" sz="2600">
                <a:solidFill>
                  <a:srgbClr val="3C3D41"/>
                </a:solidFill>
                <a:latin typeface="Sylfaen"/>
              </a:rPr>
              <a:t>Dignity, awareness, and safe infrastructure for </a:t>
            </a:r>
            <a:r>
              <a:rPr lang="en-US" sz="2600">
                <a:latin typeface="Sylfaen"/>
              </a:rPr>
              <a:t>1,23,000 adolescent girls </a:t>
            </a:r>
            <a:r>
              <a:rPr lang="en-US" sz="2600">
                <a:solidFill>
                  <a:srgbClr val="3C3D41"/>
                </a:solidFill>
                <a:latin typeface="Sylfaen"/>
              </a:rPr>
              <a:t>across 275 government residential institutions in Telangana.</a:t>
            </a:r>
          </a:p>
        </p:txBody>
      </p:sp>
      <p:sp>
        <p:nvSpPr>
          <p:cNvPr id="5" name=""/>
          <p:cNvSpPr/>
          <p:nvPr/>
        </p:nvSpPr>
        <p:spPr>
          <a:xfrm>
            <a:off x="1038984" y="9654089"/>
            <a:ext cx="4715389" cy="138688"/>
          </a:xfrm>
          <a:prstGeom prst="rect">
            <a:avLst/>
          </a:prstGeom>
          <a:solidFill>
            <a:srgbClr val="F5EBE1"/>
          </a:solidFill>
        </p:spPr>
        <p:txBody>
          <a:bodyPr lIns="0" tIns="0" rIns="0" bIns="0" wrap="none">
            <a:noAutofit/>
          </a:bodyPr>
          <a:p>
            <a:pPr indent="0">
              <a:spcBef>
                <a:spcPts val="5670"/>
              </a:spcBef>
            </a:pPr>
            <a:r>
              <a:rPr lang="en-US" sz="1100" spc="200">
                <a:solidFill>
                  <a:srgbClr val="68686F"/>
                </a:solidFill>
                <a:latin typeface="Consolas"/>
              </a:rPr>
              <a:t>★ TELANGANA GOVERNOR'S EXCELLENCE AWARD 2025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"/>
          <p:cNvPicPr>
            <a:picLocks noChangeAspect="1"/>
          </p:cNvPicPr>
          <p:nvPr/>
        </p:nvPicPr>
        <p:blipFill>
          <a:blip r:embed="rPictId0"/>
          <a:stretch>
            <a:fillRect/>
          </a:stretch>
        </p:blipFill>
        <p:spPr>
          <a:xfrm>
            <a:off x="2449369" y="2935952"/>
            <a:ext cx="4257014" cy="4233508"/>
          </a:xfrm>
          <a:prstGeom prst="rect">
            <a:avLst/>
          </a:prstGeom>
        </p:spPr>
      </p:pic>
      <p:pic>
        <p:nvPicPr>
          <p:cNvPr id="3" name=""/>
          <p:cNvPicPr>
            <a:picLocks noChangeAspect="1"/>
          </p:cNvPicPr>
          <p:nvPr/>
        </p:nvPicPr>
        <p:blipFill>
          <a:blip r:embed="rPictId1"/>
          <a:stretch>
            <a:fillRect/>
          </a:stretch>
        </p:blipFill>
        <p:spPr>
          <a:xfrm>
            <a:off x="3236834" y="7949873"/>
            <a:ext cx="580609" cy="580609"/>
          </a:xfrm>
          <a:prstGeom prst="rect">
            <a:avLst/>
          </a:prstGeom>
        </p:spPr>
      </p:pic>
      <p:sp>
        <p:nvSpPr>
          <p:cNvPr id="4" name=""/>
          <p:cNvSpPr/>
          <p:nvPr/>
        </p:nvSpPr>
        <p:spPr>
          <a:xfrm>
            <a:off x="5549867" y="973166"/>
            <a:ext cx="2552798" cy="371401"/>
          </a:xfrm>
          <a:prstGeom prst="rect">
            <a:avLst/>
          </a:prstGeom>
          <a:solidFill>
            <a:srgbClr val="F5EBE1"/>
          </a:solidFill>
        </p:spPr>
        <p:txBody>
          <a:bodyPr lIns="0" tIns="0" rIns="0" bIns="0">
            <a:noAutofit/>
          </a:bodyPr>
          <a:p>
            <a:pPr algn="r" indent="0">
              <a:lnSpc>
                <a:spcPts val="1869"/>
              </a:lnSpc>
            </a:pPr>
            <a:r>
              <a:rPr lang="en-US" sz="1100" spc="200">
                <a:solidFill>
                  <a:srgbClr val="68686F"/>
                </a:solidFill>
                <a:latin typeface="Consolas"/>
              </a:rPr>
              <a:t>CSR PARTNERSHIP PROPOSAL ACADEMIC YEAR 2026-27</a:t>
            </a:r>
          </a:p>
        </p:txBody>
      </p:sp>
      <p:sp>
        <p:nvSpPr>
          <p:cNvPr id="5" name=""/>
          <p:cNvSpPr/>
          <p:nvPr/>
        </p:nvSpPr>
        <p:spPr>
          <a:xfrm>
            <a:off x="4280520" y="7985133"/>
            <a:ext cx="1889917" cy="503037"/>
          </a:xfrm>
          <a:prstGeom prst="rect">
            <a:avLst/>
          </a:prstGeom>
        </p:spPr>
        <p:txBody>
          <a:bodyPr lIns="0" tIns="0" rIns="0" bIns="0">
            <a:noAutofit/>
          </a:bodyPr>
          <a:p>
            <a:pPr indent="0">
              <a:spcAft>
                <a:spcPts val="210"/>
              </a:spcAft>
            </a:pPr>
            <a:r>
              <a:rPr lang="en-US" sz="1000" spc="150">
                <a:solidFill>
                  <a:srgbClr val="68686F"/>
                </a:solidFill>
                <a:latin typeface="Consolas"/>
              </a:rPr>
              <a:t>IN PARTNERSHIP WITH</a:t>
            </a:r>
          </a:p>
          <a:p>
            <a:pPr indent="0">
              <a:spcAft>
                <a:spcPts val="210"/>
              </a:spcAft>
            </a:pPr>
            <a:r>
              <a:rPr lang="en-US" sz="1600">
                <a:latin typeface="Sylfaen"/>
              </a:rPr>
              <a:t>MJPTBCWREIS</a:t>
            </a:r>
          </a:p>
          <a:p>
            <a:pPr indent="0"/>
            <a:r>
              <a:rPr lang="en-US" sz="750" spc="200">
                <a:solidFill>
                  <a:srgbClr val="68686F"/>
                </a:solidFill>
                <a:latin typeface="Tahoma"/>
              </a:rPr>
              <a:t>GOVERNMENT OF TELANGANA</a:t>
            </a:r>
          </a:p>
        </p:txBody>
      </p:sp>
      <p:sp>
        <p:nvSpPr>
          <p:cNvPr id="6" name=""/>
          <p:cNvSpPr/>
          <p:nvPr/>
        </p:nvSpPr>
        <p:spPr>
          <a:xfrm>
            <a:off x="7893458" y="9658790"/>
            <a:ext cx="211557" cy="133987"/>
          </a:xfrm>
          <a:prstGeom prst="rect">
            <a:avLst/>
          </a:prstGeom>
          <a:solidFill>
            <a:srgbClr val="F5EBE1"/>
          </a:solidFill>
        </p:spPr>
        <p:txBody>
          <a:bodyPr lIns="0" tIns="0" rIns="0" bIns="0" wrap="none">
            <a:noAutofit/>
          </a:bodyPr>
          <a:p>
            <a:pPr indent="0"/>
            <a:r>
              <a:rPr lang="en-US" sz="1000" spc="200">
                <a:solidFill>
                  <a:srgbClr val="68686F"/>
                </a:solidFill>
                <a:latin typeface="Tahoma"/>
              </a:rPr>
              <a:t>01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"/>
          <p:cNvSpPr/>
          <p:nvPr/>
        </p:nvSpPr>
        <p:spPr>
          <a:xfrm>
            <a:off x="1027176" y="445008"/>
            <a:ext cx="2221992" cy="149352"/>
          </a:xfrm>
          <a:prstGeom prst="rect">
            <a:avLst/>
          </a:prstGeom>
          <a:solidFill>
            <a:srgbClr val="F5EBE1"/>
          </a:solidFill>
        </p:spPr>
        <p:txBody>
          <a:bodyPr lIns="0" tIns="0" rIns="0" bIns="0" wrap="none">
            <a:noAutofit/>
          </a:bodyPr>
          <a:p>
            <a:pPr indent="0"/>
            <a:r>
              <a:rPr lang="en-US" sz="1100" spc="300">
                <a:solidFill>
                  <a:srgbClr val="78292E"/>
                </a:solidFill>
                <a:latin typeface="Tahoma"/>
              </a:rPr>
              <a:t>• </a:t>
            </a:r>
            <a:r>
              <a:rPr lang="en-US" sz="1100" spc="300">
                <a:solidFill>
                  <a:srgbClr val="68686F"/>
                </a:solidFill>
                <a:latin typeface="Tahoma"/>
              </a:rPr>
              <a:t>STHREE SWABHIMAN</a:t>
            </a:r>
          </a:p>
        </p:txBody>
      </p:sp>
      <p:sp>
        <p:nvSpPr>
          <p:cNvPr id="3" name=""/>
          <p:cNvSpPr/>
          <p:nvPr/>
        </p:nvSpPr>
        <p:spPr>
          <a:xfrm>
            <a:off x="14615160" y="445008"/>
            <a:ext cx="2612136" cy="149352"/>
          </a:xfrm>
          <a:prstGeom prst="rect">
            <a:avLst/>
          </a:prstGeom>
          <a:solidFill>
            <a:srgbClr val="F5EBE1"/>
          </a:solidFill>
        </p:spPr>
        <p:txBody>
          <a:bodyPr lIns="0" tIns="0" rIns="0" bIns="0" wrap="none">
            <a:noAutofit/>
          </a:bodyPr>
          <a:p>
            <a:pPr algn="just" indent="0"/>
            <a:r>
              <a:rPr lang="en-US" sz="1100" spc="300">
                <a:solidFill>
                  <a:srgbClr val="68686F"/>
                </a:solidFill>
                <a:latin typeface="Tahoma"/>
              </a:rPr>
              <a:t>02    • EXECUTIVE SUMMARY</a:t>
            </a:r>
          </a:p>
        </p:txBody>
      </p:sp>
      <p:sp>
        <p:nvSpPr>
          <p:cNvPr id="4" name=""/>
          <p:cNvSpPr/>
          <p:nvPr/>
        </p:nvSpPr>
        <p:spPr>
          <a:xfrm>
            <a:off x="1039368" y="1002792"/>
            <a:ext cx="9735312" cy="2368296"/>
          </a:xfrm>
          <a:prstGeom prst="rect">
            <a:avLst/>
          </a:prstGeom>
          <a:solidFill>
            <a:srgbClr val="F5EBE1"/>
          </a:solidFill>
        </p:spPr>
        <p:txBody>
          <a:bodyPr lIns="0" tIns="0" rIns="0" bIns="0">
            <a:noAutofit/>
          </a:bodyPr>
          <a:p>
            <a:pPr algn="just" indent="0">
              <a:spcAft>
                <a:spcPts val="1470"/>
              </a:spcAft>
            </a:pPr>
            <a:r>
              <a:rPr lang="en-US" sz="1800" spc="450">
                <a:solidFill>
                  <a:srgbClr val="78292E"/>
                </a:solidFill>
                <a:latin typeface="Sylfaen"/>
              </a:rPr>
              <a:t>- EXECUTIVE SUMMARY</a:t>
            </a:r>
          </a:p>
          <a:p>
            <a:pPr algn="just" marR="89408" indent="0">
              <a:lnSpc>
                <a:spcPts val="4992"/>
              </a:lnSpc>
              <a:spcAft>
                <a:spcPts val="2940"/>
              </a:spcAft>
            </a:pPr>
            <a:r>
              <a:rPr lang="en-US" b="1" sz="4800">
                <a:solidFill>
                  <a:srgbClr val="17181F"/>
                </a:solidFill>
                <a:latin typeface="Sylfaen"/>
              </a:rPr>
              <a:t>A government-partnered programme to end period </a:t>
            </a:r>
            <a:r>
              <a:rPr lang="en-US" i="1" sz="4800" spc="-150">
                <a:solidFill>
                  <a:srgbClr val="78292E"/>
                </a:solidFill>
                <a:latin typeface="Sylfaen"/>
              </a:rPr>
              <a:t>absenteeism, shame, and unsafe disposal</a:t>
            </a:r>
            <a:r>
              <a:rPr lang="en-US" b="1" sz="4800">
                <a:solidFill>
                  <a:srgbClr val="78292E"/>
                </a:solidFill>
                <a:latin typeface="Sylfaen"/>
              </a:rPr>
              <a:t> </a:t>
            </a:r>
            <a:r>
              <a:rPr lang="en-US" b="1" sz="4800">
                <a:solidFill>
                  <a:srgbClr val="17181F"/>
                </a:solidFill>
                <a:latin typeface="Sylfaen"/>
              </a:rPr>
              <a:t>across 275 campuses.</a:t>
            </a:r>
          </a:p>
        </p:txBody>
      </p:sp>
      <p:graphicFrame>
        <p:nvGraphicFramePr>
          <p:cNvPr id="5" name=""/>
          <p:cNvGraphicFramePr>
            <a:graphicFrameLocks noGrp="1"/>
          </p:cNvGraphicFramePr>
          <p:nvPr/>
        </p:nvGraphicFramePr>
        <p:xfrm>
          <a:off x="1027176" y="3779520"/>
          <a:ext cx="16236696" cy="5650992"/>
        </p:xfrm>
        <a:graphic>
          <a:graphicData uri="http://schemas.openxmlformats.org/drawingml/2006/table">
            <a:tbl>
              <a:tblPr/>
              <a:tblGrid>
                <a:gridCol w="8958072"/>
                <a:gridCol w="3569208"/>
                <a:gridCol w="3709416"/>
              </a:tblGrid>
              <a:tr h="1417320">
                <a:tc>
                  <a:txBody>
                    <a:bodyPr lIns="0" tIns="0" rIns="0" bIns="0">
                      <a:noAutofit/>
                    </a:bodyPr>
                    <a:p>
                      <a:pPr marR="495300" indent="0">
                        <a:lnSpc>
                          <a:spcPts val="2688"/>
                        </a:lnSpc>
                      </a:pPr>
                      <a:r>
                        <a:rPr lang="en-US" sz="1700">
                          <a:solidFill>
                            <a:srgbClr val="3C3D41"/>
                          </a:solidFill>
                          <a:latin typeface="Tahoma"/>
                        </a:rPr>
                        <a:t>Sthree Swabhiman is a structured Menstrual Hygiene Management initiative for adolescent girls in MJPTBCWREIS residential schools and junior colleges across Telangana — combining annual awareness, sanitary napkin starter kits, permanent incinerator infrastructure, and Training of Trainers.</a:t>
                      </a:r>
                    </a:p>
                  </a:txBody>
                  <a:tcPr marL="0" marR="0" marT="0" marB="0" anchor="b">
                    <a:solidFill>
                      <a:srgbClr val="F5EBE1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p>
                      <a:pPr marL="444500" indent="0"/>
                      <a:r>
                        <a:rPr lang="en-US" sz="1300" spc="200">
                          <a:solidFill>
                            <a:srgbClr val="68686F"/>
                          </a:solidFill>
                          <a:latin typeface="Consolas"/>
                        </a:rPr>
                        <a:t>IMPLEMENTING AGENCY</a:t>
                      </a:r>
                    </a:p>
                  </a:txBody>
                  <a:tcPr marL="0" marR="0" marT="0" marB="0" anchor="ctr">
                    <a:solidFill>
                      <a:srgbClr val="F5EBE1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p>
                      <a:pPr algn="r" indent="0"/>
                      <a:r>
                        <a:rPr lang="en-US" sz="1900">
                          <a:solidFill>
                            <a:srgbClr val="17181F"/>
                          </a:solidFill>
                          <a:latin typeface="Sylfaen"/>
                        </a:rPr>
                        <a:t>Give For Society</a:t>
                      </a:r>
                    </a:p>
                  </a:txBody>
                  <a:tcPr marL="0" marR="0" marT="0" marB="0" anchor="ctr">
                    <a:solidFill>
                      <a:srgbClr val="F5EBE1"/>
                    </a:solidFill>
                  </a:tcPr>
                </a:tc>
              </a:tr>
              <a:tr h="1408176">
                <a:tc>
                  <a:txBody>
                    <a:bodyPr lIns="0" tIns="0" rIns="0" bIns="0">
                      <a:noAutofit/>
                    </a:bodyPr>
                    <a:p>
                      <a:pPr marR="495300" indent="0">
                        <a:lnSpc>
                          <a:spcPts val="2688"/>
                        </a:lnSpc>
                      </a:pPr>
                      <a:r>
                        <a:rPr lang="en-US" sz="1700">
                          <a:solidFill>
                            <a:srgbClr val="3C3D41"/>
                          </a:solidFill>
                          <a:latin typeface="Tahoma"/>
                        </a:rPr>
                        <a:t>The programme is endorsed by a Memorandum of Collaboration with the Secretary, MJPTBCWREIS, and a pilot launched in November 2025 in Warangal reached 1,200+ students.</a:t>
                      </a:r>
                    </a:p>
                  </a:txBody>
                  <a:tcPr marL="0" marR="0" marT="0" marB="0" anchor="ctr">
                    <a:solidFill>
                      <a:srgbClr val="F5EBE1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p>
                      <a:pPr marL="444500" indent="0"/>
                      <a:r>
                        <a:rPr lang="en-US" sz="1300" spc="200">
                          <a:solidFill>
                            <a:srgbClr val="68686F"/>
                          </a:solidFill>
                          <a:latin typeface="Consolas"/>
                        </a:rPr>
                        <a:t>GOVT. PARTNER</a:t>
                      </a:r>
                    </a:p>
                  </a:txBody>
                  <a:tcPr marL="0" marR="0" marT="0" marB="0" anchor="ctr">
                    <a:solidFill>
                      <a:srgbClr val="F5EBE1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p>
                      <a:pPr algn="r" indent="0"/>
                      <a:r>
                        <a:rPr lang="en-US" sz="1900">
                          <a:solidFill>
                            <a:srgbClr val="17181F"/>
                          </a:solidFill>
                          <a:latin typeface="Sylfaen"/>
                        </a:rPr>
                        <a:t>MJPTBCWREIS</a:t>
                      </a:r>
                    </a:p>
                  </a:txBody>
                  <a:tcPr marL="0" marR="0" marT="0" marB="0" anchor="ctr">
                    <a:solidFill>
                      <a:srgbClr val="F5EBE1"/>
                    </a:solidFill>
                  </a:tcPr>
                </a:tc>
              </a:tr>
              <a:tr h="1414272">
                <a:tc>
                  <a:txBody>
                    <a:bodyPr lIns="0" tIns="0" rIns="0" bIns="0">
                      <a:noAutofit/>
                    </a:bodyPr>
                    <a:p>
                      <a:endParaRPr sz="6700"/>
                    </a:p>
                  </a:txBody>
                  <a:tcPr marL="0" marR="0" marT="0" marB="0">
                    <a:solidFill>
                      <a:srgbClr val="F5EBE1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p>
                      <a:pPr marL="444500" indent="0"/>
                      <a:r>
                        <a:rPr lang="en-US" sz="1300" spc="200">
                          <a:solidFill>
                            <a:srgbClr val="68686F"/>
                          </a:solidFill>
                          <a:latin typeface="Consolas"/>
                        </a:rPr>
                        <a:t>INSTITUTIONS</a:t>
                      </a:r>
                    </a:p>
                  </a:txBody>
                  <a:tcPr marL="0" marR="0" marT="0" marB="0" anchor="ctr">
                    <a:solidFill>
                      <a:srgbClr val="F5EBE1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p>
                      <a:pPr algn="r" indent="0"/>
                      <a:r>
                        <a:rPr lang="en-US" sz="1900">
                          <a:solidFill>
                            <a:srgbClr val="17181F"/>
                          </a:solidFill>
                          <a:latin typeface="Sylfaen"/>
                        </a:rPr>
                        <a:t>275 girls-only campuses</a:t>
                      </a:r>
                    </a:p>
                  </a:txBody>
                  <a:tcPr marL="0" marR="0" marT="0" marB="0" anchor="ctr">
                    <a:solidFill>
                      <a:srgbClr val="F5EBE1"/>
                    </a:solidFill>
                  </a:tcPr>
                </a:tc>
              </a:tr>
              <a:tr h="1411224">
                <a:tc>
                  <a:txBody>
                    <a:bodyPr lIns="0" tIns="0" rIns="0" bIns="0">
                      <a:noAutofit/>
                    </a:bodyPr>
                    <a:p>
                      <a:pPr indent="0">
                        <a:spcAft>
                          <a:spcPts val="1470"/>
                        </a:spcAft>
                      </a:pPr>
                      <a:r>
                        <a:rPr lang="en-US" b="1" sz="6500" spc="-150">
                          <a:solidFill>
                            <a:srgbClr val="17181F"/>
                          </a:solidFill>
                          <a:latin typeface="Tahoma"/>
                        </a:rPr>
                        <a:t>^8.04</a:t>
                      </a:r>
                      <a:r>
                        <a:rPr lang="en-US" b="1" sz="6500" spc="-150">
                          <a:solidFill>
                            <a:srgbClr val="68686F"/>
                          </a:solidFill>
                          <a:latin typeface="Tahoma"/>
                        </a:rPr>
                        <a:t>cr </a:t>
                      </a:r>
                      <a:r>
                        <a:rPr lang="en-US" b="1" sz="6500" spc="-150">
                          <a:solidFill>
                            <a:srgbClr val="17181F"/>
                          </a:solidFill>
                          <a:latin typeface="Tahoma"/>
                        </a:rPr>
                        <a:t>1 yr 3 yr</a:t>
                      </a:r>
                    </a:p>
                    <a:p>
                      <a:pPr indent="0"/>
                      <a:r>
                        <a:rPr lang="en-US" sz="1300" spc="200">
                          <a:solidFill>
                            <a:srgbClr val="68686F"/>
                          </a:solidFill>
                          <a:latin typeface="Consolas"/>
                        </a:rPr>
                        <a:t>TOTAL FUNDING ASK PROGRAMME CYCLE TO SELF-RELIANCE</a:t>
                      </a:r>
                    </a:p>
                  </a:txBody>
                  <a:tcPr marL="0" marR="0" marT="0" marB="0" anchor="b">
                    <a:solidFill>
                      <a:srgbClr val="F5EBE1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p>
                      <a:pPr marL="444500" indent="0"/>
                      <a:r>
                        <a:rPr lang="en-US" sz="1300" spc="200">
                          <a:solidFill>
                            <a:srgbClr val="68686F"/>
                          </a:solidFill>
                          <a:latin typeface="Consolas"/>
                        </a:rPr>
                        <a:t>REACH</a:t>
                      </a:r>
                    </a:p>
                  </a:txBody>
                  <a:tcPr marL="0" marR="0" marT="0" marB="0" anchor="ctr">
                    <a:solidFill>
                      <a:srgbClr val="F5EBE1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p>
                      <a:pPr algn="r" indent="0"/>
                      <a:r>
                        <a:rPr lang="en-US" sz="1900">
                          <a:solidFill>
                            <a:srgbClr val="17181F"/>
                          </a:solidFill>
                          <a:latin typeface="Sylfaen"/>
                        </a:rPr>
                        <a:t>~1,23,000 girls annually</a:t>
                      </a:r>
                    </a:p>
                  </a:txBody>
                  <a:tcPr marL="0" marR="0" marT="0" marB="0" anchor="ctr">
                    <a:solidFill>
                      <a:srgbClr val="F5EBE1"/>
                    </a:solidFill>
                  </a:tcPr>
                </a:tc>
              </a:tr>
            </a:tbl>
          </a:graphicData>
        </a:graphic>
      </p:graphicFrame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"/>
          <p:cNvPicPr>
            <a:picLocks noChangeAspect="1"/>
          </p:cNvPicPr>
          <p:nvPr/>
        </p:nvPicPr>
        <p:blipFill>
          <a:blip r:embed="rPictId0"/>
          <a:stretch>
            <a:fillRect/>
          </a:stretch>
        </p:blipFill>
        <p:spPr>
          <a:xfrm>
            <a:off x="0" y="524256"/>
            <a:ext cx="8814816" cy="9762744"/>
          </a:xfrm>
          <a:prstGeom prst="rect">
            <a:avLst/>
          </a:prstGeom>
        </p:spPr>
      </p:pic>
      <p:sp>
        <p:nvSpPr>
          <p:cNvPr id="3" name=""/>
          <p:cNvSpPr/>
          <p:nvPr/>
        </p:nvSpPr>
        <p:spPr>
          <a:xfrm>
            <a:off x="3172968" y="7427976"/>
            <a:ext cx="1956816" cy="551688"/>
          </a:xfrm>
          <a:prstGeom prst="rect">
            <a:avLst/>
          </a:prstGeom>
        </p:spPr>
        <p:txBody>
          <a:bodyPr lIns="0" tIns="0" rIns="0" bIns="0">
            <a:noAutofit/>
          </a:bodyPr>
          <a:p>
            <a:pPr indent="0">
              <a:spcAft>
                <a:spcPts val="210"/>
              </a:spcAft>
            </a:pPr>
            <a:r>
              <a:rPr lang="en-US" sz="1000" spc="150">
                <a:solidFill>
                  <a:srgbClr val="652B5F"/>
                </a:solidFill>
                <a:latin typeface="Consolas"/>
              </a:rPr>
              <a:t>Only </a:t>
            </a:r>
            <a:r>
              <a:rPr lang="en-US" b="1" i="1" sz="1000" spc="-150">
                <a:solidFill>
                  <a:srgbClr val="652B5F"/>
                </a:solidFill>
                <a:latin typeface="Consolas"/>
              </a:rPr>
              <a:t>w*</a:t>
            </a:r>
            <a:r>
              <a:rPr lang="en-US" sz="1000" spc="150">
                <a:solidFill>
                  <a:srgbClr val="652B5F"/>
                </a:solidFill>
                <a:latin typeface="Consolas"/>
              </a:rPr>
              <a:t> Df</a:t>
            </a:r>
          </a:p>
          <a:p>
            <a:pPr indent="-1193800">
              <a:lnSpc>
                <a:spcPts val="1632"/>
              </a:lnSpc>
            </a:pPr>
            <a:r>
              <a:rPr lang="en-US" b="1" sz="1050" spc="-100">
                <a:solidFill>
                  <a:srgbClr val="652B5F"/>
                </a:solidFill>
                <a:latin typeface="Tahoma"/>
              </a:rPr>
              <a:t>9!iii </a:t>
            </a:r>
            <a:r>
              <a:rPr lang="en-US" b="1" cap="small" sz="1050" spc="-100">
                <a:solidFill>
                  <a:srgbClr val="652B5F"/>
                </a:solidFill>
                <a:latin typeface="Tahoma"/>
              </a:rPr>
              <a:t>SUh*^</a:t>
            </a:r>
            <a:r>
              <a:rPr lang="en-US" b="1" sz="1050" spc="-100">
                <a:solidFill>
                  <a:srgbClr val="652B5F"/>
                </a:solidFill>
                <a:latin typeface="Tahoma"/>
              </a:rPr>
              <a:t> </a:t>
            </a:r>
            <a:r>
              <a:rPr lang="en-US" b="1" baseline="30000" sz="1050">
                <a:solidFill>
                  <a:srgbClr val="652B5F"/>
                </a:solidFill>
                <a:latin typeface="Tahoma"/>
              </a:rPr>
              <a:t>na</a:t>
            </a:r>
            <a:r>
              <a:rPr lang="en-US" b="1" sz="1050">
                <a:solidFill>
                  <a:srgbClr val="652B5F"/>
                </a:solidFill>
                <a:latin typeface="Tahoma"/>
              </a:rPr>
              <a:t>P</a:t>
            </a:r>
            <a:r>
              <a:rPr lang="en-US" b="1" baseline="30000" sz="1050">
                <a:solidFill>
                  <a:srgbClr val="652B5F"/>
                </a:solidFill>
                <a:latin typeface="Tahoma"/>
              </a:rPr>
              <a:t>hl,li </a:t>
            </a:r>
            <a:r>
              <a:rPr lang="en-US" b="1" sz="1050">
                <a:solidFill>
                  <a:srgbClr val="652B5F"/>
                </a:solidFill>
                <a:latin typeface="Tahoma"/>
              </a:rPr>
              <a:t>; </a:t>
            </a:r>
            <a:r>
              <a:rPr lang="en-US" b="1" sz="1200">
                <a:solidFill>
                  <a:srgbClr val="652B5F"/>
                </a:solidFill>
                <a:latin typeface="Tahoma"/>
              </a:rPr>
              <a:t>» </a:t>
            </a:r>
          </a:p>
        </p:txBody>
      </p:sp>
      <p:sp>
        <p:nvSpPr>
          <p:cNvPr id="4" name=""/>
          <p:cNvSpPr/>
          <p:nvPr/>
        </p:nvSpPr>
        <p:spPr>
          <a:xfrm>
            <a:off x="4376928" y="8092440"/>
            <a:ext cx="515112" cy="112776"/>
          </a:xfrm>
          <a:prstGeom prst="rect">
            <a:avLst/>
          </a:prstGeom>
        </p:spPr>
        <p:txBody>
          <a:bodyPr lIns="0" tIns="0" rIns="0" bIns="0" wrap="none">
            <a:noAutofit/>
          </a:bodyPr>
          <a:p>
            <a:pPr indent="-1193800">
              <a:lnSpc>
                <a:spcPts val="1632"/>
              </a:lnSpc>
            </a:pPr>
            <a:r>
              <a:rPr lang="en-US" b="1" sz="1200">
                <a:solidFill>
                  <a:srgbClr val="652B5F"/>
                </a:solidFill>
                <a:latin typeface="Tahoma"/>
              </a:rPr>
              <a:t>melhods.</a:t>
            </a:r>
          </a:p>
        </p:txBody>
      </p:sp>
      <p:sp>
        <p:nvSpPr>
          <p:cNvPr id="5" name=""/>
          <p:cNvSpPr/>
          <p:nvPr/>
        </p:nvSpPr>
        <p:spPr>
          <a:xfrm>
            <a:off x="3307080" y="8122920"/>
            <a:ext cx="1063752" cy="225552"/>
          </a:xfrm>
          <a:prstGeom prst="rect">
            <a:avLst/>
          </a:prstGeom>
        </p:spPr>
        <p:txBody>
          <a:bodyPr lIns="0" tIns="0" rIns="0" bIns="0" wrap="none">
            <a:noAutofit/>
          </a:bodyPr>
          <a:p>
            <a:pPr algn="just" indent="0"/>
            <a:r>
              <a:rPr lang="en-US" cap="small" sz="1100">
                <a:solidFill>
                  <a:srgbClr val="652B5F"/>
                </a:solidFill>
                <a:latin typeface="Sylfaen"/>
              </a:rPr>
              <a:t>IoLLqw</a:t>
            </a:r>
            <a:r>
              <a:rPr lang="en-US" sz="1100">
                <a:solidFill>
                  <a:srgbClr val="652B5F"/>
                </a:solidFill>
                <a:latin typeface="Sylfaen"/>
              </a:rPr>
              <a:t> tmili4!&lt;nk</a:t>
            </a:r>
          </a:p>
        </p:txBody>
      </p:sp>
      <p:graphicFrame>
        <p:nvGraphicFramePr>
          <p:cNvPr id="6" name=""/>
          <p:cNvGraphicFramePr>
            <a:graphicFrameLocks noGrp="1"/>
          </p:cNvGraphicFramePr>
          <p:nvPr/>
        </p:nvGraphicFramePr>
        <p:xfrm>
          <a:off x="124968" y="4504944"/>
          <a:ext cx="4733544" cy="411480"/>
        </p:xfrm>
        <a:graphic>
          <a:graphicData uri="http://schemas.openxmlformats.org/drawingml/2006/table">
            <a:tbl>
              <a:tblPr/>
              <a:tblGrid>
                <a:gridCol w="208280"/>
                <a:gridCol w="208280"/>
                <a:gridCol w="208280"/>
                <a:gridCol w="1969008"/>
                <a:gridCol w="374904"/>
                <a:gridCol w="966216"/>
                <a:gridCol w="798576"/>
              </a:tblGrid>
              <a:tr h="106680">
                <a:tc>
                  <a:txBody>
                    <a:bodyPr lIns="0" tIns="0" rIns="0" bIns="0">
                      <a:noAutofit/>
                    </a:bodyPr>
                    <a:p>
                      <a:endParaRPr sz="600"/>
                    </a:p>
                  </a:txBody>
                  <a:tcPr marL="0" marR="0" marT="0" marB="0">
                    <a:solidFill>
                      <a:srgbClr val="2E2B2D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p>
                      <a:endParaRPr sz="600"/>
                    </a:p>
                  </a:txBody>
                  <a:tcPr marL="0" marR="0" marT="0" marB="0">
                    <a:solidFill>
                      <a:srgbClr val="2E2B2D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p>
                      <a:endParaRPr sz="600"/>
                    </a:p>
                  </a:txBody>
                  <a:tcPr marL="0" marR="0" marT="0" marB="0">
                    <a:solidFill>
                      <a:srgbClr val="2E2B2D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p>
                      <a:pPr marL="419100" indent="0"/>
                      <a:r>
                        <a:rPr lang="en-US" b="1" sz="750">
                          <a:solidFill>
                            <a:srgbClr val="739075"/>
                          </a:solidFill>
                          <a:latin typeface="Times New Roman"/>
                        </a:rPr>
                        <a:t>imrOTTWr-—</a:t>
                      </a:r>
                    </a:p>
                  </a:txBody>
                  <a:tcPr marL="0" marR="0" marT="0" marB="0" anchor="b">
                    <a:solidFill>
                      <a:srgbClr val="C2C5C9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p>
                      <a:pPr indent="0"/>
                      <a:r>
                        <a:rPr lang="en-US" sz="700">
                          <a:solidFill>
                            <a:srgbClr val="878C9D"/>
                          </a:solidFill>
                          <a:latin typeface="Tahoma"/>
                        </a:rPr>
                        <a:t>1</a:t>
                      </a:r>
                      <a:r>
                        <a:rPr lang="en-US" b="1" sz="750">
                          <a:solidFill>
                            <a:srgbClr val="878C9D"/>
                          </a:solidFill>
                          <a:latin typeface="Times New Roman"/>
                        </a:rPr>
                        <a:t> M</a:t>
                      </a:r>
                    </a:p>
                  </a:txBody>
                  <a:tcPr marL="0" marR="0" marT="0" marB="0" anchor="b">
                    <a:solidFill>
                      <a:srgbClr val="38394A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p>
                      <a:pPr algn="just" marL="660400" indent="0"/>
                      <a:r>
                        <a:rPr lang="en-US" b="1" sz="750">
                          <a:latin typeface="Times New Roman"/>
                        </a:rPr>
                        <a:t>_ -</a:t>
                      </a:r>
                    </a:p>
                  </a:txBody>
                  <a:tcPr marL="0" marR="0" marT="0" marB="0" anchor="b">
                    <a:solidFill>
                      <a:srgbClr val="C2C5C9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p>
                      <a:endParaRPr sz="600"/>
                    </a:p>
                  </a:txBody>
                  <a:tcPr marL="0" marR="0" marT="0" marB="0">
                    <a:solidFill>
                      <a:srgbClr val="C2C5C9"/>
                    </a:solidFill>
                  </a:tcPr>
                </a:tc>
              </a:tr>
              <a:tr h="109728">
                <a:tc>
                  <a:txBody>
                    <a:bodyPr lIns="0" tIns="0" rIns="0" bIns="0">
                      <a:noAutofit/>
                    </a:bodyPr>
                    <a:p>
                      <a:pPr marL="139700" indent="0"/>
                      <a:r>
                        <a:rPr lang="en-US" b="1" sz="750">
                          <a:solidFill>
                            <a:srgbClr val="BAB0A8"/>
                          </a:solidFill>
                          <a:latin typeface="Times New Roman"/>
                        </a:rPr>
                        <a:t>f</a:t>
                      </a:r>
                    </a:p>
                  </a:txBody>
                  <a:tcPr marL="0" marR="0" marT="0" marB="0" anchor="b">
                    <a:solidFill>
                      <a:srgbClr val="8D8787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p>
                      <a:pPr marL="101600" indent="0"/>
                      <a:r>
                        <a:rPr lang="en-US" sz="700">
                          <a:solidFill>
                            <a:srgbClr val="BAB0A8"/>
                          </a:solidFill>
                          <a:latin typeface="Tahoma"/>
                        </a:rPr>
                        <a:t>1</a:t>
                      </a:r>
                    </a:p>
                  </a:txBody>
                  <a:tcPr marL="0" marR="0" marT="0" marB="0" anchor="b">
                    <a:solidFill>
                      <a:srgbClr val="727172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p>
                      <a:pPr marL="114300" indent="0"/>
                      <a:r>
                        <a:rPr lang="en-US" sz="700">
                          <a:solidFill>
                            <a:srgbClr val="968D86"/>
                          </a:solidFill>
                          <a:latin typeface="Tahoma"/>
                        </a:rPr>
                        <a:t>1</a:t>
                      </a:r>
                    </a:p>
                  </a:txBody>
                  <a:tcPr marL="0" marR="0" marT="0" marB="0" anchor="ctr">
                    <a:solidFill>
                      <a:srgbClr val="727172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p>
                      <a:pPr algn="just" indent="0"/>
                      <a:r>
                        <a:rPr lang="en-US" b="1" sz="750">
                          <a:solidFill>
                            <a:srgbClr val="D0C4BC"/>
                          </a:solidFill>
                          <a:latin typeface="Times New Roman"/>
                        </a:rPr>
                        <a:t>_'• </a:t>
                      </a:r>
                      <a:r>
                        <a:rPr lang="en-US" i="1" sz="700" spc="-100">
                          <a:solidFill>
                            <a:srgbClr val="D0C4BC"/>
                          </a:solidFill>
                          <a:latin typeface="Tahoma"/>
                        </a:rPr>
                        <a:t>•</a:t>
                      </a:r>
                    </a:p>
                  </a:txBody>
                  <a:tcPr marL="0" marR="0" marT="0" marB="0" anchor="ctr">
                    <a:solidFill>
                      <a:srgbClr val="8D8787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p>
                      <a:endParaRPr sz="600"/>
                    </a:p>
                  </a:txBody>
                  <a:tcPr marL="0" marR="0" marT="0" marB="0">
                    <a:solidFill>
                      <a:srgbClr val="727172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p>
                      <a:endParaRPr sz="600"/>
                    </a:p>
                  </a:txBody>
                  <a:tcPr marL="0" marR="0" marT="0" marB="0">
                    <a:solidFill>
                      <a:srgbClr val="C2C5C9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p>
                      <a:endParaRPr sz="600"/>
                    </a:p>
                  </a:txBody>
                  <a:tcPr marL="0" marR="0" marT="0" marB="0">
                    <a:solidFill>
                      <a:srgbClr val="B55AB3"/>
                    </a:solidFill>
                  </a:tcPr>
                </a:tc>
              </a:tr>
              <a:tr h="94488">
                <a:tc gridSpan="2">
                  <a:txBody>
                    <a:bodyPr lIns="0" tIns="0" rIns="0" bIns="0">
                      <a:noAutofit/>
                    </a:bodyPr>
                    <a:p>
                      <a:endParaRPr sz="500"/>
                    </a:p>
                  </a:txBody>
                  <a:tcPr marL="0" marR="0" marT="0" marB="0">
                    <a:solidFill>
                      <a:srgbClr val="241818"/>
                    </a:solidFill>
                  </a:tcPr>
                </a:tc>
                <a:tc hMerge="1">
                  <a:txBody>
                    <a:bodyPr lIns="0" tIns="0" rIns="0" bIns="0">
                      <a:noAutofit/>
                    </a:bodyPr>
                    <a:p>
                      <a:endParaRPr sz="500"/>
                    </a:p>
                  </a:txBody>
                  <a:tcPr marL="0" marR="0" marT="0" marB="0"/>
                </a:tc>
                <a:tc>
                  <a:txBody>
                    <a:bodyPr lIns="0" tIns="0" rIns="0" bIns="0">
                      <a:noAutofit/>
                    </a:bodyPr>
                    <a:p>
                      <a:endParaRPr sz="500"/>
                    </a:p>
                  </a:txBody>
                  <a:tcPr marL="0" marR="0" marT="0" marB="0">
                    <a:solidFill>
                      <a:srgbClr val="2E2B2D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p>
                      <a:pPr marL="101600" indent="0"/>
                      <a:r>
                        <a:rPr lang="en-US" b="1" sz="750">
                          <a:solidFill>
                            <a:srgbClr val="739075"/>
                          </a:solidFill>
                          <a:latin typeface="Times New Roman"/>
                        </a:rPr>
                        <a:t>t*' . Lrr-il ihi tlltflCC *■</a:t>
                      </a:r>
                    </a:p>
                  </a:txBody>
                  <a:tcPr marL="0" marR="0" marT="0" marB="0" anchor="b">
                    <a:solidFill>
                      <a:srgbClr val="C2C5C9"/>
                    </a:solidFill>
                  </a:tcPr>
                </a:tc>
                <a:tc gridSpan="2">
                  <a:txBody>
                    <a:bodyPr lIns="0" tIns="0" rIns="0" bIns="0">
                      <a:noAutofit/>
                    </a:bodyPr>
                    <a:p>
                      <a:pPr indent="0"/>
                      <a:r>
                        <a:rPr lang="en-US" b="1" sz="750">
                          <a:solidFill>
                            <a:srgbClr val="3E2312"/>
                          </a:solidFill>
                          <a:latin typeface="Times New Roman"/>
                        </a:rPr>
                        <a:t>TC </a:t>
                      </a:r>
                      <a:r>
                        <a:rPr lang="en-US" b="1" sz="750">
                          <a:solidFill>
                            <a:srgbClr val="3C3D41"/>
                          </a:solidFill>
                          <a:latin typeface="Times New Roman"/>
                        </a:rPr>
                        <a:t>J </a:t>
                      </a:r>
                      <a:r>
                        <a:rPr lang="en-US" b="1" sz="750">
                          <a:solidFill>
                            <a:srgbClr val="1A2056"/>
                          </a:solidFill>
                          <a:latin typeface="Times New Roman"/>
                        </a:rPr>
                        <a:t>J J</a:t>
                      </a:r>
                    </a:p>
                  </a:txBody>
                  <a:tcPr marL="0" marR="0" marT="0" marB="0" anchor="b">
                    <a:solidFill>
                      <a:srgbClr val="B49288"/>
                    </a:solidFill>
                  </a:tcPr>
                </a:tc>
                <a:tc hMerge="1">
                  <a:txBody>
                    <a:bodyPr lIns="0" tIns="0" rIns="0" bIns="0">
                      <a:noAutofit/>
                    </a:bodyPr>
                    <a:p>
                      <a:endParaRPr sz="500"/>
                    </a:p>
                  </a:txBody>
                  <a:tcPr marL="0" marR="0" marT="0" marB="0"/>
                </a:tc>
                <a:tc rowSpan="2">
                  <a:txBody>
                    <a:bodyPr lIns="0" tIns="0" rIns="0" bIns="0">
                      <a:noAutofit/>
                    </a:bodyPr>
                    <a:p>
                      <a:pPr indent="0"/>
                      <a:r>
                        <a:rPr lang="en-US" b="1" sz="750">
                          <a:solidFill>
                            <a:srgbClr val="2D2C68"/>
                          </a:solidFill>
                          <a:latin typeface="Times New Roman"/>
                        </a:rPr>
                        <a:t>i ^ </a:t>
                      </a:r>
                      <a:r>
                        <a:rPr lang="en-US" b="1" sz="750">
                          <a:solidFill>
                            <a:srgbClr val="563785"/>
                          </a:solidFill>
                          <a:latin typeface="Times New Roman"/>
                        </a:rPr>
                        <a:t>v</a:t>
                      </a:r>
                      <a:r>
                        <a:rPr lang="en-US" sz="700">
                          <a:solidFill>
                            <a:srgbClr val="563785"/>
                          </a:solidFill>
                          <a:latin typeface="Tahoma"/>
                        </a:rPr>
                        <a:t>4</a:t>
                      </a:r>
                    </a:p>
                  </a:txBody>
                  <a:tcPr marL="0" marR="0" marT="0" marB="0">
                    <a:solidFill>
                      <a:srgbClr val="C2C5C9"/>
                    </a:solidFill>
                  </a:tcPr>
                </a:tc>
              </a:tr>
              <a:tr h="100584">
                <a:tc gridSpan="3">
                  <a:txBody>
                    <a:bodyPr lIns="0" tIns="0" rIns="0" bIns="0">
                      <a:noAutofit/>
                    </a:bodyPr>
                    <a:p>
                      <a:pPr indent="0"/>
                      <a:r>
                        <a:rPr lang="en-US" b="1" sz="750">
                          <a:solidFill>
                            <a:srgbClr val="9D9A96"/>
                          </a:solidFill>
                          <a:latin typeface="Times New Roman"/>
                        </a:rPr>
                        <a:t>— Vi.</a:t>
                      </a:r>
                    </a:p>
                  </a:txBody>
                  <a:tcPr marL="0" marR="0" marT="0" marB="0" anchor="b">
                    <a:solidFill>
                      <a:srgbClr val="475A81"/>
                    </a:solidFill>
                  </a:tcPr>
                </a:tc>
                <a:tc hMerge="1">
                  <a:txBody>
                    <a:bodyPr lIns="0" tIns="0" rIns="0" bIns="0">
                      <a:noAutofit/>
                    </a:bodyPr>
                    <a:p>
                      <a:endParaRPr sz="500"/>
                    </a:p>
                  </a:txBody>
                  <a:tcPr marL="0" marR="0" marT="0" marB="0"/>
                </a:tc>
                <a:tc hMerge="1">
                  <a:txBody>
                    <a:bodyPr lIns="0" tIns="0" rIns="0" bIns="0">
                      <a:noAutofit/>
                    </a:bodyPr>
                    <a:p>
                      <a:endParaRPr sz="500"/>
                    </a:p>
                  </a:txBody>
                  <a:tcPr marL="0" marR="0" marT="0" marB="0"/>
                </a:tc>
                <a:tc>
                  <a:txBody>
                    <a:bodyPr lIns="0" tIns="0" rIns="0" bIns="0">
                      <a:noAutofit/>
                    </a:bodyPr>
                    <a:p>
                      <a:pPr algn="just" indent="0"/>
                      <a:r>
                        <a:rPr lang="en-US" sz="700">
                          <a:solidFill>
                            <a:srgbClr val="D0C4BC"/>
                          </a:solidFill>
                          <a:latin typeface="Tahoma"/>
                        </a:rPr>
                        <a:t>1</a:t>
                      </a:r>
                      <a:r>
                        <a:rPr lang="en-US" b="1" sz="750">
                          <a:solidFill>
                            <a:srgbClr val="D0C4BC"/>
                          </a:solidFill>
                          <a:latin typeface="Times New Roman"/>
                        </a:rPr>
                        <a:t> </a:t>
                      </a:r>
                      <a:r>
                        <a:rPr lang="en-US" i="1" sz="700" spc="-100">
                          <a:solidFill>
                            <a:srgbClr val="9D9A96"/>
                          </a:solidFill>
                          <a:latin typeface="Tahoma"/>
                        </a:rPr>
                        <a:t>*Fi</a:t>
                      </a:r>
                      <a:r>
                        <a:rPr lang="en-US" b="1" sz="750">
                          <a:solidFill>
                            <a:srgbClr val="9D9A96"/>
                          </a:solidFill>
                          <a:latin typeface="Times New Roman"/>
                        </a:rPr>
                        <a:t> ■':r' ’■"’-</a:t>
                      </a:r>
                    </a:p>
                  </a:txBody>
                  <a:tcPr marL="0" marR="0" marT="0" marB="0" anchor="b">
                    <a:solidFill>
                      <a:srgbClr val="8D8787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p>
                      <a:pPr indent="0"/>
                      <a:r>
                        <a:rPr lang="en-US" sz="1300" spc="200">
                          <a:solidFill>
                            <a:srgbClr val="325E28"/>
                          </a:solidFill>
                          <a:latin typeface="Consolas"/>
                        </a:rPr>
                        <a:t>s </a:t>
                      </a:r>
                      <a:r>
                        <a:rPr lang="en-US" b="1" sz="750">
                          <a:solidFill>
                            <a:srgbClr val="75450B"/>
                          </a:solidFill>
                          <a:latin typeface="Times New Roman"/>
                        </a:rPr>
                        <a:t>V-</a:t>
                      </a:r>
                      <a:r>
                        <a:rPr lang="en-US" b="1" sz="750">
                          <a:solidFill>
                            <a:srgbClr val="325E28"/>
                          </a:solidFill>
                          <a:latin typeface="Times New Roman"/>
                        </a:rPr>
                        <a:t>,</a:t>
                      </a:r>
                    </a:p>
                  </a:txBody>
                  <a:tcPr marL="0" marR="0" marT="0" marB="0" anchor="b">
                    <a:solidFill>
                      <a:srgbClr val="8E804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p>
                      <a:pPr indent="0"/>
                      <a:r>
                        <a:rPr lang="en-US" b="1" sz="750">
                          <a:solidFill>
                            <a:srgbClr val="75450B"/>
                          </a:solidFill>
                          <a:latin typeface="Times New Roman"/>
                        </a:rPr>
                        <a:t>+ ■ * </a:t>
                      </a:r>
                      <a:r>
                        <a:rPr lang="en-US" b="1" sz="750">
                          <a:solidFill>
                            <a:srgbClr val="68686F"/>
                          </a:solidFill>
                          <a:latin typeface="Times New Roman"/>
                        </a:rPr>
                        <a:t>lr </a:t>
                      </a:r>
                      <a:r>
                        <a:rPr lang="en-US" sz="700">
                          <a:solidFill>
                            <a:srgbClr val="68686F"/>
                          </a:solidFill>
                          <a:latin typeface="Tahoma"/>
                        </a:rPr>
                        <a:t>1</a:t>
                      </a:r>
                      <a:r>
                        <a:rPr lang="en-US" b="1" sz="750">
                          <a:solidFill>
                            <a:srgbClr val="68686F"/>
                          </a:solidFill>
                          <a:latin typeface="Times New Roman"/>
                        </a:rPr>
                        <a:t>:</a:t>
                      </a:r>
                    </a:p>
                  </a:txBody>
                  <a:tcPr marL="0" marR="0" marT="0" marB="0" anchor="b">
                    <a:solidFill>
                      <a:srgbClr val="8D8787"/>
                    </a:solidFill>
                  </a:tcPr>
                </a:tc>
                <a:tc vMerge="1">
                  <a:txBody>
                    <a:bodyPr lIns="0" tIns="0" rIns="0" bIns="0">
                      <a:noAutofit/>
                    </a:bodyPr>
                    <a:p>
                      <a:endParaRPr sz="500"/>
                    </a:p>
                  </a:txBody>
                  <a:tcPr marL="0" marR="0" marT="0" marB="0"/>
                </a:tc>
              </a:tr>
            </a:tbl>
          </a:graphicData>
        </a:graphic>
      </p:graphicFrame>
      <p:graphicFrame>
        <p:nvGraphicFramePr>
          <p:cNvPr id="7" name=""/>
          <p:cNvGraphicFramePr>
            <a:graphicFrameLocks noGrp="1"/>
          </p:cNvGraphicFramePr>
          <p:nvPr/>
        </p:nvGraphicFramePr>
        <p:xfrm>
          <a:off x="1005840" y="6422136"/>
          <a:ext cx="1068832" cy="313944"/>
        </p:xfrm>
        <a:graphic>
          <a:graphicData uri="http://schemas.openxmlformats.org/drawingml/2006/table">
            <a:tbl>
              <a:tblPr/>
              <a:tblGrid>
                <a:gridCol w="432816"/>
                <a:gridCol w="208280"/>
                <a:gridCol w="219456"/>
                <a:gridCol w="208280"/>
              </a:tblGrid>
              <a:tr h="97536">
                <a:tc>
                  <a:txBody>
                    <a:bodyPr lIns="0" tIns="0" rIns="0" bIns="0">
                      <a:noAutofit/>
                    </a:bodyPr>
                    <a:p>
                      <a:pPr algn="r" indent="0"/>
                      <a:r>
                        <a:rPr lang="en-US" b="1" sz="1050">
                          <a:solidFill>
                            <a:srgbClr val="62A388"/>
                          </a:solidFill>
                          <a:latin typeface="Tahoma"/>
                        </a:rPr>
                        <a:t>u</a:t>
                      </a:r>
                    </a:p>
                  </a:txBody>
                  <a:tcPr marL="0" marR="0" marT="0" marB="0">
                    <a:solidFill>
                      <a:srgbClr val="402803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p>
                      <a:pPr indent="0"/>
                      <a:r>
                        <a:rPr lang="en-US" sz="700">
                          <a:solidFill>
                            <a:srgbClr val="968D86"/>
                          </a:solidFill>
                          <a:latin typeface="Arial"/>
                        </a:rPr>
                        <a:t>.</a:t>
                      </a:r>
                    </a:p>
                  </a:txBody>
                  <a:tcPr marL="0" marR="0" marT="0" marB="0" anchor="b">
                    <a:solidFill>
                      <a:srgbClr val="484537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p>
                      <a:pPr indent="0"/>
                      <a:r>
                        <a:rPr lang="en-US" b="1" sz="1050">
                          <a:solidFill>
                            <a:srgbClr val="A39FC3"/>
                          </a:solidFill>
                          <a:latin typeface="Tahoma"/>
                        </a:rPr>
                        <a:t>1,</a:t>
                      </a:r>
                    </a:p>
                  </a:txBody>
                  <a:tcPr marL="0" marR="0" marT="0" marB="0" anchor="b">
                    <a:solidFill>
                      <a:srgbClr val="767AA0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p>
                      <a:pPr indent="0"/>
                      <a:r>
                        <a:rPr lang="en-US" sz="500">
                          <a:solidFill>
                            <a:srgbClr val="878C9D"/>
                          </a:solidFill>
                          <a:latin typeface="Trebuchet MS"/>
                        </a:rPr>
                        <a:t>.,</a:t>
                      </a:r>
                      <a:r>
                        <a:rPr lang="en-US" sz="500">
                          <a:solidFill>
                            <a:srgbClr val="878C9D"/>
                          </a:solidFill>
                          <a:latin typeface="Tahoma"/>
                        </a:rPr>
                        <a:t>1</a:t>
                      </a:r>
                      <a:r>
                        <a:rPr lang="en-US" sz="500">
                          <a:solidFill>
                            <a:srgbClr val="878C9D"/>
                          </a:solidFill>
                          <a:latin typeface="Trebuchet MS"/>
                        </a:rPr>
                        <a:t>.</a:t>
                      </a:r>
                    </a:p>
                  </a:txBody>
                  <a:tcPr marL="0" marR="0" marT="0" marB="0" anchor="b">
                    <a:solidFill>
                      <a:srgbClr val="797489"/>
                    </a:solidFill>
                  </a:tcPr>
                </a:tc>
              </a:tr>
              <a:tr h="103632">
                <a:tc>
                  <a:txBody>
                    <a:bodyPr lIns="0" tIns="0" rIns="0" bIns="0">
                      <a:noAutofit/>
                    </a:bodyPr>
                    <a:p>
                      <a:endParaRPr sz="500"/>
                    </a:p>
                  </a:txBody>
                  <a:tcPr marL="0" marR="0" marT="0" marB="0">
                    <a:solidFill>
                      <a:srgbClr val="330D02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p>
                      <a:endParaRPr sz="500"/>
                    </a:p>
                  </a:txBody>
                  <a:tcPr marL="0" marR="0" marT="0" marB="0">
                    <a:solidFill>
                      <a:srgbClr val="6A5237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p>
                      <a:pPr indent="0"/>
                      <a:r>
                        <a:rPr lang="en-US" b="1" sz="1050">
                          <a:solidFill>
                            <a:srgbClr val="9093B8"/>
                          </a:solidFill>
                          <a:latin typeface="Tahoma"/>
                        </a:rPr>
                        <a:t>■</a:t>
                      </a:r>
                    </a:p>
                  </a:txBody>
                  <a:tcPr marL="0" marR="0" marT="0" marB="0" anchor="ctr">
                    <a:solidFill>
                      <a:srgbClr val="5C4F71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p>
                      <a:endParaRPr sz="500"/>
                    </a:p>
                  </a:txBody>
                  <a:tcPr marL="0" marR="0" marT="0" marB="0">
                    <a:solidFill>
                      <a:srgbClr val="38394A"/>
                    </a:solidFill>
                  </a:tcPr>
                </a:tc>
              </a:tr>
              <a:tr h="112776">
                <a:tc gridSpan="3">
                  <a:txBody>
                    <a:bodyPr lIns="0" tIns="0" rIns="0" bIns="0">
                      <a:noAutofit/>
                    </a:bodyPr>
                    <a:p>
                      <a:pPr indent="0"/>
                      <a:r>
                        <a:rPr lang="en-US" sz="500">
                          <a:solidFill>
                            <a:srgbClr val="9FC6A0"/>
                          </a:solidFill>
                          <a:latin typeface="Trebuchet MS"/>
                        </a:rPr>
                        <a:t>—</a:t>
                      </a:r>
                    </a:p>
                  </a:txBody>
                  <a:tcPr marL="0" marR="0" marT="0" marB="0" anchor="b">
                    <a:solidFill>
                      <a:srgbClr val="8E804F"/>
                    </a:solidFill>
                  </a:tcPr>
                </a:tc>
                <a:tc hMerge="1">
                  <a:txBody>
                    <a:bodyPr lIns="0" tIns="0" rIns="0" bIns="0">
                      <a:noAutofit/>
                    </a:bodyPr>
                    <a:p>
                      <a:endParaRPr sz="600"/>
                    </a:p>
                  </a:txBody>
                  <a:tcPr marL="0" marR="0" marT="0" marB="0"/>
                </a:tc>
                <a:tc hMerge="1">
                  <a:txBody>
                    <a:bodyPr lIns="0" tIns="0" rIns="0" bIns="0">
                      <a:noAutofit/>
                    </a:bodyPr>
                    <a:p>
                      <a:endParaRPr sz="600"/>
                    </a:p>
                  </a:txBody>
                  <a:tcPr marL="0" marR="0" marT="0" marB="0"/>
                </a:tc>
                <a:tc>
                  <a:txBody>
                    <a:bodyPr lIns="0" tIns="0" rIns="0" bIns="0">
                      <a:noAutofit/>
                    </a:bodyPr>
                    <a:p>
                      <a:pPr indent="0"/>
                      <a:r>
                        <a:rPr lang="en-US" b="1" sz="1050">
                          <a:solidFill>
                            <a:srgbClr val="878C9D"/>
                          </a:solidFill>
                          <a:latin typeface="Tahoma"/>
                        </a:rPr>
                        <a:t>Ul</a:t>
                      </a:r>
                    </a:p>
                  </a:txBody>
                  <a:tcPr marL="0" marR="0" marT="0" marB="0">
                    <a:solidFill>
                      <a:srgbClr val="5C4F7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"/>
          <p:cNvGraphicFramePr>
            <a:graphicFrameLocks noGrp="1"/>
          </p:cNvGraphicFramePr>
          <p:nvPr/>
        </p:nvGraphicFramePr>
        <p:xfrm>
          <a:off x="0" y="3675888"/>
          <a:ext cx="4493768" cy="664464"/>
        </p:xfrm>
        <a:graphic>
          <a:graphicData uri="http://schemas.openxmlformats.org/drawingml/2006/table">
            <a:tbl>
              <a:tblPr/>
              <a:tblGrid>
                <a:gridCol w="554736"/>
                <a:gridCol w="2243328"/>
                <a:gridCol w="208280"/>
                <a:gridCol w="1487424"/>
              </a:tblGrid>
              <a:tr h="137160">
                <a:tc gridSpan="2">
                  <a:txBody>
                    <a:bodyPr lIns="0" tIns="0" rIns="0" bIns="0">
                      <a:noAutofit/>
                    </a:bodyPr>
                    <a:p>
                      <a:endParaRPr sz="700"/>
                    </a:p>
                  </a:txBody>
                  <a:tcPr marL="0" marR="0" marT="0" marB="0">
                    <a:solidFill>
                      <a:srgbClr val="DADBD8"/>
                    </a:solidFill>
                  </a:tcPr>
                </a:tc>
                <a:tc hMerge="1">
                  <a:txBody>
                    <a:bodyPr lIns="0" tIns="0" rIns="0" bIns="0">
                      <a:noAutofit/>
                    </a:bodyPr>
                    <a:p>
                      <a:endParaRPr sz="700"/>
                    </a:p>
                  </a:txBody>
                  <a:tcPr marL="0" marR="0" marT="0" marB="0"/>
                </a:tc>
                <a:tc>
                  <a:txBody>
                    <a:bodyPr lIns="0" tIns="0" rIns="0" bIns="0">
                      <a:noAutofit/>
                    </a:bodyPr>
                    <a:p>
                      <a:endParaRPr sz="700"/>
                    </a:p>
                  </a:txBody>
                  <a:tcPr marL="0" marR="0" marT="0" marB="0">
                    <a:solidFill>
                      <a:srgbClr val="DADBD8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p>
                      <a:pPr marL="139700" indent="0"/>
                      <a:r>
                        <a:rPr lang="en-US" sz="800">
                          <a:solidFill>
                            <a:srgbClr val="79557E"/>
                          </a:solidFill>
                          <a:latin typeface="Times New Roman"/>
                        </a:rPr>
                        <a:t>^ILliUlV </a:t>
                      </a:r>
                      <a:r>
                        <a:rPr lang="en-US" sz="800">
                          <a:solidFill>
                            <a:srgbClr val="652B5F"/>
                          </a:solidFill>
                          <a:latin typeface="Times New Roman"/>
                        </a:rPr>
                        <a:t>ITTB^Vu* “'</a:t>
                      </a:r>
                    </a:p>
                  </a:txBody>
                  <a:tcPr marL="0" marR="0" marT="0" marB="0">
                    <a:solidFill>
                      <a:srgbClr val="C2C5C9"/>
                    </a:solidFill>
                  </a:tcPr>
                </a:tc>
              </a:tr>
              <a:tr h="103632">
                <a:tc gridSpan="2">
                  <a:txBody>
                    <a:bodyPr lIns="0" tIns="0" rIns="0" bIns="0">
                      <a:noAutofit/>
                    </a:bodyPr>
                    <a:p>
                      <a:endParaRPr sz="500"/>
                    </a:p>
                  </a:txBody>
                  <a:tcPr marL="0" marR="0" marT="0" marB="0">
                    <a:solidFill>
                      <a:srgbClr val="727172"/>
                    </a:solidFill>
                  </a:tcPr>
                </a:tc>
                <a:tc hMerge="1">
                  <a:txBody>
                    <a:bodyPr lIns="0" tIns="0" rIns="0" bIns="0">
                      <a:noAutofit/>
                    </a:bodyPr>
                    <a:p>
                      <a:endParaRPr sz="500"/>
                    </a:p>
                  </a:txBody>
                  <a:tcPr marL="0" marR="0" marT="0" marB="0"/>
                </a:tc>
                <a:tc>
                  <a:txBody>
                    <a:bodyPr lIns="0" tIns="0" rIns="0" bIns="0">
                      <a:noAutofit/>
                    </a:bodyPr>
                    <a:p>
                      <a:endParaRPr sz="500"/>
                    </a:p>
                  </a:txBody>
                  <a:tcPr marL="0" marR="0" marT="0" marB="0">
                    <a:solidFill>
                      <a:srgbClr val="DADBD8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p>
                      <a:endParaRPr sz="500"/>
                    </a:p>
                  </a:txBody>
                  <a:tcPr marL="0" marR="0" marT="0" marB="0">
                    <a:solidFill>
                      <a:srgbClr val="879AA9"/>
                    </a:solidFill>
                  </a:tcPr>
                </a:tc>
              </a:tr>
              <a:tr h="155448">
                <a:tc gridSpan="2">
                  <a:txBody>
                    <a:bodyPr lIns="0" tIns="0" rIns="0" bIns="0">
                      <a:noAutofit/>
                    </a:bodyPr>
                    <a:p>
                      <a:pPr indent="0"/>
                      <a:r>
                        <a:rPr lang="en-US" sz="800">
                          <a:solidFill>
                            <a:srgbClr val="17181F"/>
                          </a:solidFill>
                          <a:latin typeface="Times New Roman"/>
                        </a:rPr>
                        <a:t>tav .-. «iiH</a:t>
                      </a:r>
                      <a:r>
                        <a:rPr lang="en-US" baseline="30000" sz="800">
                          <a:solidFill>
                            <a:srgbClr val="17181F"/>
                          </a:solidFill>
                          <a:latin typeface="Times New Roman"/>
                        </a:rPr>
                        <a:t>h</a:t>
                      </a:r>
                      <a:r>
                        <a:rPr lang="en-US" sz="800">
                          <a:solidFill>
                            <a:srgbClr val="17181F"/>
                          </a:solidFill>
                          <a:latin typeface="Times New Roman"/>
                        </a:rPr>
                        <a:t> ■</a:t>
                      </a:r>
                    </a:p>
                  </a:txBody>
                  <a:tcPr marL="0" marR="0" marT="0" marB="0">
                    <a:solidFill>
                      <a:srgbClr val="DADBD8"/>
                    </a:solidFill>
                  </a:tcPr>
                </a:tc>
                <a:tc hMerge="1">
                  <a:txBody>
                    <a:bodyPr lIns="0" tIns="0" rIns="0" bIns="0">
                      <a:noAutofit/>
                    </a:bodyPr>
                    <a:p>
                      <a:endParaRPr sz="800"/>
                    </a:p>
                  </a:txBody>
                  <a:tcPr marL="0" marR="0" marT="0" marB="0"/>
                </a:tc>
                <a:tc>
                  <a:txBody>
                    <a:bodyPr lIns="0" tIns="0" rIns="0" bIns="0">
                      <a:noAutofit/>
                    </a:bodyPr>
                    <a:p>
                      <a:endParaRPr sz="800"/>
                    </a:p>
                  </a:txBody>
                  <a:tcPr marL="0" marR="0" marT="0" marB="0">
                    <a:solidFill>
                      <a:srgbClr val="DADBD8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p>
                      <a:endParaRPr sz="800"/>
                    </a:p>
                  </a:txBody>
                  <a:tcPr marL="0" marR="0" marT="0" marB="0">
                    <a:solidFill>
                      <a:srgbClr val="C2C5C9"/>
                    </a:solidFill>
                  </a:tcPr>
                </a:tc>
              </a:tr>
              <a:tr h="268224">
                <a:tc>
                  <a:txBody>
                    <a:bodyPr lIns="0" tIns="0" rIns="0" bIns="0">
                      <a:noAutofit/>
                    </a:bodyPr>
                    <a:p>
                      <a:endParaRPr sz="1300"/>
                    </a:p>
                  </a:txBody>
                  <a:tcPr marL="0" marR="0" marT="0" marB="0">
                    <a:solidFill>
                      <a:srgbClr val="A7A79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p>
                      <a:endParaRPr sz="1300"/>
                    </a:p>
                  </a:txBody>
                  <a:tcPr marL="0" marR="0" marT="0" marB="0">
                    <a:solidFill>
                      <a:srgbClr val="C2C5C9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p>
                      <a:endParaRPr sz="1300"/>
                    </a:p>
                  </a:txBody>
                  <a:tcPr marL="0" marR="0" marT="0" marB="0">
                    <a:solidFill>
                      <a:srgbClr val="DADBD8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p>
                      <a:pPr indent="0"/>
                      <a:r>
                        <a:rPr lang="en-US" sz="800">
                          <a:solidFill>
                            <a:srgbClr val="563785"/>
                          </a:solidFill>
                          <a:latin typeface="Times New Roman"/>
                        </a:rPr>
                        <a:t>i</a:t>
                      </a:r>
                    </a:p>
                  </a:txBody>
                  <a:tcPr marL="0" marR="0" marT="0" marB="0" anchor="b">
                    <a:solidFill>
                      <a:srgbClr val="C2C5C9"/>
                    </a:solidFill>
                  </a:tcPr>
                </a:tc>
              </a:tr>
            </a:tbl>
          </a:graphicData>
        </a:graphic>
      </p:graphicFrame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"/>
          <p:cNvSpPr/>
          <p:nvPr/>
        </p:nvSpPr>
        <p:spPr>
          <a:xfrm>
            <a:off x="6513576" y="445008"/>
            <a:ext cx="1892808" cy="149352"/>
          </a:xfrm>
          <a:prstGeom prst="rect">
            <a:avLst/>
          </a:prstGeom>
          <a:solidFill>
            <a:srgbClr val="241818"/>
          </a:solidFill>
        </p:spPr>
        <p:txBody>
          <a:bodyPr lIns="0" tIns="0" rIns="0" bIns="0" wrap="none">
            <a:noAutofit/>
          </a:bodyPr>
          <a:p>
            <a:pPr algn="just" indent="0"/>
            <a:r>
              <a:rPr lang="en-US" sz="1100" spc="300">
                <a:solidFill>
                  <a:srgbClr val="BAB0A8"/>
                </a:solidFill>
                <a:latin typeface="Tahoma"/>
              </a:rPr>
              <a:t>03    • THE PROBLEM</a:t>
            </a:r>
          </a:p>
        </p:txBody>
      </p:sp>
      <p:sp>
        <p:nvSpPr>
          <p:cNvPr id="3" name=""/>
          <p:cNvSpPr/>
          <p:nvPr/>
        </p:nvSpPr>
        <p:spPr>
          <a:xfrm>
            <a:off x="917448" y="1002792"/>
            <a:ext cx="7242048" cy="6729984"/>
          </a:xfrm>
          <a:prstGeom prst="rect">
            <a:avLst/>
          </a:prstGeom>
          <a:solidFill>
            <a:srgbClr val="241818"/>
          </a:solidFill>
        </p:spPr>
        <p:txBody>
          <a:bodyPr lIns="0" tIns="0" rIns="0" bIns="0">
            <a:noAutofit/>
          </a:bodyPr>
          <a:p>
            <a:pPr algn="just" indent="0">
              <a:spcAft>
                <a:spcPts val="1680"/>
              </a:spcAft>
            </a:pPr>
            <a:r>
              <a:rPr lang="en-US" sz="1800" spc="450">
                <a:solidFill>
                  <a:srgbClr val="B99056"/>
                </a:solidFill>
                <a:latin typeface="Sylfaen"/>
              </a:rPr>
              <a:t>- THE PROBLEM</a:t>
            </a:r>
          </a:p>
          <a:p>
            <a:pPr indent="0">
              <a:lnSpc>
                <a:spcPts val="6600"/>
              </a:lnSpc>
              <a:spcAft>
                <a:spcPts val="1050"/>
              </a:spcAft>
            </a:pPr>
            <a:r>
              <a:rPr lang="en-US" sz="6400">
                <a:solidFill>
                  <a:srgbClr val="FFFFFF"/>
                </a:solidFill>
                <a:latin typeface="Sylfaen"/>
              </a:rPr>
              <a:t>For a girl in a rural residential school, her period costs her </a:t>
            </a:r>
            <a:r>
              <a:rPr lang="en-US" sz="6400">
                <a:solidFill>
                  <a:srgbClr val="B99056"/>
                </a:solidFill>
                <a:latin typeface="Sylfaen"/>
              </a:rPr>
              <a:t>jive </a:t>
            </a:r>
            <a:r>
              <a:rPr lang="en-US" i="1" sz="6400" spc="-200">
                <a:solidFill>
                  <a:srgbClr val="B99056"/>
                </a:solidFill>
                <a:latin typeface="Sylfaen"/>
              </a:rPr>
              <a:t>school days every month.</a:t>
            </a:r>
          </a:p>
          <a:p>
            <a:pPr indent="0">
              <a:lnSpc>
                <a:spcPts val="3024"/>
              </a:lnSpc>
            </a:pPr>
            <a:r>
              <a:rPr lang="en-US" sz="2300">
                <a:solidFill>
                  <a:srgbClr val="D0C4BC"/>
                </a:solidFill>
                <a:latin typeface="Sylfaen"/>
              </a:rPr>
              <a:t>Across MJPTBCWREIS campuses, menstruation collides with three failures at once: no awareness, no reliable products, and nowhere safe to dispose of waste. The result is silence, shame, and absence. </a:t>
            </a:r>
            <a:r>
              <a:rPr lang="en-US" baseline="30000" sz="2300">
                <a:solidFill>
                  <a:srgbClr val="D0C4BC"/>
                </a:solidFill>
                <a:latin typeface="Sylfaen"/>
              </a:rPr>
              <a:t>★</a:t>
            </a:r>
          </a:p>
        </p:txBody>
      </p:sp>
      <p:sp>
        <p:nvSpPr>
          <p:cNvPr id="4" name=""/>
          <p:cNvSpPr/>
          <p:nvPr/>
        </p:nvSpPr>
        <p:spPr>
          <a:xfrm>
            <a:off x="932688" y="9272016"/>
            <a:ext cx="4715256" cy="140208"/>
          </a:xfrm>
          <a:prstGeom prst="rect">
            <a:avLst/>
          </a:prstGeom>
          <a:solidFill>
            <a:srgbClr val="241818"/>
          </a:solidFill>
        </p:spPr>
        <p:txBody>
          <a:bodyPr lIns="0" tIns="0" rIns="0" bIns="0" wrap="none">
            <a:noAutofit/>
          </a:bodyPr>
          <a:p>
            <a:pPr indent="0"/>
            <a:r>
              <a:rPr lang="en-US" sz="1100" spc="200">
                <a:solidFill>
                  <a:srgbClr val="968D86"/>
                </a:solidFill>
                <a:latin typeface="Consolas"/>
              </a:rPr>
              <a:t>★ TELANGANA GOVERNOR'S EXCELLENCE AWARD 2025</a:t>
            </a:r>
          </a:p>
        </p:txBody>
      </p:sp>
      <p:sp>
        <p:nvSpPr>
          <p:cNvPr id="5" name=""/>
          <p:cNvSpPr/>
          <p:nvPr/>
        </p:nvSpPr>
        <p:spPr>
          <a:xfrm>
            <a:off x="6172200" y="9268968"/>
            <a:ext cx="2234184" cy="134112"/>
          </a:xfrm>
          <a:prstGeom prst="rect">
            <a:avLst/>
          </a:prstGeom>
          <a:solidFill>
            <a:srgbClr val="241818"/>
          </a:solidFill>
        </p:spPr>
        <p:txBody>
          <a:bodyPr lIns="0" tIns="0" rIns="0" bIns="0" wrap="none">
            <a:noAutofit/>
          </a:bodyPr>
          <a:p>
            <a:pPr algn="just" indent="0"/>
            <a:r>
              <a:rPr lang="en-US" sz="1100" spc="200">
                <a:solidFill>
                  <a:srgbClr val="968D86"/>
                </a:solidFill>
                <a:latin typeface="Consolas"/>
              </a:rPr>
              <a:t>STHREE SWABHIMAN •    03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"/>
          <p:cNvPicPr>
            <a:picLocks noChangeAspect="1"/>
          </p:cNvPicPr>
          <p:nvPr/>
        </p:nvPicPr>
        <p:blipFill>
          <a:blip r:embed="rPictId0"/>
          <a:stretch>
            <a:fillRect/>
          </a:stretch>
        </p:blipFill>
        <p:spPr>
          <a:xfrm>
            <a:off x="5507736" y="3124200"/>
            <a:ext cx="2414016" cy="1295400"/>
          </a:xfrm>
          <a:prstGeom prst="rect">
            <a:avLst/>
          </a:prstGeom>
        </p:spPr>
      </p:pic>
      <p:pic>
        <p:nvPicPr>
          <p:cNvPr id="3" name=""/>
          <p:cNvPicPr>
            <a:picLocks noChangeAspect="1"/>
          </p:cNvPicPr>
          <p:nvPr/>
        </p:nvPicPr>
        <p:blipFill>
          <a:blip r:embed="rPictId1"/>
          <a:stretch>
            <a:fillRect/>
          </a:stretch>
        </p:blipFill>
        <p:spPr>
          <a:xfrm>
            <a:off x="9509760" y="3124200"/>
            <a:ext cx="859536" cy="1295400"/>
          </a:xfrm>
          <a:prstGeom prst="rect">
            <a:avLst/>
          </a:prstGeom>
        </p:spPr>
      </p:pic>
      <p:pic>
        <p:nvPicPr>
          <p:cNvPr id="4" name=""/>
          <p:cNvPicPr>
            <a:picLocks noChangeAspect="1"/>
          </p:cNvPicPr>
          <p:nvPr/>
        </p:nvPicPr>
        <p:blipFill>
          <a:blip r:embed="rPictId2"/>
          <a:stretch>
            <a:fillRect/>
          </a:stretch>
        </p:blipFill>
        <p:spPr>
          <a:xfrm>
            <a:off x="13627608" y="3139440"/>
            <a:ext cx="1191768" cy="1258824"/>
          </a:xfrm>
          <a:prstGeom prst="rect">
            <a:avLst/>
          </a:prstGeom>
        </p:spPr>
      </p:pic>
      <p:sp>
        <p:nvSpPr>
          <p:cNvPr id="5" name=""/>
          <p:cNvSpPr/>
          <p:nvPr/>
        </p:nvSpPr>
        <p:spPr>
          <a:xfrm>
            <a:off x="1027176" y="445008"/>
            <a:ext cx="2221992" cy="149352"/>
          </a:xfrm>
          <a:prstGeom prst="rect">
            <a:avLst/>
          </a:prstGeom>
          <a:solidFill>
            <a:srgbClr val="F5EBE1"/>
          </a:solidFill>
        </p:spPr>
        <p:txBody>
          <a:bodyPr lIns="0" tIns="0" rIns="0" bIns="0" wrap="none">
            <a:noAutofit/>
          </a:bodyPr>
          <a:p>
            <a:pPr indent="0"/>
            <a:r>
              <a:rPr lang="en-US" sz="1100" spc="300">
                <a:solidFill>
                  <a:srgbClr val="78292E"/>
                </a:solidFill>
                <a:latin typeface="Tahoma"/>
              </a:rPr>
              <a:t>• </a:t>
            </a:r>
            <a:r>
              <a:rPr lang="en-US" sz="1100" spc="300">
                <a:solidFill>
                  <a:srgbClr val="68686F"/>
                </a:solidFill>
                <a:latin typeface="Tahoma"/>
              </a:rPr>
              <a:t>STHREE SWABHIMAN</a:t>
            </a:r>
          </a:p>
        </p:txBody>
      </p:sp>
      <p:sp>
        <p:nvSpPr>
          <p:cNvPr id="6" name=""/>
          <p:cNvSpPr/>
          <p:nvPr/>
        </p:nvSpPr>
        <p:spPr>
          <a:xfrm>
            <a:off x="14971776" y="445008"/>
            <a:ext cx="2249424" cy="149352"/>
          </a:xfrm>
          <a:prstGeom prst="rect">
            <a:avLst/>
          </a:prstGeom>
          <a:solidFill>
            <a:srgbClr val="F5EBE1"/>
          </a:solidFill>
        </p:spPr>
        <p:txBody>
          <a:bodyPr lIns="0" tIns="0" rIns="0" bIns="0" wrap="none">
            <a:noAutofit/>
          </a:bodyPr>
          <a:p>
            <a:pPr algn="just" indent="0"/>
            <a:r>
              <a:rPr lang="en-US" sz="1100" spc="300">
                <a:solidFill>
                  <a:srgbClr val="68686F"/>
                </a:solidFill>
                <a:latin typeface="Tahoma"/>
              </a:rPr>
              <a:t>04    • WHY IT MATTERS</a:t>
            </a:r>
          </a:p>
        </p:txBody>
      </p:sp>
      <p:sp>
        <p:nvSpPr>
          <p:cNvPr id="7" name=""/>
          <p:cNvSpPr/>
          <p:nvPr/>
        </p:nvSpPr>
        <p:spPr>
          <a:xfrm>
            <a:off x="1057656" y="1002792"/>
            <a:ext cx="9805416" cy="1091184"/>
          </a:xfrm>
          <a:prstGeom prst="rect">
            <a:avLst/>
          </a:prstGeom>
          <a:solidFill>
            <a:srgbClr val="F5EBE1"/>
          </a:solidFill>
        </p:spPr>
        <p:txBody>
          <a:bodyPr lIns="0" tIns="0" rIns="0" bIns="0">
            <a:noAutofit/>
          </a:bodyPr>
          <a:p>
            <a:pPr algn="just" indent="0">
              <a:spcAft>
                <a:spcPts val="1470"/>
              </a:spcAft>
            </a:pPr>
            <a:r>
              <a:rPr lang="en-US" sz="1800" spc="450">
                <a:solidFill>
                  <a:srgbClr val="78292E"/>
                </a:solidFill>
                <a:latin typeface="Sylfaen"/>
              </a:rPr>
              <a:t>- FOUR REALITIES OF PERIOD POVERTY</a:t>
            </a:r>
          </a:p>
          <a:p>
            <a:pPr indent="0"/>
            <a:r>
              <a:rPr lang="en-US" b="1" sz="4800">
                <a:solidFill>
                  <a:srgbClr val="17181F"/>
                </a:solidFill>
                <a:latin typeface="Sylfaen"/>
              </a:rPr>
              <a:t>The scale of the gap, in four numbers.</a:t>
            </a:r>
          </a:p>
        </p:txBody>
      </p:sp>
      <p:sp>
        <p:nvSpPr>
          <p:cNvPr id="8" name=""/>
          <p:cNvSpPr/>
          <p:nvPr/>
        </p:nvSpPr>
        <p:spPr>
          <a:xfrm>
            <a:off x="1353312" y="3121152"/>
            <a:ext cx="2673096" cy="1313688"/>
          </a:xfrm>
          <a:prstGeom prst="rect">
            <a:avLst/>
          </a:prstGeom>
          <a:solidFill>
            <a:srgbClr val="F5EBE1"/>
          </a:solidFill>
        </p:spPr>
        <p:txBody>
          <a:bodyPr lIns="0" tIns="0" rIns="0" bIns="0" wrap="none">
            <a:noAutofit/>
          </a:bodyPr>
          <a:p>
            <a:pPr indent="0"/>
            <a:r>
              <a:rPr lang="en-US" sz="13400" spc="-700">
                <a:solidFill>
                  <a:srgbClr val="78292E"/>
                </a:solidFill>
                <a:latin typeface="Tahoma"/>
              </a:rPr>
              <a:t>4-5</a:t>
            </a:r>
          </a:p>
        </p:txBody>
      </p:sp>
      <p:sp>
        <p:nvSpPr>
          <p:cNvPr id="9" name=""/>
          <p:cNvSpPr/>
          <p:nvPr/>
        </p:nvSpPr>
        <p:spPr>
          <a:xfrm>
            <a:off x="1338072" y="7327392"/>
            <a:ext cx="3310128" cy="1124712"/>
          </a:xfrm>
          <a:prstGeom prst="rect">
            <a:avLst/>
          </a:prstGeom>
          <a:solidFill>
            <a:srgbClr val="F5EBE1"/>
          </a:solidFill>
        </p:spPr>
        <p:txBody>
          <a:bodyPr lIns="0" tIns="0" rIns="0" bIns="0">
            <a:noAutofit/>
          </a:bodyPr>
          <a:p>
            <a:pPr indent="0">
              <a:spcAft>
                <a:spcPts val="1050"/>
              </a:spcAft>
            </a:pPr>
            <a:r>
              <a:rPr lang="en-US" sz="1100" spc="200">
                <a:solidFill>
                  <a:srgbClr val="68686F"/>
                </a:solidFill>
                <a:latin typeface="Consolas"/>
              </a:rPr>
              <a:t>SCHOOL DAYS LOST</a:t>
            </a:r>
          </a:p>
          <a:p>
            <a:pPr indent="0">
              <a:lnSpc>
                <a:spcPts val="2400"/>
              </a:lnSpc>
            </a:pPr>
            <a:r>
              <a:rPr lang="en-US" b="1" sz="1400">
                <a:solidFill>
                  <a:srgbClr val="3C3D41"/>
                </a:solidFill>
                <a:latin typeface="Tahoma"/>
              </a:rPr>
              <a:t>Days each girl in a residential institution misses every month due to menstruation.</a:t>
            </a:r>
          </a:p>
        </p:txBody>
      </p:sp>
      <p:sp>
        <p:nvSpPr>
          <p:cNvPr id="10" name=""/>
          <p:cNvSpPr/>
          <p:nvPr/>
        </p:nvSpPr>
        <p:spPr>
          <a:xfrm>
            <a:off x="5391912" y="7632192"/>
            <a:ext cx="3374136" cy="859536"/>
          </a:xfrm>
          <a:prstGeom prst="rect">
            <a:avLst/>
          </a:prstGeom>
          <a:solidFill>
            <a:srgbClr val="F5EBE1"/>
          </a:solidFill>
        </p:spPr>
        <p:txBody>
          <a:bodyPr lIns="0" tIns="0" rIns="0" bIns="0">
            <a:noAutofit/>
          </a:bodyPr>
          <a:p>
            <a:pPr algn="just" indent="0">
              <a:spcAft>
                <a:spcPts val="1050"/>
              </a:spcAft>
            </a:pPr>
            <a:r>
              <a:rPr lang="en-US" sz="1100" spc="200">
                <a:solidFill>
                  <a:srgbClr val="68686F"/>
                </a:solidFill>
                <a:latin typeface="Consolas"/>
              </a:rPr>
              <a:t>UNSAFE ALTERNATIVES</a:t>
            </a:r>
          </a:p>
          <a:p>
            <a:pPr algn="just" indent="0">
              <a:lnSpc>
                <a:spcPts val="2424"/>
              </a:lnSpc>
            </a:pPr>
            <a:r>
              <a:rPr lang="en-US" b="1" sz="1400">
                <a:solidFill>
                  <a:srgbClr val="3C3D41"/>
                </a:solidFill>
                <a:latin typeface="Tahoma"/>
              </a:rPr>
              <a:t>Of rural girls still use cloth, paper or ash in place of sanitary protection.</a:t>
            </a:r>
          </a:p>
        </p:txBody>
      </p:sp>
      <p:sp>
        <p:nvSpPr>
          <p:cNvPr id="11" name=""/>
          <p:cNvSpPr/>
          <p:nvPr/>
        </p:nvSpPr>
        <p:spPr>
          <a:xfrm>
            <a:off x="9436608" y="7327392"/>
            <a:ext cx="2980944" cy="1164336"/>
          </a:xfrm>
          <a:prstGeom prst="rect">
            <a:avLst/>
          </a:prstGeom>
          <a:solidFill>
            <a:srgbClr val="F5EBE1"/>
          </a:solidFill>
        </p:spPr>
        <p:txBody>
          <a:bodyPr lIns="0" tIns="0" rIns="0" bIns="0">
            <a:noAutofit/>
          </a:bodyPr>
          <a:p>
            <a:pPr indent="0">
              <a:spcAft>
                <a:spcPts val="1050"/>
              </a:spcAft>
            </a:pPr>
            <a:r>
              <a:rPr lang="en-US" sz="1100" spc="200">
                <a:solidFill>
                  <a:srgbClr val="68686F"/>
                </a:solidFill>
                <a:latin typeface="Consolas"/>
              </a:rPr>
              <a:t>SAFE DISPOSAL SITES</a:t>
            </a:r>
          </a:p>
          <a:p>
            <a:pPr indent="0">
              <a:lnSpc>
                <a:spcPts val="2400"/>
              </a:lnSpc>
            </a:pPr>
            <a:r>
              <a:rPr lang="en-US" b="1" sz="1400">
                <a:solidFill>
                  <a:srgbClr val="3C3D41"/>
                </a:solidFill>
                <a:latin typeface="Tahoma"/>
              </a:rPr>
              <a:t>Most MJPTBCWREIS campuses have no incinerator — waste is openly burned or buried.</a:t>
            </a:r>
          </a:p>
        </p:txBody>
      </p:sp>
      <p:sp>
        <p:nvSpPr>
          <p:cNvPr id="12" name=""/>
          <p:cNvSpPr/>
          <p:nvPr/>
        </p:nvSpPr>
        <p:spPr>
          <a:xfrm>
            <a:off x="13481304" y="7327392"/>
            <a:ext cx="3252216" cy="1167384"/>
          </a:xfrm>
          <a:prstGeom prst="rect">
            <a:avLst/>
          </a:prstGeom>
          <a:solidFill>
            <a:srgbClr val="F5EBE1"/>
          </a:solidFill>
        </p:spPr>
        <p:txBody>
          <a:bodyPr lIns="0" tIns="0" rIns="0" bIns="0">
            <a:noAutofit/>
          </a:bodyPr>
          <a:p>
            <a:pPr indent="0">
              <a:spcAft>
                <a:spcPts val="1050"/>
              </a:spcAft>
            </a:pPr>
            <a:r>
              <a:rPr lang="en-US" sz="1100" spc="200">
                <a:solidFill>
                  <a:srgbClr val="68686F"/>
                </a:solidFill>
                <a:latin typeface="Consolas"/>
              </a:rPr>
              <a:t>STRUCTURED SESSIONS</a:t>
            </a:r>
          </a:p>
          <a:p>
            <a:pPr indent="0">
              <a:lnSpc>
                <a:spcPts val="2400"/>
              </a:lnSpc>
            </a:pPr>
            <a:r>
              <a:rPr lang="en-US" b="1" sz="1400">
                <a:solidFill>
                  <a:srgbClr val="3C3D41"/>
                </a:solidFill>
                <a:latin typeface="Tahoma"/>
              </a:rPr>
              <a:t>The number of menstrual hygiene sessions most girls receive in their entire schooling.</a:t>
            </a:r>
          </a:p>
        </p:txBody>
      </p:sp>
      <p:sp>
        <p:nvSpPr>
          <p:cNvPr id="13" name=""/>
          <p:cNvSpPr/>
          <p:nvPr/>
        </p:nvSpPr>
        <p:spPr>
          <a:xfrm>
            <a:off x="1045464" y="9156192"/>
            <a:ext cx="8656320" cy="256032"/>
          </a:xfrm>
          <a:prstGeom prst="rect">
            <a:avLst/>
          </a:prstGeom>
          <a:solidFill>
            <a:srgbClr val="F5EBE1"/>
          </a:solidFill>
        </p:spPr>
        <p:txBody>
          <a:bodyPr lIns="0" tIns="0" rIns="0" bIns="0" wrap="none">
            <a:noAutofit/>
          </a:bodyPr>
          <a:p>
            <a:pPr indent="0"/>
            <a:r>
              <a:rPr lang="en-US" b="1" i="1" sz="1600" spc="-50">
                <a:solidFill>
                  <a:srgbClr val="68686F"/>
                </a:solidFill>
                <a:latin typeface="Tahoma"/>
              </a:rPr>
              <a:t>Source: Programme baseline survey</a:t>
            </a:r>
            <a:r>
              <a:rPr lang="en-US" sz="3000">
                <a:solidFill>
                  <a:srgbClr val="68686F"/>
                </a:solidFill>
                <a:latin typeface="Sylfaen"/>
              </a:rPr>
              <a:t>; </a:t>
            </a:r>
            <a:r>
              <a:rPr lang="en-US" b="1" i="1" sz="1600" spc="-50">
                <a:solidFill>
                  <a:srgbClr val="68686F"/>
                </a:solidFill>
                <a:latin typeface="Tahoma"/>
              </a:rPr>
              <a:t>MJPTBCWREIS pilot</a:t>
            </a:r>
            <a:r>
              <a:rPr lang="en-US" sz="3000">
                <a:solidFill>
                  <a:srgbClr val="68686F"/>
                </a:solidFill>
                <a:latin typeface="Sylfaen"/>
              </a:rPr>
              <a:t>, </a:t>
            </a:r>
            <a:r>
              <a:rPr lang="en-US" b="1" i="1" sz="1600" spc="-50">
                <a:solidFill>
                  <a:srgbClr val="68686F"/>
                </a:solidFill>
                <a:latin typeface="Tahoma"/>
              </a:rPr>
              <a:t>Warangal Dist., Nov 2025.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"/>
          <p:cNvSpPr/>
          <p:nvPr/>
        </p:nvSpPr>
        <p:spPr>
          <a:xfrm>
            <a:off x="1027176" y="445008"/>
            <a:ext cx="2221992" cy="149352"/>
          </a:xfrm>
          <a:prstGeom prst="rect">
            <a:avLst/>
          </a:prstGeom>
          <a:solidFill>
            <a:srgbClr val="F5EBE1"/>
          </a:solidFill>
        </p:spPr>
        <p:txBody>
          <a:bodyPr lIns="0" tIns="0" rIns="0" bIns="0" wrap="none">
            <a:noAutofit/>
          </a:bodyPr>
          <a:p>
            <a:pPr indent="0"/>
            <a:r>
              <a:rPr lang="en-US" sz="1100" spc="300">
                <a:solidFill>
                  <a:srgbClr val="78292E"/>
                </a:solidFill>
                <a:latin typeface="Tahoma"/>
              </a:rPr>
              <a:t>• </a:t>
            </a:r>
            <a:r>
              <a:rPr lang="en-US" sz="1100" spc="300">
                <a:solidFill>
                  <a:srgbClr val="68686F"/>
                </a:solidFill>
                <a:latin typeface="Tahoma"/>
              </a:rPr>
              <a:t>STHREE SWABHIMAN</a:t>
            </a:r>
          </a:p>
        </p:txBody>
      </p:sp>
      <p:sp>
        <p:nvSpPr>
          <p:cNvPr id="3" name=""/>
          <p:cNvSpPr/>
          <p:nvPr/>
        </p:nvSpPr>
        <p:spPr>
          <a:xfrm>
            <a:off x="15209520" y="445008"/>
            <a:ext cx="2008632" cy="149352"/>
          </a:xfrm>
          <a:prstGeom prst="rect">
            <a:avLst/>
          </a:prstGeom>
          <a:solidFill>
            <a:srgbClr val="F5EBE1"/>
          </a:solidFill>
        </p:spPr>
        <p:txBody>
          <a:bodyPr lIns="0" tIns="0" rIns="0" bIns="0" wrap="none">
            <a:noAutofit/>
          </a:bodyPr>
          <a:p>
            <a:pPr algn="just" indent="0"/>
            <a:r>
              <a:rPr lang="en-US" sz="1100" spc="300">
                <a:solidFill>
                  <a:srgbClr val="68686F"/>
                </a:solidFill>
                <a:latin typeface="Tahoma"/>
              </a:rPr>
              <a:t>05    • OUR RESPONSE</a:t>
            </a:r>
          </a:p>
        </p:txBody>
      </p:sp>
      <p:sp>
        <p:nvSpPr>
          <p:cNvPr id="4" name=""/>
          <p:cNvSpPr/>
          <p:nvPr/>
        </p:nvSpPr>
        <p:spPr>
          <a:xfrm>
            <a:off x="1039368" y="1002792"/>
            <a:ext cx="13859256" cy="1731264"/>
          </a:xfrm>
          <a:prstGeom prst="rect">
            <a:avLst/>
          </a:prstGeom>
          <a:solidFill>
            <a:srgbClr val="F5EBE1"/>
          </a:solidFill>
        </p:spPr>
        <p:txBody>
          <a:bodyPr lIns="0" tIns="0" rIns="0" bIns="0">
            <a:noAutofit/>
          </a:bodyPr>
          <a:p>
            <a:pPr algn="just" indent="0">
              <a:spcAft>
                <a:spcPts val="1470"/>
              </a:spcAft>
            </a:pPr>
            <a:r>
              <a:rPr lang="en-US" sz="1800" spc="450">
                <a:solidFill>
                  <a:srgbClr val="78292E"/>
                </a:solidFill>
                <a:latin typeface="Sylfaen"/>
              </a:rPr>
              <a:t>- OUR RESPONSE</a:t>
            </a:r>
          </a:p>
          <a:p>
            <a:pPr indent="0">
              <a:lnSpc>
                <a:spcPts val="4992"/>
              </a:lnSpc>
            </a:pPr>
            <a:r>
              <a:rPr lang="en-US" b="1" sz="4800">
                <a:solidFill>
                  <a:srgbClr val="17181F"/>
                </a:solidFill>
                <a:latin typeface="Sylfaen"/>
              </a:rPr>
              <a:t>A four-part programme, delivered annually, designed to </a:t>
            </a:r>
            <a:r>
              <a:rPr lang="en-US" i="1" sz="4800" spc="-150">
                <a:solidFill>
                  <a:srgbClr val="78292E"/>
                </a:solidFill>
                <a:latin typeface="Sylfaen"/>
              </a:rPr>
              <a:t>graduate to institutional self-reliance</a:t>
            </a:r>
            <a:r>
              <a:rPr lang="en-US" b="1" sz="4800">
                <a:solidFill>
                  <a:srgbClr val="78292E"/>
                </a:solidFill>
                <a:latin typeface="Sylfaen"/>
              </a:rPr>
              <a:t> </a:t>
            </a:r>
            <a:r>
              <a:rPr lang="en-US" b="1" sz="4800">
                <a:solidFill>
                  <a:srgbClr val="17181F"/>
                </a:solidFill>
                <a:latin typeface="Sylfaen"/>
              </a:rPr>
              <a:t>by Year 3.</a:t>
            </a:r>
          </a:p>
        </p:txBody>
      </p:sp>
      <p:sp>
        <p:nvSpPr>
          <p:cNvPr id="5" name=""/>
          <p:cNvSpPr/>
          <p:nvPr/>
        </p:nvSpPr>
        <p:spPr>
          <a:xfrm>
            <a:off x="1298448" y="3432048"/>
            <a:ext cx="3300984" cy="2167128"/>
          </a:xfrm>
          <a:prstGeom prst="rect">
            <a:avLst/>
          </a:prstGeom>
        </p:spPr>
        <p:txBody>
          <a:bodyPr lIns="0" tIns="0" rIns="0" bIns="0">
            <a:noAutofit/>
          </a:bodyPr>
          <a:p>
            <a:pPr algn="just" indent="0">
              <a:spcAft>
                <a:spcPts val="1050"/>
              </a:spcAft>
            </a:pPr>
            <a:r>
              <a:rPr lang="en-US" sz="1100" spc="200">
                <a:solidFill>
                  <a:srgbClr val="78292E"/>
                </a:solidFill>
                <a:latin typeface="Consolas"/>
              </a:rPr>
              <a:t>PILLAR 01    • AWARENESS</a:t>
            </a:r>
          </a:p>
          <a:p>
            <a:pPr indent="0">
              <a:lnSpc>
                <a:spcPts val="2592"/>
              </a:lnSpc>
              <a:spcAft>
                <a:spcPts val="210"/>
              </a:spcAft>
            </a:pPr>
            <a:r>
              <a:rPr lang="en-US" b="1" sz="2300">
                <a:solidFill>
                  <a:srgbClr val="17181F"/>
                </a:solidFill>
                <a:latin typeface="Sylfaen"/>
              </a:rPr>
              <a:t>Structured MHM sessions in every institution, every year.</a:t>
            </a:r>
          </a:p>
          <a:p>
            <a:pPr indent="0">
              <a:lnSpc>
                <a:spcPts val="2016"/>
              </a:lnSpc>
            </a:pPr>
            <a:r>
              <a:rPr lang="en-US" b="1" sz="1200">
                <a:solidFill>
                  <a:srgbClr val="3C3D41"/>
                </a:solidFill>
                <a:latin typeface="Tahoma"/>
              </a:rPr>
              <a:t>One-day workshops on menstrual cycle, hygiene, myth-busting, and emotional well-being — delivered in Telugu.</a:t>
            </a:r>
          </a:p>
        </p:txBody>
      </p:sp>
      <p:sp>
        <p:nvSpPr>
          <p:cNvPr id="6" name=""/>
          <p:cNvSpPr/>
          <p:nvPr/>
        </p:nvSpPr>
        <p:spPr>
          <a:xfrm>
            <a:off x="1313688" y="9022080"/>
            <a:ext cx="1642872" cy="149352"/>
          </a:xfrm>
          <a:prstGeom prst="rect">
            <a:avLst/>
          </a:prstGeom>
        </p:spPr>
        <p:txBody>
          <a:bodyPr lIns="0" tIns="0" rIns="0" bIns="0" wrap="none">
            <a:noAutofit/>
          </a:bodyPr>
          <a:p>
            <a:pPr indent="0"/>
            <a:r>
              <a:rPr lang="en-US" sz="1100" spc="200">
                <a:solidFill>
                  <a:srgbClr val="68686F"/>
                </a:solidFill>
                <a:latin typeface="Consolas"/>
              </a:rPr>
              <a:t>275 SESSIONS / YR</a:t>
            </a:r>
          </a:p>
        </p:txBody>
      </p:sp>
      <p:sp>
        <p:nvSpPr>
          <p:cNvPr id="7" name=""/>
          <p:cNvSpPr/>
          <p:nvPr/>
        </p:nvSpPr>
        <p:spPr>
          <a:xfrm>
            <a:off x="5425440" y="3432048"/>
            <a:ext cx="3081528" cy="2167128"/>
          </a:xfrm>
          <a:prstGeom prst="rect">
            <a:avLst/>
          </a:prstGeom>
        </p:spPr>
        <p:txBody>
          <a:bodyPr lIns="0" tIns="0" rIns="0" bIns="0">
            <a:noAutofit/>
          </a:bodyPr>
          <a:p>
            <a:pPr algn="just" indent="0">
              <a:spcAft>
                <a:spcPts val="1050"/>
              </a:spcAft>
            </a:pPr>
            <a:r>
              <a:rPr lang="en-US" sz="1100" spc="200">
                <a:solidFill>
                  <a:srgbClr val="78292E"/>
                </a:solidFill>
                <a:latin typeface="Consolas"/>
              </a:rPr>
              <a:t>PILLAR 02    • ACCESS</a:t>
            </a:r>
          </a:p>
          <a:p>
            <a:pPr indent="0">
              <a:lnSpc>
                <a:spcPts val="2568"/>
              </a:lnSpc>
              <a:spcAft>
                <a:spcPts val="210"/>
              </a:spcAft>
            </a:pPr>
            <a:r>
              <a:rPr lang="en-US" b="1" sz="2300">
                <a:solidFill>
                  <a:srgbClr val="17181F"/>
                </a:solidFill>
                <a:latin typeface="Sylfaen"/>
              </a:rPr>
              <a:t>Starter kits placed in the hands of every newly-enrolled girl.</a:t>
            </a:r>
          </a:p>
          <a:p>
            <a:pPr indent="0">
              <a:lnSpc>
                <a:spcPts val="2040"/>
              </a:lnSpc>
            </a:pPr>
            <a:r>
              <a:rPr lang="en-US" b="1" sz="1200">
                <a:solidFill>
                  <a:srgbClr val="3C3D41"/>
                </a:solidFill>
                <a:latin typeface="Tahoma"/>
              </a:rPr>
              <a:t>12 sanitary napkin packs per girl, with a user guide and demonstration on safe disposal practice.</a:t>
            </a:r>
          </a:p>
        </p:txBody>
      </p:sp>
      <p:sp>
        <p:nvSpPr>
          <p:cNvPr id="8" name=""/>
          <p:cNvSpPr/>
          <p:nvPr/>
        </p:nvSpPr>
        <p:spPr>
          <a:xfrm>
            <a:off x="5425440" y="9022080"/>
            <a:ext cx="1551432" cy="149352"/>
          </a:xfrm>
          <a:prstGeom prst="rect">
            <a:avLst/>
          </a:prstGeom>
        </p:spPr>
        <p:txBody>
          <a:bodyPr lIns="0" tIns="0" rIns="0" bIns="0" wrap="none">
            <a:noAutofit/>
          </a:bodyPr>
          <a:p>
            <a:pPr indent="0"/>
            <a:r>
              <a:rPr lang="en-US" sz="1100" spc="200">
                <a:solidFill>
                  <a:srgbClr val="68686F"/>
                </a:solidFill>
                <a:latin typeface="Consolas"/>
              </a:rPr>
              <a:t>88,000 KITS / YR</a:t>
            </a:r>
          </a:p>
        </p:txBody>
      </p:sp>
      <p:sp>
        <p:nvSpPr>
          <p:cNvPr id="9" name=""/>
          <p:cNvSpPr/>
          <p:nvPr/>
        </p:nvSpPr>
        <p:spPr>
          <a:xfrm>
            <a:off x="9537192" y="3432048"/>
            <a:ext cx="3264408" cy="2167128"/>
          </a:xfrm>
          <a:prstGeom prst="rect">
            <a:avLst/>
          </a:prstGeom>
        </p:spPr>
        <p:txBody>
          <a:bodyPr lIns="0" tIns="0" rIns="0" bIns="0">
            <a:noAutofit/>
          </a:bodyPr>
          <a:p>
            <a:pPr algn="just" indent="0">
              <a:spcAft>
                <a:spcPts val="1050"/>
              </a:spcAft>
            </a:pPr>
            <a:r>
              <a:rPr lang="en-US" sz="1100" spc="200">
                <a:solidFill>
                  <a:srgbClr val="78292E"/>
                </a:solidFill>
                <a:latin typeface="Consolas"/>
              </a:rPr>
              <a:t>PILLAR 03    • INFRASTRUCTURE</a:t>
            </a:r>
          </a:p>
          <a:p>
            <a:pPr indent="0">
              <a:lnSpc>
                <a:spcPts val="2592"/>
              </a:lnSpc>
              <a:spcAft>
                <a:spcPts val="210"/>
              </a:spcAft>
            </a:pPr>
            <a:r>
              <a:rPr lang="en-US" b="1" sz="2300">
                <a:solidFill>
                  <a:srgbClr val="17181F"/>
                </a:solidFill>
                <a:latin typeface="Sylfaen"/>
              </a:rPr>
              <a:t>Permanent eco-friendly incinerators on every campus.</a:t>
            </a:r>
          </a:p>
          <a:p>
            <a:pPr indent="0">
              <a:lnSpc>
                <a:spcPts val="2016"/>
              </a:lnSpc>
            </a:pPr>
            <a:r>
              <a:rPr lang="en-US" b="1" sz="1200">
                <a:solidFill>
                  <a:srgbClr val="3C3D41"/>
                </a:solidFill>
                <a:latin typeface="Tahoma"/>
              </a:rPr>
              <a:t>Two units per institution — a one-time capital investment with a 10+ year service life and on-site training.</a:t>
            </a:r>
          </a:p>
        </p:txBody>
      </p:sp>
      <p:sp>
        <p:nvSpPr>
          <p:cNvPr id="10" name=""/>
          <p:cNvSpPr/>
          <p:nvPr/>
        </p:nvSpPr>
        <p:spPr>
          <a:xfrm>
            <a:off x="9543288" y="9028176"/>
            <a:ext cx="1834896" cy="124968"/>
          </a:xfrm>
          <a:prstGeom prst="rect">
            <a:avLst/>
          </a:prstGeom>
        </p:spPr>
        <p:txBody>
          <a:bodyPr lIns="0" tIns="0" rIns="0" bIns="0" wrap="none">
            <a:noAutofit/>
          </a:bodyPr>
          <a:p>
            <a:pPr indent="0"/>
            <a:r>
              <a:rPr lang="en-US" sz="1100" spc="200">
                <a:solidFill>
                  <a:srgbClr val="68686F"/>
                </a:solidFill>
                <a:latin typeface="Consolas"/>
              </a:rPr>
              <a:t>550 UNITS INSTALLED</a:t>
            </a:r>
          </a:p>
        </p:txBody>
      </p:sp>
      <p:sp>
        <p:nvSpPr>
          <p:cNvPr id="11" name=""/>
          <p:cNvSpPr/>
          <p:nvPr/>
        </p:nvSpPr>
        <p:spPr>
          <a:xfrm>
            <a:off x="13651992" y="3432048"/>
            <a:ext cx="3294888" cy="2167128"/>
          </a:xfrm>
          <a:prstGeom prst="rect">
            <a:avLst/>
          </a:prstGeom>
        </p:spPr>
        <p:txBody>
          <a:bodyPr lIns="0" tIns="0" rIns="0" bIns="0">
            <a:noAutofit/>
          </a:bodyPr>
          <a:p>
            <a:pPr algn="just" indent="0">
              <a:spcAft>
                <a:spcPts val="1050"/>
              </a:spcAft>
            </a:pPr>
            <a:r>
              <a:rPr lang="en-US" sz="1100" spc="200">
                <a:solidFill>
                  <a:srgbClr val="78292E"/>
                </a:solidFill>
                <a:latin typeface="Consolas"/>
              </a:rPr>
              <a:t>PILLAR 04    • CAPACITY</a:t>
            </a:r>
          </a:p>
          <a:p>
            <a:pPr algn="just" marR="317500" indent="0">
              <a:lnSpc>
                <a:spcPts val="2592"/>
              </a:lnSpc>
              <a:spcAft>
                <a:spcPts val="210"/>
              </a:spcAft>
            </a:pPr>
            <a:r>
              <a:rPr lang="en-US" b="1" sz="2300">
                <a:solidFill>
                  <a:srgbClr val="17181F"/>
                </a:solidFill>
                <a:latin typeface="Sylfaen"/>
              </a:rPr>
              <a:t>Training of Trainers, so the programme outlives our presence.</a:t>
            </a:r>
          </a:p>
          <a:p>
            <a:pPr indent="0">
              <a:lnSpc>
                <a:spcPts val="2016"/>
              </a:lnSpc>
            </a:pPr>
            <a:r>
              <a:rPr lang="en-US" b="1" sz="1200">
                <a:solidFill>
                  <a:srgbClr val="3C3D41"/>
                </a:solidFill>
                <a:latin typeface="Tahoma"/>
              </a:rPr>
              <a:t>Lady wardens, science teachers, and peer-mentor students are certified to deliver content independently.</a:t>
            </a:r>
          </a:p>
        </p:txBody>
      </p:sp>
      <p:sp>
        <p:nvSpPr>
          <p:cNvPr id="12" name=""/>
          <p:cNvSpPr/>
          <p:nvPr/>
        </p:nvSpPr>
        <p:spPr>
          <a:xfrm>
            <a:off x="13655040" y="9028176"/>
            <a:ext cx="1161288" cy="124968"/>
          </a:xfrm>
          <a:prstGeom prst="rect">
            <a:avLst/>
          </a:prstGeom>
        </p:spPr>
        <p:txBody>
          <a:bodyPr lIns="0" tIns="0" rIns="0" bIns="0" wrap="none">
            <a:noAutofit/>
          </a:bodyPr>
          <a:p>
            <a:pPr indent="0"/>
            <a:r>
              <a:rPr lang="en-US" sz="1100" spc="200">
                <a:solidFill>
                  <a:srgbClr val="68686F"/>
                </a:solidFill>
                <a:latin typeface="Consolas"/>
              </a:rPr>
              <a:t>825+ TRAINED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"/>
          <p:cNvPicPr>
            <a:picLocks noChangeAspect="1"/>
          </p:cNvPicPr>
          <p:nvPr/>
        </p:nvPicPr>
        <p:blipFill>
          <a:blip r:embed="rPictId0"/>
          <a:stretch>
            <a:fillRect/>
          </a:stretch>
        </p:blipFill>
        <p:spPr>
          <a:xfrm>
            <a:off x="0" y="3130296"/>
            <a:ext cx="18288000" cy="4867656"/>
          </a:xfrm>
          <a:prstGeom prst="rect">
            <a:avLst/>
          </a:prstGeom>
        </p:spPr>
      </p:pic>
      <p:sp>
        <p:nvSpPr>
          <p:cNvPr id="3" name=""/>
          <p:cNvSpPr/>
          <p:nvPr/>
        </p:nvSpPr>
        <p:spPr>
          <a:xfrm>
            <a:off x="1027176" y="445008"/>
            <a:ext cx="2221992" cy="149352"/>
          </a:xfrm>
          <a:prstGeom prst="rect">
            <a:avLst/>
          </a:prstGeom>
          <a:solidFill>
            <a:srgbClr val="F5EBE1"/>
          </a:solidFill>
        </p:spPr>
        <p:txBody>
          <a:bodyPr lIns="0" tIns="0" rIns="0" bIns="0" wrap="none">
            <a:noAutofit/>
          </a:bodyPr>
          <a:p>
            <a:pPr indent="0"/>
            <a:r>
              <a:rPr lang="en-US" sz="1100" spc="300">
                <a:solidFill>
                  <a:srgbClr val="78292E"/>
                </a:solidFill>
                <a:latin typeface="Tahoma"/>
              </a:rPr>
              <a:t>• </a:t>
            </a:r>
            <a:r>
              <a:rPr lang="en-US" sz="1100" spc="300">
                <a:solidFill>
                  <a:srgbClr val="68686F"/>
                </a:solidFill>
                <a:latin typeface="Tahoma"/>
              </a:rPr>
              <a:t>STHREE SWABHIMAN</a:t>
            </a:r>
          </a:p>
        </p:txBody>
      </p:sp>
      <p:sp>
        <p:nvSpPr>
          <p:cNvPr id="4" name=""/>
          <p:cNvSpPr/>
          <p:nvPr/>
        </p:nvSpPr>
        <p:spPr>
          <a:xfrm>
            <a:off x="14258544" y="445008"/>
            <a:ext cx="228600" cy="149352"/>
          </a:xfrm>
          <a:prstGeom prst="rect">
            <a:avLst/>
          </a:prstGeom>
          <a:solidFill>
            <a:srgbClr val="F5EBE1"/>
          </a:solidFill>
        </p:spPr>
        <p:txBody>
          <a:bodyPr lIns="0" tIns="0" rIns="0" bIns="0" wrap="none">
            <a:noAutofit/>
          </a:bodyPr>
          <a:p>
            <a:pPr indent="0"/>
            <a:r>
              <a:rPr lang="en-US" sz="1100" spc="300">
                <a:solidFill>
                  <a:srgbClr val="68686F"/>
                </a:solidFill>
                <a:latin typeface="Tahoma"/>
              </a:rPr>
              <a:t>06</a:t>
            </a:r>
          </a:p>
        </p:txBody>
      </p:sp>
      <p:sp>
        <p:nvSpPr>
          <p:cNvPr id="5" name=""/>
          <p:cNvSpPr/>
          <p:nvPr/>
        </p:nvSpPr>
        <p:spPr>
          <a:xfrm>
            <a:off x="14855952" y="445008"/>
            <a:ext cx="2365248" cy="149352"/>
          </a:xfrm>
          <a:prstGeom prst="rect">
            <a:avLst/>
          </a:prstGeom>
          <a:solidFill>
            <a:srgbClr val="F5EBE1"/>
          </a:solidFill>
        </p:spPr>
        <p:txBody>
          <a:bodyPr lIns="0" tIns="0" rIns="0" bIns="0" wrap="none">
            <a:noAutofit/>
          </a:bodyPr>
          <a:p>
            <a:pPr indent="0"/>
            <a:r>
              <a:rPr lang="en-US" sz="1100" spc="300">
                <a:solidFill>
                  <a:srgbClr val="68686F"/>
                </a:solidFill>
                <a:latin typeface="Tahoma"/>
              </a:rPr>
              <a:t>PROGRAMME COMPONENTS</a:t>
            </a:r>
          </a:p>
        </p:txBody>
      </p:sp>
      <p:sp>
        <p:nvSpPr>
          <p:cNvPr id="6" name=""/>
          <p:cNvSpPr/>
          <p:nvPr/>
        </p:nvSpPr>
        <p:spPr>
          <a:xfrm>
            <a:off x="1039368" y="1002792"/>
            <a:ext cx="7565136" cy="1731264"/>
          </a:xfrm>
          <a:prstGeom prst="rect">
            <a:avLst/>
          </a:prstGeom>
          <a:solidFill>
            <a:srgbClr val="F5EBE1"/>
          </a:solidFill>
        </p:spPr>
        <p:txBody>
          <a:bodyPr lIns="0" tIns="0" rIns="0" bIns="0">
            <a:noAutofit/>
          </a:bodyPr>
          <a:p>
            <a:pPr algn="just" indent="0">
              <a:spcAft>
                <a:spcPts val="1470"/>
              </a:spcAft>
            </a:pPr>
            <a:r>
              <a:rPr lang="en-US" sz="1800" spc="450">
                <a:solidFill>
                  <a:srgbClr val="78292E"/>
                </a:solidFill>
                <a:latin typeface="Sylfaen"/>
              </a:rPr>
              <a:t>- WHAT EACH GIRL RECEIVES</a:t>
            </a:r>
          </a:p>
          <a:p>
            <a:pPr algn="just" indent="0">
              <a:lnSpc>
                <a:spcPts val="4992"/>
              </a:lnSpc>
            </a:pPr>
            <a:r>
              <a:rPr lang="en-US" b="1" sz="4800">
                <a:solidFill>
                  <a:srgbClr val="17181F"/>
                </a:solidFill>
                <a:latin typeface="Sylfaen"/>
              </a:rPr>
              <a:t>Four interventions, delivered together on every campus.</a:t>
            </a:r>
          </a:p>
        </p:txBody>
      </p:sp>
      <p:sp>
        <p:nvSpPr>
          <p:cNvPr id="7" name=""/>
          <p:cNvSpPr/>
          <p:nvPr/>
        </p:nvSpPr>
        <p:spPr>
          <a:xfrm>
            <a:off x="12957048" y="4145280"/>
            <a:ext cx="198120" cy="88392"/>
          </a:xfrm>
          <a:prstGeom prst="rect">
            <a:avLst/>
          </a:prstGeom>
        </p:spPr>
        <p:txBody>
          <a:bodyPr lIns="0" tIns="0" rIns="0" bIns="0" wrap="none">
            <a:noAutofit/>
          </a:bodyPr>
          <a:p>
            <a:pPr indent="0"/>
            <a:r>
              <a:rPr lang="en-US" sz="500">
                <a:solidFill>
                  <a:srgbClr val="912736"/>
                </a:solidFill>
                <a:latin typeface="Trebuchet MS"/>
              </a:rPr>
              <a:t>Undei</a:t>
            </a:r>
          </a:p>
        </p:txBody>
      </p:sp>
      <p:sp>
        <p:nvSpPr>
          <p:cNvPr id="8" name=""/>
          <p:cNvSpPr/>
          <p:nvPr/>
        </p:nvSpPr>
        <p:spPr>
          <a:xfrm>
            <a:off x="12761976" y="4971288"/>
            <a:ext cx="393192" cy="103632"/>
          </a:xfrm>
          <a:prstGeom prst="rect">
            <a:avLst/>
          </a:prstGeom>
        </p:spPr>
        <p:txBody>
          <a:bodyPr lIns="0" tIns="0" rIns="0" bIns="0" wrap="none">
            <a:noAutofit/>
          </a:bodyPr>
          <a:p>
            <a:pPr indent="0"/>
            <a:r>
              <a:rPr lang="en-US" sz="500">
                <a:solidFill>
                  <a:srgbClr val="912736"/>
                </a:solidFill>
                <a:latin typeface="Trebuchet MS"/>
              </a:rPr>
              <a:t>Essential Hyi</a:t>
            </a:r>
          </a:p>
        </p:txBody>
      </p:sp>
      <p:sp>
        <p:nvSpPr>
          <p:cNvPr id="9" name=""/>
          <p:cNvSpPr/>
          <p:nvPr/>
        </p:nvSpPr>
        <p:spPr>
          <a:xfrm>
            <a:off x="12527280" y="6278880"/>
            <a:ext cx="600456" cy="222504"/>
          </a:xfrm>
          <a:prstGeom prst="rect">
            <a:avLst/>
          </a:prstGeom>
        </p:spPr>
        <p:txBody>
          <a:bodyPr lIns="0" tIns="0" rIns="0" bIns="0">
            <a:noAutofit/>
          </a:bodyPr>
          <a:p>
            <a:pPr indent="0"/>
            <a:r>
              <a:rPr lang="en-US" b="1" sz="1050" spc="-100">
                <a:solidFill>
                  <a:srgbClr val="3C3D41"/>
                </a:solidFill>
                <a:latin typeface="Tahoma"/>
              </a:rPr>
              <a:t>^^</a:t>
            </a:r>
            <a:r>
              <a:rPr lang="en-US" b="1" baseline="30000" sz="1050" spc="-100">
                <a:solidFill>
                  <a:srgbClr val="3C3D41"/>
                </a:solidFill>
                <a:latin typeface="Tahoma"/>
              </a:rPr>
              <a:t>ono,hi</a:t>
            </a:r>
            <a:r>
              <a:rPr lang="en-US" b="1" sz="1050" spc="-100">
                <a:solidFill>
                  <a:srgbClr val="3C3D41"/>
                </a:solidFill>
                <a:latin typeface="Tahoma"/>
              </a:rPr>
              <a:t>«</a:t>
            </a:r>
            <a:r>
              <a:rPr lang="en-US" b="1" baseline="30000" sz="1050" spc="-100">
                <a:solidFill>
                  <a:srgbClr val="3C3D41"/>
                </a:solidFill>
                <a:latin typeface="Tahoma"/>
              </a:rPr>
              <a:t>h</a:t>
            </a:r>
            <a:r>
              <a:rPr lang="en-US" b="1" sz="1050" spc="-100">
                <a:solidFill>
                  <a:srgbClr val="3C3D41"/>
                </a:solidFill>
                <a:latin typeface="Tahoma"/>
              </a:rPr>
              <a:t>-q</a:t>
            </a:r>
            <a:r>
              <a:rPr lang="en-US" b="1" baseline="30000" sz="1050" spc="-100">
                <a:solidFill>
                  <a:srgbClr val="3C3D41"/>
                </a:solidFill>
                <a:latin typeface="Tahoma"/>
              </a:rPr>
              <a:t>ual</a:t>
            </a:r>
            <a:r>
              <a:rPr lang="en-US" b="1" sz="1050" spc="-100">
                <a:solidFill>
                  <a:srgbClr val="3C3D41"/>
                </a:solidFill>
                <a:latin typeface="Tahoma"/>
              </a:rPr>
              <a:t>*)'-</a:t>
            </a:r>
          </a:p>
          <a:p>
            <a:pPr algn="r" indent="0">
              <a:lnSpc>
                <a:spcPts val="624"/>
              </a:lnSpc>
            </a:pPr>
            <a:r>
              <a:rPr lang="en-US" sz="400">
                <a:solidFill>
                  <a:srgbClr val="3C3D41"/>
                </a:solidFill>
                <a:latin typeface="Tahoma"/>
              </a:rPr>
              <a:t>attending </a:t>
            </a:r>
            <a:r>
              <a:rPr lang="en-US" sz="400">
                <a:solidFill>
                  <a:srgbClr val="17181F"/>
                </a:solidFill>
                <a:latin typeface="Tahoma"/>
              </a:rPr>
              <a:t>to </a:t>
            </a:r>
            <a:r>
              <a:rPr lang="en-US" sz="400">
                <a:solidFill>
                  <a:srgbClr val="3C3D41"/>
                </a:solidFill>
                <a:latin typeface="Tahoma"/>
              </a:rPr>
              <a:t>manage their p. Empower Yourself. </a:t>
            </a:r>
            <a:r>
              <a:rPr lang="en-US" sz="400">
                <a:solidFill>
                  <a:srgbClr val="17181F"/>
                </a:solidFill>
                <a:latin typeface="Tahoma"/>
              </a:rPr>
              <a:t>[</a:t>
            </a:r>
          </a:p>
        </p:txBody>
      </p:sp>
      <p:sp>
        <p:nvSpPr>
          <p:cNvPr id="10" name=""/>
          <p:cNvSpPr/>
          <p:nvPr/>
        </p:nvSpPr>
        <p:spPr>
          <a:xfrm>
            <a:off x="12502896" y="6608064"/>
            <a:ext cx="249936" cy="170688"/>
          </a:xfrm>
          <a:prstGeom prst="rect">
            <a:avLst/>
          </a:prstGeom>
        </p:spPr>
        <p:txBody>
          <a:bodyPr lIns="0" tIns="0" rIns="0" bIns="0">
            <a:noAutofit/>
          </a:bodyPr>
          <a:p>
            <a:pPr algn="just" indent="0">
              <a:lnSpc>
                <a:spcPts val="600"/>
              </a:lnSpc>
            </a:pPr>
            <a:r>
              <a:rPr lang="en-US" b="1" i="1" sz="1000" spc="-50">
                <a:solidFill>
                  <a:srgbClr val="3C3D41"/>
                </a:solidFill>
                <a:latin typeface="Consolas"/>
              </a:rPr>
              <a:t>‘Shatter sty </a:t>
            </a:r>
            <a:r>
              <a:rPr lang="en-US" i="1" sz="450">
                <a:solidFill>
                  <a:srgbClr val="3C3D41"/>
                </a:solidFill>
                <a:latin typeface="Tahoma"/>
              </a:rPr>
              <a:t>'Anil make.</a:t>
            </a:r>
          </a:p>
        </p:txBody>
      </p:sp>
      <p:sp>
        <p:nvSpPr>
          <p:cNvPr id="11" name=""/>
          <p:cNvSpPr/>
          <p:nvPr/>
        </p:nvSpPr>
        <p:spPr>
          <a:xfrm>
            <a:off x="1252728" y="8503920"/>
            <a:ext cx="3468624" cy="1347216"/>
          </a:xfrm>
          <a:prstGeom prst="rect">
            <a:avLst/>
          </a:prstGeom>
        </p:spPr>
        <p:txBody>
          <a:bodyPr lIns="0" tIns="0" rIns="0" bIns="0">
            <a:noAutofit/>
          </a:bodyPr>
          <a:p>
            <a:pPr indent="0">
              <a:lnSpc>
                <a:spcPts val="2208"/>
              </a:lnSpc>
              <a:spcAft>
                <a:spcPts val="210"/>
              </a:spcAft>
            </a:pPr>
            <a:r>
              <a:rPr lang="en-US" sz="1900">
                <a:solidFill>
                  <a:srgbClr val="17181F"/>
                </a:solidFill>
                <a:latin typeface="Sylfaen"/>
              </a:rPr>
              <a:t>One-day MHM workshop in every institution.</a:t>
            </a:r>
          </a:p>
          <a:p>
            <a:pPr indent="0">
              <a:lnSpc>
                <a:spcPts val="1800"/>
              </a:lnSpc>
            </a:pPr>
            <a:r>
              <a:rPr lang="en-US" b="1" sz="1050">
                <a:solidFill>
                  <a:srgbClr val="3C3D41"/>
                </a:solidFill>
                <a:latin typeface="Tahoma"/>
              </a:rPr>
              <a:t>Menstrual cycle, hygiene, myth-busting, emotional well-being &amp; incinerator use. Telugu flipbooks + facilitator script.</a:t>
            </a:r>
          </a:p>
        </p:txBody>
      </p:sp>
      <p:sp>
        <p:nvSpPr>
          <p:cNvPr id="12" name=""/>
          <p:cNvSpPr/>
          <p:nvPr/>
        </p:nvSpPr>
        <p:spPr>
          <a:xfrm>
            <a:off x="9448800" y="8238744"/>
            <a:ext cx="3310128" cy="1612392"/>
          </a:xfrm>
          <a:prstGeom prst="rect">
            <a:avLst/>
          </a:prstGeom>
        </p:spPr>
        <p:txBody>
          <a:bodyPr lIns="0" tIns="0" rIns="0" bIns="0">
            <a:noAutofit/>
          </a:bodyPr>
          <a:p>
            <a:pPr algn="just" indent="0">
              <a:spcAft>
                <a:spcPts val="840"/>
              </a:spcAft>
            </a:pPr>
            <a:r>
              <a:rPr lang="en-US" sz="1100" spc="200">
                <a:solidFill>
                  <a:srgbClr val="78292E"/>
                </a:solidFill>
                <a:latin typeface="Consolas"/>
              </a:rPr>
              <a:t>03    ■ INFRASTRUCTURE</a:t>
            </a:r>
          </a:p>
          <a:p>
            <a:pPr indent="0">
              <a:lnSpc>
                <a:spcPts val="2208"/>
              </a:lnSpc>
              <a:spcAft>
                <a:spcPts val="210"/>
              </a:spcAft>
            </a:pPr>
            <a:r>
              <a:rPr lang="en-US" sz="1900">
                <a:solidFill>
                  <a:srgbClr val="17181F"/>
                </a:solidFill>
                <a:latin typeface="Sylfaen"/>
              </a:rPr>
              <a:t>Permanent eco-friendly incinerators on every campus.</a:t>
            </a:r>
          </a:p>
          <a:p>
            <a:pPr indent="0">
              <a:lnSpc>
                <a:spcPts val="1800"/>
              </a:lnSpc>
            </a:pPr>
            <a:r>
              <a:rPr lang="en-US" b="1" sz="1050">
                <a:solidFill>
                  <a:srgbClr val="3C3D41"/>
                </a:solidFill>
                <a:latin typeface="Tahoma"/>
              </a:rPr>
              <a:t>Two units per institution. One-time capital investment with a 10+ year service life and first-year maintenance contract.</a:t>
            </a:r>
          </a:p>
        </p:txBody>
      </p:sp>
      <p:sp>
        <p:nvSpPr>
          <p:cNvPr id="13" name=""/>
          <p:cNvSpPr/>
          <p:nvPr/>
        </p:nvSpPr>
        <p:spPr>
          <a:xfrm>
            <a:off x="5355336" y="8238744"/>
            <a:ext cx="3246120" cy="1612392"/>
          </a:xfrm>
          <a:prstGeom prst="rect">
            <a:avLst/>
          </a:prstGeom>
        </p:spPr>
        <p:txBody>
          <a:bodyPr lIns="0" tIns="0" rIns="0" bIns="0">
            <a:noAutofit/>
          </a:bodyPr>
          <a:p>
            <a:pPr algn="just" indent="0">
              <a:spcAft>
                <a:spcPts val="840"/>
              </a:spcAft>
            </a:pPr>
            <a:r>
              <a:rPr lang="en-US" sz="1100" spc="200">
                <a:solidFill>
                  <a:srgbClr val="78292E"/>
                </a:solidFill>
                <a:latin typeface="Consolas"/>
              </a:rPr>
              <a:t>02    ■ ACCESS</a:t>
            </a:r>
          </a:p>
          <a:p>
            <a:pPr algn="just" indent="0">
              <a:lnSpc>
                <a:spcPts val="2184"/>
              </a:lnSpc>
              <a:spcAft>
                <a:spcPts val="210"/>
              </a:spcAft>
            </a:pPr>
            <a:r>
              <a:rPr lang="en-US" sz="1900">
                <a:solidFill>
                  <a:srgbClr val="17181F"/>
                </a:solidFill>
                <a:latin typeface="Sylfaen"/>
              </a:rPr>
              <a:t>Sanitary napkin starter kits in every girl's hands.</a:t>
            </a:r>
          </a:p>
          <a:p>
            <a:pPr indent="0">
              <a:lnSpc>
                <a:spcPts val="1800"/>
              </a:lnSpc>
            </a:pPr>
            <a:r>
              <a:rPr lang="en-US" b="1" sz="1050">
                <a:solidFill>
                  <a:srgbClr val="3C3D41"/>
                </a:solidFill>
                <a:latin typeface="Tahoma"/>
              </a:rPr>
              <a:t>12 packs per newly-enrolled girl, with a printed user guide and live demonstration on safe disposal practice.</a:t>
            </a:r>
          </a:p>
        </p:txBody>
      </p:sp>
      <p:sp>
        <p:nvSpPr>
          <p:cNvPr id="14" name=""/>
          <p:cNvSpPr/>
          <p:nvPr/>
        </p:nvSpPr>
        <p:spPr>
          <a:xfrm>
            <a:off x="13560552" y="8503920"/>
            <a:ext cx="2980944" cy="554736"/>
          </a:xfrm>
          <a:prstGeom prst="rect">
            <a:avLst/>
          </a:prstGeom>
        </p:spPr>
        <p:txBody>
          <a:bodyPr lIns="0" tIns="0" rIns="0" bIns="0">
            <a:noAutofit/>
          </a:bodyPr>
          <a:p>
            <a:pPr indent="0">
              <a:lnSpc>
                <a:spcPts val="2208"/>
              </a:lnSpc>
              <a:spcAft>
                <a:spcPts val="210"/>
              </a:spcAft>
            </a:pPr>
            <a:r>
              <a:rPr lang="en-US" sz="1900">
                <a:solidFill>
                  <a:srgbClr val="17181F"/>
                </a:solidFill>
                <a:latin typeface="Sylfaen"/>
              </a:rPr>
              <a:t>Training of Trainers, so the programme outlives us.</a:t>
            </a:r>
          </a:p>
        </p:txBody>
      </p:sp>
      <p:sp>
        <p:nvSpPr>
          <p:cNvPr id="15" name=""/>
          <p:cNvSpPr/>
          <p:nvPr/>
        </p:nvSpPr>
        <p:spPr>
          <a:xfrm>
            <a:off x="13551408" y="9214104"/>
            <a:ext cx="3389376" cy="609600"/>
          </a:xfrm>
          <a:prstGeom prst="rect">
            <a:avLst/>
          </a:prstGeom>
        </p:spPr>
        <p:txBody>
          <a:bodyPr lIns="0" tIns="0" rIns="0" bIns="0">
            <a:noAutofit/>
          </a:bodyPr>
          <a:p>
            <a:pPr indent="0">
              <a:lnSpc>
                <a:spcPts val="1800"/>
              </a:lnSpc>
              <a:spcBef>
                <a:spcPts val="210"/>
              </a:spcBef>
            </a:pPr>
            <a:r>
              <a:rPr lang="en-US" b="1" sz="1050">
                <a:solidFill>
                  <a:srgbClr val="3C3D41"/>
                </a:solidFill>
                <a:latin typeface="Tahoma"/>
              </a:rPr>
              <a:t>Lady wardens, science teachers and senior peer mentors are ToT-certified to sustain delivery from Year 2 onwards.</a:t>
            </a:r>
          </a:p>
        </p:txBody>
      </p:sp>
      <p:sp>
        <p:nvSpPr>
          <p:cNvPr id="16" name=""/>
          <p:cNvSpPr/>
          <p:nvPr/>
        </p:nvSpPr>
        <p:spPr>
          <a:xfrm>
            <a:off x="12740640" y="3864864"/>
            <a:ext cx="396240" cy="128016"/>
          </a:xfrm>
          <a:prstGeom prst="rect">
            <a:avLst/>
          </a:prstGeom>
        </p:spPr>
        <p:txBody>
          <a:bodyPr lIns="0" tIns="0" rIns="0" bIns="0" wrap="none">
            <a:noAutofit/>
          </a:bodyPr>
          <a:p>
            <a:pPr indent="0"/>
            <a:r>
              <a:rPr lang="en-US" sz="1050">
                <a:solidFill>
                  <a:srgbClr val="912736"/>
                </a:solidFill>
                <a:latin typeface="Impact"/>
              </a:rPr>
              <a:t>STHREE</a:t>
            </a:r>
          </a:p>
        </p:txBody>
      </p:sp>
      <p:sp>
        <p:nvSpPr>
          <p:cNvPr id="17" name=""/>
          <p:cNvSpPr/>
          <p:nvPr/>
        </p:nvSpPr>
        <p:spPr>
          <a:xfrm>
            <a:off x="12490704" y="3980688"/>
            <a:ext cx="97536" cy="97536"/>
          </a:xfrm>
          <a:prstGeom prst="rect">
            <a:avLst/>
          </a:prstGeom>
        </p:spPr>
        <p:txBody>
          <a:bodyPr lIns="0" tIns="0" rIns="0" bIns="0" wrap="none">
            <a:noAutofit/>
          </a:bodyPr>
          <a:p>
            <a:pPr algn="just" indent="0"/>
            <a:r>
              <a:rPr lang="en-US" i="1" sz="1050">
                <a:solidFill>
                  <a:srgbClr val="9D9A96"/>
                </a:solidFill>
                <a:latin typeface="Tahoma"/>
              </a:rPr>
              <a:t>m</a:t>
            </a:r>
          </a:p>
        </p:txBody>
      </p:sp>
      <p:sp>
        <p:nvSpPr>
          <p:cNvPr id="18" name=""/>
          <p:cNvSpPr/>
          <p:nvPr/>
        </p:nvSpPr>
        <p:spPr>
          <a:xfrm>
            <a:off x="12789408" y="4011168"/>
            <a:ext cx="323088" cy="54864"/>
          </a:xfrm>
          <a:prstGeom prst="rect">
            <a:avLst/>
          </a:prstGeom>
        </p:spPr>
        <p:txBody>
          <a:bodyPr lIns="0" tIns="0" rIns="0" bIns="0" wrap="none">
            <a:noAutofit/>
          </a:bodyPr>
          <a:p>
            <a:pPr indent="0"/>
            <a:r>
              <a:rPr lang="en-US" sz="450">
                <a:solidFill>
                  <a:srgbClr val="124550"/>
                </a:solidFill>
                <a:latin typeface="Tahoma"/>
              </a:rPr>
              <a:t>MENSTRUAL</a:t>
            </a:r>
          </a:p>
        </p:txBody>
      </p:sp>
      <p:sp>
        <p:nvSpPr>
          <p:cNvPr id="19" name=""/>
          <p:cNvSpPr/>
          <p:nvPr/>
        </p:nvSpPr>
        <p:spPr>
          <a:xfrm>
            <a:off x="12484608" y="5574792"/>
            <a:ext cx="670560" cy="118872"/>
          </a:xfrm>
          <a:prstGeom prst="rect">
            <a:avLst/>
          </a:prstGeom>
        </p:spPr>
        <p:txBody>
          <a:bodyPr lIns="0" tIns="0" rIns="0" bIns="0" wrap="none">
            <a:noAutofit/>
          </a:bodyPr>
          <a:p>
            <a:pPr indent="0"/>
            <a:r>
              <a:rPr lang="en-US" sz="500">
                <a:solidFill>
                  <a:srgbClr val="912736"/>
                </a:solidFill>
                <a:latin typeface="Trebuchet MS"/>
              </a:rPr>
              <a:t>Using Sanitary Pads -</a:t>
            </a:r>
          </a:p>
        </p:txBody>
      </p:sp>
      <p:sp>
        <p:nvSpPr>
          <p:cNvPr id="20" name=""/>
          <p:cNvSpPr/>
          <p:nvPr/>
        </p:nvSpPr>
        <p:spPr>
          <a:xfrm>
            <a:off x="12338304" y="6175248"/>
            <a:ext cx="792480" cy="103632"/>
          </a:xfrm>
          <a:prstGeom prst="rect">
            <a:avLst/>
          </a:prstGeom>
        </p:spPr>
        <p:txBody>
          <a:bodyPr lIns="0" tIns="0" rIns="0" bIns="0" wrap="none">
            <a:noAutofit/>
          </a:bodyPr>
          <a:p>
            <a:pPr indent="0"/>
            <a:r>
              <a:rPr lang="en-US" sz="500">
                <a:solidFill>
                  <a:srgbClr val="78292E"/>
                </a:solidFill>
                <a:latin typeface="Trebuchet MS"/>
              </a:rPr>
              <a:t>Our </a:t>
            </a:r>
            <a:r>
              <a:rPr lang="en-US" sz="500">
                <a:solidFill>
                  <a:srgbClr val="78292E"/>
                </a:solidFill>
                <a:latin typeface="Tahoma"/>
              </a:rPr>
              <a:t>Commitment </a:t>
            </a:r>
            <a:r>
              <a:rPr lang="en-US" sz="500">
                <a:solidFill>
                  <a:srgbClr val="78292E"/>
                </a:solidFill>
                <a:latin typeface="Trebuchet MS"/>
              </a:rPr>
              <a:t>To You: Fr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"/>
          <p:cNvPicPr>
            <a:picLocks noChangeAspect="1"/>
          </p:cNvPicPr>
          <p:nvPr/>
        </p:nvPicPr>
        <p:blipFill>
          <a:blip r:embed="rPictId0"/>
          <a:stretch>
            <a:fillRect/>
          </a:stretch>
        </p:blipFill>
        <p:spPr>
          <a:xfrm>
            <a:off x="1045464" y="6522720"/>
            <a:ext cx="8577072" cy="213360"/>
          </a:xfrm>
          <a:prstGeom prst="rect">
            <a:avLst/>
          </a:prstGeom>
        </p:spPr>
      </p:pic>
      <p:pic>
        <p:nvPicPr>
          <p:cNvPr id="3" name=""/>
          <p:cNvPicPr>
            <a:picLocks noChangeAspect="1"/>
          </p:cNvPicPr>
          <p:nvPr/>
        </p:nvPicPr>
        <p:blipFill>
          <a:blip r:embed="rPictId1"/>
          <a:stretch>
            <a:fillRect/>
          </a:stretch>
        </p:blipFill>
        <p:spPr>
          <a:xfrm>
            <a:off x="10378440" y="3127248"/>
            <a:ext cx="6867144" cy="6309360"/>
          </a:xfrm>
          <a:prstGeom prst="rect">
            <a:avLst/>
          </a:prstGeom>
        </p:spPr>
      </p:pic>
      <p:sp>
        <p:nvSpPr>
          <p:cNvPr id="4" name=""/>
          <p:cNvSpPr/>
          <p:nvPr/>
        </p:nvSpPr>
        <p:spPr>
          <a:xfrm>
            <a:off x="1027176" y="445008"/>
            <a:ext cx="2221992" cy="149352"/>
          </a:xfrm>
          <a:prstGeom prst="rect">
            <a:avLst/>
          </a:prstGeom>
          <a:solidFill>
            <a:srgbClr val="F5EBE1"/>
          </a:solidFill>
        </p:spPr>
        <p:txBody>
          <a:bodyPr lIns="0" tIns="0" rIns="0" bIns="0" wrap="none">
            <a:noAutofit/>
          </a:bodyPr>
          <a:p>
            <a:pPr indent="0"/>
            <a:r>
              <a:rPr lang="en-US" sz="1100" spc="300">
                <a:solidFill>
                  <a:srgbClr val="78292E"/>
                </a:solidFill>
                <a:latin typeface="Tahoma"/>
              </a:rPr>
              <a:t>• </a:t>
            </a:r>
            <a:r>
              <a:rPr lang="en-US" sz="1100" spc="300">
                <a:solidFill>
                  <a:srgbClr val="68686F"/>
                </a:solidFill>
                <a:latin typeface="Tahoma"/>
              </a:rPr>
              <a:t>STHREE SWABHIMAN</a:t>
            </a:r>
          </a:p>
        </p:txBody>
      </p:sp>
      <p:sp>
        <p:nvSpPr>
          <p:cNvPr id="5" name=""/>
          <p:cNvSpPr/>
          <p:nvPr/>
        </p:nvSpPr>
        <p:spPr>
          <a:xfrm>
            <a:off x="15209520" y="445008"/>
            <a:ext cx="2008632" cy="149352"/>
          </a:xfrm>
          <a:prstGeom prst="rect">
            <a:avLst/>
          </a:prstGeom>
          <a:solidFill>
            <a:srgbClr val="F5EBE1"/>
          </a:solidFill>
        </p:spPr>
        <p:txBody>
          <a:bodyPr lIns="0" tIns="0" rIns="0" bIns="0" wrap="none">
            <a:noAutofit/>
          </a:bodyPr>
          <a:p>
            <a:pPr algn="just" indent="0"/>
            <a:r>
              <a:rPr lang="en-US" sz="1100" spc="300">
                <a:solidFill>
                  <a:srgbClr val="68686F"/>
                </a:solidFill>
                <a:latin typeface="Tahoma"/>
              </a:rPr>
              <a:t>07    • WHO WE REACH</a:t>
            </a:r>
          </a:p>
        </p:txBody>
      </p:sp>
      <p:sp>
        <p:nvSpPr>
          <p:cNvPr id="6" name=""/>
          <p:cNvSpPr/>
          <p:nvPr/>
        </p:nvSpPr>
        <p:spPr>
          <a:xfrm>
            <a:off x="1740408" y="1002792"/>
            <a:ext cx="2029968" cy="188976"/>
          </a:xfrm>
          <a:prstGeom prst="rect">
            <a:avLst/>
          </a:prstGeom>
          <a:solidFill>
            <a:srgbClr val="F5EBE1"/>
          </a:solidFill>
        </p:spPr>
        <p:txBody>
          <a:bodyPr lIns="0" tIns="0" rIns="0" bIns="0" wrap="none">
            <a:noAutofit/>
          </a:bodyPr>
          <a:p>
            <a:pPr indent="0">
              <a:spcAft>
                <a:spcPts val="1470"/>
              </a:spcAft>
            </a:pPr>
            <a:r>
              <a:rPr lang="en-US" sz="1800" spc="450">
                <a:solidFill>
                  <a:srgbClr val="78292E"/>
                </a:solidFill>
                <a:latin typeface="Sylfaen"/>
              </a:rPr>
              <a:t>WHO WE REACH</a:t>
            </a:r>
          </a:p>
        </p:txBody>
      </p:sp>
      <p:sp>
        <p:nvSpPr>
          <p:cNvPr id="7" name=""/>
          <p:cNvSpPr/>
          <p:nvPr/>
        </p:nvSpPr>
        <p:spPr>
          <a:xfrm>
            <a:off x="1057656" y="1459992"/>
            <a:ext cx="9537192" cy="1274064"/>
          </a:xfrm>
          <a:prstGeom prst="rect">
            <a:avLst/>
          </a:prstGeom>
          <a:solidFill>
            <a:srgbClr val="F5EBE1"/>
          </a:solidFill>
        </p:spPr>
        <p:txBody>
          <a:bodyPr lIns="0" tIns="0" rIns="0" bIns="0">
            <a:noAutofit/>
          </a:bodyPr>
          <a:p>
            <a:pPr indent="0">
              <a:lnSpc>
                <a:spcPts val="5088"/>
              </a:lnSpc>
              <a:spcBef>
                <a:spcPts val="1470"/>
              </a:spcBef>
              <a:spcAft>
                <a:spcPts val="4830"/>
              </a:spcAft>
            </a:pPr>
            <a:r>
              <a:rPr lang="en-US" b="1" sz="4800">
                <a:latin typeface="Sylfaen"/>
              </a:rPr>
              <a:t>Targeting the most underserved adolescent demographic in the state.</a:t>
            </a:r>
          </a:p>
        </p:txBody>
      </p:sp>
      <p:sp>
        <p:nvSpPr>
          <p:cNvPr id="8" name=""/>
          <p:cNvSpPr/>
          <p:nvPr/>
        </p:nvSpPr>
        <p:spPr>
          <a:xfrm>
            <a:off x="1066800" y="3483864"/>
            <a:ext cx="7610856" cy="658368"/>
          </a:xfrm>
          <a:prstGeom prst="rect">
            <a:avLst/>
          </a:prstGeom>
          <a:solidFill>
            <a:srgbClr val="F5EBE1"/>
          </a:solidFill>
        </p:spPr>
        <p:txBody>
          <a:bodyPr lIns="0" tIns="0" rIns="0" bIns="0" wrap="none">
            <a:noAutofit/>
          </a:bodyPr>
          <a:p>
            <a:pPr algn="just" indent="0">
              <a:spcBef>
                <a:spcPts val="4830"/>
              </a:spcBef>
            </a:pPr>
            <a:r>
              <a:rPr lang="en-US" b="1" cap="small" sz="6500" spc="-150">
                <a:solidFill>
                  <a:srgbClr val="17181F"/>
                </a:solidFill>
                <a:latin typeface="Tahoma"/>
              </a:rPr>
              <a:t>275    1.23</a:t>
            </a:r>
            <a:r>
              <a:rPr lang="en-US" b="1" cap="small" sz="6500" spc="-150">
                <a:solidFill>
                  <a:srgbClr val="68686F"/>
                </a:solidFill>
                <a:latin typeface="Tahoma"/>
              </a:rPr>
              <a:t>l </a:t>
            </a:r>
            <a:r>
              <a:rPr lang="en-US" b="1" cap="small" sz="6500" spc="-150">
                <a:solidFill>
                  <a:srgbClr val="17181F"/>
                </a:solidFill>
                <a:latin typeface="Tahoma"/>
              </a:rPr>
              <a:t>88 </a:t>
            </a:r>
            <a:r>
              <a:rPr lang="en-US" b="1" cap="small" sz="6500" spc="-150">
                <a:solidFill>
                  <a:srgbClr val="68686F"/>
                </a:solidFill>
                <a:latin typeface="Tahoma"/>
              </a:rPr>
              <a:t>k </a:t>
            </a:r>
            <a:r>
              <a:rPr lang="en-US" b="1" cap="small" sz="6500" spc="-150">
                <a:solidFill>
                  <a:srgbClr val="17181F"/>
                </a:solidFill>
                <a:latin typeface="Tahoma"/>
              </a:rPr>
              <a:t>10</a:t>
            </a:r>
          </a:p>
        </p:txBody>
      </p:sp>
      <p:sp>
        <p:nvSpPr>
          <p:cNvPr id="9" name=""/>
          <p:cNvSpPr/>
          <p:nvPr/>
        </p:nvSpPr>
        <p:spPr>
          <a:xfrm>
            <a:off x="1039368" y="4386072"/>
            <a:ext cx="1566672" cy="929640"/>
          </a:xfrm>
          <a:prstGeom prst="rect">
            <a:avLst/>
          </a:prstGeom>
          <a:solidFill>
            <a:srgbClr val="F5EBE1"/>
          </a:solidFill>
        </p:spPr>
        <p:txBody>
          <a:bodyPr lIns="0" tIns="0" rIns="0" bIns="0">
            <a:noAutofit/>
          </a:bodyPr>
          <a:p>
            <a:pPr algn="just" indent="0">
              <a:spcAft>
                <a:spcPts val="1050"/>
              </a:spcAft>
            </a:pPr>
            <a:r>
              <a:rPr lang="en-US" sz="1300" spc="200">
                <a:solidFill>
                  <a:srgbClr val="68686F"/>
                </a:solidFill>
                <a:latin typeface="Consolas"/>
              </a:rPr>
              <a:t>INSTITUTIONS</a:t>
            </a:r>
          </a:p>
          <a:p>
            <a:pPr algn="just" marR="127000" indent="0">
              <a:lnSpc>
                <a:spcPts val="2712"/>
              </a:lnSpc>
            </a:pPr>
            <a:r>
              <a:rPr lang="en-US" sz="1700">
                <a:solidFill>
                  <a:srgbClr val="68686F"/>
                </a:solidFill>
                <a:latin typeface="Tahoma"/>
              </a:rPr>
              <a:t>146 schools &amp; 129 jr. colleges</a:t>
            </a:r>
          </a:p>
        </p:txBody>
      </p:sp>
      <p:sp>
        <p:nvSpPr>
          <p:cNvPr id="10" name=""/>
          <p:cNvSpPr/>
          <p:nvPr/>
        </p:nvSpPr>
        <p:spPr>
          <a:xfrm>
            <a:off x="3368040" y="4379976"/>
            <a:ext cx="1734312" cy="1228344"/>
          </a:xfrm>
          <a:prstGeom prst="rect">
            <a:avLst/>
          </a:prstGeom>
          <a:solidFill>
            <a:srgbClr val="F5EBE1"/>
          </a:solidFill>
        </p:spPr>
        <p:txBody>
          <a:bodyPr lIns="0" tIns="0" rIns="0" bIns="0">
            <a:noAutofit/>
          </a:bodyPr>
          <a:p>
            <a:pPr algn="just" indent="0">
              <a:spcAft>
                <a:spcPts val="1050"/>
              </a:spcAft>
            </a:pPr>
            <a:r>
              <a:rPr lang="en-US" sz="1300" spc="200">
                <a:solidFill>
                  <a:srgbClr val="68686F"/>
                </a:solidFill>
                <a:latin typeface="Consolas"/>
              </a:rPr>
              <a:t>GIRLS / YR</a:t>
            </a:r>
          </a:p>
          <a:p>
            <a:pPr algn="just" indent="0">
              <a:lnSpc>
                <a:spcPts val="2688"/>
              </a:lnSpc>
            </a:pPr>
            <a:r>
              <a:rPr lang="en-US" sz="1700">
                <a:solidFill>
                  <a:srgbClr val="68686F"/>
                </a:solidFill>
                <a:latin typeface="Tahoma"/>
              </a:rPr>
              <a:t>Classes VI-XII + Intermediate I &amp; II</a:t>
            </a:r>
          </a:p>
        </p:txBody>
      </p:sp>
      <p:sp>
        <p:nvSpPr>
          <p:cNvPr id="11" name=""/>
          <p:cNvSpPr/>
          <p:nvPr/>
        </p:nvSpPr>
        <p:spPr>
          <a:xfrm>
            <a:off x="5666232" y="4386072"/>
            <a:ext cx="1655064" cy="926592"/>
          </a:xfrm>
          <a:prstGeom prst="rect">
            <a:avLst/>
          </a:prstGeom>
          <a:solidFill>
            <a:srgbClr val="F5EBE1"/>
          </a:solidFill>
        </p:spPr>
        <p:txBody>
          <a:bodyPr lIns="0" tIns="0" rIns="0" bIns="0">
            <a:noAutofit/>
          </a:bodyPr>
          <a:p>
            <a:pPr indent="0">
              <a:spcAft>
                <a:spcPts val="1050"/>
              </a:spcAft>
            </a:pPr>
            <a:r>
              <a:rPr lang="en-US" sz="1300" spc="200">
                <a:solidFill>
                  <a:srgbClr val="68686F"/>
                </a:solidFill>
                <a:latin typeface="Consolas"/>
              </a:rPr>
              <a:t>KIT RECIPIENTS</a:t>
            </a:r>
          </a:p>
          <a:p>
            <a:pPr algn="just" marR="127000" indent="0">
              <a:lnSpc>
                <a:spcPts val="2736"/>
              </a:lnSpc>
            </a:pPr>
            <a:r>
              <a:rPr lang="en-US" sz="1700">
                <a:solidFill>
                  <a:srgbClr val="68686F"/>
                </a:solidFill>
                <a:latin typeface="Tahoma"/>
              </a:rPr>
              <a:t>Newly enrolled each year</a:t>
            </a:r>
          </a:p>
        </p:txBody>
      </p:sp>
      <p:sp>
        <p:nvSpPr>
          <p:cNvPr id="12" name=""/>
          <p:cNvSpPr/>
          <p:nvPr/>
        </p:nvSpPr>
        <p:spPr>
          <a:xfrm>
            <a:off x="7751064" y="4386072"/>
            <a:ext cx="1298448" cy="1271016"/>
          </a:xfrm>
          <a:prstGeom prst="rect">
            <a:avLst/>
          </a:prstGeom>
          <a:solidFill>
            <a:srgbClr val="F5EBE1"/>
          </a:solidFill>
        </p:spPr>
        <p:txBody>
          <a:bodyPr lIns="0" tIns="0" rIns="0" bIns="0">
            <a:noAutofit/>
          </a:bodyPr>
          <a:p>
            <a:pPr indent="0">
              <a:spcAft>
                <a:spcPts val="1050"/>
              </a:spcAft>
            </a:pPr>
            <a:r>
              <a:rPr lang="en-US" sz="1300" spc="200">
                <a:solidFill>
                  <a:srgbClr val="68686F"/>
                </a:solidFill>
                <a:latin typeface="Consolas"/>
              </a:rPr>
              <a:t>DISTRICTS</a:t>
            </a:r>
          </a:p>
          <a:p>
            <a:pPr indent="0">
              <a:lnSpc>
                <a:spcPts val="2712"/>
              </a:lnSpc>
            </a:pPr>
            <a:r>
              <a:rPr lang="en-US" sz="1700">
                <a:solidFill>
                  <a:srgbClr val="68686F"/>
                </a:solidFill>
                <a:latin typeface="Tahoma"/>
              </a:rPr>
              <a:t>All erstwhile districts of Telangana</a:t>
            </a:r>
          </a:p>
        </p:txBody>
      </p:sp>
      <p:sp>
        <p:nvSpPr>
          <p:cNvPr id="13" name=""/>
          <p:cNvSpPr/>
          <p:nvPr/>
        </p:nvSpPr>
        <p:spPr>
          <a:xfrm>
            <a:off x="1039368" y="6239256"/>
            <a:ext cx="2231136" cy="134112"/>
          </a:xfrm>
          <a:prstGeom prst="rect">
            <a:avLst/>
          </a:prstGeom>
          <a:solidFill>
            <a:srgbClr val="F5EBE1"/>
          </a:solidFill>
        </p:spPr>
        <p:txBody>
          <a:bodyPr lIns="0" tIns="0" rIns="0" bIns="0" wrap="none">
            <a:noAutofit/>
          </a:bodyPr>
          <a:p>
            <a:pPr indent="0"/>
            <a:r>
              <a:rPr lang="en-US" sz="1100" spc="200">
                <a:solidFill>
                  <a:srgbClr val="68686F"/>
                </a:solidFill>
                <a:latin typeface="Consolas"/>
              </a:rPr>
              <a:t>COMMUNITY COMPOSITION</a:t>
            </a:r>
          </a:p>
        </p:txBody>
      </p:sp>
      <p:sp>
        <p:nvSpPr>
          <p:cNvPr id="14" name=""/>
          <p:cNvSpPr/>
          <p:nvPr/>
        </p:nvSpPr>
        <p:spPr>
          <a:xfrm>
            <a:off x="1027176" y="6818376"/>
            <a:ext cx="371856" cy="134112"/>
          </a:xfrm>
          <a:prstGeom prst="rect">
            <a:avLst/>
          </a:prstGeom>
          <a:solidFill>
            <a:srgbClr val="F5EBE1"/>
          </a:solidFill>
        </p:spPr>
        <p:txBody>
          <a:bodyPr lIns="0" tIns="0" rIns="0" bIns="0" wrap="none">
            <a:noAutofit/>
          </a:bodyPr>
          <a:p>
            <a:pPr indent="0"/>
            <a:r>
              <a:rPr lang="en-US" sz="1100" spc="200">
                <a:solidFill>
                  <a:srgbClr val="78292E"/>
                </a:solidFill>
                <a:latin typeface="Consolas"/>
              </a:rPr>
              <a:t>■ </a:t>
            </a:r>
            <a:r>
              <a:rPr lang="en-US" sz="1100" spc="200">
                <a:solidFill>
                  <a:srgbClr val="68686F"/>
                </a:solidFill>
                <a:latin typeface="Consolas"/>
              </a:rPr>
              <a:t>BC</a:t>
            </a:r>
          </a:p>
        </p:txBody>
      </p:sp>
      <p:sp>
        <p:nvSpPr>
          <p:cNvPr id="15" name=""/>
          <p:cNvSpPr/>
          <p:nvPr/>
        </p:nvSpPr>
        <p:spPr>
          <a:xfrm>
            <a:off x="3581400" y="6818376"/>
            <a:ext cx="365760" cy="134112"/>
          </a:xfrm>
          <a:prstGeom prst="rect">
            <a:avLst/>
          </a:prstGeom>
          <a:solidFill>
            <a:srgbClr val="F5EBE1"/>
          </a:solidFill>
        </p:spPr>
        <p:txBody>
          <a:bodyPr lIns="0" tIns="0" rIns="0" bIns="0" wrap="none">
            <a:noAutofit/>
          </a:bodyPr>
          <a:p>
            <a:pPr indent="0"/>
            <a:r>
              <a:rPr lang="en-US" sz="1100" spc="200">
                <a:solidFill>
                  <a:srgbClr val="68686F"/>
                </a:solidFill>
                <a:latin typeface="Consolas"/>
              </a:rPr>
              <a:t>■ SC</a:t>
            </a:r>
          </a:p>
        </p:txBody>
      </p:sp>
      <p:sp>
        <p:nvSpPr>
          <p:cNvPr id="16" name=""/>
          <p:cNvSpPr/>
          <p:nvPr/>
        </p:nvSpPr>
        <p:spPr>
          <a:xfrm>
            <a:off x="6123432" y="6818376"/>
            <a:ext cx="381000" cy="134112"/>
          </a:xfrm>
          <a:prstGeom prst="rect">
            <a:avLst/>
          </a:prstGeom>
          <a:solidFill>
            <a:srgbClr val="F5EBE1"/>
          </a:solidFill>
        </p:spPr>
        <p:txBody>
          <a:bodyPr lIns="0" tIns="0" rIns="0" bIns="0" wrap="none">
            <a:noAutofit/>
          </a:bodyPr>
          <a:p>
            <a:pPr indent="0"/>
            <a:r>
              <a:rPr lang="en-US" sz="1100" spc="200">
                <a:solidFill>
                  <a:srgbClr val="68686F"/>
                </a:solidFill>
                <a:latin typeface="Consolas"/>
              </a:rPr>
              <a:t>■ ST</a:t>
            </a:r>
          </a:p>
        </p:txBody>
      </p:sp>
      <p:sp>
        <p:nvSpPr>
          <p:cNvPr id="17" name=""/>
          <p:cNvSpPr/>
          <p:nvPr/>
        </p:nvSpPr>
        <p:spPr>
          <a:xfrm>
            <a:off x="8677656" y="6818376"/>
            <a:ext cx="938784" cy="134112"/>
          </a:xfrm>
          <a:prstGeom prst="rect">
            <a:avLst/>
          </a:prstGeom>
          <a:solidFill>
            <a:srgbClr val="F5EBE1"/>
          </a:solidFill>
        </p:spPr>
        <p:txBody>
          <a:bodyPr lIns="0" tIns="0" rIns="0" bIns="0" wrap="none">
            <a:noAutofit/>
          </a:bodyPr>
          <a:p>
            <a:pPr indent="0"/>
            <a:r>
              <a:rPr lang="en-US" sz="1100" spc="200">
                <a:solidFill>
                  <a:srgbClr val="68686F"/>
                </a:solidFill>
                <a:latin typeface="Consolas"/>
              </a:rPr>
              <a:t>■ MINORITY</a:t>
            </a:r>
          </a:p>
        </p:txBody>
      </p:sp>
      <p:sp>
        <p:nvSpPr>
          <p:cNvPr id="18" name=""/>
          <p:cNvSpPr/>
          <p:nvPr/>
        </p:nvSpPr>
        <p:spPr>
          <a:xfrm>
            <a:off x="12076176" y="7053072"/>
            <a:ext cx="411480" cy="109728"/>
          </a:xfrm>
          <a:prstGeom prst="rect">
            <a:avLst/>
          </a:prstGeom>
        </p:spPr>
        <p:txBody>
          <a:bodyPr lIns="0" tIns="0" rIns="0" bIns="0" wrap="none">
            <a:noAutofit/>
          </a:bodyPr>
          <a:p>
            <a:pPr indent="0"/>
            <a:r>
              <a:rPr lang="en-US" sz="750" spc="200">
                <a:solidFill>
                  <a:srgbClr val="FFFFFF"/>
                </a:solidFill>
                <a:latin typeface="Tahoma"/>
              </a:rPr>
              <a:t>CLASS</a:t>
            </a:r>
          </a:p>
        </p:txBody>
      </p:sp>
      <p:sp>
        <p:nvSpPr>
          <p:cNvPr id="19" name=""/>
          <p:cNvSpPr/>
          <p:nvPr/>
        </p:nvSpPr>
        <p:spPr>
          <a:xfrm>
            <a:off x="12563856" y="7053072"/>
            <a:ext cx="88392" cy="109728"/>
          </a:xfrm>
          <a:prstGeom prst="rect">
            <a:avLst/>
          </a:prstGeom>
        </p:spPr>
        <p:txBody>
          <a:bodyPr lIns="0" tIns="0" rIns="0" bIns="0" wrap="none">
            <a:noAutofit/>
          </a:bodyPr>
          <a:p>
            <a:pPr indent="0"/>
            <a:r>
              <a:rPr lang="en-US" sz="750" spc="200">
                <a:solidFill>
                  <a:srgbClr val="FFFFFF"/>
                </a:solidFill>
                <a:latin typeface="Tahoma"/>
              </a:rPr>
              <a:t>S</a:t>
            </a:r>
          </a:p>
        </p:txBody>
      </p:sp>
      <p:sp>
        <p:nvSpPr>
          <p:cNvPr id="20" name=""/>
          <p:cNvSpPr/>
          <p:nvPr/>
        </p:nvSpPr>
        <p:spPr>
          <a:xfrm>
            <a:off x="10546080" y="7071360"/>
            <a:ext cx="1267968" cy="73152"/>
          </a:xfrm>
          <a:prstGeom prst="rect">
            <a:avLst/>
          </a:prstGeom>
        </p:spPr>
        <p:txBody>
          <a:bodyPr lIns="0" tIns="0" rIns="0" bIns="0" wrap="none">
            <a:noAutofit/>
          </a:bodyPr>
          <a:p>
            <a:pPr indent="0"/>
            <a:r>
              <a:rPr lang="en-US" sz="750" spc="200">
                <a:solidFill>
                  <a:srgbClr val="FFFFFF"/>
                </a:solidFill>
                <a:latin typeface="Tahoma"/>
              </a:rPr>
              <a:t>KIT DISTRIBUTION</a:t>
            </a:r>
          </a:p>
        </p:txBody>
      </p:sp>
      <p:sp>
        <p:nvSpPr>
          <p:cNvPr id="21" name=""/>
          <p:cNvSpPr/>
          <p:nvPr/>
        </p:nvSpPr>
        <p:spPr>
          <a:xfrm>
            <a:off x="1039368" y="7415784"/>
            <a:ext cx="8430768" cy="932688"/>
          </a:xfrm>
          <a:prstGeom prst="rect">
            <a:avLst/>
          </a:prstGeom>
          <a:solidFill>
            <a:srgbClr val="F5EBE1"/>
          </a:solidFill>
        </p:spPr>
        <p:txBody>
          <a:bodyPr lIns="0" tIns="0" rIns="0" bIns="0">
            <a:noAutofit/>
          </a:bodyPr>
          <a:p>
            <a:pPr indent="0">
              <a:lnSpc>
                <a:spcPts val="2712"/>
              </a:lnSpc>
            </a:pPr>
            <a:r>
              <a:rPr lang="en-US" sz="1700">
                <a:solidFill>
                  <a:srgbClr val="3C3D41"/>
                </a:solidFill>
                <a:latin typeface="Tahoma"/>
              </a:rPr>
              <a:t>Every girl reached studies in a government residential institution from a BC, SC, ST, or minority community — the demographic with the steepest barriers to menstrual health, and the lowest baseline of awareness.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"/>
          <p:cNvPicPr>
            <a:picLocks noChangeAspect="1"/>
          </p:cNvPicPr>
          <p:nvPr/>
        </p:nvPicPr>
        <p:blipFill>
          <a:blip r:embed="rPictId0"/>
          <a:stretch>
            <a:fillRect/>
          </a:stretch>
        </p:blipFill>
        <p:spPr>
          <a:xfrm>
            <a:off x="1350264" y="3764280"/>
            <a:ext cx="289560" cy="390144"/>
          </a:xfrm>
          <a:prstGeom prst="rect">
            <a:avLst/>
          </a:prstGeom>
        </p:spPr>
      </p:pic>
      <p:pic>
        <p:nvPicPr>
          <p:cNvPr id="3" name=""/>
          <p:cNvPicPr>
            <a:picLocks noChangeAspect="1"/>
          </p:cNvPicPr>
          <p:nvPr/>
        </p:nvPicPr>
        <p:blipFill>
          <a:blip r:embed="rPictId1"/>
          <a:stretch>
            <a:fillRect/>
          </a:stretch>
        </p:blipFill>
        <p:spPr>
          <a:xfrm>
            <a:off x="4599432" y="3843528"/>
            <a:ext cx="344424" cy="301752"/>
          </a:xfrm>
          <a:prstGeom prst="rect">
            <a:avLst/>
          </a:prstGeom>
        </p:spPr>
      </p:pic>
      <p:sp>
        <p:nvSpPr>
          <p:cNvPr id="4" name=""/>
          <p:cNvSpPr/>
          <p:nvPr/>
        </p:nvSpPr>
        <p:spPr>
          <a:xfrm>
            <a:off x="1027176" y="445008"/>
            <a:ext cx="2221992" cy="149352"/>
          </a:xfrm>
          <a:prstGeom prst="rect">
            <a:avLst/>
          </a:prstGeom>
          <a:solidFill>
            <a:srgbClr val="F5EBE1"/>
          </a:solidFill>
        </p:spPr>
        <p:txBody>
          <a:bodyPr lIns="0" tIns="0" rIns="0" bIns="0" wrap="none">
            <a:noAutofit/>
          </a:bodyPr>
          <a:p>
            <a:pPr indent="0"/>
            <a:r>
              <a:rPr lang="en-US" sz="1100" spc="300">
                <a:solidFill>
                  <a:srgbClr val="78292E"/>
                </a:solidFill>
                <a:latin typeface="Tahoma"/>
              </a:rPr>
              <a:t>• </a:t>
            </a:r>
            <a:r>
              <a:rPr lang="en-US" sz="1100" spc="300">
                <a:solidFill>
                  <a:srgbClr val="68686F"/>
                </a:solidFill>
                <a:latin typeface="Tahoma"/>
              </a:rPr>
              <a:t>STHREE SWABHIMAN</a:t>
            </a:r>
          </a:p>
        </p:txBody>
      </p:sp>
      <p:sp>
        <p:nvSpPr>
          <p:cNvPr id="5" name=""/>
          <p:cNvSpPr/>
          <p:nvPr/>
        </p:nvSpPr>
        <p:spPr>
          <a:xfrm>
            <a:off x="14377416" y="445008"/>
            <a:ext cx="2840736" cy="149352"/>
          </a:xfrm>
          <a:prstGeom prst="rect">
            <a:avLst/>
          </a:prstGeom>
          <a:solidFill>
            <a:srgbClr val="F5EBE1"/>
          </a:solidFill>
        </p:spPr>
        <p:txBody>
          <a:bodyPr lIns="0" tIns="0" rIns="0" bIns="0" wrap="none">
            <a:noAutofit/>
          </a:bodyPr>
          <a:p>
            <a:pPr algn="just" indent="0"/>
            <a:r>
              <a:rPr lang="en-US" sz="1100" spc="300">
                <a:solidFill>
                  <a:srgbClr val="68686F"/>
                </a:solidFill>
                <a:latin typeface="Tahoma"/>
              </a:rPr>
              <a:t>08    • IMPLEMENTATION PLAN</a:t>
            </a:r>
          </a:p>
        </p:txBody>
      </p:sp>
      <p:sp>
        <p:nvSpPr>
          <p:cNvPr id="6" name=""/>
          <p:cNvSpPr/>
          <p:nvPr/>
        </p:nvSpPr>
        <p:spPr>
          <a:xfrm>
            <a:off x="1033272" y="1002792"/>
            <a:ext cx="11999976" cy="2264664"/>
          </a:xfrm>
          <a:prstGeom prst="rect">
            <a:avLst/>
          </a:prstGeom>
          <a:solidFill>
            <a:srgbClr val="F5EBE1"/>
          </a:solidFill>
        </p:spPr>
        <p:txBody>
          <a:bodyPr lIns="0" tIns="0" rIns="0" bIns="0">
            <a:noAutofit/>
          </a:bodyPr>
          <a:p>
            <a:pPr algn="just" indent="0">
              <a:spcAft>
                <a:spcPts val="1470"/>
              </a:spcAft>
            </a:pPr>
            <a:r>
              <a:rPr lang="en-US" sz="1800" spc="450">
                <a:solidFill>
                  <a:srgbClr val="78292E"/>
                </a:solidFill>
                <a:latin typeface="Sylfaen"/>
              </a:rPr>
              <a:t>- IMPLEMENTATION PLAN</a:t>
            </a:r>
          </a:p>
          <a:p>
            <a:pPr marR="1574800" indent="0">
              <a:lnSpc>
                <a:spcPts val="4992"/>
              </a:lnSpc>
            </a:pPr>
            <a:r>
              <a:rPr lang="en-US" b="1" sz="4800">
                <a:solidFill>
                  <a:srgbClr val="17181F"/>
                </a:solidFill>
                <a:latin typeface="Sylfaen"/>
              </a:rPr>
              <a:t>A five-phase annual cycle, anchored to the MJPTBCWREIS academic calendar.</a:t>
            </a:r>
          </a:p>
          <a:p>
            <a:pPr algn="just" indent="0"/>
            <a:r>
              <a:rPr lang="en-US" sz="1000" spc="150">
                <a:solidFill>
                  <a:srgbClr val="68686F"/>
                </a:solidFill>
                <a:latin typeface="Consolas"/>
              </a:rPr>
              <a:t>APR    </a:t>
            </a:r>
            <a:r>
              <a:rPr lang="en-US" sz="1000" spc="150">
                <a:solidFill>
                  <a:srgbClr val="78292E"/>
                </a:solidFill>
                <a:latin typeface="Consolas"/>
              </a:rPr>
              <a:t>- </a:t>
            </a:r>
            <a:r>
              <a:rPr lang="en-US" sz="1000" spc="150">
                <a:solidFill>
                  <a:srgbClr val="68686F"/>
                </a:solidFill>
                <a:latin typeface="Consolas"/>
              </a:rPr>
              <a:t>JUN </a:t>
            </a:r>
            <a:r>
              <a:rPr lang="en-US" sz="1000" spc="150">
                <a:solidFill>
                  <a:srgbClr val="78292E"/>
                </a:solidFill>
                <a:latin typeface="Consolas"/>
              </a:rPr>
              <a:t>- </a:t>
            </a:r>
            <a:r>
              <a:rPr lang="en-US" sz="1000" spc="150">
                <a:solidFill>
                  <a:srgbClr val="68686F"/>
                </a:solidFill>
                <a:latin typeface="Consolas"/>
              </a:rPr>
              <a:t>JUL </a:t>
            </a:r>
            <a:r>
              <a:rPr lang="en-US" sz="1000" spc="150">
                <a:solidFill>
                  <a:srgbClr val="78292E"/>
                </a:solidFill>
                <a:latin typeface="Consolas"/>
              </a:rPr>
              <a:t>- </a:t>
            </a:r>
            <a:r>
              <a:rPr lang="en-US" sz="1000" spc="150">
                <a:solidFill>
                  <a:srgbClr val="68686F"/>
                </a:solidFill>
                <a:latin typeface="Consolas"/>
              </a:rPr>
              <a:t>MAR</a:t>
            </a:r>
          </a:p>
        </p:txBody>
      </p:sp>
      <p:sp>
        <p:nvSpPr>
          <p:cNvPr id="7" name=""/>
          <p:cNvSpPr/>
          <p:nvPr/>
        </p:nvSpPr>
        <p:spPr>
          <a:xfrm>
            <a:off x="1255776" y="4386072"/>
            <a:ext cx="2417064" cy="1301496"/>
          </a:xfrm>
          <a:prstGeom prst="rect">
            <a:avLst/>
          </a:prstGeom>
        </p:spPr>
        <p:txBody>
          <a:bodyPr lIns="0" tIns="0" rIns="0" bIns="0">
            <a:noAutofit/>
          </a:bodyPr>
          <a:p>
            <a:pPr indent="0">
              <a:spcAft>
                <a:spcPts val="630"/>
              </a:spcAft>
            </a:pPr>
            <a:r>
              <a:rPr lang="en-US" sz="1000" spc="150">
                <a:solidFill>
                  <a:srgbClr val="78292E"/>
                </a:solidFill>
                <a:latin typeface="Consolas"/>
              </a:rPr>
              <a:t>PHASE 01</a:t>
            </a:r>
          </a:p>
          <a:p>
            <a:pPr indent="0">
              <a:spcAft>
                <a:spcPts val="1260"/>
              </a:spcAft>
            </a:pPr>
            <a:r>
              <a:rPr lang="en-US" sz="1900">
                <a:solidFill>
                  <a:srgbClr val="17181F"/>
                </a:solidFill>
                <a:latin typeface="Sylfaen"/>
              </a:rPr>
              <a:t>Planning</a:t>
            </a:r>
          </a:p>
          <a:p>
            <a:pPr indent="0">
              <a:lnSpc>
                <a:spcPts val="1800"/>
              </a:lnSpc>
            </a:pPr>
            <a:r>
              <a:rPr lang="en-US" b="1" sz="1050">
                <a:solidFill>
                  <a:srgbClr val="3C3D41"/>
                </a:solidFill>
                <a:latin typeface="Tahoma"/>
              </a:rPr>
              <a:t>Institution lists finalised, principals coordinated, site assessments for incinerators completed.</a:t>
            </a:r>
          </a:p>
        </p:txBody>
      </p:sp>
      <p:sp>
        <p:nvSpPr>
          <p:cNvPr id="8" name=""/>
          <p:cNvSpPr/>
          <p:nvPr/>
        </p:nvSpPr>
        <p:spPr>
          <a:xfrm>
            <a:off x="1252728" y="8644128"/>
            <a:ext cx="813816" cy="118872"/>
          </a:xfrm>
          <a:prstGeom prst="rect">
            <a:avLst/>
          </a:prstGeom>
        </p:spPr>
        <p:txBody>
          <a:bodyPr lIns="0" tIns="0" rIns="0" bIns="0" wrap="none">
            <a:noAutofit/>
          </a:bodyPr>
          <a:p>
            <a:pPr indent="0"/>
            <a:r>
              <a:rPr lang="en-US" sz="1000" spc="150">
                <a:solidFill>
                  <a:srgbClr val="68686F"/>
                </a:solidFill>
                <a:latin typeface="Consolas"/>
              </a:rPr>
              <a:t>APR - MAY</a:t>
            </a:r>
          </a:p>
        </p:txBody>
      </p:sp>
      <p:sp>
        <p:nvSpPr>
          <p:cNvPr id="9" name=""/>
          <p:cNvSpPr/>
          <p:nvPr/>
        </p:nvSpPr>
        <p:spPr>
          <a:xfrm>
            <a:off x="4523232" y="4386072"/>
            <a:ext cx="2438400" cy="1588008"/>
          </a:xfrm>
          <a:prstGeom prst="rect">
            <a:avLst/>
          </a:prstGeom>
        </p:spPr>
        <p:txBody>
          <a:bodyPr lIns="0" tIns="0" rIns="0" bIns="0">
            <a:noAutofit/>
          </a:bodyPr>
          <a:p>
            <a:pPr indent="0">
              <a:spcAft>
                <a:spcPts val="420"/>
              </a:spcAft>
            </a:pPr>
            <a:r>
              <a:rPr lang="en-US" sz="1000" spc="150">
                <a:solidFill>
                  <a:srgbClr val="78292E"/>
                </a:solidFill>
                <a:latin typeface="Consolas"/>
              </a:rPr>
              <a:t>PHASE 02</a:t>
            </a:r>
          </a:p>
          <a:p>
            <a:pPr marR="660400" indent="0">
              <a:lnSpc>
                <a:spcPts val="2256"/>
              </a:lnSpc>
              <a:spcAft>
                <a:spcPts val="420"/>
              </a:spcAft>
            </a:pPr>
            <a:r>
              <a:rPr lang="en-US" sz="1900">
                <a:solidFill>
                  <a:srgbClr val="17181F"/>
                </a:solidFill>
                <a:latin typeface="Sylfaen"/>
              </a:rPr>
              <a:t>Infrastructure &amp; Capacity</a:t>
            </a:r>
          </a:p>
          <a:p>
            <a:pPr indent="0">
              <a:lnSpc>
                <a:spcPts val="1800"/>
              </a:lnSpc>
            </a:pPr>
            <a:r>
              <a:rPr lang="en-US" b="1" sz="1050">
                <a:solidFill>
                  <a:srgbClr val="3C3D41"/>
                </a:solidFill>
                <a:latin typeface="Tahoma"/>
              </a:rPr>
              <a:t>550 incinerators installed. ToT workshops with staff. Peer mentors trained on each campus.</a:t>
            </a:r>
          </a:p>
        </p:txBody>
      </p:sp>
      <p:sp>
        <p:nvSpPr>
          <p:cNvPr id="10" name=""/>
          <p:cNvSpPr/>
          <p:nvPr/>
        </p:nvSpPr>
        <p:spPr>
          <a:xfrm>
            <a:off x="4529328" y="8644128"/>
            <a:ext cx="801624" cy="118872"/>
          </a:xfrm>
          <a:prstGeom prst="rect">
            <a:avLst/>
          </a:prstGeom>
        </p:spPr>
        <p:txBody>
          <a:bodyPr lIns="0" tIns="0" rIns="0" bIns="0" wrap="none">
            <a:noAutofit/>
          </a:bodyPr>
          <a:p>
            <a:pPr indent="0"/>
            <a:r>
              <a:rPr lang="en-US" sz="1000" spc="150">
                <a:solidFill>
                  <a:srgbClr val="68686F"/>
                </a:solidFill>
                <a:latin typeface="Consolas"/>
              </a:rPr>
              <a:t>MAY ~ JUN</a:t>
            </a:r>
          </a:p>
        </p:txBody>
      </p:sp>
      <p:sp>
        <p:nvSpPr>
          <p:cNvPr id="11" name=""/>
          <p:cNvSpPr/>
          <p:nvPr/>
        </p:nvSpPr>
        <p:spPr>
          <a:xfrm>
            <a:off x="7799832" y="3810000"/>
            <a:ext cx="2505456" cy="2167128"/>
          </a:xfrm>
          <a:prstGeom prst="rect">
            <a:avLst/>
          </a:prstGeom>
        </p:spPr>
        <p:txBody>
          <a:bodyPr lIns="0" tIns="0" rIns="0" bIns="0">
            <a:noAutofit/>
          </a:bodyPr>
          <a:p>
            <a:pPr indent="0">
              <a:spcAft>
                <a:spcPts val="630"/>
              </a:spcAft>
            </a:pPr>
            <a:r>
              <a:rPr lang="en-US" sz="1000" spc="150">
                <a:solidFill>
                  <a:srgbClr val="78292E"/>
                </a:solidFill>
                <a:latin typeface="Consolas"/>
              </a:rPr>
              <a:t>PHASE 03</a:t>
            </a:r>
          </a:p>
          <a:p>
            <a:pPr marR="1130300" indent="0">
              <a:lnSpc>
                <a:spcPts val="2256"/>
              </a:lnSpc>
              <a:spcAft>
                <a:spcPts val="420"/>
              </a:spcAft>
            </a:pPr>
            <a:r>
              <a:rPr lang="en-US" sz="1900">
                <a:solidFill>
                  <a:srgbClr val="17181F"/>
                </a:solidFill>
                <a:latin typeface="Sylfaen"/>
              </a:rPr>
              <a:t>Awareness &amp; Distribution</a:t>
            </a:r>
          </a:p>
          <a:p>
            <a:pPr indent="0">
              <a:lnSpc>
                <a:spcPts val="1800"/>
              </a:lnSpc>
            </a:pPr>
            <a:r>
              <a:rPr lang="en-US" b="1" sz="1050">
                <a:solidFill>
                  <a:srgbClr val="3C3D41"/>
                </a:solidFill>
                <a:latin typeface="Tahoma"/>
              </a:rPr>
              <a:t>One-day MHM workshop per institution. Starter kits distributed to every newly-enrolled girl.</a:t>
            </a:r>
          </a:p>
        </p:txBody>
      </p:sp>
      <p:sp>
        <p:nvSpPr>
          <p:cNvPr id="12" name=""/>
          <p:cNvSpPr/>
          <p:nvPr/>
        </p:nvSpPr>
        <p:spPr>
          <a:xfrm>
            <a:off x="7802880" y="8644128"/>
            <a:ext cx="801624" cy="118872"/>
          </a:xfrm>
          <a:prstGeom prst="rect">
            <a:avLst/>
          </a:prstGeom>
        </p:spPr>
        <p:txBody>
          <a:bodyPr lIns="0" tIns="0" rIns="0" bIns="0" wrap="none">
            <a:noAutofit/>
          </a:bodyPr>
          <a:p>
            <a:pPr indent="0"/>
            <a:r>
              <a:rPr lang="en-US" sz="1000" spc="150">
                <a:solidFill>
                  <a:srgbClr val="68686F"/>
                </a:solidFill>
                <a:latin typeface="Consolas"/>
              </a:rPr>
              <a:t>JUN ~ JUL</a:t>
            </a:r>
          </a:p>
        </p:txBody>
      </p:sp>
      <p:sp>
        <p:nvSpPr>
          <p:cNvPr id="13" name=""/>
          <p:cNvSpPr/>
          <p:nvPr/>
        </p:nvSpPr>
        <p:spPr>
          <a:xfrm>
            <a:off x="11070336" y="3770376"/>
            <a:ext cx="2520696" cy="2203704"/>
          </a:xfrm>
          <a:prstGeom prst="rect">
            <a:avLst/>
          </a:prstGeom>
        </p:spPr>
        <p:txBody>
          <a:bodyPr lIns="0" tIns="0" rIns="0" bIns="0">
            <a:noAutofit/>
          </a:bodyPr>
          <a:p>
            <a:pPr indent="0">
              <a:spcAft>
                <a:spcPts val="1470"/>
              </a:spcAft>
            </a:pPr>
            <a:r>
              <a:rPr lang="en-US" sz="3500">
                <a:solidFill>
                  <a:srgbClr val="78292E"/>
                </a:solidFill>
                <a:latin typeface="Sylfaen"/>
              </a:rPr>
              <a:t>G</a:t>
            </a:r>
          </a:p>
          <a:p>
            <a:pPr indent="0">
              <a:spcAft>
                <a:spcPts val="420"/>
              </a:spcAft>
            </a:pPr>
            <a:r>
              <a:rPr lang="en-US" sz="1000" spc="150">
                <a:solidFill>
                  <a:srgbClr val="78292E"/>
                </a:solidFill>
                <a:latin typeface="Consolas"/>
              </a:rPr>
              <a:t>PHASE 04</a:t>
            </a:r>
          </a:p>
          <a:p>
            <a:pPr indent="0">
              <a:spcAft>
                <a:spcPts val="420"/>
              </a:spcAft>
            </a:pPr>
            <a:r>
              <a:rPr lang="en-US" sz="1900">
                <a:solidFill>
                  <a:srgbClr val="17181F"/>
                </a:solidFill>
                <a:latin typeface="Sylfaen"/>
              </a:rPr>
              <a:t>Institution-led</a:t>
            </a:r>
          </a:p>
          <a:p>
            <a:pPr indent="0">
              <a:spcAft>
                <a:spcPts val="1470"/>
              </a:spcAft>
            </a:pPr>
            <a:r>
              <a:rPr lang="en-US" sz="1900">
                <a:solidFill>
                  <a:srgbClr val="17181F"/>
                </a:solidFill>
                <a:latin typeface="Sylfaen"/>
              </a:rPr>
              <a:t>Continuity</a:t>
            </a:r>
          </a:p>
          <a:p>
            <a:pPr indent="0">
              <a:lnSpc>
                <a:spcPts val="1800"/>
              </a:lnSpc>
            </a:pPr>
            <a:r>
              <a:rPr lang="en-US" b="1" sz="1050">
                <a:solidFill>
                  <a:srgbClr val="3C3D41"/>
                </a:solidFill>
                <a:latin typeface="Tahoma"/>
              </a:rPr>
              <a:t>Trained staff and peer mentors carry messaging independently. IEC materials displayed campus-wide.</a:t>
            </a:r>
          </a:p>
        </p:txBody>
      </p:sp>
      <p:sp>
        <p:nvSpPr>
          <p:cNvPr id="14" name=""/>
          <p:cNvSpPr/>
          <p:nvPr/>
        </p:nvSpPr>
        <p:spPr>
          <a:xfrm>
            <a:off x="11070336" y="8644128"/>
            <a:ext cx="810768" cy="118872"/>
          </a:xfrm>
          <a:prstGeom prst="rect">
            <a:avLst/>
          </a:prstGeom>
        </p:spPr>
        <p:txBody>
          <a:bodyPr lIns="0" tIns="0" rIns="0" bIns="0" wrap="none">
            <a:noAutofit/>
          </a:bodyPr>
          <a:p>
            <a:pPr indent="0"/>
            <a:r>
              <a:rPr lang="en-US" sz="1000" spc="150">
                <a:solidFill>
                  <a:srgbClr val="68686F"/>
                </a:solidFill>
                <a:latin typeface="Consolas"/>
              </a:rPr>
              <a:t>AUG ~ MAR</a:t>
            </a:r>
          </a:p>
        </p:txBody>
      </p:sp>
      <p:sp>
        <p:nvSpPr>
          <p:cNvPr id="15" name=""/>
          <p:cNvSpPr/>
          <p:nvPr/>
        </p:nvSpPr>
        <p:spPr>
          <a:xfrm>
            <a:off x="16952976" y="3148584"/>
            <a:ext cx="277368" cy="137160"/>
          </a:xfrm>
          <a:prstGeom prst="rect">
            <a:avLst/>
          </a:prstGeom>
          <a:solidFill>
            <a:srgbClr val="F5EBE1"/>
          </a:solidFill>
        </p:spPr>
        <p:txBody>
          <a:bodyPr lIns="0" tIns="0" rIns="0" bIns="0" wrap="none">
            <a:noAutofit/>
          </a:bodyPr>
          <a:p>
            <a:pPr indent="0"/>
            <a:r>
              <a:rPr lang="en-US" sz="1000" spc="150">
                <a:solidFill>
                  <a:srgbClr val="68686F"/>
                </a:solidFill>
                <a:latin typeface="Consolas"/>
              </a:rPr>
              <a:t>QTR</a:t>
            </a:r>
          </a:p>
        </p:txBody>
      </p:sp>
      <p:sp>
        <p:nvSpPr>
          <p:cNvPr id="16" name=""/>
          <p:cNvSpPr/>
          <p:nvPr/>
        </p:nvSpPr>
        <p:spPr>
          <a:xfrm>
            <a:off x="14340840" y="3800856"/>
            <a:ext cx="2663952" cy="1886712"/>
          </a:xfrm>
          <a:prstGeom prst="rect">
            <a:avLst/>
          </a:prstGeom>
        </p:spPr>
        <p:txBody>
          <a:bodyPr lIns="0" tIns="0" rIns="0" bIns="0">
            <a:noAutofit/>
          </a:bodyPr>
          <a:p>
            <a:pPr algn="just" indent="0">
              <a:spcAft>
                <a:spcPts val="630"/>
              </a:spcAft>
            </a:pPr>
            <a:r>
              <a:rPr lang="en-US" sz="1000" spc="150">
                <a:solidFill>
                  <a:srgbClr val="78292E"/>
                </a:solidFill>
                <a:latin typeface="Consolas"/>
              </a:rPr>
              <a:t>PHASE 05</a:t>
            </a:r>
          </a:p>
          <a:p>
            <a:pPr indent="0">
              <a:spcAft>
                <a:spcPts val="1260"/>
              </a:spcAft>
            </a:pPr>
            <a:r>
              <a:rPr lang="en-US" sz="1900">
                <a:solidFill>
                  <a:srgbClr val="17181F"/>
                </a:solidFill>
                <a:latin typeface="Sylfaen"/>
              </a:rPr>
              <a:t>Monitoring &amp; Reporting</a:t>
            </a:r>
          </a:p>
          <a:p>
            <a:pPr algn="just" marR="228600" indent="0">
              <a:lnSpc>
                <a:spcPts val="1800"/>
              </a:lnSpc>
            </a:pPr>
            <a:r>
              <a:rPr lang="en-US" b="1" sz="1050">
                <a:solidFill>
                  <a:srgbClr val="3C3D41"/>
                </a:solidFill>
                <a:latin typeface="Tahoma"/>
              </a:rPr>
              <a:t>Quarterly warden check-ins, district field visits, incinerator audits, and a year-end impact report.</a:t>
            </a:r>
          </a:p>
        </p:txBody>
      </p:sp>
      <p:sp>
        <p:nvSpPr>
          <p:cNvPr id="17" name=""/>
          <p:cNvSpPr/>
          <p:nvPr/>
        </p:nvSpPr>
        <p:spPr>
          <a:xfrm>
            <a:off x="14346936" y="8644128"/>
            <a:ext cx="810768" cy="137160"/>
          </a:xfrm>
          <a:prstGeom prst="rect">
            <a:avLst/>
          </a:prstGeom>
        </p:spPr>
        <p:txBody>
          <a:bodyPr lIns="0" tIns="0" rIns="0" bIns="0" wrap="none">
            <a:noAutofit/>
          </a:bodyPr>
          <a:p>
            <a:pPr indent="0"/>
            <a:r>
              <a:rPr lang="en-US" sz="1000" spc="150">
                <a:solidFill>
                  <a:srgbClr val="68686F"/>
                </a:solidFill>
                <a:latin typeface="Consolas"/>
              </a:rPr>
              <a:t>QUARTERLY</a:t>
            </a:r>
          </a:p>
        </p:txBody>
      </p:sp>
      <p:sp>
        <p:nvSpPr>
          <p:cNvPr id="18" name=""/>
          <p:cNvSpPr/>
          <p:nvPr/>
        </p:nvSpPr>
        <p:spPr>
          <a:xfrm>
            <a:off x="1039368" y="9284208"/>
            <a:ext cx="10088880" cy="143256"/>
          </a:xfrm>
          <a:prstGeom prst="rect">
            <a:avLst/>
          </a:prstGeom>
          <a:solidFill>
            <a:srgbClr val="F5EBE1"/>
          </a:solidFill>
        </p:spPr>
        <p:txBody>
          <a:bodyPr lIns="0" tIns="0" rIns="0" bIns="0" wrap="none">
            <a:noAutofit/>
          </a:bodyPr>
          <a:p>
            <a:pPr indent="0"/>
            <a:r>
              <a:rPr lang="en-US" sz="1100" spc="200">
                <a:solidFill>
                  <a:srgbClr val="78292E"/>
                </a:solidFill>
                <a:latin typeface="Consolas"/>
              </a:rPr>
              <a:t>★ </a:t>
            </a:r>
            <a:r>
              <a:rPr lang="en-US" sz="1100" spc="200">
                <a:solidFill>
                  <a:srgbClr val="68686F"/>
                </a:solidFill>
                <a:latin typeface="Consolas"/>
              </a:rPr>
              <a:t>KEY ACTIVITIES CLUSTER AROUND SCHOOL REOPENING, SO EVERY NEW GIRL IS REACHED AT THE START OF THE YEAR.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"/>
          <p:cNvSpPr/>
          <p:nvPr/>
        </p:nvSpPr>
        <p:spPr>
          <a:xfrm>
            <a:off x="1027176" y="445008"/>
            <a:ext cx="2221992" cy="149352"/>
          </a:xfrm>
          <a:prstGeom prst="rect">
            <a:avLst/>
          </a:prstGeom>
          <a:solidFill>
            <a:srgbClr val="F5EBE1"/>
          </a:solidFill>
        </p:spPr>
        <p:txBody>
          <a:bodyPr lIns="0" tIns="0" rIns="0" bIns="0" wrap="none">
            <a:noAutofit/>
          </a:bodyPr>
          <a:p>
            <a:pPr indent="0"/>
            <a:r>
              <a:rPr lang="en-US" sz="1100" spc="300">
                <a:solidFill>
                  <a:srgbClr val="78292E"/>
                </a:solidFill>
                <a:latin typeface="Tahoma"/>
              </a:rPr>
              <a:t>• </a:t>
            </a:r>
            <a:r>
              <a:rPr lang="en-US" sz="1100" spc="300">
                <a:solidFill>
                  <a:srgbClr val="68686F"/>
                </a:solidFill>
                <a:latin typeface="Tahoma"/>
              </a:rPr>
              <a:t>STHREE SWABHIMAN</a:t>
            </a:r>
          </a:p>
        </p:txBody>
      </p:sp>
      <p:sp>
        <p:nvSpPr>
          <p:cNvPr id="3" name=""/>
          <p:cNvSpPr/>
          <p:nvPr/>
        </p:nvSpPr>
        <p:spPr>
          <a:xfrm>
            <a:off x="14258544" y="445008"/>
            <a:ext cx="228600" cy="149352"/>
          </a:xfrm>
          <a:prstGeom prst="rect">
            <a:avLst/>
          </a:prstGeom>
          <a:solidFill>
            <a:srgbClr val="F5EBE1"/>
          </a:solidFill>
        </p:spPr>
        <p:txBody>
          <a:bodyPr lIns="0" tIns="0" rIns="0" bIns="0" wrap="none">
            <a:noAutofit/>
          </a:bodyPr>
          <a:p>
            <a:pPr indent="0"/>
            <a:r>
              <a:rPr lang="en-US" sz="1100" spc="300">
                <a:solidFill>
                  <a:srgbClr val="68686F"/>
                </a:solidFill>
                <a:latin typeface="Tahoma"/>
              </a:rPr>
              <a:t>09</a:t>
            </a:r>
          </a:p>
        </p:txBody>
      </p:sp>
      <p:sp>
        <p:nvSpPr>
          <p:cNvPr id="4" name=""/>
          <p:cNvSpPr/>
          <p:nvPr/>
        </p:nvSpPr>
        <p:spPr>
          <a:xfrm>
            <a:off x="14849856" y="445008"/>
            <a:ext cx="2371344" cy="149352"/>
          </a:xfrm>
          <a:prstGeom prst="rect">
            <a:avLst/>
          </a:prstGeom>
          <a:solidFill>
            <a:srgbClr val="F5EBE1"/>
          </a:solidFill>
        </p:spPr>
        <p:txBody>
          <a:bodyPr lIns="0" tIns="0" rIns="0" bIns="0" wrap="none">
            <a:noAutofit/>
          </a:bodyPr>
          <a:p>
            <a:pPr indent="0"/>
            <a:r>
              <a:rPr lang="en-US" sz="1100" spc="300">
                <a:solidFill>
                  <a:srgbClr val="68686F"/>
                </a:solidFill>
                <a:latin typeface="Tahoma"/>
              </a:rPr>
              <a:t>SUSTAINABILITY MODEL</a:t>
            </a:r>
          </a:p>
        </p:txBody>
      </p:sp>
      <p:sp>
        <p:nvSpPr>
          <p:cNvPr id="5" name=""/>
          <p:cNvSpPr/>
          <p:nvPr/>
        </p:nvSpPr>
        <p:spPr>
          <a:xfrm>
            <a:off x="1057656" y="1002792"/>
            <a:ext cx="11780520" cy="1731264"/>
          </a:xfrm>
          <a:prstGeom prst="rect">
            <a:avLst/>
          </a:prstGeom>
          <a:solidFill>
            <a:srgbClr val="F5EBE1"/>
          </a:solidFill>
        </p:spPr>
        <p:txBody>
          <a:bodyPr lIns="0" tIns="0" rIns="0" bIns="0">
            <a:noAutofit/>
          </a:bodyPr>
          <a:p>
            <a:pPr algn="just" indent="0">
              <a:spcAft>
                <a:spcPts val="1470"/>
              </a:spcAft>
            </a:pPr>
            <a:r>
              <a:rPr lang="en-US" sz="1800" spc="450">
                <a:solidFill>
                  <a:srgbClr val="78292E"/>
                </a:solidFill>
                <a:latin typeface="Sylfaen"/>
              </a:rPr>
              <a:t>- SUSTAINABILITY MODEL</a:t>
            </a:r>
          </a:p>
          <a:p>
            <a:pPr indent="0">
              <a:lnSpc>
                <a:spcPts val="4992"/>
              </a:lnSpc>
            </a:pPr>
            <a:r>
              <a:rPr lang="en-US" b="1" sz="4800">
                <a:solidFill>
                  <a:srgbClr val="17181F"/>
                </a:solidFill>
                <a:latin typeface="Sylfaen"/>
              </a:rPr>
              <a:t>By Year 3, every campus runs the programme on its own — </a:t>
            </a:r>
            <a:r>
              <a:rPr lang="en-US" i="1" sz="4800" spc="-150">
                <a:solidFill>
                  <a:srgbClr val="78292E"/>
                </a:solidFill>
                <a:latin typeface="Sylfaen"/>
              </a:rPr>
              <a:t>without NGO dependency</a:t>
            </a:r>
            <a:r>
              <a:rPr lang="en-US" i="1" sz="4800" spc="-150">
                <a:solidFill>
                  <a:srgbClr val="17181F"/>
                </a:solidFill>
                <a:latin typeface="Sylfaen"/>
              </a:rPr>
              <a:t>.</a:t>
            </a:r>
          </a:p>
        </p:txBody>
      </p:sp>
      <p:sp>
        <p:nvSpPr>
          <p:cNvPr id="6" name=""/>
          <p:cNvSpPr/>
          <p:nvPr/>
        </p:nvSpPr>
        <p:spPr>
          <a:xfrm>
            <a:off x="1200912" y="3291840"/>
            <a:ext cx="5849112" cy="140208"/>
          </a:xfrm>
          <a:prstGeom prst="rect">
            <a:avLst/>
          </a:prstGeom>
          <a:solidFill>
            <a:srgbClr val="F5EBE1"/>
          </a:solidFill>
        </p:spPr>
        <p:txBody>
          <a:bodyPr lIns="0" tIns="0" rIns="0" bIns="0" wrap="none">
            <a:noAutofit/>
          </a:bodyPr>
          <a:p>
            <a:pPr algn="just" indent="0"/>
            <a:r>
              <a:rPr lang="en-US" sz="1300" spc="200">
                <a:solidFill>
                  <a:srgbClr val="68686F"/>
                </a:solidFill>
                <a:latin typeface="Consolas"/>
              </a:rPr>
              <a:t>YEAR    GIVE FOR SOCIETY    INSTITUTION</a:t>
            </a:r>
          </a:p>
        </p:txBody>
      </p:sp>
      <p:graphicFrame>
        <p:nvGraphicFramePr>
          <p:cNvPr id="7" name=""/>
          <p:cNvGraphicFramePr>
            <a:graphicFrameLocks noGrp="1"/>
          </p:cNvGraphicFramePr>
          <p:nvPr/>
        </p:nvGraphicFramePr>
        <p:xfrm>
          <a:off x="1200912" y="3581400"/>
          <a:ext cx="7577328" cy="4026408"/>
        </p:xfrm>
        <a:graphic>
          <a:graphicData uri="http://schemas.openxmlformats.org/drawingml/2006/table">
            <a:tbl>
              <a:tblPr/>
              <a:tblGrid>
                <a:gridCol w="722376"/>
                <a:gridCol w="3605784"/>
                <a:gridCol w="3249168"/>
              </a:tblGrid>
              <a:tr h="1310640">
                <a:tc>
                  <a:txBody>
                    <a:bodyPr lIns="0" tIns="0" rIns="0" bIns="0">
                      <a:noAutofit/>
                    </a:bodyPr>
                    <a:p>
                      <a:pPr indent="0"/>
                      <a:r>
                        <a:rPr lang="en-US" b="1" sz="2100">
                          <a:solidFill>
                            <a:srgbClr val="78292E"/>
                          </a:solidFill>
                          <a:latin typeface="Tahoma"/>
                        </a:rPr>
                        <a:t>1</a:t>
                      </a:r>
                    </a:p>
                  </a:txBody>
                  <a:tcPr marL="0" marR="0" marT="0" marB="0" anchor="ctr">
                    <a:solidFill>
                      <a:srgbClr val="F5EBE1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p>
                      <a:pPr marL="546100" indent="0">
                        <a:lnSpc>
                          <a:spcPts val="2400"/>
                        </a:lnSpc>
                      </a:pPr>
                      <a:r>
                        <a:rPr lang="en-US" b="1" sz="1500">
                          <a:latin typeface="Tahoma"/>
                        </a:rPr>
                        <a:t>Full implementation.</a:t>
                      </a:r>
                    </a:p>
                    <a:p>
                      <a:pPr marL="546100" indent="0">
                        <a:lnSpc>
                          <a:spcPts val="2400"/>
                        </a:lnSpc>
                      </a:pPr>
                      <a:r>
                        <a:rPr lang="en-US" sz="1700">
                          <a:solidFill>
                            <a:srgbClr val="3C3D41"/>
                          </a:solidFill>
                          <a:latin typeface="Tahoma"/>
                        </a:rPr>
                        <a:t>Sessions, kits, incinerators, ToT delivered end-to-end.</a:t>
                      </a:r>
                    </a:p>
                  </a:txBody>
                  <a:tcPr marL="0" marR="0" marT="0" marB="0" anchor="ctr">
                    <a:solidFill>
                      <a:srgbClr val="F5EBE1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p>
                      <a:pPr marL="330200" indent="0">
                        <a:lnSpc>
                          <a:spcPts val="2376"/>
                        </a:lnSpc>
                      </a:pPr>
                      <a:r>
                        <a:rPr lang="en-US" sz="1700">
                          <a:solidFill>
                            <a:srgbClr val="3C3D41"/>
                          </a:solidFill>
                          <a:latin typeface="Tahoma"/>
                        </a:rPr>
                        <a:t>Observe, nominate focal persons, host facilitation.</a:t>
                      </a:r>
                    </a:p>
                  </a:txBody>
                  <a:tcPr marL="0" marR="0" marT="0" marB="0" anchor="ctr">
                    <a:solidFill>
                      <a:srgbClr val="F5EBE1"/>
                    </a:solidFill>
                  </a:tcPr>
                </a:tc>
              </a:tr>
              <a:tr h="521208">
                <a:tc rowSpan="2">
                  <a:txBody>
                    <a:bodyPr lIns="0" tIns="0" rIns="0" bIns="0">
                      <a:noAutofit/>
                    </a:bodyPr>
                    <a:p>
                      <a:pPr indent="0"/>
                      <a:r>
                        <a:rPr lang="en-US" b="1" sz="2100">
                          <a:solidFill>
                            <a:srgbClr val="78292E"/>
                          </a:solidFill>
                          <a:latin typeface="Tahoma"/>
                        </a:rPr>
                        <a:t>2</a:t>
                      </a:r>
                    </a:p>
                  </a:txBody>
                  <a:tcPr marL="0" marR="0" marT="0" marB="0" anchor="b">
                    <a:solidFill>
                      <a:srgbClr val="F5EBE1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p>
                      <a:pPr marL="546100" indent="0"/>
                      <a:r>
                        <a:rPr lang="en-US" b="1" sz="1500">
                          <a:latin typeface="Tahoma"/>
                        </a:rPr>
                        <a:t>Partial support. </a:t>
                      </a:r>
                      <a:r>
                        <a:rPr lang="en-US" sz="1700">
                          <a:solidFill>
                            <a:srgbClr val="3C3D41"/>
                          </a:solidFill>
                          <a:latin typeface="Tahoma"/>
                        </a:rPr>
                        <a:t>Joint</a:t>
                      </a:r>
                    </a:p>
                  </a:txBody>
                  <a:tcPr marL="0" marR="0" marT="0" marB="0" anchor="b">
                    <a:solidFill>
                      <a:srgbClr val="F5EBE1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p>
                      <a:pPr marL="330200" indent="0"/>
                      <a:r>
                        <a:rPr lang="en-US" sz="1700">
                          <a:solidFill>
                            <a:srgbClr val="3C3D41"/>
                          </a:solidFill>
                          <a:latin typeface="Tahoma"/>
                        </a:rPr>
                        <a:t>Lead delivery with NGO</a:t>
                      </a:r>
                    </a:p>
                  </a:txBody>
                  <a:tcPr marL="0" marR="0" marT="0" marB="0" anchor="b">
                    <a:solidFill>
                      <a:srgbClr val="F5EBE1"/>
                    </a:solidFill>
                  </a:tcPr>
                </a:tc>
              </a:tr>
              <a:tr h="307848">
                <a:tc vMerge="1">
                  <a:txBody>
                    <a:bodyPr lIns="0" tIns="0" rIns="0" bIns="0">
                      <a:noAutofit/>
                    </a:bodyPr>
                    <a:p>
                      <a:endParaRPr sz="1500"/>
                    </a:p>
                  </a:txBody>
                  <a:tcPr marL="0" marR="0" marT="0" marB="0"/>
                </a:tc>
                <a:tc>
                  <a:txBody>
                    <a:bodyPr lIns="0" tIns="0" rIns="0" bIns="0">
                      <a:noAutofit/>
                    </a:bodyPr>
                    <a:p>
                      <a:pPr marL="546100" indent="0"/>
                      <a:r>
                        <a:rPr lang="en-US" sz="1700">
                          <a:solidFill>
                            <a:srgbClr val="3C3D41"/>
                          </a:solidFill>
                          <a:latin typeface="Tahoma"/>
                        </a:rPr>
                        <a:t>sessions co-delivered with</a:t>
                      </a:r>
                    </a:p>
                  </a:txBody>
                  <a:tcPr marL="0" marR="0" marT="0" marB="0">
                    <a:solidFill>
                      <a:srgbClr val="F5EBE1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p>
                      <a:pPr marL="330200" indent="0"/>
                      <a:r>
                        <a:rPr lang="en-US" sz="1700">
                          <a:solidFill>
                            <a:srgbClr val="3C3D41"/>
                          </a:solidFill>
                          <a:latin typeface="Tahoma"/>
                        </a:rPr>
                        <a:t>guidance; manage</a:t>
                      </a:r>
                    </a:p>
                  </a:txBody>
                  <a:tcPr marL="0" marR="0" marT="0" marB="0">
                    <a:solidFill>
                      <a:srgbClr val="F5EBE1"/>
                    </a:solidFill>
                  </a:tcPr>
                </a:tc>
              </a:tr>
              <a:tr h="780288">
                <a:tc>
                  <a:txBody>
                    <a:bodyPr lIns="0" tIns="0" rIns="0" bIns="0">
                      <a:noAutofit/>
                    </a:bodyPr>
                    <a:p>
                      <a:endParaRPr sz="3700"/>
                    </a:p>
                  </a:txBody>
                  <a:tcPr marL="0" marR="0" marT="0" marB="0">
                    <a:solidFill>
                      <a:srgbClr val="F5EBE1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p>
                      <a:pPr marL="546100" indent="0"/>
                      <a:r>
                        <a:rPr lang="en-US" sz="1700">
                          <a:solidFill>
                            <a:srgbClr val="3C3D41"/>
                          </a:solidFill>
                          <a:latin typeface="Tahoma"/>
                        </a:rPr>
                        <a:t>institution staff.</a:t>
                      </a:r>
                    </a:p>
                  </a:txBody>
                  <a:tcPr marL="0" marR="0" marT="0" marB="0">
                    <a:solidFill>
                      <a:srgbClr val="F5EBE1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p>
                      <a:pPr marL="330200" indent="0">
                        <a:spcAft>
                          <a:spcPts val="630"/>
                        </a:spcAft>
                      </a:pPr>
                      <a:r>
                        <a:rPr lang="en-US" sz="1700">
                          <a:solidFill>
                            <a:srgbClr val="3C3D41"/>
                          </a:solidFill>
                          <a:latin typeface="Tahoma"/>
                        </a:rPr>
                        <a:t>incinerators</a:t>
                      </a:r>
                    </a:p>
                    <a:p>
                      <a:pPr marL="330200" indent="0"/>
                      <a:r>
                        <a:rPr lang="en-US" sz="1700">
                          <a:solidFill>
                            <a:srgbClr val="3C3D41"/>
                          </a:solidFill>
                          <a:latin typeface="Tahoma"/>
                        </a:rPr>
                        <a:t>independently.</a:t>
                      </a:r>
                    </a:p>
                  </a:txBody>
                  <a:tcPr marL="0" marR="0" marT="0" marB="0">
                    <a:solidFill>
                      <a:srgbClr val="F5EBE1"/>
                    </a:solidFill>
                  </a:tcPr>
                </a:tc>
              </a:tr>
              <a:tr h="524256">
                <a:tc rowSpan="2">
                  <a:txBody>
                    <a:bodyPr lIns="0" tIns="0" rIns="0" bIns="0">
                      <a:noAutofit/>
                    </a:bodyPr>
                    <a:p>
                      <a:pPr indent="0"/>
                      <a:r>
                        <a:rPr lang="en-US" b="1" sz="2100">
                          <a:solidFill>
                            <a:srgbClr val="78292E"/>
                          </a:solidFill>
                          <a:latin typeface="Tahoma"/>
                        </a:rPr>
                        <a:t>3</a:t>
                      </a:r>
                    </a:p>
                  </a:txBody>
                  <a:tcPr marL="0" marR="0" marT="0" marB="0" anchor="ctr">
                    <a:solidFill>
                      <a:srgbClr val="F5EBE1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p>
                      <a:pPr marL="546100" indent="0"/>
                      <a:r>
                        <a:rPr lang="en-US" b="1" sz="1500">
                          <a:latin typeface="Tahoma"/>
                        </a:rPr>
                        <a:t>Remote only. </a:t>
                      </a:r>
                      <a:r>
                        <a:rPr lang="en-US" sz="1700">
                          <a:solidFill>
                            <a:srgbClr val="3C3D41"/>
                          </a:solidFill>
                          <a:latin typeface="Tahoma"/>
                        </a:rPr>
                        <a:t>Refresher</a:t>
                      </a:r>
                    </a:p>
                  </a:txBody>
                  <a:tcPr marL="0" marR="0" marT="0" marB="0" anchor="b">
                    <a:solidFill>
                      <a:srgbClr val="F5EBE1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p>
                      <a:pPr marL="330200" indent="0"/>
                      <a:r>
                        <a:rPr lang="en-US" sz="1700">
                          <a:solidFill>
                            <a:srgbClr val="3C3D41"/>
                          </a:solidFill>
                          <a:latin typeface="Tahoma"/>
                        </a:rPr>
                        <a:t>Run programme fully</a:t>
                      </a:r>
                    </a:p>
                  </a:txBody>
                  <a:tcPr marL="0" marR="0" marT="0" marB="0" anchor="b">
                    <a:solidFill>
                      <a:srgbClr val="F5EBE1"/>
                    </a:solidFill>
                  </a:tcPr>
                </a:tc>
              </a:tr>
              <a:tr h="292608">
                <a:tc vMerge="1">
                  <a:txBody>
                    <a:bodyPr lIns="0" tIns="0" rIns="0" bIns="0">
                      <a:noAutofit/>
                    </a:bodyPr>
                    <a:p>
                      <a:endParaRPr sz="1400"/>
                    </a:p>
                  </a:txBody>
                  <a:tcPr marL="0" marR="0" marT="0" marB="0"/>
                </a:tc>
                <a:tc>
                  <a:txBody>
                    <a:bodyPr lIns="0" tIns="0" rIns="0" bIns="0">
                      <a:noAutofit/>
                    </a:bodyPr>
                    <a:p>
                      <a:pPr marL="546100" indent="0"/>
                      <a:r>
                        <a:rPr lang="en-US" sz="1700">
                          <a:solidFill>
                            <a:srgbClr val="3C3D41"/>
                          </a:solidFill>
                          <a:latin typeface="Tahoma"/>
                        </a:rPr>
                        <a:t>content and technical</a:t>
                      </a:r>
                    </a:p>
                  </a:txBody>
                  <a:tcPr marL="0" marR="0" marT="0" marB="0">
                    <a:solidFill>
                      <a:srgbClr val="F5EBE1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p>
                      <a:pPr marL="330200" indent="0"/>
                      <a:r>
                        <a:rPr lang="en-US" sz="1700">
                          <a:solidFill>
                            <a:srgbClr val="3C3D41"/>
                          </a:solidFill>
                          <a:latin typeface="Tahoma"/>
                        </a:rPr>
                        <a:t>independently; maintain</a:t>
                      </a:r>
                    </a:p>
                  </a:txBody>
                  <a:tcPr marL="0" marR="0" marT="0" marB="0">
                    <a:solidFill>
                      <a:srgbClr val="F5EBE1"/>
                    </a:solidFill>
                  </a:tcPr>
                </a:tc>
              </a:tr>
              <a:tr h="289560">
                <a:tc>
                  <a:txBody>
                    <a:bodyPr lIns="0" tIns="0" rIns="0" bIns="0">
                      <a:noAutofit/>
                    </a:bodyPr>
                    <a:p>
                      <a:endParaRPr sz="1400"/>
                    </a:p>
                  </a:txBody>
                  <a:tcPr marL="0" marR="0" marT="0" marB="0">
                    <a:solidFill>
                      <a:srgbClr val="F5EBE1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p>
                      <a:pPr marL="546100" indent="0"/>
                      <a:r>
                        <a:rPr lang="en-US" sz="1700">
                          <a:solidFill>
                            <a:srgbClr val="3C3D41"/>
                          </a:solidFill>
                          <a:latin typeface="Tahoma"/>
                        </a:rPr>
                        <a:t>helpline.</a:t>
                      </a:r>
                    </a:p>
                  </a:txBody>
                  <a:tcPr marL="0" marR="0" marT="0" marB="0" anchor="b">
                    <a:solidFill>
                      <a:srgbClr val="F5EBE1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p>
                      <a:pPr marL="330200" indent="0"/>
                      <a:r>
                        <a:rPr lang="en-US" sz="1700">
                          <a:solidFill>
                            <a:srgbClr val="3C3D41"/>
                          </a:solidFill>
                          <a:latin typeface="Tahoma"/>
                        </a:rPr>
                        <a:t>infrastructure.</a:t>
                      </a:r>
                    </a:p>
                  </a:txBody>
                  <a:tcPr marL="0" marR="0" marT="0" marB="0" anchor="b">
                    <a:solidFill>
                      <a:srgbClr val="F5EBE1"/>
                    </a:solidFill>
                  </a:tcPr>
                </a:tc>
              </a:tr>
            </a:tbl>
          </a:graphicData>
        </a:graphic>
      </p:graphicFrame>
      <p:sp>
        <p:nvSpPr>
          <p:cNvPr id="8" name=""/>
          <p:cNvSpPr/>
          <p:nvPr/>
        </p:nvSpPr>
        <p:spPr>
          <a:xfrm>
            <a:off x="9509760" y="4898136"/>
            <a:ext cx="7303008" cy="2843784"/>
          </a:xfrm>
          <a:prstGeom prst="rect">
            <a:avLst/>
          </a:prstGeom>
          <a:solidFill>
            <a:srgbClr val="F5EBE1"/>
          </a:solidFill>
        </p:spPr>
        <p:txBody>
          <a:bodyPr lIns="0" tIns="0" rIns="0" bIns="0">
            <a:noAutofit/>
          </a:bodyPr>
          <a:p>
            <a:pPr indent="0">
              <a:lnSpc>
                <a:spcPts val="3048"/>
              </a:lnSpc>
              <a:spcAft>
                <a:spcPts val="840"/>
              </a:spcAft>
            </a:pPr>
            <a:r>
              <a:rPr lang="en-US" sz="2100">
                <a:solidFill>
                  <a:srgbClr val="3C3D41"/>
                </a:solidFill>
                <a:latin typeface="Tahoma"/>
              </a:rPr>
              <a:t>The investment lasts beyond the funding year. </a:t>
            </a:r>
            <a:r>
              <a:rPr lang="en-US" b="1" sz="2100" spc="-50">
                <a:latin typeface="Tahoma"/>
              </a:rPr>
              <a:t>Incinerators have a 10+ year service life. </a:t>
            </a:r>
            <a:r>
              <a:rPr lang="en-US" sz="2100">
                <a:solidFill>
                  <a:srgbClr val="3C3D41"/>
                </a:solidFill>
                <a:latin typeface="Tahoma"/>
              </a:rPr>
              <a:t>IEC materials are reusable. Trained staff stay on campus. Peer mentors graduate into the next cohort.</a:t>
            </a:r>
          </a:p>
          <a:p>
            <a:pPr indent="0">
              <a:lnSpc>
                <a:spcPts val="3240"/>
              </a:lnSpc>
            </a:pPr>
            <a:r>
              <a:rPr lang="en-US" b="1" sz="1400">
                <a:solidFill>
                  <a:srgbClr val="78292E"/>
                </a:solidFill>
                <a:latin typeface="Tahoma"/>
              </a:rPr>
              <a:t>+ </a:t>
            </a:r>
            <a:r>
              <a:rPr lang="en-US" b="1" sz="1400">
                <a:solidFill>
                  <a:srgbClr val="3C3D41"/>
                </a:solidFill>
                <a:latin typeface="Tahoma"/>
              </a:rPr>
              <a:t>No recurring product procurement after Year 1 starter kit.</a:t>
            </a:r>
          </a:p>
          <a:p>
            <a:pPr indent="0">
              <a:lnSpc>
                <a:spcPts val="3240"/>
              </a:lnSpc>
            </a:pPr>
            <a:r>
              <a:rPr lang="en-US" b="1" sz="1400">
                <a:solidFill>
                  <a:srgbClr val="78292E"/>
                </a:solidFill>
                <a:latin typeface="Tahoma"/>
              </a:rPr>
              <a:t>+ </a:t>
            </a:r>
            <a:r>
              <a:rPr lang="en-US" b="1" sz="1400">
                <a:solidFill>
                  <a:srgbClr val="3C3D41"/>
                </a:solidFill>
                <a:latin typeface="Tahoma"/>
              </a:rPr>
              <a:t>Self-financing pipeline routed through MJPTBCWREIS allocations.</a:t>
            </a:r>
          </a:p>
          <a:p>
            <a:pPr indent="0">
              <a:lnSpc>
                <a:spcPts val="3240"/>
              </a:lnSpc>
            </a:pPr>
            <a:r>
              <a:rPr lang="en-US" b="1" sz="1400">
                <a:solidFill>
                  <a:srgbClr val="78292E"/>
                </a:solidFill>
                <a:latin typeface="Tahoma"/>
              </a:rPr>
              <a:t>+ </a:t>
            </a:r>
            <a:r>
              <a:rPr lang="en-US" b="1" sz="1400">
                <a:solidFill>
                  <a:srgbClr val="3C3D41"/>
                </a:solidFill>
                <a:latin typeface="Tahoma"/>
              </a:rPr>
              <a:t>Programme survives staff transfers via documented curriculum.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"/>
          <p:cNvPicPr>
            <a:picLocks noChangeAspect="1"/>
          </p:cNvPicPr>
          <p:nvPr/>
        </p:nvPicPr>
        <p:blipFill>
          <a:blip r:embed="rPictId0"/>
          <a:stretch>
            <a:fillRect/>
          </a:stretch>
        </p:blipFill>
        <p:spPr>
          <a:xfrm>
            <a:off x="2103120" y="5702808"/>
            <a:ext cx="1694688" cy="890016"/>
          </a:xfrm>
          <a:prstGeom prst="rect">
            <a:avLst/>
          </a:prstGeom>
        </p:spPr>
      </p:pic>
      <p:pic>
        <p:nvPicPr>
          <p:cNvPr id="3" name=""/>
          <p:cNvPicPr>
            <a:picLocks noChangeAspect="1"/>
          </p:cNvPicPr>
          <p:nvPr/>
        </p:nvPicPr>
        <p:blipFill>
          <a:blip r:embed="rPictId1"/>
          <a:stretch>
            <a:fillRect/>
          </a:stretch>
        </p:blipFill>
        <p:spPr>
          <a:xfrm>
            <a:off x="4818888" y="5702808"/>
            <a:ext cx="1173480" cy="490728"/>
          </a:xfrm>
          <a:prstGeom prst="rect">
            <a:avLst/>
          </a:prstGeom>
        </p:spPr>
      </p:pic>
      <p:pic>
        <p:nvPicPr>
          <p:cNvPr id="4" name=""/>
          <p:cNvPicPr>
            <a:picLocks noChangeAspect="1"/>
          </p:cNvPicPr>
          <p:nvPr/>
        </p:nvPicPr>
        <p:blipFill>
          <a:blip r:embed="rPictId2"/>
          <a:stretch>
            <a:fillRect/>
          </a:stretch>
        </p:blipFill>
        <p:spPr>
          <a:xfrm>
            <a:off x="9573768" y="5273040"/>
            <a:ext cx="822960" cy="905256"/>
          </a:xfrm>
          <a:prstGeom prst="rect">
            <a:avLst/>
          </a:prstGeom>
        </p:spPr>
      </p:pic>
      <p:sp>
        <p:nvSpPr>
          <p:cNvPr id="5" name=""/>
          <p:cNvSpPr/>
          <p:nvPr/>
        </p:nvSpPr>
        <p:spPr>
          <a:xfrm>
            <a:off x="1027176" y="445008"/>
            <a:ext cx="2221992" cy="149352"/>
          </a:xfrm>
          <a:prstGeom prst="rect">
            <a:avLst/>
          </a:prstGeom>
          <a:solidFill>
            <a:srgbClr val="F5EBE1"/>
          </a:solidFill>
        </p:spPr>
        <p:txBody>
          <a:bodyPr lIns="0" tIns="0" rIns="0" bIns="0" wrap="none">
            <a:noAutofit/>
          </a:bodyPr>
          <a:p>
            <a:pPr indent="0"/>
            <a:r>
              <a:rPr lang="en-US" sz="1100" spc="300">
                <a:solidFill>
                  <a:srgbClr val="78292E"/>
                </a:solidFill>
                <a:latin typeface="Tahoma"/>
              </a:rPr>
              <a:t>• </a:t>
            </a:r>
            <a:r>
              <a:rPr lang="en-US" sz="1100" spc="300">
                <a:solidFill>
                  <a:srgbClr val="68686F"/>
                </a:solidFill>
                <a:latin typeface="Tahoma"/>
              </a:rPr>
              <a:t>STHREE SWABHIMAN</a:t>
            </a:r>
          </a:p>
        </p:txBody>
      </p:sp>
      <p:sp>
        <p:nvSpPr>
          <p:cNvPr id="6" name=""/>
          <p:cNvSpPr/>
          <p:nvPr/>
        </p:nvSpPr>
        <p:spPr>
          <a:xfrm>
            <a:off x="15090648" y="445008"/>
            <a:ext cx="2130552" cy="149352"/>
          </a:xfrm>
          <a:prstGeom prst="rect">
            <a:avLst/>
          </a:prstGeom>
          <a:solidFill>
            <a:srgbClr val="F5EBE1"/>
          </a:solidFill>
        </p:spPr>
        <p:txBody>
          <a:bodyPr lIns="0" tIns="0" rIns="0" bIns="0" wrap="none">
            <a:noAutofit/>
          </a:bodyPr>
          <a:p>
            <a:pPr algn="just" indent="0"/>
            <a:r>
              <a:rPr lang="en-US" sz="1100" spc="300">
                <a:solidFill>
                  <a:srgbClr val="68686F"/>
                </a:solidFill>
                <a:latin typeface="Tahoma"/>
              </a:rPr>
              <a:t>10    • IMPACT &amp; KPIS</a:t>
            </a:r>
          </a:p>
        </p:txBody>
      </p:sp>
      <p:sp>
        <p:nvSpPr>
          <p:cNvPr id="7" name=""/>
          <p:cNvSpPr/>
          <p:nvPr/>
        </p:nvSpPr>
        <p:spPr>
          <a:xfrm>
            <a:off x="1039368" y="1002792"/>
            <a:ext cx="13097256" cy="1066800"/>
          </a:xfrm>
          <a:prstGeom prst="rect">
            <a:avLst/>
          </a:prstGeom>
          <a:solidFill>
            <a:srgbClr val="F5EBE1"/>
          </a:solidFill>
        </p:spPr>
        <p:txBody>
          <a:bodyPr lIns="0" tIns="0" rIns="0" bIns="0">
            <a:noAutofit/>
          </a:bodyPr>
          <a:p>
            <a:pPr algn="just" indent="0">
              <a:spcAft>
                <a:spcPts val="1470"/>
              </a:spcAft>
            </a:pPr>
            <a:r>
              <a:rPr lang="en-US" sz="1100" spc="200">
                <a:solidFill>
                  <a:srgbClr val="78292E"/>
                </a:solidFill>
                <a:latin typeface="Consolas"/>
              </a:rPr>
              <a:t>- </a:t>
            </a:r>
            <a:r>
              <a:rPr lang="en-US" sz="1100" spc="450">
                <a:solidFill>
                  <a:srgbClr val="78292E"/>
                </a:solidFill>
                <a:latin typeface="Consolas"/>
              </a:rPr>
              <a:t>IMPACT &amp; KPIS</a:t>
            </a:r>
          </a:p>
          <a:p>
            <a:pPr indent="0"/>
            <a:r>
              <a:rPr lang="en-US" b="1" sz="4800">
                <a:solidFill>
                  <a:srgbClr val="17181F"/>
                </a:solidFill>
                <a:latin typeface="Sylfaen"/>
              </a:rPr>
              <a:t>What we measure, and what we commit to deliver.</a:t>
            </a:r>
          </a:p>
        </p:txBody>
      </p:sp>
      <p:graphicFrame>
        <p:nvGraphicFramePr>
          <p:cNvPr id="8" name=""/>
          <p:cNvGraphicFramePr>
            <a:graphicFrameLocks noGrp="1"/>
          </p:cNvGraphicFramePr>
          <p:nvPr/>
        </p:nvGraphicFramePr>
        <p:xfrm>
          <a:off x="1048512" y="2499360"/>
          <a:ext cx="5359400" cy="1450848"/>
        </p:xfrm>
        <a:graphic>
          <a:graphicData uri="http://schemas.openxmlformats.org/drawingml/2006/table">
            <a:tbl>
              <a:tblPr/>
              <a:tblGrid>
                <a:gridCol w="2581656"/>
                <a:gridCol w="208280"/>
                <a:gridCol w="2569464"/>
              </a:tblGrid>
              <a:tr h="539496">
                <a:tc>
                  <a:txBody>
                    <a:bodyPr lIns="0" tIns="0" rIns="0" bIns="0">
                      <a:noAutofit/>
                    </a:bodyPr>
                    <a:p>
                      <a:pPr marL="203200" indent="0"/>
                      <a:r>
                        <a:rPr lang="en-US" b="1" sz="1200">
                          <a:solidFill>
                            <a:srgbClr val="78292E"/>
                          </a:solidFill>
                          <a:latin typeface="Tahoma"/>
                        </a:rPr>
                        <a:t>r£i</a:t>
                      </a:r>
                    </a:p>
                  </a:txBody>
                  <a:tcPr marL="0" marR="0" marT="0" marB="0" anchor="b"/>
                </a:tc>
                <a:tc>
                  <a:txBody>
                    <a:bodyPr lIns="0" tIns="0" rIns="0" bIns="0">
                      <a:noAutofit/>
                    </a:bodyPr>
                    <a:p>
                      <a:endParaRPr sz="2600"/>
                    </a:p>
                  </a:txBody>
                  <a:tcPr marL="0" marR="0" marT="0" marB="0">
                    <a:solidFill>
                      <a:srgbClr val="F5EBE1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p>
                      <a:pPr marL="203200" indent="0"/>
                      <a:r>
                        <a:rPr lang="en-US" sz="1300" spc="200">
                          <a:solidFill>
                            <a:srgbClr val="78292E"/>
                          </a:solidFill>
                          <a:latin typeface="Consolas"/>
                        </a:rPr>
                        <a:t>Oo</a:t>
                      </a:r>
                    </a:p>
                    <a:p>
                      <a:pPr marL="203200" indent="0"/>
                      <a:r>
                        <a:rPr lang="en-US" b="1" i="1" sz="1000" spc="-150">
                          <a:solidFill>
                            <a:srgbClr val="78292E"/>
                          </a:solidFill>
                          <a:latin typeface="Consolas"/>
                        </a:rPr>
                        <a:t>r*r\</a:t>
                      </a:r>
                    </a:p>
                  </a:txBody>
                  <a:tcPr marL="0" marR="0" marT="0" marB="0" anchor="b"/>
                </a:tc>
              </a:tr>
              <a:tr h="478536">
                <a:tc>
                  <a:txBody>
                    <a:bodyPr lIns="0" tIns="0" rIns="0" bIns="0">
                      <a:noAutofit/>
                    </a:bodyPr>
                    <a:p>
                      <a:pPr marL="203200" indent="0"/>
                      <a:r>
                        <a:rPr lang="en-US" sz="3200" spc="-100">
                          <a:solidFill>
                            <a:srgbClr val="17181F"/>
                          </a:solidFill>
                          <a:latin typeface="Tahoma"/>
                        </a:rPr>
                        <a:t>275</a:t>
                      </a:r>
                    </a:p>
                  </a:txBody>
                  <a:tcPr marL="0" marR="0" marT="0" marB="0"/>
                </a:tc>
                <a:tc>
                  <a:txBody>
                    <a:bodyPr lIns="0" tIns="0" rIns="0" bIns="0">
                      <a:noAutofit/>
                    </a:bodyPr>
                    <a:p>
                      <a:endParaRPr sz="2300"/>
                    </a:p>
                  </a:txBody>
                  <a:tcPr marL="0" marR="0" marT="0" marB="0">
                    <a:solidFill>
                      <a:srgbClr val="F5EBE1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p>
                      <a:pPr marL="203200" indent="0"/>
                      <a:r>
                        <a:rPr lang="en-US" sz="3200" spc="-100">
                          <a:solidFill>
                            <a:srgbClr val="17181F"/>
                          </a:solidFill>
                          <a:latin typeface="Tahoma"/>
                        </a:rPr>
                        <a:t>1.23</a:t>
                      </a:r>
                      <a:r>
                        <a:rPr lang="en-US" b="1" cap="small" sz="1200">
                          <a:solidFill>
                            <a:srgbClr val="68686F"/>
                          </a:solidFill>
                          <a:latin typeface="Tahoma"/>
                        </a:rPr>
                        <a:t>l</a:t>
                      </a:r>
                    </a:p>
                  </a:txBody>
                  <a:tcPr marL="0" marR="0" marT="0" marB="0"/>
                </a:tc>
              </a:tr>
              <a:tr h="432816">
                <a:tc>
                  <a:txBody>
                    <a:bodyPr lIns="0" tIns="0" rIns="0" bIns="0">
                      <a:noAutofit/>
                    </a:bodyPr>
                    <a:p>
                      <a:pPr marL="203200" indent="0"/>
                      <a:r>
                        <a:rPr lang="en-US" sz="1000" spc="150">
                          <a:solidFill>
                            <a:srgbClr val="68686F"/>
                          </a:solidFill>
                          <a:latin typeface="Consolas"/>
                        </a:rPr>
                        <a:t>INSTITUTIONS COVERED</a:t>
                      </a:r>
                    </a:p>
                  </a:txBody>
                  <a:tcPr marL="0" marR="0" marT="0" marB="0"/>
                </a:tc>
                <a:tc>
                  <a:txBody>
                    <a:bodyPr lIns="0" tIns="0" rIns="0" bIns="0">
                      <a:noAutofit/>
                    </a:bodyPr>
                    <a:p>
                      <a:endParaRPr sz="2100"/>
                    </a:p>
                  </a:txBody>
                  <a:tcPr marL="0" marR="0" marT="0" marB="0">
                    <a:solidFill>
                      <a:srgbClr val="F5EBE1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p>
                      <a:pPr marL="203200" indent="0"/>
                      <a:r>
                        <a:rPr lang="en-US" sz="1000" spc="150">
                          <a:solidFill>
                            <a:srgbClr val="68686F"/>
                          </a:solidFill>
                          <a:latin typeface="Consolas"/>
                        </a:rPr>
                        <a:t>GIRLS WITH AWARENESS</a:t>
                      </a:r>
                    </a:p>
                  </a:txBody>
                  <a:tcPr marL="0" marR="0" marT="0" marB="0"/>
                </a:tc>
              </a:tr>
            </a:tbl>
          </a:graphicData>
        </a:graphic>
      </p:graphicFrame>
      <p:graphicFrame>
        <p:nvGraphicFramePr>
          <p:cNvPr id="9" name=""/>
          <p:cNvGraphicFramePr>
            <a:graphicFrameLocks noGrp="1"/>
          </p:cNvGraphicFramePr>
          <p:nvPr/>
        </p:nvGraphicFramePr>
        <p:xfrm>
          <a:off x="6486144" y="2499360"/>
          <a:ext cx="5371592" cy="1450848"/>
        </p:xfrm>
        <a:graphic>
          <a:graphicData uri="http://schemas.openxmlformats.org/drawingml/2006/table">
            <a:tbl>
              <a:tblPr/>
              <a:tblGrid>
                <a:gridCol w="2581656"/>
                <a:gridCol w="208280"/>
                <a:gridCol w="2581656"/>
              </a:tblGrid>
              <a:tr h="536448">
                <a:tc>
                  <a:txBody>
                    <a:bodyPr lIns="0" tIns="0" rIns="0" bIns="0">
                      <a:noAutofit/>
                    </a:bodyPr>
                    <a:p>
                      <a:pPr marL="215900" indent="0"/>
                      <a:r>
                        <a:rPr lang="en-US" sz="3200" spc="-100">
                          <a:solidFill>
                            <a:srgbClr val="78292E"/>
                          </a:solidFill>
                          <a:latin typeface="Tahoma"/>
                        </a:rPr>
                        <a:t>0</a:t>
                      </a:r>
                    </a:p>
                  </a:txBody>
                  <a:tcPr marL="0" marR="0" marT="0" marB="0" anchor="b"/>
                </a:tc>
                <a:tc>
                  <a:txBody>
                    <a:bodyPr lIns="0" tIns="0" rIns="0" bIns="0">
                      <a:noAutofit/>
                    </a:bodyPr>
                    <a:p>
                      <a:endParaRPr sz="2600"/>
                    </a:p>
                  </a:txBody>
                  <a:tcPr marL="0" marR="0" marT="0" marB="0">
                    <a:solidFill>
                      <a:srgbClr val="F5EBE1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p>
                      <a:endParaRPr sz="2600"/>
                    </a:p>
                  </a:txBody>
                  <a:tcPr marL="0" marR="0" marT="0" marB="0"/>
                </a:tc>
              </a:tr>
              <a:tr h="481584">
                <a:tc>
                  <a:txBody>
                    <a:bodyPr lIns="0" tIns="0" rIns="0" bIns="0" vert="vert270">
                      <a:noAutofit/>
                    </a:bodyPr>
                    <a:p>
                      <a:pPr marL="101600" indent="0"/>
                      <a:r>
                        <a:rPr lang="en-US" sz="3200" spc="-100">
                          <a:latin typeface="Tahoma"/>
                        </a:rPr>
                        <a:t>OO</a:t>
                      </a:r>
                    </a:p>
                    <a:p>
                      <a:pPr marL="101600" indent="0"/>
                      <a:r>
                        <a:rPr lang="en-US" sz="3200" spc="-100">
                          <a:latin typeface="Tahoma"/>
                        </a:rPr>
                        <a:t>OO</a:t>
                      </a:r>
                    </a:p>
                    <a:p>
                      <a:pPr marL="101600" indent="0"/>
                      <a:r>
                        <a:rPr lang="en-US" sz="1000" spc="150">
                          <a:solidFill>
                            <a:srgbClr val="68686F"/>
                          </a:solidFill>
                          <a:latin typeface="Consolas"/>
                        </a:rPr>
                        <a:t>*</a:t>
                      </a:r>
                    </a:p>
                  </a:txBody>
                  <a:tcPr marL="0" marR="0" marT="0" marB="0" anchor="b"/>
                </a:tc>
                <a:tc>
                  <a:txBody>
                    <a:bodyPr lIns="0" tIns="0" rIns="0" bIns="0">
                      <a:noAutofit/>
                    </a:bodyPr>
                    <a:p>
                      <a:endParaRPr sz="2300"/>
                    </a:p>
                  </a:txBody>
                  <a:tcPr marL="0" marR="0" marT="0" marB="0">
                    <a:solidFill>
                      <a:srgbClr val="F5EBE1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p>
                      <a:pPr marL="190500" indent="0"/>
                      <a:r>
                        <a:rPr lang="en-US" sz="3200" spc="-100">
                          <a:solidFill>
                            <a:srgbClr val="17181F"/>
                          </a:solidFill>
                          <a:latin typeface="Tahoma"/>
                        </a:rPr>
                        <a:t>275</a:t>
                      </a:r>
                    </a:p>
                  </a:txBody>
                  <a:tcPr marL="0" marR="0" marT="0" marB="0"/>
                </a:tc>
              </a:tr>
              <a:tr h="432816">
                <a:tc>
                  <a:txBody>
                    <a:bodyPr lIns="0" tIns="0" rIns="0" bIns="0">
                      <a:noAutofit/>
                    </a:bodyPr>
                    <a:p>
                      <a:pPr marL="215900" indent="0"/>
                      <a:r>
                        <a:rPr lang="en-US" sz="1000" spc="150">
                          <a:solidFill>
                            <a:srgbClr val="68686F"/>
                          </a:solidFill>
                          <a:latin typeface="Consolas"/>
                        </a:rPr>
                        <a:t>STARTER KITS</a:t>
                      </a:r>
                    </a:p>
                  </a:txBody>
                  <a:tcPr marL="0" marR="0" marT="0" marB="0"/>
                </a:tc>
                <a:tc>
                  <a:txBody>
                    <a:bodyPr lIns="0" tIns="0" rIns="0" bIns="0">
                      <a:noAutofit/>
                    </a:bodyPr>
                    <a:p>
                      <a:endParaRPr sz="2100"/>
                    </a:p>
                  </a:txBody>
                  <a:tcPr marL="0" marR="0" marT="0" marB="0">
                    <a:solidFill>
                      <a:srgbClr val="F5EBE1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p>
                      <a:pPr marL="190500" indent="0"/>
                      <a:r>
                        <a:rPr lang="en-US" sz="1000" spc="150">
                          <a:solidFill>
                            <a:srgbClr val="68686F"/>
                          </a:solidFill>
                          <a:latin typeface="Consolas"/>
                        </a:rPr>
                        <a:t>AWARENESS SESSIONS</a:t>
                      </a:r>
                    </a:p>
                  </a:txBody>
                  <a:tcPr marL="0" marR="0" marT="0" marB="0"/>
                </a:tc>
              </a:tr>
            </a:tbl>
          </a:graphicData>
        </a:graphic>
      </p:graphicFrame>
      <p:graphicFrame>
        <p:nvGraphicFramePr>
          <p:cNvPr id="10" name=""/>
          <p:cNvGraphicFramePr>
            <a:graphicFrameLocks noGrp="1"/>
          </p:cNvGraphicFramePr>
          <p:nvPr/>
        </p:nvGraphicFramePr>
        <p:xfrm>
          <a:off x="11935968" y="2499360"/>
          <a:ext cx="5359400" cy="1450848"/>
        </p:xfrm>
        <a:graphic>
          <a:graphicData uri="http://schemas.openxmlformats.org/drawingml/2006/table">
            <a:tbl>
              <a:tblPr/>
              <a:tblGrid>
                <a:gridCol w="2569464"/>
                <a:gridCol w="208280"/>
                <a:gridCol w="2581656"/>
              </a:tblGrid>
              <a:tr h="545592">
                <a:tc>
                  <a:txBody>
                    <a:bodyPr lIns="0" tIns="0" rIns="0" bIns="0">
                      <a:noAutofit/>
                    </a:bodyPr>
                    <a:p>
                      <a:pPr marL="215900" indent="0"/>
                      <a:r>
                        <a:rPr lang="en-US" sz="3200" spc="-100">
                          <a:solidFill>
                            <a:srgbClr val="78292E"/>
                          </a:solidFill>
                          <a:latin typeface="Tahoma"/>
                        </a:rPr>
                        <a:t>a</a:t>
                      </a:r>
                    </a:p>
                  </a:txBody>
                  <a:tcPr marL="0" marR="0" marT="0" marB="0" anchor="b"/>
                </a:tc>
                <a:tc>
                  <a:txBody>
                    <a:bodyPr lIns="0" tIns="0" rIns="0" bIns="0">
                      <a:noAutofit/>
                    </a:bodyPr>
                    <a:p>
                      <a:endParaRPr sz="2600"/>
                    </a:p>
                  </a:txBody>
                  <a:tcPr marL="0" marR="0" marT="0" marB="0">
                    <a:solidFill>
                      <a:srgbClr val="F5EBE1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p>
                      <a:pPr marL="215900" indent="0"/>
                      <a:r>
                        <a:rPr lang="en-US" i="1" sz="1400" spc="-250">
                          <a:solidFill>
                            <a:srgbClr val="78292E"/>
                          </a:solidFill>
                          <a:latin typeface="Consolas"/>
                        </a:rPr>
                        <a:t>o'</a:t>
                      </a:r>
                    </a:p>
                    <a:p>
                      <a:pPr marL="215900" indent="0"/>
                      <a:r>
                        <a:rPr lang="en-US" i="1" sz="1400" spc="-250">
                          <a:solidFill>
                            <a:srgbClr val="78292E"/>
                          </a:solidFill>
                          <a:latin typeface="Consolas"/>
                        </a:rPr>
                        <a:t>r\</a:t>
                      </a:r>
                    </a:p>
                  </a:txBody>
                  <a:tcPr marL="0" marR="0" marT="0" marB="0" anchor="b"/>
                </a:tc>
              </a:tr>
              <a:tr h="469392">
                <a:tc>
                  <a:txBody>
                    <a:bodyPr lIns="0" tIns="0" rIns="0" bIns="0">
                      <a:noAutofit/>
                    </a:bodyPr>
                    <a:p>
                      <a:pPr marL="215900" indent="0"/>
                      <a:r>
                        <a:rPr lang="en-US" sz="3200" spc="-100">
                          <a:solidFill>
                            <a:srgbClr val="17181F"/>
                          </a:solidFill>
                          <a:latin typeface="Tahoma"/>
                        </a:rPr>
                        <a:t>550</a:t>
                      </a:r>
                    </a:p>
                  </a:txBody>
                  <a:tcPr marL="0" marR="0" marT="0" marB="0"/>
                </a:tc>
                <a:tc>
                  <a:txBody>
                    <a:bodyPr lIns="0" tIns="0" rIns="0" bIns="0">
                      <a:noAutofit/>
                    </a:bodyPr>
                    <a:p>
                      <a:endParaRPr sz="2300"/>
                    </a:p>
                  </a:txBody>
                  <a:tcPr marL="0" marR="0" marT="0" marB="0">
                    <a:solidFill>
                      <a:srgbClr val="F5EBE1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p>
                      <a:pPr marL="215900" indent="0"/>
                      <a:r>
                        <a:rPr lang="en-US" sz="3200" spc="-100">
                          <a:solidFill>
                            <a:srgbClr val="17181F"/>
                          </a:solidFill>
                          <a:latin typeface="Tahoma"/>
                        </a:rPr>
                        <a:t>825+</a:t>
                      </a:r>
                    </a:p>
                  </a:txBody>
                  <a:tcPr marL="0" marR="0" marT="0" marB="0"/>
                </a:tc>
              </a:tr>
              <a:tr h="435864">
                <a:tc>
                  <a:txBody>
                    <a:bodyPr lIns="0" tIns="0" rIns="0" bIns="0">
                      <a:noAutofit/>
                    </a:bodyPr>
                    <a:p>
                      <a:pPr marL="215900" indent="0"/>
                      <a:r>
                        <a:rPr lang="en-US" sz="1000" spc="150">
                          <a:solidFill>
                            <a:srgbClr val="68686F"/>
                          </a:solidFill>
                          <a:latin typeface="Consolas"/>
                        </a:rPr>
                        <a:t>INCINERATORS LIVE</a:t>
                      </a:r>
                    </a:p>
                  </a:txBody>
                  <a:tcPr marL="0" marR="0" marT="0" marB="0"/>
                </a:tc>
                <a:tc>
                  <a:txBody>
                    <a:bodyPr lIns="0" tIns="0" rIns="0" bIns="0">
                      <a:noAutofit/>
                    </a:bodyPr>
                    <a:p>
                      <a:endParaRPr sz="2100"/>
                    </a:p>
                  </a:txBody>
                  <a:tcPr marL="0" marR="0" marT="0" marB="0">
                    <a:solidFill>
                      <a:srgbClr val="F5EBE1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p>
                      <a:pPr marL="215900" indent="0"/>
                      <a:r>
                        <a:rPr lang="en-US" sz="1000" spc="150">
                          <a:solidFill>
                            <a:srgbClr val="68686F"/>
                          </a:solidFill>
                          <a:latin typeface="Consolas"/>
                        </a:rPr>
                        <a:t>TRAINERS CERTIFIED</a:t>
                      </a:r>
                    </a:p>
                  </a:txBody>
                  <a:tcPr marL="0" marR="0" marT="0" marB="0"/>
                </a:tc>
              </a:tr>
            </a:tbl>
          </a:graphicData>
        </a:graphic>
      </p:graphicFrame>
      <p:sp>
        <p:nvSpPr>
          <p:cNvPr id="11" name=""/>
          <p:cNvSpPr/>
          <p:nvPr/>
        </p:nvSpPr>
        <p:spPr>
          <a:xfrm>
            <a:off x="1310640" y="4511040"/>
            <a:ext cx="3075432" cy="405384"/>
          </a:xfrm>
          <a:prstGeom prst="rect">
            <a:avLst/>
          </a:prstGeom>
          <a:solidFill>
            <a:srgbClr val="F5EBE1"/>
          </a:solidFill>
        </p:spPr>
        <p:txBody>
          <a:bodyPr lIns="0" tIns="0" rIns="0" bIns="0">
            <a:noAutofit/>
          </a:bodyPr>
          <a:p>
            <a:pPr indent="0">
              <a:spcAft>
                <a:spcPts val="420"/>
              </a:spcAft>
            </a:pPr>
            <a:r>
              <a:rPr lang="en-US" sz="1000" spc="150">
                <a:solidFill>
                  <a:srgbClr val="78292E"/>
                </a:solidFill>
                <a:latin typeface="Consolas"/>
              </a:rPr>
              <a:t>OUTCOME 01</a:t>
            </a:r>
          </a:p>
          <a:p>
            <a:pPr indent="0"/>
            <a:r>
              <a:rPr lang="en-US" sz="1800">
                <a:solidFill>
                  <a:srgbClr val="17181F"/>
                </a:solidFill>
                <a:latin typeface="Sylfaen"/>
              </a:rPr>
              <a:t>Period-related school absence</a:t>
            </a:r>
          </a:p>
        </p:txBody>
      </p:sp>
      <p:sp>
        <p:nvSpPr>
          <p:cNvPr id="12" name=""/>
          <p:cNvSpPr/>
          <p:nvPr/>
        </p:nvSpPr>
        <p:spPr>
          <a:xfrm>
            <a:off x="6797040" y="4511040"/>
            <a:ext cx="3432048" cy="457200"/>
          </a:xfrm>
          <a:prstGeom prst="rect">
            <a:avLst/>
          </a:prstGeom>
          <a:solidFill>
            <a:srgbClr val="F5EBE1"/>
          </a:solidFill>
        </p:spPr>
        <p:txBody>
          <a:bodyPr lIns="0" tIns="0" rIns="0" bIns="0">
            <a:noAutofit/>
          </a:bodyPr>
          <a:p>
            <a:pPr indent="0">
              <a:spcAft>
                <a:spcPts val="420"/>
              </a:spcAft>
            </a:pPr>
            <a:r>
              <a:rPr lang="en-US" sz="1000" spc="150">
                <a:solidFill>
                  <a:srgbClr val="78292E"/>
                </a:solidFill>
                <a:latin typeface="Consolas"/>
              </a:rPr>
              <a:t>OUTCOME 02</a:t>
            </a:r>
          </a:p>
          <a:p>
            <a:pPr indent="0"/>
            <a:r>
              <a:rPr lang="en-US" sz="1800">
                <a:solidFill>
                  <a:srgbClr val="17181F"/>
                </a:solidFill>
                <a:latin typeface="Sylfaen"/>
              </a:rPr>
              <a:t>Girls using safe sanitary products</a:t>
            </a:r>
          </a:p>
        </p:txBody>
      </p:sp>
      <p:sp>
        <p:nvSpPr>
          <p:cNvPr id="13" name=""/>
          <p:cNvSpPr/>
          <p:nvPr/>
        </p:nvSpPr>
        <p:spPr>
          <a:xfrm>
            <a:off x="2081784" y="5288280"/>
            <a:ext cx="426720" cy="219456"/>
          </a:xfrm>
          <a:prstGeom prst="rect">
            <a:avLst/>
          </a:prstGeom>
          <a:solidFill>
            <a:srgbClr val="F5EBE1"/>
          </a:solidFill>
        </p:spPr>
        <p:txBody>
          <a:bodyPr lIns="0" tIns="0" rIns="0" bIns="0" wrap="none">
            <a:noAutofit/>
          </a:bodyPr>
          <a:p>
            <a:pPr indent="0"/>
            <a:r>
              <a:rPr lang="en-US" sz="1900">
                <a:solidFill>
                  <a:srgbClr val="68686F"/>
                </a:solidFill>
                <a:latin typeface="Sylfaen"/>
              </a:rPr>
              <a:t>4-5</a:t>
            </a:r>
          </a:p>
        </p:txBody>
      </p:sp>
      <p:sp>
        <p:nvSpPr>
          <p:cNvPr id="14" name=""/>
          <p:cNvSpPr/>
          <p:nvPr/>
        </p:nvSpPr>
        <p:spPr>
          <a:xfrm>
            <a:off x="4934712" y="5306568"/>
            <a:ext cx="158496" cy="198120"/>
          </a:xfrm>
          <a:prstGeom prst="rect">
            <a:avLst/>
          </a:prstGeom>
          <a:solidFill>
            <a:srgbClr val="F5EBE1"/>
          </a:solidFill>
        </p:spPr>
        <p:txBody>
          <a:bodyPr lIns="0" tIns="0" rIns="0" bIns="0" wrap="none">
            <a:noAutofit/>
          </a:bodyPr>
          <a:p>
            <a:pPr algn="just" indent="0"/>
            <a:r>
              <a:rPr lang="en-US" sz="1900">
                <a:solidFill>
                  <a:srgbClr val="78292E"/>
                </a:solidFill>
                <a:latin typeface="Sylfaen"/>
              </a:rPr>
              <a:t>4</a:t>
            </a:r>
          </a:p>
        </p:txBody>
      </p:sp>
      <p:sp>
        <p:nvSpPr>
          <p:cNvPr id="15" name=""/>
          <p:cNvSpPr/>
          <p:nvPr/>
        </p:nvSpPr>
        <p:spPr>
          <a:xfrm>
            <a:off x="4590288" y="6300216"/>
            <a:ext cx="829056" cy="109728"/>
          </a:xfrm>
          <a:prstGeom prst="rect">
            <a:avLst/>
          </a:prstGeom>
          <a:solidFill>
            <a:srgbClr val="F5EBE1"/>
          </a:solidFill>
        </p:spPr>
        <p:txBody>
          <a:bodyPr lIns="0" tIns="0" rIns="0" bIns="0" wrap="none">
            <a:noAutofit/>
          </a:bodyPr>
          <a:p>
            <a:pPr indent="0"/>
            <a:r>
              <a:rPr lang="en-US" sz="750" spc="200">
                <a:solidFill>
                  <a:srgbClr val="68686F"/>
                </a:solidFill>
                <a:latin typeface="Tahoma"/>
              </a:rPr>
              <a:t>AFTER YR 1</a:t>
            </a:r>
          </a:p>
        </p:txBody>
      </p:sp>
      <p:sp>
        <p:nvSpPr>
          <p:cNvPr id="16" name=""/>
          <p:cNvSpPr/>
          <p:nvPr/>
        </p:nvSpPr>
        <p:spPr>
          <a:xfrm>
            <a:off x="1316736" y="6699504"/>
            <a:ext cx="3355848" cy="91440"/>
          </a:xfrm>
          <a:prstGeom prst="rect">
            <a:avLst/>
          </a:prstGeom>
          <a:solidFill>
            <a:srgbClr val="F5EBE1"/>
          </a:solidFill>
        </p:spPr>
        <p:txBody>
          <a:bodyPr lIns="0" tIns="0" rIns="0" bIns="0" wrap="none">
            <a:noAutofit/>
          </a:bodyPr>
          <a:p>
            <a:pPr marL="660400" indent="0"/>
            <a:r>
              <a:rPr lang="en-US" sz="750" spc="200">
                <a:solidFill>
                  <a:srgbClr val="68686F"/>
                </a:solidFill>
                <a:latin typeface="Tahoma"/>
              </a:rPr>
              <a:t>BASELINE</a:t>
            </a:r>
          </a:p>
        </p:txBody>
      </p:sp>
      <p:sp>
        <p:nvSpPr>
          <p:cNvPr id="17" name=""/>
          <p:cNvSpPr/>
          <p:nvPr/>
        </p:nvSpPr>
        <p:spPr>
          <a:xfrm>
            <a:off x="1316736" y="7004304"/>
            <a:ext cx="3355848" cy="146304"/>
          </a:xfrm>
          <a:prstGeom prst="rect">
            <a:avLst/>
          </a:prstGeom>
          <a:solidFill>
            <a:srgbClr val="F5EBE1"/>
          </a:solidFill>
        </p:spPr>
        <p:txBody>
          <a:bodyPr lIns="0" tIns="0" rIns="0" bIns="0" wrap="none">
            <a:noAutofit/>
          </a:bodyPr>
          <a:p>
            <a:pPr indent="0"/>
            <a:r>
              <a:rPr lang="en-US" sz="1100" spc="200">
                <a:solidFill>
                  <a:srgbClr val="68686F"/>
                </a:solidFill>
                <a:latin typeface="Consolas"/>
              </a:rPr>
              <a:t>Pre/post attendance logs • days/month</a:t>
            </a:r>
          </a:p>
        </p:txBody>
      </p:sp>
      <p:sp>
        <p:nvSpPr>
          <p:cNvPr id="18" name=""/>
          <p:cNvSpPr/>
          <p:nvPr/>
        </p:nvSpPr>
        <p:spPr>
          <a:xfrm>
            <a:off x="6803136" y="5254752"/>
            <a:ext cx="2548128" cy="1895856"/>
          </a:xfrm>
          <a:prstGeom prst="rect">
            <a:avLst/>
          </a:prstGeom>
          <a:solidFill>
            <a:srgbClr val="F5EBE1"/>
          </a:solidFill>
        </p:spPr>
        <p:txBody>
          <a:bodyPr lIns="0" tIns="0" rIns="0" bIns="0">
            <a:noAutofit/>
          </a:bodyPr>
          <a:p>
            <a:pPr marL="1536700" indent="0">
              <a:spcAft>
                <a:spcPts val="1260"/>
              </a:spcAft>
            </a:pPr>
            <a:r>
              <a:rPr lang="en-US" sz="7300" spc="-150">
                <a:solidFill>
                  <a:srgbClr val="68686F"/>
                </a:solidFill>
                <a:latin typeface="Tahoma"/>
              </a:rPr>
              <a:t>v</a:t>
            </a:r>
          </a:p>
          <a:p>
            <a:pPr marL="1270000" indent="0">
              <a:spcAft>
                <a:spcPts val="840"/>
              </a:spcAft>
            </a:pPr>
            <a:r>
              <a:rPr lang="en-US" sz="1100" spc="50">
                <a:solidFill>
                  <a:srgbClr val="17181F"/>
                </a:solidFill>
                <a:latin typeface="Consolas"/>
              </a:rPr>
              <a:t>~50%</a:t>
            </a:r>
          </a:p>
          <a:p>
            <a:pPr marL="1270000" indent="0">
              <a:spcAft>
                <a:spcPts val="1260"/>
              </a:spcAft>
            </a:pPr>
            <a:r>
              <a:rPr lang="en-US" sz="750" spc="200">
                <a:solidFill>
                  <a:srgbClr val="68686F"/>
                </a:solidFill>
                <a:latin typeface="Tahoma"/>
              </a:rPr>
              <a:t>BASELINE</a:t>
            </a:r>
          </a:p>
          <a:p>
            <a:pPr indent="0"/>
            <a:r>
              <a:rPr lang="en-US" sz="1100" spc="50">
                <a:solidFill>
                  <a:srgbClr val="68686F"/>
                </a:solidFill>
                <a:latin typeface="Consolas"/>
              </a:rPr>
              <a:t>Baseline vs follow-up survey</a:t>
            </a:r>
          </a:p>
        </p:txBody>
      </p:sp>
      <p:sp>
        <p:nvSpPr>
          <p:cNvPr id="19" name=""/>
          <p:cNvSpPr/>
          <p:nvPr/>
        </p:nvSpPr>
        <p:spPr>
          <a:xfrm>
            <a:off x="9518904" y="6318504"/>
            <a:ext cx="1005840" cy="414528"/>
          </a:xfrm>
          <a:prstGeom prst="rect">
            <a:avLst/>
          </a:prstGeom>
          <a:solidFill>
            <a:srgbClr val="F5EBE1"/>
          </a:solidFill>
        </p:spPr>
        <p:txBody>
          <a:bodyPr lIns="0" tIns="0" rIns="0" bIns="0">
            <a:noAutofit/>
          </a:bodyPr>
          <a:p>
            <a:pPr indent="0">
              <a:spcAft>
                <a:spcPts val="840"/>
              </a:spcAft>
            </a:pPr>
            <a:r>
              <a:rPr lang="en-US" sz="1100" spc="50">
                <a:solidFill>
                  <a:srgbClr val="78292E"/>
                </a:solidFill>
                <a:latin typeface="Consolas"/>
              </a:rPr>
              <a:t>Target t</a:t>
            </a:r>
          </a:p>
          <a:p>
            <a:pPr indent="0"/>
            <a:r>
              <a:rPr lang="en-US" sz="750" spc="200">
                <a:solidFill>
                  <a:srgbClr val="68686F"/>
                </a:solidFill>
                <a:latin typeface="Tahoma"/>
              </a:rPr>
              <a:t>AFTER YR 1</a:t>
            </a:r>
          </a:p>
        </p:txBody>
      </p:sp>
      <p:sp>
        <p:nvSpPr>
          <p:cNvPr id="20" name=""/>
          <p:cNvSpPr/>
          <p:nvPr/>
        </p:nvSpPr>
        <p:spPr>
          <a:xfrm>
            <a:off x="9518904" y="7004304"/>
            <a:ext cx="1005840" cy="146304"/>
          </a:xfrm>
          <a:prstGeom prst="rect">
            <a:avLst/>
          </a:prstGeom>
          <a:solidFill>
            <a:srgbClr val="F5EBE1"/>
          </a:solidFill>
        </p:spPr>
        <p:txBody>
          <a:bodyPr lIns="0" tIns="0" rIns="0" bIns="0" wrap="none">
            <a:noAutofit/>
          </a:bodyPr>
          <a:p>
            <a:pPr marL="101600" indent="0"/>
            <a:r>
              <a:rPr lang="en-US" sz="1100" spc="50">
                <a:solidFill>
                  <a:srgbClr val="68686F"/>
                </a:solidFill>
                <a:latin typeface="Consolas"/>
              </a:rPr>
              <a:t>% of girls</a:t>
            </a:r>
          </a:p>
        </p:txBody>
      </p:sp>
      <p:sp>
        <p:nvSpPr>
          <p:cNvPr id="21" name=""/>
          <p:cNvSpPr/>
          <p:nvPr/>
        </p:nvSpPr>
        <p:spPr>
          <a:xfrm>
            <a:off x="12280392" y="4511040"/>
            <a:ext cx="4700016" cy="1316736"/>
          </a:xfrm>
          <a:prstGeom prst="rect">
            <a:avLst/>
          </a:prstGeom>
          <a:solidFill>
            <a:srgbClr val="F5EBE1"/>
          </a:solidFill>
        </p:spPr>
        <p:txBody>
          <a:bodyPr lIns="0" tIns="0" rIns="0" bIns="0">
            <a:noAutofit/>
          </a:bodyPr>
          <a:p>
            <a:pPr algn="just" indent="0">
              <a:spcAft>
                <a:spcPts val="420"/>
              </a:spcAft>
            </a:pPr>
            <a:r>
              <a:rPr lang="en-US" sz="1000" spc="150">
                <a:solidFill>
                  <a:srgbClr val="78292E"/>
                </a:solidFill>
                <a:latin typeface="Consolas"/>
              </a:rPr>
              <a:t>OUTCOME 03</a:t>
            </a:r>
          </a:p>
          <a:p>
            <a:pPr indent="0">
              <a:spcAft>
                <a:spcPts val="1680"/>
              </a:spcAft>
            </a:pPr>
            <a:r>
              <a:rPr lang="en-US" sz="1800">
                <a:solidFill>
                  <a:srgbClr val="17181F"/>
                </a:solidFill>
                <a:latin typeface="Sylfaen"/>
              </a:rPr>
              <a:t>Institutions running independently</a:t>
            </a:r>
          </a:p>
          <a:p>
            <a:pPr algn="just" indent="0">
              <a:lnSpc>
                <a:spcPts val="3816"/>
              </a:lnSpc>
            </a:pPr>
            <a:r>
              <a:rPr lang="en-US" sz="1100" spc="50">
                <a:solidFill>
                  <a:srgbClr val="68686F"/>
                </a:solidFill>
                <a:latin typeface="Consolas"/>
              </a:rPr>
              <a:t>YR 1    0%</a:t>
            </a:r>
          </a:p>
          <a:p>
            <a:pPr algn="just" indent="0">
              <a:lnSpc>
                <a:spcPts val="3816"/>
              </a:lnSpc>
            </a:pPr>
            <a:r>
              <a:rPr lang="en-US" sz="1100" spc="50">
                <a:solidFill>
                  <a:srgbClr val="68686F"/>
                </a:solidFill>
                <a:latin typeface="Consolas"/>
              </a:rPr>
              <a:t>YR 2    ~60%</a:t>
            </a:r>
          </a:p>
        </p:txBody>
      </p:sp>
      <p:sp>
        <p:nvSpPr>
          <p:cNvPr id="22" name=""/>
          <p:cNvSpPr/>
          <p:nvPr/>
        </p:nvSpPr>
        <p:spPr>
          <a:xfrm>
            <a:off x="12280392" y="6190488"/>
            <a:ext cx="323088" cy="124968"/>
          </a:xfrm>
          <a:prstGeom prst="rect">
            <a:avLst/>
          </a:prstGeom>
          <a:solidFill>
            <a:srgbClr val="F5EBE1"/>
          </a:solidFill>
        </p:spPr>
        <p:txBody>
          <a:bodyPr lIns="0" tIns="0" rIns="0" bIns="0" wrap="none">
            <a:noAutofit/>
          </a:bodyPr>
          <a:p>
            <a:pPr indent="0"/>
            <a:r>
              <a:rPr lang="en-US" sz="1100" spc="50">
                <a:solidFill>
                  <a:srgbClr val="68686F"/>
                </a:solidFill>
                <a:latin typeface="Consolas"/>
              </a:rPr>
              <a:t>YR 3</a:t>
            </a:r>
          </a:p>
        </p:txBody>
      </p:sp>
      <p:sp>
        <p:nvSpPr>
          <p:cNvPr id="23" name=""/>
          <p:cNvSpPr/>
          <p:nvPr/>
        </p:nvSpPr>
        <p:spPr>
          <a:xfrm>
            <a:off x="16654272" y="6190488"/>
            <a:ext cx="326136" cy="124968"/>
          </a:xfrm>
          <a:prstGeom prst="rect">
            <a:avLst/>
          </a:prstGeom>
          <a:solidFill>
            <a:srgbClr val="F5EBE1"/>
          </a:solidFill>
        </p:spPr>
        <p:txBody>
          <a:bodyPr lIns="0" tIns="0" rIns="0" bIns="0" wrap="none">
            <a:noAutofit/>
          </a:bodyPr>
          <a:p>
            <a:pPr indent="0"/>
            <a:r>
              <a:rPr lang="en-US" sz="1100" spc="50">
                <a:solidFill>
                  <a:srgbClr val="78292E"/>
                </a:solidFill>
                <a:latin typeface="Consolas"/>
              </a:rPr>
              <a:t>100%</a:t>
            </a:r>
          </a:p>
        </p:txBody>
      </p:sp>
      <p:sp>
        <p:nvSpPr>
          <p:cNvPr id="24" name=""/>
          <p:cNvSpPr/>
          <p:nvPr/>
        </p:nvSpPr>
        <p:spPr>
          <a:xfrm>
            <a:off x="12280392" y="8729472"/>
            <a:ext cx="4008120" cy="310896"/>
          </a:xfrm>
          <a:prstGeom prst="rect">
            <a:avLst/>
          </a:prstGeom>
          <a:solidFill>
            <a:srgbClr val="F5EBE1"/>
          </a:solidFill>
        </p:spPr>
        <p:txBody>
          <a:bodyPr lIns="0" tIns="0" rIns="0" bIns="0">
            <a:noAutofit/>
          </a:bodyPr>
          <a:p>
            <a:pPr indent="0">
              <a:lnSpc>
                <a:spcPts val="1344"/>
              </a:lnSpc>
            </a:pPr>
            <a:r>
              <a:rPr lang="en-US" sz="1100" spc="50">
                <a:solidFill>
                  <a:srgbClr val="68686F"/>
                </a:solidFill>
                <a:latin typeface="Consolas"/>
              </a:rPr>
              <a:t>% self-delivering - institution staff &amp; peer mentors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"/>
          <p:cNvSpPr/>
          <p:nvPr/>
        </p:nvSpPr>
        <p:spPr>
          <a:xfrm>
            <a:off x="1027176" y="445008"/>
            <a:ext cx="2221992" cy="149352"/>
          </a:xfrm>
          <a:prstGeom prst="rect">
            <a:avLst/>
          </a:prstGeom>
          <a:solidFill>
            <a:srgbClr val="F5EBE1"/>
          </a:solidFill>
        </p:spPr>
        <p:txBody>
          <a:bodyPr lIns="0" tIns="0" rIns="0" bIns="0" wrap="none">
            <a:noAutofit/>
          </a:bodyPr>
          <a:p>
            <a:pPr indent="0"/>
            <a:r>
              <a:rPr lang="en-US" sz="1100" spc="300">
                <a:solidFill>
                  <a:srgbClr val="78292E"/>
                </a:solidFill>
                <a:latin typeface="Tahoma"/>
              </a:rPr>
              <a:t>• </a:t>
            </a:r>
            <a:r>
              <a:rPr lang="en-US" sz="1100" spc="300">
                <a:solidFill>
                  <a:srgbClr val="68686F"/>
                </a:solidFill>
                <a:latin typeface="Tahoma"/>
              </a:rPr>
              <a:t>STHREE SWABHIMAN</a:t>
            </a:r>
          </a:p>
        </p:txBody>
      </p:sp>
      <p:sp>
        <p:nvSpPr>
          <p:cNvPr id="3" name=""/>
          <p:cNvSpPr/>
          <p:nvPr/>
        </p:nvSpPr>
        <p:spPr>
          <a:xfrm>
            <a:off x="1063752" y="1002792"/>
            <a:ext cx="8412480" cy="1728216"/>
          </a:xfrm>
          <a:prstGeom prst="rect">
            <a:avLst/>
          </a:prstGeom>
          <a:solidFill>
            <a:srgbClr val="F5EBE1"/>
          </a:solidFill>
        </p:spPr>
        <p:txBody>
          <a:bodyPr lIns="0" tIns="0" rIns="0" bIns="0">
            <a:noAutofit/>
          </a:bodyPr>
          <a:p>
            <a:pPr algn="just" indent="0">
              <a:spcAft>
                <a:spcPts val="1470"/>
              </a:spcAft>
            </a:pPr>
            <a:r>
              <a:rPr lang="en-US" sz="1800" spc="450">
                <a:solidFill>
                  <a:srgbClr val="78292E"/>
                </a:solidFill>
                <a:latin typeface="Sylfaen"/>
              </a:rPr>
              <a:t>- SDG &amp; POLICY ALIGNMENT</a:t>
            </a:r>
          </a:p>
          <a:p>
            <a:pPr indent="0">
              <a:lnSpc>
                <a:spcPts val="4992"/>
              </a:lnSpc>
            </a:pPr>
            <a:r>
              <a:rPr lang="en-US" b="1" sz="4800">
                <a:solidFill>
                  <a:srgbClr val="17181F"/>
                </a:solidFill>
                <a:latin typeface="Sylfaen"/>
              </a:rPr>
              <a:t>Contributing to five UN Sustainable Development Goals.</a:t>
            </a:r>
          </a:p>
        </p:txBody>
      </p:sp>
      <p:sp>
        <p:nvSpPr>
          <p:cNvPr id="4" name=""/>
          <p:cNvSpPr/>
          <p:nvPr/>
        </p:nvSpPr>
        <p:spPr>
          <a:xfrm>
            <a:off x="14020800" y="448056"/>
            <a:ext cx="231648" cy="143256"/>
          </a:xfrm>
          <a:prstGeom prst="rect">
            <a:avLst/>
          </a:prstGeom>
          <a:solidFill>
            <a:srgbClr val="F5EBE1"/>
          </a:solidFill>
        </p:spPr>
        <p:txBody>
          <a:bodyPr lIns="0" tIns="0" rIns="0" bIns="0" wrap="none">
            <a:noAutofit/>
          </a:bodyPr>
          <a:p>
            <a:pPr indent="0"/>
            <a:r>
              <a:rPr lang="en-US" sz="1100" spc="300">
                <a:solidFill>
                  <a:srgbClr val="68686F"/>
                </a:solidFill>
                <a:latin typeface="Tahoma"/>
              </a:rPr>
              <a:t>11</a:t>
            </a:r>
          </a:p>
        </p:txBody>
      </p:sp>
      <p:sp>
        <p:nvSpPr>
          <p:cNvPr id="5" name=""/>
          <p:cNvSpPr/>
          <p:nvPr/>
        </p:nvSpPr>
        <p:spPr>
          <a:xfrm>
            <a:off x="14612112" y="445008"/>
            <a:ext cx="2615184" cy="149352"/>
          </a:xfrm>
          <a:prstGeom prst="rect">
            <a:avLst/>
          </a:prstGeom>
          <a:solidFill>
            <a:srgbClr val="F5EBE1"/>
          </a:solidFill>
        </p:spPr>
        <p:txBody>
          <a:bodyPr lIns="0" tIns="0" rIns="0" bIns="0" wrap="none">
            <a:noAutofit/>
          </a:bodyPr>
          <a:p>
            <a:pPr indent="0"/>
            <a:r>
              <a:rPr lang="en-US" sz="1100" spc="300">
                <a:solidFill>
                  <a:srgbClr val="68686F"/>
                </a:solidFill>
                <a:latin typeface="Tahoma"/>
              </a:rPr>
              <a:t>SDG &amp; POLICY ALIGNMENT</a:t>
            </a:r>
          </a:p>
        </p:txBody>
      </p:sp>
      <p:graphicFrame>
        <p:nvGraphicFramePr>
          <p:cNvPr id="6" name=""/>
          <p:cNvGraphicFramePr>
            <a:graphicFrameLocks noGrp="1"/>
          </p:cNvGraphicFramePr>
          <p:nvPr/>
        </p:nvGraphicFramePr>
        <p:xfrm>
          <a:off x="1042416" y="3130296"/>
          <a:ext cx="3075432" cy="3084576"/>
        </p:xfrm>
        <a:graphic>
          <a:graphicData uri="http://schemas.openxmlformats.org/drawingml/2006/table">
            <a:tbl>
              <a:tblPr/>
              <a:tblGrid>
                <a:gridCol w="2325624"/>
                <a:gridCol w="749808"/>
              </a:tblGrid>
              <a:tr h="320040">
                <a:tc>
                  <a:txBody>
                    <a:bodyPr lIns="0" tIns="0" rIns="0" bIns="0">
                      <a:noAutofit/>
                    </a:bodyPr>
                    <a:p>
                      <a:pPr marL="177800" indent="0"/>
                      <a:r>
                        <a:rPr lang="en-US" sz="1000" spc="150">
                          <a:solidFill>
                            <a:srgbClr val="FFFFFF"/>
                          </a:solidFill>
                          <a:latin typeface="Consolas"/>
                        </a:rPr>
                        <a:t>SUSTAINABLE DEVELOPMENT</a:t>
                      </a:r>
                    </a:p>
                  </a:txBody>
                  <a:tcPr marL="0" marR="0" marT="0" marB="0" anchor="b">
                    <a:solidFill>
                      <a:srgbClr val="4C9E38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p>
                      <a:endParaRPr sz="1600"/>
                    </a:p>
                  </a:txBody>
                  <a:tcPr marL="0" marR="0" marT="0" marB="0">
                    <a:solidFill>
                      <a:srgbClr val="4C9E38"/>
                    </a:solidFill>
                  </a:tcPr>
                </a:tc>
              </a:tr>
              <a:tr h="719328">
                <a:tc>
                  <a:txBody>
                    <a:bodyPr lIns="0" tIns="0" rIns="0" bIns="0">
                      <a:noAutofit/>
                    </a:bodyPr>
                    <a:p>
                      <a:pPr marL="177800" indent="0"/>
                      <a:r>
                        <a:rPr lang="en-US" sz="1000" spc="150">
                          <a:solidFill>
                            <a:srgbClr val="FFFFFF"/>
                          </a:solidFill>
                          <a:latin typeface="Consolas"/>
                        </a:rPr>
                        <a:t>GOAL</a:t>
                      </a:r>
                    </a:p>
                  </a:txBody>
                  <a:tcPr marL="0" marR="0" marT="0" marB="0">
                    <a:solidFill>
                      <a:srgbClr val="4C9E38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p>
                      <a:endParaRPr sz="3400"/>
                    </a:p>
                  </a:txBody>
                  <a:tcPr marL="0" marR="0" marT="0" marB="0">
                    <a:solidFill>
                      <a:srgbClr val="4C9E38"/>
                    </a:solidFill>
                  </a:tcPr>
                </a:tc>
              </a:tr>
              <a:tr h="1344168">
                <a:tc>
                  <a:txBody>
                    <a:bodyPr lIns="0" tIns="0" rIns="0" bIns="0" vert="vert270">
                      <a:noAutofit/>
                    </a:bodyPr>
                    <a:p>
                      <a:pPr indent="0"/>
                      <a:r>
                        <a:rPr lang="en-US" sz="6400">
                          <a:solidFill>
                            <a:srgbClr val="FFFFFF"/>
                          </a:solidFill>
                          <a:latin typeface="Sylfaen"/>
                        </a:rPr>
                        <a:t>w</a:t>
                      </a:r>
                    </a:p>
                  </a:txBody>
                  <a:tcPr marL="0" marR="0" marT="0" marB="0">
                    <a:solidFill>
                      <a:srgbClr val="4C9E38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p>
                      <a:endParaRPr sz="6400"/>
                    </a:p>
                  </a:txBody>
                  <a:tcPr marL="0" marR="0" marT="0" marB="0">
                    <a:solidFill>
                      <a:srgbClr val="4C9E38"/>
                    </a:solidFill>
                  </a:tcPr>
                </a:tc>
              </a:tr>
              <a:tr h="332232">
                <a:tc>
                  <a:txBody>
                    <a:bodyPr lIns="0" tIns="0" rIns="0" bIns="0">
                      <a:noAutofit/>
                    </a:bodyPr>
                    <a:p>
                      <a:pPr marL="177800" indent="0"/>
                      <a:r>
                        <a:rPr lang="en-US" b="1" sz="1200">
                          <a:solidFill>
                            <a:srgbClr val="FFFFFF"/>
                          </a:solidFill>
                          <a:latin typeface="Tahoma"/>
                        </a:rPr>
                        <a:t>Good Health</a:t>
                      </a:r>
                    </a:p>
                  </a:txBody>
                  <a:tcPr marL="0" marR="0" marT="0" marB="0" anchor="b">
                    <a:solidFill>
                      <a:srgbClr val="4C9E38"/>
                    </a:solidFill>
                  </a:tcPr>
                </a:tc>
                <a:tc rowSpan="2">
                  <a:txBody>
                    <a:bodyPr lIns="0" tIns="0" rIns="0" bIns="0">
                      <a:noAutofit/>
                    </a:bodyPr>
                    <a:p>
                      <a:endParaRPr sz="1600"/>
                    </a:p>
                  </a:txBody>
                  <a:tcPr marL="0" marR="0" marT="0" marB="0">
                    <a:solidFill>
                      <a:srgbClr val="4C9E38"/>
                    </a:solidFill>
                  </a:tcPr>
                </a:tc>
              </a:tr>
              <a:tr h="368808">
                <a:tc>
                  <a:txBody>
                    <a:bodyPr lIns="0" tIns="0" rIns="0" bIns="0">
                      <a:noAutofit/>
                    </a:bodyPr>
                    <a:p>
                      <a:pPr marL="177800" indent="0"/>
                      <a:r>
                        <a:rPr lang="en-US" b="1" sz="1200">
                          <a:solidFill>
                            <a:srgbClr val="FFFFFF"/>
                          </a:solidFill>
                          <a:latin typeface="Tahoma"/>
                        </a:rPr>
                        <a:t>and Well-being</a:t>
                      </a:r>
                    </a:p>
                  </a:txBody>
                  <a:tcPr marL="0" marR="0" marT="0" marB="0">
                    <a:solidFill>
                      <a:srgbClr val="4C9E38"/>
                    </a:solidFill>
                  </a:tcPr>
                </a:tc>
                <a:tc vMerge="1">
                  <a:txBody>
                    <a:bodyPr lIns="0" tIns="0" rIns="0" bIns="0">
                      <a:noAutofit/>
                    </a:bodyPr>
                    <a:p>
                      <a:endParaRPr sz="1800"/>
                    </a:p>
                  </a:txBody>
                  <a:tcPr marL="0" marR="0" marT="0" marB="0"/>
                </a:tc>
              </a:tr>
            </a:tbl>
          </a:graphicData>
        </a:graphic>
      </p:graphicFrame>
      <p:sp>
        <p:nvSpPr>
          <p:cNvPr id="7" name=""/>
          <p:cNvSpPr/>
          <p:nvPr/>
        </p:nvSpPr>
        <p:spPr>
          <a:xfrm>
            <a:off x="4456176" y="3322320"/>
            <a:ext cx="2170176" cy="256032"/>
          </a:xfrm>
          <a:prstGeom prst="rect">
            <a:avLst/>
          </a:prstGeom>
          <a:solidFill>
            <a:srgbClr val="C51A2D"/>
          </a:solidFill>
        </p:spPr>
        <p:txBody>
          <a:bodyPr lIns="0" tIns="0" rIns="0" bIns="0">
            <a:noAutofit/>
          </a:bodyPr>
          <a:p>
            <a:pPr algn="just" indent="0">
              <a:lnSpc>
                <a:spcPts val="1128"/>
              </a:lnSpc>
            </a:pPr>
            <a:r>
              <a:rPr lang="en-US" sz="1000" spc="150">
                <a:solidFill>
                  <a:srgbClr val="FFFFFF"/>
                </a:solidFill>
                <a:latin typeface="Consolas"/>
              </a:rPr>
              <a:t>SUSTAINABLE DEVELOPMENT GOAL</a:t>
            </a:r>
          </a:p>
        </p:txBody>
      </p:sp>
      <p:sp>
        <p:nvSpPr>
          <p:cNvPr id="8" name=""/>
          <p:cNvSpPr/>
          <p:nvPr/>
        </p:nvSpPr>
        <p:spPr>
          <a:xfrm>
            <a:off x="4462272" y="4578096"/>
            <a:ext cx="615696" cy="871728"/>
          </a:xfrm>
          <a:prstGeom prst="rect">
            <a:avLst/>
          </a:prstGeom>
          <a:solidFill>
            <a:srgbClr val="C51A2D"/>
          </a:solidFill>
        </p:spPr>
        <p:txBody>
          <a:bodyPr lIns="0" tIns="0" rIns="0" bIns="0" wrap="none">
            <a:noAutofit/>
          </a:bodyPr>
          <a:p>
            <a:pPr indent="0"/>
            <a:r>
              <a:rPr lang="en-US" sz="7300" spc="-150">
                <a:solidFill>
                  <a:srgbClr val="FFFFFF"/>
                </a:solidFill>
                <a:latin typeface="Tahoma"/>
              </a:rPr>
              <a:t>4</a:t>
            </a:r>
          </a:p>
        </p:txBody>
      </p:sp>
      <p:sp>
        <p:nvSpPr>
          <p:cNvPr id="9" name=""/>
          <p:cNvSpPr/>
          <p:nvPr/>
        </p:nvSpPr>
        <p:spPr>
          <a:xfrm>
            <a:off x="4456176" y="5644896"/>
            <a:ext cx="877824" cy="371856"/>
          </a:xfrm>
          <a:prstGeom prst="rect">
            <a:avLst/>
          </a:prstGeom>
          <a:solidFill>
            <a:srgbClr val="C51A2D"/>
          </a:solidFill>
        </p:spPr>
        <p:txBody>
          <a:bodyPr lIns="0" tIns="0" rIns="0" bIns="0">
            <a:noAutofit/>
          </a:bodyPr>
          <a:p>
            <a:pPr indent="0">
              <a:spcAft>
                <a:spcPts val="210"/>
              </a:spcAft>
            </a:pPr>
            <a:r>
              <a:rPr lang="en-US" b="1" sz="1200">
                <a:solidFill>
                  <a:srgbClr val="FFFFFF"/>
                </a:solidFill>
                <a:latin typeface="Tahoma"/>
              </a:rPr>
              <a:t>Quality</a:t>
            </a:r>
          </a:p>
          <a:p>
            <a:pPr indent="0"/>
            <a:r>
              <a:rPr lang="en-US" b="1" sz="1200">
                <a:solidFill>
                  <a:srgbClr val="FFFFFF"/>
                </a:solidFill>
                <a:latin typeface="Tahoma"/>
              </a:rPr>
              <a:t>Education</a:t>
            </a:r>
          </a:p>
        </p:txBody>
      </p:sp>
      <p:sp>
        <p:nvSpPr>
          <p:cNvPr id="10" name=""/>
          <p:cNvSpPr/>
          <p:nvPr/>
        </p:nvSpPr>
        <p:spPr>
          <a:xfrm>
            <a:off x="6632448" y="5449824"/>
            <a:ext cx="585216" cy="445008"/>
          </a:xfrm>
          <a:prstGeom prst="rect">
            <a:avLst/>
          </a:prstGeom>
          <a:solidFill>
            <a:srgbClr val="C51A2D"/>
          </a:solidFill>
        </p:spPr>
        <p:txBody>
          <a:bodyPr lIns="0" tIns="0" rIns="0" bIns="0" wrap="none">
            <a:noAutofit/>
          </a:bodyPr>
          <a:p>
            <a:pPr indent="0"/>
            <a:r>
              <a:rPr lang="en-US" sz="1800" spc="450">
                <a:solidFill>
                  <a:srgbClr val="FFFFFF"/>
                </a:solidFill>
                <a:latin typeface="Sylfaen"/>
              </a:rPr>
              <a:t>■0</a:t>
            </a:r>
          </a:p>
        </p:txBody>
      </p:sp>
      <p:sp>
        <p:nvSpPr>
          <p:cNvPr id="11" name=""/>
          <p:cNvSpPr/>
          <p:nvPr/>
        </p:nvSpPr>
        <p:spPr>
          <a:xfrm>
            <a:off x="7735824" y="3322320"/>
            <a:ext cx="2170176" cy="256032"/>
          </a:xfrm>
          <a:prstGeom prst="rect">
            <a:avLst/>
          </a:prstGeom>
          <a:solidFill>
            <a:srgbClr val="FF3A20"/>
          </a:solidFill>
        </p:spPr>
        <p:txBody>
          <a:bodyPr lIns="0" tIns="0" rIns="0" bIns="0">
            <a:noAutofit/>
          </a:bodyPr>
          <a:p>
            <a:pPr algn="just" indent="0">
              <a:lnSpc>
                <a:spcPts val="1128"/>
              </a:lnSpc>
            </a:pPr>
            <a:r>
              <a:rPr lang="en-US" sz="1000" spc="150">
                <a:solidFill>
                  <a:srgbClr val="FFFFFF"/>
                </a:solidFill>
                <a:latin typeface="Consolas"/>
              </a:rPr>
              <a:t>SUSTAINABLE DEVELOPMENT GOAL</a:t>
            </a:r>
          </a:p>
        </p:txBody>
      </p:sp>
      <p:sp>
        <p:nvSpPr>
          <p:cNvPr id="12" name=""/>
          <p:cNvSpPr/>
          <p:nvPr/>
        </p:nvSpPr>
        <p:spPr>
          <a:xfrm>
            <a:off x="7790688" y="4578096"/>
            <a:ext cx="518160" cy="883920"/>
          </a:xfrm>
          <a:prstGeom prst="rect">
            <a:avLst/>
          </a:prstGeom>
          <a:solidFill>
            <a:srgbClr val="FF3A20"/>
          </a:solidFill>
        </p:spPr>
        <p:txBody>
          <a:bodyPr lIns="0" tIns="0" rIns="0" bIns="0" wrap="none">
            <a:noAutofit/>
          </a:bodyPr>
          <a:p>
            <a:pPr indent="0"/>
            <a:r>
              <a:rPr lang="en-US" sz="7300" spc="-150">
                <a:solidFill>
                  <a:srgbClr val="FFFFFF"/>
                </a:solidFill>
                <a:latin typeface="Tahoma"/>
              </a:rPr>
              <a:t>5</a:t>
            </a:r>
          </a:p>
        </p:txBody>
      </p:sp>
      <p:sp>
        <p:nvSpPr>
          <p:cNvPr id="13" name=""/>
          <p:cNvSpPr/>
          <p:nvPr/>
        </p:nvSpPr>
        <p:spPr>
          <a:xfrm>
            <a:off x="7735824" y="5644896"/>
            <a:ext cx="743712" cy="408432"/>
          </a:xfrm>
          <a:prstGeom prst="rect">
            <a:avLst/>
          </a:prstGeom>
          <a:solidFill>
            <a:srgbClr val="FF3A20"/>
          </a:solidFill>
        </p:spPr>
        <p:txBody>
          <a:bodyPr lIns="0" tIns="0" rIns="0" bIns="0">
            <a:noAutofit/>
          </a:bodyPr>
          <a:p>
            <a:pPr indent="0">
              <a:spcAft>
                <a:spcPts val="210"/>
              </a:spcAft>
            </a:pPr>
            <a:r>
              <a:rPr lang="en-US" b="1" sz="1200">
                <a:solidFill>
                  <a:srgbClr val="FFFFFF"/>
                </a:solidFill>
                <a:latin typeface="Tahoma"/>
              </a:rPr>
              <a:t>Gender</a:t>
            </a:r>
          </a:p>
          <a:p>
            <a:pPr indent="0"/>
            <a:r>
              <a:rPr lang="en-US" b="1" sz="1200">
                <a:solidFill>
                  <a:srgbClr val="FFFFFF"/>
                </a:solidFill>
                <a:latin typeface="Tahoma"/>
              </a:rPr>
              <a:t>Equality</a:t>
            </a:r>
          </a:p>
        </p:txBody>
      </p:sp>
      <p:sp>
        <p:nvSpPr>
          <p:cNvPr id="14" name=""/>
          <p:cNvSpPr/>
          <p:nvPr/>
        </p:nvSpPr>
        <p:spPr>
          <a:xfrm>
            <a:off x="10027920" y="5413248"/>
            <a:ext cx="353568" cy="597408"/>
          </a:xfrm>
          <a:prstGeom prst="rect">
            <a:avLst/>
          </a:prstGeom>
          <a:solidFill>
            <a:srgbClr val="FF3A20"/>
          </a:solidFill>
        </p:spPr>
        <p:txBody>
          <a:bodyPr lIns="0" tIns="0" rIns="0" bIns="0" wrap="none">
            <a:noAutofit/>
          </a:bodyPr>
          <a:p>
            <a:pPr indent="0"/>
            <a:r>
              <a:rPr lang="en-US" b="1" sz="4800">
                <a:solidFill>
                  <a:srgbClr val="FFFFFF"/>
                </a:solidFill>
                <a:latin typeface="Sylfaen"/>
              </a:rPr>
              <a:t>$</a:t>
            </a:r>
          </a:p>
        </p:txBody>
      </p:sp>
      <p:sp>
        <p:nvSpPr>
          <p:cNvPr id="15" name=""/>
          <p:cNvSpPr/>
          <p:nvPr/>
        </p:nvSpPr>
        <p:spPr>
          <a:xfrm>
            <a:off x="11018520" y="3322320"/>
            <a:ext cx="2170176" cy="256032"/>
          </a:xfrm>
          <a:prstGeom prst="rect">
            <a:avLst/>
          </a:prstGeom>
          <a:solidFill>
            <a:srgbClr val="25BDE2"/>
          </a:solidFill>
        </p:spPr>
        <p:txBody>
          <a:bodyPr lIns="0" tIns="0" rIns="0" bIns="0">
            <a:noAutofit/>
          </a:bodyPr>
          <a:p>
            <a:pPr algn="just" indent="0">
              <a:lnSpc>
                <a:spcPts val="1128"/>
              </a:lnSpc>
            </a:pPr>
            <a:r>
              <a:rPr lang="en-US" sz="1000" spc="150">
                <a:solidFill>
                  <a:srgbClr val="FFFFFF"/>
                </a:solidFill>
                <a:latin typeface="Consolas"/>
              </a:rPr>
              <a:t>SUSTAINABLE DEVELOPMENT GOAL</a:t>
            </a:r>
          </a:p>
        </p:txBody>
      </p:sp>
      <p:sp>
        <p:nvSpPr>
          <p:cNvPr id="16" name=""/>
          <p:cNvSpPr/>
          <p:nvPr/>
        </p:nvSpPr>
        <p:spPr>
          <a:xfrm>
            <a:off x="14298168" y="3322320"/>
            <a:ext cx="2170176" cy="256032"/>
          </a:xfrm>
          <a:prstGeom prst="rect">
            <a:avLst/>
          </a:prstGeom>
          <a:solidFill>
            <a:srgbClr val="DD1367"/>
          </a:solidFill>
        </p:spPr>
        <p:txBody>
          <a:bodyPr lIns="0" tIns="0" rIns="0" bIns="0">
            <a:noAutofit/>
          </a:bodyPr>
          <a:p>
            <a:pPr algn="just" indent="0">
              <a:lnSpc>
                <a:spcPts val="1128"/>
              </a:lnSpc>
            </a:pPr>
            <a:r>
              <a:rPr lang="en-US" sz="1000" spc="150">
                <a:solidFill>
                  <a:srgbClr val="FFFFFF"/>
                </a:solidFill>
                <a:latin typeface="Consolas"/>
              </a:rPr>
              <a:t>SUSTAINABLE DEVELOPMENT GOAL</a:t>
            </a:r>
          </a:p>
        </p:txBody>
      </p:sp>
      <p:sp>
        <p:nvSpPr>
          <p:cNvPr id="17" name=""/>
          <p:cNvSpPr/>
          <p:nvPr/>
        </p:nvSpPr>
        <p:spPr>
          <a:xfrm>
            <a:off x="11049000" y="4559808"/>
            <a:ext cx="573024" cy="902208"/>
          </a:xfrm>
          <a:prstGeom prst="rect">
            <a:avLst/>
          </a:prstGeom>
          <a:solidFill>
            <a:srgbClr val="25BDE2"/>
          </a:solidFill>
        </p:spPr>
        <p:txBody>
          <a:bodyPr lIns="0" tIns="0" rIns="0" bIns="0" wrap="none">
            <a:noAutofit/>
          </a:bodyPr>
          <a:p>
            <a:pPr indent="0"/>
            <a:r>
              <a:rPr lang="en-US" sz="7300" spc="-150">
                <a:solidFill>
                  <a:srgbClr val="FFFFFF"/>
                </a:solidFill>
                <a:latin typeface="Tahoma"/>
              </a:rPr>
              <a:t>6</a:t>
            </a:r>
          </a:p>
        </p:txBody>
      </p:sp>
      <p:sp>
        <p:nvSpPr>
          <p:cNvPr id="18" name=""/>
          <p:cNvSpPr/>
          <p:nvPr/>
        </p:nvSpPr>
        <p:spPr>
          <a:xfrm>
            <a:off x="11018520" y="5650992"/>
            <a:ext cx="1060704" cy="365760"/>
          </a:xfrm>
          <a:prstGeom prst="rect">
            <a:avLst/>
          </a:prstGeom>
          <a:solidFill>
            <a:srgbClr val="25BDE2"/>
          </a:solidFill>
        </p:spPr>
        <p:txBody>
          <a:bodyPr lIns="0" tIns="0" rIns="0" bIns="0">
            <a:noAutofit/>
          </a:bodyPr>
          <a:p>
            <a:pPr algn="just" indent="0">
              <a:lnSpc>
                <a:spcPts val="1488"/>
              </a:lnSpc>
            </a:pPr>
            <a:r>
              <a:rPr lang="en-US" b="1" sz="1200">
                <a:solidFill>
                  <a:srgbClr val="FFFFFF"/>
                </a:solidFill>
                <a:latin typeface="Tahoma"/>
              </a:rPr>
              <a:t>Clean Water &amp; Sanitation</a:t>
            </a:r>
          </a:p>
        </p:txBody>
      </p:sp>
      <p:sp>
        <p:nvSpPr>
          <p:cNvPr id="19" name=""/>
          <p:cNvSpPr/>
          <p:nvPr/>
        </p:nvSpPr>
        <p:spPr>
          <a:xfrm>
            <a:off x="13292328" y="5364480"/>
            <a:ext cx="390144" cy="566928"/>
          </a:xfrm>
          <a:prstGeom prst="rect">
            <a:avLst/>
          </a:prstGeom>
          <a:solidFill>
            <a:srgbClr val="25BDE2"/>
          </a:solidFill>
        </p:spPr>
        <p:txBody>
          <a:bodyPr lIns="0" tIns="0" rIns="0" bIns="0" wrap="none">
            <a:noAutofit/>
          </a:bodyPr>
          <a:p>
            <a:pPr indent="0"/>
            <a:r>
              <a:rPr lang="en-US" b="1" sz="4800">
                <a:solidFill>
                  <a:srgbClr val="FFFFFF"/>
                </a:solidFill>
                <a:latin typeface="Sylfaen"/>
              </a:rPr>
              <a:t>o</a:t>
            </a:r>
          </a:p>
        </p:txBody>
      </p:sp>
      <p:sp>
        <p:nvSpPr>
          <p:cNvPr id="20" name=""/>
          <p:cNvSpPr/>
          <p:nvPr/>
        </p:nvSpPr>
        <p:spPr>
          <a:xfrm>
            <a:off x="14365224" y="4559808"/>
            <a:ext cx="1036320" cy="902208"/>
          </a:xfrm>
          <a:prstGeom prst="rect">
            <a:avLst/>
          </a:prstGeom>
          <a:solidFill>
            <a:srgbClr val="DD1367"/>
          </a:solidFill>
        </p:spPr>
        <p:txBody>
          <a:bodyPr lIns="0" tIns="0" rIns="0" bIns="0" wrap="none">
            <a:noAutofit/>
          </a:bodyPr>
          <a:p>
            <a:pPr indent="0"/>
            <a:r>
              <a:rPr lang="en-US" sz="7300" spc="-150">
                <a:solidFill>
                  <a:srgbClr val="FFFFFF"/>
                </a:solidFill>
                <a:latin typeface="Tahoma"/>
              </a:rPr>
              <a:t>10</a:t>
            </a:r>
          </a:p>
        </p:txBody>
      </p:sp>
      <p:sp>
        <p:nvSpPr>
          <p:cNvPr id="21" name=""/>
          <p:cNvSpPr/>
          <p:nvPr/>
        </p:nvSpPr>
        <p:spPr>
          <a:xfrm>
            <a:off x="14298168" y="5644896"/>
            <a:ext cx="1042416" cy="408432"/>
          </a:xfrm>
          <a:prstGeom prst="rect">
            <a:avLst/>
          </a:prstGeom>
          <a:solidFill>
            <a:srgbClr val="DD1367"/>
          </a:solidFill>
        </p:spPr>
        <p:txBody>
          <a:bodyPr lIns="0" tIns="0" rIns="0" bIns="0">
            <a:noAutofit/>
          </a:bodyPr>
          <a:p>
            <a:pPr indent="0">
              <a:spcAft>
                <a:spcPts val="210"/>
              </a:spcAft>
            </a:pPr>
            <a:r>
              <a:rPr lang="en-US" b="1" sz="1200">
                <a:solidFill>
                  <a:srgbClr val="FFFFFF"/>
                </a:solidFill>
                <a:latin typeface="Tahoma"/>
              </a:rPr>
              <a:t>Reduced</a:t>
            </a:r>
          </a:p>
          <a:p>
            <a:pPr indent="0"/>
            <a:r>
              <a:rPr lang="en-US" b="1" sz="1200">
                <a:solidFill>
                  <a:srgbClr val="FFFFFF"/>
                </a:solidFill>
                <a:latin typeface="Tahoma"/>
              </a:rPr>
              <a:t>Inequalities</a:t>
            </a:r>
          </a:p>
        </p:txBody>
      </p:sp>
      <p:sp>
        <p:nvSpPr>
          <p:cNvPr id="22" name=""/>
          <p:cNvSpPr/>
          <p:nvPr/>
        </p:nvSpPr>
        <p:spPr>
          <a:xfrm>
            <a:off x="1039368" y="6412992"/>
            <a:ext cx="2974848" cy="621792"/>
          </a:xfrm>
          <a:prstGeom prst="rect">
            <a:avLst/>
          </a:prstGeom>
          <a:solidFill>
            <a:srgbClr val="F5EBE1"/>
          </a:solidFill>
        </p:spPr>
        <p:txBody>
          <a:bodyPr lIns="0" tIns="0" rIns="0" bIns="0">
            <a:noAutofit/>
          </a:bodyPr>
          <a:p>
            <a:pPr algn="just" indent="0">
              <a:lnSpc>
                <a:spcPts val="1728"/>
              </a:lnSpc>
            </a:pPr>
            <a:r>
              <a:rPr lang="en-US" b="1" sz="1050">
                <a:solidFill>
                  <a:srgbClr val="3C3D41"/>
                </a:solidFill>
                <a:latin typeface="Tahoma"/>
              </a:rPr>
              <a:t>Promotes menstrual hygiene; reduces RTIs &amp; UTIs; protects physical &amp; emotional wellbeing.</a:t>
            </a:r>
          </a:p>
        </p:txBody>
      </p:sp>
      <p:sp>
        <p:nvSpPr>
          <p:cNvPr id="23" name=""/>
          <p:cNvSpPr/>
          <p:nvPr/>
        </p:nvSpPr>
        <p:spPr>
          <a:xfrm>
            <a:off x="4315968" y="6412992"/>
            <a:ext cx="2831592" cy="618744"/>
          </a:xfrm>
          <a:prstGeom prst="rect">
            <a:avLst/>
          </a:prstGeom>
          <a:solidFill>
            <a:srgbClr val="F5EBE1"/>
          </a:solidFill>
        </p:spPr>
        <p:txBody>
          <a:bodyPr lIns="0" tIns="0" rIns="0" bIns="0">
            <a:noAutofit/>
          </a:bodyPr>
          <a:p>
            <a:pPr indent="0">
              <a:lnSpc>
                <a:spcPts val="1704"/>
              </a:lnSpc>
            </a:pPr>
            <a:r>
              <a:rPr lang="en-US" b="1" sz="1050">
                <a:solidFill>
                  <a:srgbClr val="3C3D41"/>
                </a:solidFill>
                <a:latin typeface="Tahoma"/>
              </a:rPr>
              <a:t>Cuts menstruation-driven absenteeism; preserves school attendance &amp; academic continuity.</a:t>
            </a:r>
          </a:p>
        </p:txBody>
      </p:sp>
      <p:sp>
        <p:nvSpPr>
          <p:cNvPr id="24" name=""/>
          <p:cNvSpPr/>
          <p:nvPr/>
        </p:nvSpPr>
        <p:spPr>
          <a:xfrm>
            <a:off x="7595616" y="6412992"/>
            <a:ext cx="3057144" cy="591312"/>
          </a:xfrm>
          <a:prstGeom prst="rect">
            <a:avLst/>
          </a:prstGeom>
          <a:solidFill>
            <a:srgbClr val="F5EBE1"/>
          </a:solidFill>
        </p:spPr>
        <p:txBody>
          <a:bodyPr lIns="0" tIns="0" rIns="0" bIns="0">
            <a:noAutofit/>
          </a:bodyPr>
          <a:p>
            <a:pPr indent="0">
              <a:lnSpc>
                <a:spcPts val="1728"/>
              </a:lnSpc>
            </a:pPr>
            <a:r>
              <a:rPr lang="en-US" b="1" sz="1050">
                <a:solidFill>
                  <a:srgbClr val="3C3D41"/>
                </a:solidFill>
                <a:latin typeface="Tahoma"/>
              </a:rPr>
              <a:t>Challenges period stigma; ensures equitable access to dignity, knowledge &amp; menstrual care.</a:t>
            </a:r>
          </a:p>
        </p:txBody>
      </p:sp>
      <p:sp>
        <p:nvSpPr>
          <p:cNvPr id="25" name=""/>
          <p:cNvSpPr/>
          <p:nvPr/>
        </p:nvSpPr>
        <p:spPr>
          <a:xfrm>
            <a:off x="10878312" y="6412992"/>
            <a:ext cx="3057144" cy="399288"/>
          </a:xfrm>
          <a:prstGeom prst="rect">
            <a:avLst/>
          </a:prstGeom>
          <a:solidFill>
            <a:srgbClr val="F5EBE1"/>
          </a:solidFill>
        </p:spPr>
        <p:txBody>
          <a:bodyPr lIns="0" tIns="0" rIns="0" bIns="0">
            <a:noAutofit/>
          </a:bodyPr>
          <a:p>
            <a:pPr algn="just" indent="0">
              <a:lnSpc>
                <a:spcPts val="1728"/>
              </a:lnSpc>
            </a:pPr>
            <a:r>
              <a:rPr lang="en-US" b="1" sz="1050">
                <a:solidFill>
                  <a:srgbClr val="3C3D41"/>
                </a:solidFill>
                <a:latin typeface="Tahoma"/>
              </a:rPr>
              <a:t>550 eco-friendly incinerators end open-burn pollution across all 275 campuses.</a:t>
            </a:r>
          </a:p>
        </p:txBody>
      </p:sp>
      <p:sp>
        <p:nvSpPr>
          <p:cNvPr id="26" name=""/>
          <p:cNvSpPr/>
          <p:nvPr/>
        </p:nvSpPr>
        <p:spPr>
          <a:xfrm>
            <a:off x="14157960" y="6412992"/>
            <a:ext cx="3075432" cy="402336"/>
          </a:xfrm>
          <a:prstGeom prst="rect">
            <a:avLst/>
          </a:prstGeom>
          <a:solidFill>
            <a:srgbClr val="F5EBE1"/>
          </a:solidFill>
        </p:spPr>
        <p:txBody>
          <a:bodyPr lIns="0" tIns="0" rIns="0" bIns="0">
            <a:noAutofit/>
          </a:bodyPr>
          <a:p>
            <a:pPr indent="0">
              <a:lnSpc>
                <a:spcPts val="1752"/>
              </a:lnSpc>
            </a:pPr>
            <a:r>
              <a:rPr lang="en-US" b="1" sz="1050">
                <a:solidFill>
                  <a:srgbClr val="3C3D41"/>
                </a:solidFill>
                <a:latin typeface="Tahoma"/>
              </a:rPr>
              <a:t>Exclusively serves BC, SC, ST &amp; minority adolescent girls — India's most underserved.</a:t>
            </a:r>
          </a:p>
        </p:txBody>
      </p:sp>
      <p:sp>
        <p:nvSpPr>
          <p:cNvPr id="27" name=""/>
          <p:cNvSpPr/>
          <p:nvPr/>
        </p:nvSpPr>
        <p:spPr>
          <a:xfrm>
            <a:off x="1011936" y="9272016"/>
            <a:ext cx="2657856" cy="134112"/>
          </a:xfrm>
          <a:prstGeom prst="rect">
            <a:avLst/>
          </a:prstGeom>
          <a:solidFill>
            <a:srgbClr val="F5EBE1"/>
          </a:solidFill>
        </p:spPr>
        <p:txBody>
          <a:bodyPr lIns="0" tIns="0" rIns="0" bIns="0" wrap="none">
            <a:noAutofit/>
          </a:bodyPr>
          <a:p>
            <a:pPr indent="0"/>
            <a:r>
              <a:rPr lang="en-US" sz="1100" spc="200">
                <a:solidFill>
                  <a:srgbClr val="17181F"/>
                </a:solidFill>
                <a:latin typeface="Consolas"/>
              </a:rPr>
              <a:t>NATIONAL POLICY ALIGNMENT</a:t>
            </a:r>
          </a:p>
        </p:txBody>
      </p:sp>
      <p:sp>
        <p:nvSpPr>
          <p:cNvPr id="28" name=""/>
          <p:cNvSpPr/>
          <p:nvPr/>
        </p:nvSpPr>
        <p:spPr>
          <a:xfrm>
            <a:off x="4145280" y="9272016"/>
            <a:ext cx="2450592" cy="134112"/>
          </a:xfrm>
          <a:prstGeom prst="rect">
            <a:avLst/>
          </a:prstGeom>
          <a:solidFill>
            <a:srgbClr val="F5EBE1"/>
          </a:solidFill>
        </p:spPr>
        <p:txBody>
          <a:bodyPr lIns="0" tIns="0" rIns="0" bIns="0" wrap="none">
            <a:noAutofit/>
          </a:bodyPr>
          <a:p>
            <a:pPr indent="0"/>
            <a:r>
              <a:rPr lang="en-US" sz="1100" spc="200">
                <a:solidFill>
                  <a:srgbClr val="68686F"/>
                </a:solidFill>
                <a:latin typeface="Consolas"/>
              </a:rPr>
              <a:t>BETI BACHAO BETI PADHAO</a:t>
            </a:r>
          </a:p>
        </p:txBody>
      </p:sp>
      <p:sp>
        <p:nvSpPr>
          <p:cNvPr id="29" name=""/>
          <p:cNvSpPr/>
          <p:nvPr/>
        </p:nvSpPr>
        <p:spPr>
          <a:xfrm>
            <a:off x="7065264" y="9272016"/>
            <a:ext cx="2243328" cy="134112"/>
          </a:xfrm>
          <a:prstGeom prst="rect">
            <a:avLst/>
          </a:prstGeom>
          <a:solidFill>
            <a:srgbClr val="F5EBE1"/>
          </a:solidFill>
        </p:spPr>
        <p:txBody>
          <a:bodyPr lIns="0" tIns="0" rIns="0" bIns="0" wrap="none">
            <a:noAutofit/>
          </a:bodyPr>
          <a:p>
            <a:pPr indent="0"/>
            <a:r>
              <a:rPr lang="en-US" sz="1100" spc="200">
                <a:solidFill>
                  <a:srgbClr val="68686F"/>
                </a:solidFill>
                <a:latin typeface="Consolas"/>
              </a:rPr>
              <a:t>SWACHH BHARAT MISSION</a:t>
            </a:r>
          </a:p>
        </p:txBody>
      </p:sp>
      <p:sp>
        <p:nvSpPr>
          <p:cNvPr id="30" name=""/>
          <p:cNvSpPr/>
          <p:nvPr/>
        </p:nvSpPr>
        <p:spPr>
          <a:xfrm>
            <a:off x="9784080" y="9272016"/>
            <a:ext cx="890016" cy="134112"/>
          </a:xfrm>
          <a:prstGeom prst="rect">
            <a:avLst/>
          </a:prstGeom>
          <a:solidFill>
            <a:srgbClr val="F5EBE1"/>
          </a:solidFill>
        </p:spPr>
        <p:txBody>
          <a:bodyPr lIns="0" tIns="0" rIns="0" bIns="0" wrap="none">
            <a:noAutofit/>
          </a:bodyPr>
          <a:p>
            <a:pPr indent="0"/>
            <a:r>
              <a:rPr lang="en-US" sz="1100" spc="200">
                <a:solidFill>
                  <a:srgbClr val="68686F"/>
                </a:solidFill>
                <a:latin typeface="Consolas"/>
              </a:rPr>
              <a:t>NEP 2020</a:t>
            </a:r>
          </a:p>
        </p:txBody>
      </p:sp>
      <p:sp>
        <p:nvSpPr>
          <p:cNvPr id="31" name=""/>
          <p:cNvSpPr/>
          <p:nvPr/>
        </p:nvSpPr>
        <p:spPr>
          <a:xfrm>
            <a:off x="11149584" y="9272016"/>
            <a:ext cx="1932432" cy="134112"/>
          </a:xfrm>
          <a:prstGeom prst="rect">
            <a:avLst/>
          </a:prstGeom>
          <a:solidFill>
            <a:srgbClr val="F5EBE1"/>
          </a:solidFill>
        </p:spPr>
        <p:txBody>
          <a:bodyPr lIns="0" tIns="0" rIns="0" bIns="0" wrap="none">
            <a:noAutofit/>
          </a:bodyPr>
          <a:p>
            <a:pPr indent="0"/>
            <a:r>
              <a:rPr lang="en-US" sz="1100" spc="200">
                <a:solidFill>
                  <a:srgbClr val="68686F"/>
                </a:solidFill>
                <a:latin typeface="Consolas"/>
              </a:rPr>
              <a:t>COMPANIES ACT 2013</a:t>
            </a:r>
          </a:p>
        </p:txBody>
      </p:sp>
      <p:sp>
        <p:nvSpPr>
          <p:cNvPr id="32" name=""/>
          <p:cNvSpPr/>
          <p:nvPr/>
        </p:nvSpPr>
        <p:spPr>
          <a:xfrm>
            <a:off x="13331952" y="9272016"/>
            <a:ext cx="2225040" cy="152400"/>
          </a:xfrm>
          <a:prstGeom prst="rect">
            <a:avLst/>
          </a:prstGeom>
          <a:solidFill>
            <a:srgbClr val="F5EBE1"/>
          </a:solidFill>
        </p:spPr>
        <p:txBody>
          <a:bodyPr lIns="0" tIns="0" rIns="0" bIns="0" wrap="none">
            <a:noAutofit/>
          </a:bodyPr>
          <a:p>
            <a:pPr indent="0"/>
            <a:r>
              <a:rPr lang="en-US" sz="1100" spc="200">
                <a:solidFill>
                  <a:srgbClr val="68686F"/>
                </a:solidFill>
                <a:latin typeface="Consolas"/>
              </a:rPr>
              <a:t>SCH . VII (I, II, III)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"/>
          <p:cNvPicPr>
            <a:picLocks noChangeAspect="1"/>
          </p:cNvPicPr>
          <p:nvPr/>
        </p:nvPicPr>
        <p:blipFill>
          <a:blip r:embed="rPictId0"/>
          <a:stretch>
            <a:fillRect/>
          </a:stretch>
        </p:blipFill>
        <p:spPr>
          <a:xfrm>
            <a:off x="1386840" y="3450336"/>
            <a:ext cx="396240" cy="381000"/>
          </a:xfrm>
          <a:prstGeom prst="rect">
            <a:avLst/>
          </a:prstGeom>
        </p:spPr>
      </p:pic>
      <p:pic>
        <p:nvPicPr>
          <p:cNvPr id="3" name=""/>
          <p:cNvPicPr>
            <a:picLocks noChangeAspect="1"/>
          </p:cNvPicPr>
          <p:nvPr/>
        </p:nvPicPr>
        <p:blipFill>
          <a:blip r:embed="rPictId1"/>
          <a:stretch>
            <a:fillRect/>
          </a:stretch>
        </p:blipFill>
        <p:spPr>
          <a:xfrm>
            <a:off x="1374648" y="5419344"/>
            <a:ext cx="243840" cy="438912"/>
          </a:xfrm>
          <a:prstGeom prst="rect">
            <a:avLst/>
          </a:prstGeom>
        </p:spPr>
      </p:pic>
      <p:pic>
        <p:nvPicPr>
          <p:cNvPr id="4" name=""/>
          <p:cNvPicPr>
            <a:picLocks noChangeAspect="1"/>
          </p:cNvPicPr>
          <p:nvPr/>
        </p:nvPicPr>
        <p:blipFill>
          <a:blip r:embed="rPictId2"/>
          <a:stretch>
            <a:fillRect/>
          </a:stretch>
        </p:blipFill>
        <p:spPr>
          <a:xfrm>
            <a:off x="1039368" y="8659368"/>
            <a:ext cx="8001000" cy="1085088"/>
          </a:xfrm>
          <a:prstGeom prst="rect">
            <a:avLst/>
          </a:prstGeom>
        </p:spPr>
      </p:pic>
      <p:pic>
        <p:nvPicPr>
          <p:cNvPr id="5" name=""/>
          <p:cNvPicPr>
            <a:picLocks noChangeAspect="1"/>
          </p:cNvPicPr>
          <p:nvPr/>
        </p:nvPicPr>
        <p:blipFill>
          <a:blip r:embed="rPictId3"/>
          <a:stretch>
            <a:fillRect/>
          </a:stretch>
        </p:blipFill>
        <p:spPr>
          <a:xfrm>
            <a:off x="9631680" y="3127248"/>
            <a:ext cx="7620000" cy="6611112"/>
          </a:xfrm>
          <a:prstGeom prst="rect">
            <a:avLst/>
          </a:prstGeom>
        </p:spPr>
      </p:pic>
      <p:sp>
        <p:nvSpPr>
          <p:cNvPr id="6" name=""/>
          <p:cNvSpPr/>
          <p:nvPr/>
        </p:nvSpPr>
        <p:spPr>
          <a:xfrm>
            <a:off x="1027176" y="445008"/>
            <a:ext cx="2221992" cy="149352"/>
          </a:xfrm>
          <a:prstGeom prst="rect">
            <a:avLst/>
          </a:prstGeom>
          <a:solidFill>
            <a:srgbClr val="241818"/>
          </a:solidFill>
        </p:spPr>
        <p:txBody>
          <a:bodyPr lIns="0" tIns="0" rIns="0" bIns="0" wrap="none">
            <a:noAutofit/>
          </a:bodyPr>
          <a:p>
            <a:pPr indent="0"/>
            <a:r>
              <a:rPr lang="en-US" sz="1100" spc="300">
                <a:solidFill>
                  <a:srgbClr val="B99056"/>
                </a:solidFill>
                <a:latin typeface="Tahoma"/>
              </a:rPr>
              <a:t>• </a:t>
            </a:r>
            <a:r>
              <a:rPr lang="en-US" sz="1100" spc="300">
                <a:solidFill>
                  <a:srgbClr val="BAB0A8"/>
                </a:solidFill>
                <a:latin typeface="Tahoma"/>
              </a:rPr>
              <a:t>STHREE SWABHIMAN</a:t>
            </a:r>
          </a:p>
        </p:txBody>
      </p:sp>
      <p:sp>
        <p:nvSpPr>
          <p:cNvPr id="7" name=""/>
          <p:cNvSpPr/>
          <p:nvPr/>
        </p:nvSpPr>
        <p:spPr>
          <a:xfrm>
            <a:off x="14258544" y="445008"/>
            <a:ext cx="2968752" cy="149352"/>
          </a:xfrm>
          <a:prstGeom prst="rect">
            <a:avLst/>
          </a:prstGeom>
          <a:solidFill>
            <a:srgbClr val="241818"/>
          </a:solidFill>
        </p:spPr>
        <p:txBody>
          <a:bodyPr lIns="0" tIns="0" rIns="0" bIns="0" wrap="none">
            <a:noAutofit/>
          </a:bodyPr>
          <a:p>
            <a:pPr algn="just" indent="0"/>
            <a:r>
              <a:rPr lang="en-US" sz="1100" spc="300">
                <a:solidFill>
                  <a:srgbClr val="BAB0A8"/>
                </a:solidFill>
                <a:latin typeface="Tahoma"/>
              </a:rPr>
              <a:t>12    • WHY GIVE FOR SOCIETY</a:t>
            </a:r>
          </a:p>
        </p:txBody>
      </p:sp>
      <p:sp>
        <p:nvSpPr>
          <p:cNvPr id="8" name=""/>
          <p:cNvSpPr/>
          <p:nvPr/>
        </p:nvSpPr>
        <p:spPr>
          <a:xfrm>
            <a:off x="1014984" y="1002792"/>
            <a:ext cx="11021568" cy="1731264"/>
          </a:xfrm>
          <a:prstGeom prst="rect">
            <a:avLst/>
          </a:prstGeom>
          <a:solidFill>
            <a:srgbClr val="241818"/>
          </a:solidFill>
        </p:spPr>
        <p:txBody>
          <a:bodyPr lIns="0" tIns="0" rIns="0" bIns="0">
            <a:noAutofit/>
          </a:bodyPr>
          <a:p>
            <a:pPr algn="just" indent="0">
              <a:spcAft>
                <a:spcPts val="1680"/>
              </a:spcAft>
            </a:pPr>
            <a:r>
              <a:rPr lang="en-US" sz="1800" spc="450">
                <a:solidFill>
                  <a:srgbClr val="B99056"/>
                </a:solidFill>
                <a:latin typeface="Sylfaen"/>
              </a:rPr>
              <a:t>- WHY GIVE FOR SOCIETY</a:t>
            </a:r>
          </a:p>
          <a:p>
            <a:pPr algn="just" indent="0">
              <a:lnSpc>
                <a:spcPts val="4992"/>
              </a:lnSpc>
              <a:spcAft>
                <a:spcPts val="1680"/>
              </a:spcAft>
            </a:pPr>
            <a:r>
              <a:rPr lang="en-US" b="1" sz="4800">
                <a:solidFill>
                  <a:srgbClr val="FFFFFF"/>
                </a:solidFill>
                <a:latin typeface="Sylfaen"/>
              </a:rPr>
              <a:t>Government-endorsed, award-recognised, with a </a:t>
            </a:r>
            <a:r>
              <a:rPr lang="en-US" i="1" sz="4800" spc="-150">
                <a:solidFill>
                  <a:srgbClr val="B99056"/>
                </a:solidFill>
                <a:latin typeface="Sylfaen"/>
              </a:rPr>
              <a:t>pilot already in the ground</a:t>
            </a:r>
            <a:r>
              <a:rPr lang="en-US" i="1" sz="4800" spc="-150">
                <a:solidFill>
                  <a:srgbClr val="FFFFFF"/>
                </a:solidFill>
                <a:latin typeface="Sylfaen"/>
              </a:rPr>
              <a:t>.</a:t>
            </a:r>
          </a:p>
        </p:txBody>
      </p:sp>
      <p:sp>
        <p:nvSpPr>
          <p:cNvPr id="9" name=""/>
          <p:cNvSpPr/>
          <p:nvPr/>
        </p:nvSpPr>
        <p:spPr>
          <a:xfrm>
            <a:off x="2039112" y="3422904"/>
            <a:ext cx="6537960" cy="1155192"/>
          </a:xfrm>
          <a:prstGeom prst="rect">
            <a:avLst/>
          </a:prstGeom>
          <a:solidFill>
            <a:srgbClr val="241818"/>
          </a:solidFill>
        </p:spPr>
        <p:txBody>
          <a:bodyPr lIns="0" tIns="0" rIns="0" bIns="0">
            <a:noAutofit/>
          </a:bodyPr>
          <a:p>
            <a:pPr indent="0">
              <a:spcBef>
                <a:spcPts val="1680"/>
              </a:spcBef>
              <a:spcAft>
                <a:spcPts val="840"/>
              </a:spcAft>
            </a:pPr>
            <a:r>
              <a:rPr lang="en-US" sz="1100" spc="200">
                <a:solidFill>
                  <a:srgbClr val="B99056"/>
                </a:solidFill>
                <a:latin typeface="Consolas"/>
              </a:rPr>
              <a:t>TELANGANA GOVERNOR'S EXCELLENCE AWARD 2025</a:t>
            </a:r>
          </a:p>
          <a:p>
            <a:pPr indent="0">
              <a:lnSpc>
                <a:spcPts val="2424"/>
              </a:lnSpc>
              <a:spcAft>
                <a:spcPts val="3570"/>
              </a:spcAft>
            </a:pPr>
            <a:r>
              <a:rPr lang="en-US" sz="1800">
                <a:solidFill>
                  <a:srgbClr val="FFFFFF"/>
                </a:solidFill>
                <a:latin typeface="Sylfaen"/>
              </a:rPr>
              <a:t>Corporate Volunteering — Organisation Category. Conferred by Hon'ble Governor Shri Jishnu Dev Varma on the 77th Republic Day, Lok Bhavan, Hyderabad.</a:t>
            </a:r>
          </a:p>
        </p:txBody>
      </p:sp>
      <p:sp>
        <p:nvSpPr>
          <p:cNvPr id="10" name=""/>
          <p:cNvSpPr/>
          <p:nvPr/>
        </p:nvSpPr>
        <p:spPr>
          <a:xfrm>
            <a:off x="1868424" y="5379720"/>
            <a:ext cx="6464808" cy="1143000"/>
          </a:xfrm>
          <a:prstGeom prst="rect">
            <a:avLst/>
          </a:prstGeom>
          <a:solidFill>
            <a:srgbClr val="241818"/>
          </a:solidFill>
        </p:spPr>
        <p:txBody>
          <a:bodyPr lIns="0" tIns="0" rIns="0" bIns="0">
            <a:noAutofit/>
          </a:bodyPr>
          <a:p>
            <a:pPr indent="0">
              <a:spcBef>
                <a:spcPts val="3570"/>
              </a:spcBef>
              <a:spcAft>
                <a:spcPts val="840"/>
              </a:spcAft>
            </a:pPr>
            <a:r>
              <a:rPr lang="en-US" sz="1100" spc="200">
                <a:solidFill>
                  <a:srgbClr val="B99056"/>
                </a:solidFill>
                <a:latin typeface="Consolas"/>
              </a:rPr>
              <a:t>MOC WITH MJPTBCWREIS</a:t>
            </a:r>
          </a:p>
          <a:p>
            <a:pPr indent="0">
              <a:lnSpc>
                <a:spcPts val="2400"/>
              </a:lnSpc>
              <a:spcAft>
                <a:spcPts val="3570"/>
              </a:spcAft>
            </a:pPr>
            <a:r>
              <a:rPr lang="en-US" sz="1800">
                <a:solidFill>
                  <a:srgbClr val="FFFFFF"/>
                </a:solidFill>
                <a:latin typeface="Sylfaen"/>
              </a:rPr>
              <a:t>Memorandum of Collaboration signed with the Secretary, MJPTBCWREIS — Lr.No.C2/3357/2025. Full institutional access across 275 girls-only campuses.</a:t>
            </a:r>
          </a:p>
        </p:txBody>
      </p:sp>
      <p:sp>
        <p:nvSpPr>
          <p:cNvPr id="11" name=""/>
          <p:cNvSpPr/>
          <p:nvPr/>
        </p:nvSpPr>
        <p:spPr>
          <a:xfrm>
            <a:off x="1844040" y="7324344"/>
            <a:ext cx="6394704" cy="832104"/>
          </a:xfrm>
          <a:prstGeom prst="rect">
            <a:avLst/>
          </a:prstGeom>
          <a:solidFill>
            <a:srgbClr val="241818"/>
          </a:solidFill>
        </p:spPr>
        <p:txBody>
          <a:bodyPr lIns="0" tIns="0" rIns="0" bIns="0">
            <a:noAutofit/>
          </a:bodyPr>
          <a:p>
            <a:pPr indent="0">
              <a:spcBef>
                <a:spcPts val="3570"/>
              </a:spcBef>
              <a:spcAft>
                <a:spcPts val="840"/>
              </a:spcAft>
            </a:pPr>
            <a:r>
              <a:rPr lang="en-US" sz="1100" spc="200">
                <a:solidFill>
                  <a:srgbClr val="B99056"/>
                </a:solidFill>
                <a:latin typeface="Consolas"/>
              </a:rPr>
              <a:t>PILOT DELIVERED • NOV 2025</a:t>
            </a:r>
          </a:p>
          <a:p>
            <a:pPr indent="0">
              <a:lnSpc>
                <a:spcPts val="2400"/>
              </a:lnSpc>
            </a:pPr>
            <a:r>
              <a:rPr lang="en-US" sz="1800">
                <a:solidFill>
                  <a:srgbClr val="FFFFFF"/>
                </a:solidFill>
                <a:latin typeface="Sylfaen"/>
              </a:rPr>
              <a:t>1,200+ students reached in Warangal District. End-to-end workshop, kit distribution, and incinerator install documented.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"/>
          <p:cNvSpPr/>
          <p:nvPr/>
        </p:nvSpPr>
        <p:spPr>
          <a:xfrm>
            <a:off x="1027176" y="445008"/>
            <a:ext cx="972312" cy="149352"/>
          </a:xfrm>
          <a:prstGeom prst="rect">
            <a:avLst/>
          </a:prstGeom>
          <a:solidFill>
            <a:srgbClr val="F5EBE1"/>
          </a:solidFill>
        </p:spPr>
        <p:txBody>
          <a:bodyPr lIns="0" tIns="0" rIns="0" bIns="0" wrap="none">
            <a:noAutofit/>
          </a:bodyPr>
          <a:p>
            <a:pPr indent="0"/>
            <a:r>
              <a:rPr lang="en-US" sz="1100" spc="300">
                <a:solidFill>
                  <a:srgbClr val="78292E"/>
                </a:solidFill>
                <a:latin typeface="Tahoma"/>
              </a:rPr>
              <a:t>• </a:t>
            </a:r>
            <a:r>
              <a:rPr lang="en-US" sz="1100" spc="300">
                <a:solidFill>
                  <a:srgbClr val="68686F"/>
                </a:solidFill>
                <a:latin typeface="Tahoma"/>
              </a:rPr>
              <a:t>STHREE</a:t>
            </a:r>
          </a:p>
        </p:txBody>
      </p:sp>
      <p:sp>
        <p:nvSpPr>
          <p:cNvPr id="3" name=""/>
          <p:cNvSpPr/>
          <p:nvPr/>
        </p:nvSpPr>
        <p:spPr>
          <a:xfrm>
            <a:off x="2139696" y="445008"/>
            <a:ext cx="1109472" cy="149352"/>
          </a:xfrm>
          <a:prstGeom prst="rect">
            <a:avLst/>
          </a:prstGeom>
          <a:solidFill>
            <a:srgbClr val="F5EBE1"/>
          </a:solidFill>
        </p:spPr>
        <p:txBody>
          <a:bodyPr lIns="0" tIns="0" rIns="0" bIns="0" wrap="none">
            <a:noAutofit/>
          </a:bodyPr>
          <a:p>
            <a:pPr indent="0"/>
            <a:r>
              <a:rPr lang="en-US" sz="1100" spc="300">
                <a:solidFill>
                  <a:srgbClr val="68686F"/>
                </a:solidFill>
                <a:latin typeface="Tahoma"/>
              </a:rPr>
              <a:t>SWABHIMAN</a:t>
            </a:r>
          </a:p>
        </p:txBody>
      </p:sp>
      <p:sp>
        <p:nvSpPr>
          <p:cNvPr id="4" name=""/>
          <p:cNvSpPr/>
          <p:nvPr/>
        </p:nvSpPr>
        <p:spPr>
          <a:xfrm>
            <a:off x="14852904" y="445008"/>
            <a:ext cx="2371344" cy="149352"/>
          </a:xfrm>
          <a:prstGeom prst="rect">
            <a:avLst/>
          </a:prstGeom>
          <a:solidFill>
            <a:srgbClr val="F5EBE1"/>
          </a:solidFill>
        </p:spPr>
        <p:txBody>
          <a:bodyPr lIns="0" tIns="0" rIns="0" bIns="0" wrap="none">
            <a:noAutofit/>
          </a:bodyPr>
          <a:p>
            <a:pPr algn="just" indent="0"/>
            <a:r>
              <a:rPr lang="en-US" sz="1100" spc="300">
                <a:solidFill>
                  <a:srgbClr val="68686F"/>
                </a:solidFill>
                <a:latin typeface="Tahoma"/>
              </a:rPr>
              <a:t>13    • BUDGET OVERVIEW</a:t>
            </a:r>
          </a:p>
        </p:txBody>
      </p:sp>
      <p:sp>
        <p:nvSpPr>
          <p:cNvPr id="5" name=""/>
          <p:cNvSpPr/>
          <p:nvPr/>
        </p:nvSpPr>
        <p:spPr>
          <a:xfrm>
            <a:off x="1033272" y="1002792"/>
            <a:ext cx="6187440" cy="2453640"/>
          </a:xfrm>
          <a:prstGeom prst="rect">
            <a:avLst/>
          </a:prstGeom>
          <a:solidFill>
            <a:srgbClr val="F5EBE1"/>
          </a:solidFill>
        </p:spPr>
        <p:txBody>
          <a:bodyPr lIns="0" tIns="0" rIns="0" bIns="0">
            <a:noAutofit/>
          </a:bodyPr>
          <a:p>
            <a:pPr algn="just" indent="0">
              <a:spcAft>
                <a:spcPts val="1470"/>
              </a:spcAft>
            </a:pPr>
            <a:r>
              <a:rPr lang="en-US" sz="1800">
                <a:solidFill>
                  <a:srgbClr val="78292E"/>
                </a:solidFill>
                <a:latin typeface="Sylfaen"/>
              </a:rPr>
              <a:t>- </a:t>
            </a:r>
            <a:r>
              <a:rPr lang="en-US" sz="1800" spc="450">
                <a:solidFill>
                  <a:srgbClr val="78292E"/>
                </a:solidFill>
                <a:latin typeface="Sylfaen"/>
              </a:rPr>
              <a:t>BUDGET OVERVIEW</a:t>
            </a:r>
          </a:p>
          <a:p>
            <a:pPr algn="just" indent="0">
              <a:spcAft>
                <a:spcPts val="1260"/>
              </a:spcAft>
            </a:pPr>
            <a:r>
              <a:rPr lang="en-US" sz="1100" spc="200">
                <a:solidFill>
                  <a:srgbClr val="68686F"/>
                </a:solidFill>
                <a:latin typeface="Consolas"/>
              </a:rPr>
              <a:t>TOTAL PROGRAMME COST • ANNUAL</a:t>
            </a:r>
          </a:p>
          <a:p>
            <a:pPr indent="0">
              <a:spcAft>
                <a:spcPts val="2310"/>
              </a:spcAft>
            </a:pPr>
            <a:r>
              <a:rPr lang="en-US" b="1" sz="6900">
                <a:solidFill>
                  <a:srgbClr val="78292E"/>
                </a:solidFill>
                <a:latin typeface="Sylfaen"/>
              </a:rPr>
              <a:t>^</a:t>
            </a:r>
            <a:r>
              <a:rPr lang="en-US" sz="6300" spc="-200">
                <a:solidFill>
                  <a:srgbClr val="78292E"/>
                </a:solidFill>
                <a:latin typeface="Tahoma"/>
              </a:rPr>
              <a:t>8.04</a:t>
            </a:r>
            <a:r>
              <a:rPr lang="en-US" b="1" sz="4800">
                <a:solidFill>
                  <a:srgbClr val="68686F"/>
                </a:solidFill>
                <a:latin typeface="Sylfaen"/>
              </a:rPr>
              <a:t>er</a:t>
            </a:r>
          </a:p>
          <a:p>
            <a:pPr algn="just" indent="0"/>
            <a:r>
              <a:rPr lang="en-US" sz="1100" spc="200">
                <a:solidFill>
                  <a:srgbClr val="68686F"/>
                </a:solidFill>
                <a:latin typeface="Consolas"/>
              </a:rPr>
              <a:t>INR Eight Crores Four Lakhs Sixty-Six Thousand •    ^8,04,66,000</a:t>
            </a:r>
          </a:p>
        </p:txBody>
      </p:sp>
      <p:sp>
        <p:nvSpPr>
          <p:cNvPr id="6" name=""/>
          <p:cNvSpPr/>
          <p:nvPr/>
        </p:nvSpPr>
        <p:spPr>
          <a:xfrm>
            <a:off x="8449056" y="1853184"/>
            <a:ext cx="2350008" cy="1197864"/>
          </a:xfrm>
          <a:prstGeom prst="rect">
            <a:avLst/>
          </a:prstGeom>
          <a:solidFill>
            <a:srgbClr val="F5EBE1"/>
          </a:solidFill>
        </p:spPr>
        <p:txBody>
          <a:bodyPr lIns="0" tIns="0" rIns="0" bIns="0">
            <a:noAutofit/>
          </a:bodyPr>
          <a:p>
            <a:pPr algn="just" indent="0">
              <a:spcAft>
                <a:spcPts val="630"/>
              </a:spcAft>
            </a:pPr>
            <a:r>
              <a:rPr lang="en-US" sz="1000" spc="150">
                <a:solidFill>
                  <a:srgbClr val="68686F"/>
                </a:solidFill>
                <a:latin typeface="Consolas"/>
              </a:rPr>
              <a:t>PER-GIRL COST</a:t>
            </a:r>
          </a:p>
          <a:p>
            <a:pPr indent="0">
              <a:spcAft>
                <a:spcPts val="1260"/>
              </a:spcAft>
            </a:pPr>
            <a:r>
              <a:rPr lang="en-US" sz="4100" spc="-100">
                <a:solidFill>
                  <a:srgbClr val="78292E"/>
                </a:solidFill>
                <a:latin typeface="Sylfaen"/>
              </a:rPr>
              <a:t>t600</a:t>
            </a:r>
          </a:p>
          <a:p>
            <a:pPr algn="just" indent="0">
              <a:lnSpc>
                <a:spcPts val="1488"/>
              </a:lnSpc>
            </a:pPr>
            <a:r>
              <a:rPr lang="en-US" b="1" sz="900">
                <a:solidFill>
                  <a:srgbClr val="3C3D41"/>
                </a:solidFill>
                <a:latin typeface="Tahoma"/>
              </a:rPr>
              <a:t>Year of awareness +12 napkin packs + incinerator share.</a:t>
            </a:r>
          </a:p>
        </p:txBody>
      </p:sp>
      <p:sp>
        <p:nvSpPr>
          <p:cNvPr id="7" name=""/>
          <p:cNvSpPr/>
          <p:nvPr/>
        </p:nvSpPr>
        <p:spPr>
          <a:xfrm>
            <a:off x="11506200" y="1853184"/>
            <a:ext cx="2401824" cy="1225296"/>
          </a:xfrm>
          <a:prstGeom prst="rect">
            <a:avLst/>
          </a:prstGeom>
          <a:solidFill>
            <a:srgbClr val="F5EBE1"/>
          </a:solidFill>
        </p:spPr>
        <p:txBody>
          <a:bodyPr lIns="0" tIns="0" rIns="0" bIns="0">
            <a:noAutofit/>
          </a:bodyPr>
          <a:p>
            <a:pPr algn="just" indent="0">
              <a:spcAft>
                <a:spcPts val="630"/>
              </a:spcAft>
            </a:pPr>
            <a:r>
              <a:rPr lang="en-US" sz="1000" spc="150">
                <a:solidFill>
                  <a:srgbClr val="68686F"/>
                </a:solidFill>
                <a:latin typeface="Consolas"/>
              </a:rPr>
              <a:t>CAPITAL LIFESPAN</a:t>
            </a:r>
          </a:p>
          <a:p>
            <a:pPr indent="0">
              <a:spcAft>
                <a:spcPts val="1260"/>
              </a:spcAft>
            </a:pPr>
            <a:r>
              <a:rPr lang="en-US" sz="4100" spc="-100">
                <a:solidFill>
                  <a:srgbClr val="17181F"/>
                </a:solidFill>
                <a:latin typeface="Sylfaen"/>
              </a:rPr>
              <a:t>10+ yr</a:t>
            </a:r>
          </a:p>
          <a:p>
            <a:pPr algn="just" indent="0">
              <a:lnSpc>
                <a:spcPts val="1536"/>
              </a:lnSpc>
            </a:pPr>
            <a:r>
              <a:rPr lang="en-US" b="1" sz="900">
                <a:solidFill>
                  <a:srgbClr val="3C3D41"/>
                </a:solidFill>
                <a:latin typeface="Tahoma"/>
              </a:rPr>
              <a:t>Incinerators are a one-time investment; recurring cost drops year-on-year.</a:t>
            </a:r>
          </a:p>
        </p:txBody>
      </p:sp>
      <p:sp>
        <p:nvSpPr>
          <p:cNvPr id="8" name=""/>
          <p:cNvSpPr/>
          <p:nvPr/>
        </p:nvSpPr>
        <p:spPr>
          <a:xfrm>
            <a:off x="1252728" y="4511040"/>
            <a:ext cx="2148840" cy="1100328"/>
          </a:xfrm>
          <a:prstGeom prst="rect">
            <a:avLst/>
          </a:prstGeom>
        </p:spPr>
        <p:txBody>
          <a:bodyPr lIns="0" tIns="0" rIns="0" bIns="0">
            <a:noAutofit/>
          </a:bodyPr>
          <a:p>
            <a:pPr algn="just" indent="0">
              <a:spcAft>
                <a:spcPts val="1050"/>
              </a:spcAft>
            </a:pPr>
            <a:r>
              <a:rPr lang="en-US" sz="1000" spc="150">
                <a:solidFill>
                  <a:srgbClr val="78292E"/>
                </a:solidFill>
                <a:latin typeface="Consolas"/>
              </a:rPr>
              <a:t>A • AWARENESS</a:t>
            </a:r>
          </a:p>
          <a:p>
            <a:pPr algn="just" indent="0">
              <a:spcAft>
                <a:spcPts val="1050"/>
              </a:spcAft>
            </a:pPr>
            <a:r>
              <a:rPr lang="en-US" b="1" cap="small" sz="1300" spc="100">
                <a:solidFill>
                  <a:srgbClr val="17181F"/>
                </a:solidFill>
                <a:latin typeface="Tahoma"/>
              </a:rPr>
              <a:t>?68.75</a:t>
            </a:r>
            <a:r>
              <a:rPr lang="en-US" b="1" cap="small" sz="1300" spc="100">
                <a:solidFill>
                  <a:srgbClr val="68686F"/>
                </a:solidFill>
                <a:latin typeface="Tahoma"/>
              </a:rPr>
              <a:t>l</a:t>
            </a:r>
          </a:p>
          <a:p>
            <a:pPr algn="just" indent="0">
              <a:lnSpc>
                <a:spcPts val="1512"/>
              </a:lnSpc>
            </a:pPr>
            <a:r>
              <a:rPr lang="en-US" b="1" sz="900">
                <a:solidFill>
                  <a:srgbClr val="3C3D41"/>
                </a:solidFill>
                <a:latin typeface="Tahoma"/>
              </a:rPr>
              <a:t>Sessions, ToT, peer mentor training, logistics.</a:t>
            </a:r>
          </a:p>
        </p:txBody>
      </p:sp>
      <p:sp>
        <p:nvSpPr>
          <p:cNvPr id="9" name=""/>
          <p:cNvSpPr/>
          <p:nvPr/>
        </p:nvSpPr>
        <p:spPr>
          <a:xfrm>
            <a:off x="1255776" y="9070848"/>
            <a:ext cx="1063752" cy="109728"/>
          </a:xfrm>
          <a:prstGeom prst="rect">
            <a:avLst/>
          </a:prstGeom>
        </p:spPr>
        <p:txBody>
          <a:bodyPr lIns="0" tIns="0" rIns="0" bIns="0" wrap="none">
            <a:noAutofit/>
          </a:bodyPr>
          <a:p>
            <a:pPr indent="0"/>
            <a:r>
              <a:rPr lang="en-US" sz="750" spc="200">
                <a:solidFill>
                  <a:srgbClr val="68686F"/>
                </a:solidFill>
                <a:latin typeface="Tahoma"/>
              </a:rPr>
              <a:t>8.5% OF TOTAL</a:t>
            </a:r>
          </a:p>
        </p:txBody>
      </p:sp>
      <p:sp>
        <p:nvSpPr>
          <p:cNvPr id="10" name=""/>
          <p:cNvSpPr/>
          <p:nvPr/>
        </p:nvSpPr>
        <p:spPr>
          <a:xfrm>
            <a:off x="4523232" y="4511040"/>
            <a:ext cx="2691384" cy="1100328"/>
          </a:xfrm>
          <a:prstGeom prst="rect">
            <a:avLst/>
          </a:prstGeom>
        </p:spPr>
        <p:txBody>
          <a:bodyPr lIns="0" tIns="0" rIns="0" bIns="0">
            <a:noAutofit/>
          </a:bodyPr>
          <a:p>
            <a:pPr marR="1244600" indent="0">
              <a:lnSpc>
                <a:spcPts val="3528"/>
              </a:lnSpc>
            </a:pPr>
            <a:r>
              <a:rPr lang="en-US" sz="1000" spc="150">
                <a:solidFill>
                  <a:srgbClr val="78292E"/>
                </a:solidFill>
                <a:latin typeface="Consolas"/>
              </a:rPr>
              <a:t>B • STARTER KITS </a:t>
            </a:r>
            <a:r>
              <a:rPr lang="en-US" b="1" sz="1300" spc="100">
                <a:solidFill>
                  <a:srgbClr val="78292E"/>
                </a:solidFill>
                <a:latin typeface="Tahoma"/>
              </a:rPr>
              <a:t>^5.28 </a:t>
            </a:r>
            <a:r>
              <a:rPr lang="en-US" b="1" sz="1300" spc="100">
                <a:solidFill>
                  <a:srgbClr val="68686F"/>
                </a:solidFill>
                <a:latin typeface="Tahoma"/>
              </a:rPr>
              <a:t>Cr</a:t>
            </a:r>
          </a:p>
          <a:p>
            <a:pPr algn="just" indent="0">
              <a:lnSpc>
                <a:spcPts val="1512"/>
              </a:lnSpc>
            </a:pPr>
            <a:r>
              <a:rPr lang="en-US" b="1" sz="900">
                <a:solidFill>
                  <a:srgbClr val="3C3D41"/>
                </a:solidFill>
                <a:latin typeface="Tahoma"/>
              </a:rPr>
              <a:t>88,000 girls </a:t>
            </a:r>
            <a:r>
              <a:rPr lang="en-US" b="1" sz="800">
                <a:solidFill>
                  <a:srgbClr val="3C3D41"/>
                </a:solidFill>
                <a:latin typeface="Tahoma"/>
              </a:rPr>
              <a:t>x </a:t>
            </a:r>
            <a:r>
              <a:rPr lang="en-US" b="1" sz="900">
                <a:solidFill>
                  <a:srgbClr val="3C3D41"/>
                </a:solidFill>
                <a:latin typeface="Tahoma"/>
              </a:rPr>
              <a:t>12 packs </a:t>
            </a:r>
            <a:r>
              <a:rPr lang="en-US" b="1" sz="800">
                <a:solidFill>
                  <a:srgbClr val="3C3D41"/>
                </a:solidFill>
                <a:latin typeface="Tahoma"/>
              </a:rPr>
              <a:t>x </a:t>
            </a:r>
            <a:r>
              <a:rPr lang="en-US" b="1" sz="900">
                <a:solidFill>
                  <a:srgbClr val="3C3D41"/>
                </a:solidFill>
                <a:latin typeface="Tahoma"/>
              </a:rPr>
              <a:t>?45 + packaging &amp; logistics.</a:t>
            </a:r>
          </a:p>
        </p:txBody>
      </p:sp>
      <p:sp>
        <p:nvSpPr>
          <p:cNvPr id="11" name=""/>
          <p:cNvSpPr/>
          <p:nvPr/>
        </p:nvSpPr>
        <p:spPr>
          <a:xfrm>
            <a:off x="4523232" y="9070848"/>
            <a:ext cx="1149096" cy="109728"/>
          </a:xfrm>
          <a:prstGeom prst="rect">
            <a:avLst/>
          </a:prstGeom>
        </p:spPr>
        <p:txBody>
          <a:bodyPr lIns="0" tIns="0" rIns="0" bIns="0" wrap="none">
            <a:noAutofit/>
          </a:bodyPr>
          <a:p>
            <a:pPr indent="0"/>
            <a:r>
              <a:rPr lang="en-US" sz="750" spc="200">
                <a:solidFill>
                  <a:srgbClr val="68686F"/>
                </a:solidFill>
                <a:latin typeface="Tahoma"/>
              </a:rPr>
              <a:t>65.6% OF TOTAL</a:t>
            </a:r>
          </a:p>
        </p:txBody>
      </p:sp>
      <p:sp>
        <p:nvSpPr>
          <p:cNvPr id="12" name=""/>
          <p:cNvSpPr/>
          <p:nvPr/>
        </p:nvSpPr>
        <p:spPr>
          <a:xfrm>
            <a:off x="7787640" y="4511040"/>
            <a:ext cx="2426208" cy="1072896"/>
          </a:xfrm>
          <a:prstGeom prst="rect">
            <a:avLst/>
          </a:prstGeom>
        </p:spPr>
        <p:txBody>
          <a:bodyPr lIns="0" tIns="0" rIns="0" bIns="0">
            <a:noAutofit/>
          </a:bodyPr>
          <a:p>
            <a:pPr algn="just" indent="0">
              <a:spcAft>
                <a:spcPts val="1050"/>
              </a:spcAft>
            </a:pPr>
            <a:r>
              <a:rPr lang="en-US" sz="1000" spc="150">
                <a:solidFill>
                  <a:srgbClr val="78292E"/>
                </a:solidFill>
                <a:latin typeface="Consolas"/>
              </a:rPr>
              <a:t>C • IEC MATERIALS</a:t>
            </a:r>
          </a:p>
          <a:p>
            <a:pPr algn="just" indent="0">
              <a:spcAft>
                <a:spcPts val="1050"/>
              </a:spcAft>
            </a:pPr>
            <a:r>
              <a:rPr lang="en-US" b="1" cap="small" sz="1300" spc="100">
                <a:solidFill>
                  <a:srgbClr val="17181F"/>
                </a:solidFill>
                <a:latin typeface="Tahoma"/>
              </a:rPr>
              <a:t>^8.25 </a:t>
            </a:r>
            <a:r>
              <a:rPr lang="en-US" b="1" cap="small" sz="1300" spc="100">
                <a:solidFill>
                  <a:srgbClr val="68686F"/>
                </a:solidFill>
                <a:latin typeface="Tahoma"/>
              </a:rPr>
              <a:t>l</a:t>
            </a:r>
          </a:p>
          <a:p>
            <a:pPr algn="just" indent="0">
              <a:lnSpc>
                <a:spcPts val="1488"/>
              </a:lnSpc>
            </a:pPr>
            <a:r>
              <a:rPr lang="en-US" b="1" sz="900">
                <a:solidFill>
                  <a:srgbClr val="3C3D41"/>
                </a:solidFill>
                <a:latin typeface="Tahoma"/>
              </a:rPr>
              <a:t>Telugu flipbooks, wall charts, lamination treatment.</a:t>
            </a:r>
          </a:p>
        </p:txBody>
      </p:sp>
      <p:sp>
        <p:nvSpPr>
          <p:cNvPr id="13" name=""/>
          <p:cNvSpPr/>
          <p:nvPr/>
        </p:nvSpPr>
        <p:spPr>
          <a:xfrm>
            <a:off x="7793736" y="9070848"/>
            <a:ext cx="1063752" cy="109728"/>
          </a:xfrm>
          <a:prstGeom prst="rect">
            <a:avLst/>
          </a:prstGeom>
        </p:spPr>
        <p:txBody>
          <a:bodyPr lIns="0" tIns="0" rIns="0" bIns="0" wrap="none">
            <a:noAutofit/>
          </a:bodyPr>
          <a:p>
            <a:pPr indent="0"/>
            <a:r>
              <a:rPr lang="en-US" sz="750" spc="200">
                <a:solidFill>
                  <a:srgbClr val="68686F"/>
                </a:solidFill>
                <a:latin typeface="Tahoma"/>
              </a:rPr>
              <a:t>1.0% OF TOTAL</a:t>
            </a:r>
          </a:p>
        </p:txBody>
      </p:sp>
      <p:sp>
        <p:nvSpPr>
          <p:cNvPr id="14" name=""/>
          <p:cNvSpPr/>
          <p:nvPr/>
        </p:nvSpPr>
        <p:spPr>
          <a:xfrm>
            <a:off x="11064240" y="4511040"/>
            <a:ext cx="1938528" cy="1072896"/>
          </a:xfrm>
          <a:prstGeom prst="rect">
            <a:avLst/>
          </a:prstGeom>
        </p:spPr>
        <p:txBody>
          <a:bodyPr lIns="0" tIns="0" rIns="0" bIns="0">
            <a:noAutofit/>
          </a:bodyPr>
          <a:p>
            <a:pPr algn="just" indent="0">
              <a:spcAft>
                <a:spcPts val="1050"/>
              </a:spcAft>
            </a:pPr>
            <a:r>
              <a:rPr lang="en-US" sz="1000" spc="150">
                <a:solidFill>
                  <a:srgbClr val="78292E"/>
                </a:solidFill>
                <a:latin typeface="Consolas"/>
              </a:rPr>
              <a:t>D • INCINERATORS</a:t>
            </a:r>
          </a:p>
          <a:p>
            <a:pPr algn="just" indent="0">
              <a:spcAft>
                <a:spcPts val="1050"/>
              </a:spcAft>
            </a:pPr>
            <a:r>
              <a:rPr lang="en-US" b="1" sz="1300" spc="100">
                <a:solidFill>
                  <a:srgbClr val="B4716F"/>
                </a:solidFill>
                <a:latin typeface="Tahoma"/>
              </a:rPr>
              <a:t>^1.38</a:t>
            </a:r>
            <a:r>
              <a:rPr lang="en-US" b="1" sz="1300" spc="100">
                <a:solidFill>
                  <a:srgbClr val="68686F"/>
                </a:solidFill>
                <a:latin typeface="Tahoma"/>
              </a:rPr>
              <a:t>cr</a:t>
            </a:r>
          </a:p>
          <a:p>
            <a:pPr algn="just" indent="0">
              <a:lnSpc>
                <a:spcPts val="1512"/>
              </a:lnSpc>
            </a:pPr>
            <a:r>
              <a:rPr lang="en-US" b="1" sz="900">
                <a:solidFill>
                  <a:srgbClr val="3C3D41"/>
                </a:solidFill>
                <a:latin typeface="Tahoma"/>
              </a:rPr>
              <a:t>550 units, installation, first-year maintenance.</a:t>
            </a:r>
          </a:p>
        </p:txBody>
      </p:sp>
      <p:sp>
        <p:nvSpPr>
          <p:cNvPr id="15" name=""/>
          <p:cNvSpPr/>
          <p:nvPr/>
        </p:nvSpPr>
        <p:spPr>
          <a:xfrm>
            <a:off x="11061192" y="9070848"/>
            <a:ext cx="2048256" cy="109728"/>
          </a:xfrm>
          <a:prstGeom prst="rect">
            <a:avLst/>
          </a:prstGeom>
        </p:spPr>
        <p:txBody>
          <a:bodyPr lIns="0" tIns="0" rIns="0" bIns="0" wrap="none">
            <a:noAutofit/>
          </a:bodyPr>
          <a:p>
            <a:pPr indent="0"/>
            <a:r>
              <a:rPr lang="en-US" sz="750" spc="200">
                <a:solidFill>
                  <a:srgbClr val="68686F"/>
                </a:solidFill>
                <a:latin typeface="Tahoma"/>
              </a:rPr>
              <a:t>17.1% OF TOTAL • ONE-TIME</a:t>
            </a:r>
          </a:p>
        </p:txBody>
      </p:sp>
      <p:sp>
        <p:nvSpPr>
          <p:cNvPr id="16" name=""/>
          <p:cNvSpPr/>
          <p:nvPr/>
        </p:nvSpPr>
        <p:spPr>
          <a:xfrm>
            <a:off x="14554200" y="1853184"/>
            <a:ext cx="2362200" cy="1197864"/>
          </a:xfrm>
          <a:prstGeom prst="rect">
            <a:avLst/>
          </a:prstGeom>
          <a:solidFill>
            <a:srgbClr val="F5EBE1"/>
          </a:solidFill>
        </p:spPr>
        <p:txBody>
          <a:bodyPr lIns="0" tIns="0" rIns="0" bIns="0">
            <a:noAutofit/>
          </a:bodyPr>
          <a:p>
            <a:pPr algn="just" indent="0">
              <a:spcAft>
                <a:spcPts val="420"/>
              </a:spcAft>
            </a:pPr>
            <a:r>
              <a:rPr lang="en-US" sz="1000" spc="150">
                <a:solidFill>
                  <a:srgbClr val="68686F"/>
                </a:solidFill>
                <a:latin typeface="Consolas"/>
              </a:rPr>
              <a:t>SCALE DISCOUNT</a:t>
            </a:r>
          </a:p>
          <a:p>
            <a:pPr indent="0">
              <a:spcAft>
                <a:spcPts val="1260"/>
              </a:spcAft>
            </a:pPr>
            <a:r>
              <a:rPr lang="en-US" sz="4100" spc="-100">
                <a:solidFill>
                  <a:srgbClr val="17181F"/>
                </a:solidFill>
                <a:latin typeface="Sylfaen"/>
              </a:rPr>
              <a:t>~10%</a:t>
            </a:r>
          </a:p>
          <a:p>
            <a:pPr algn="just" indent="0">
              <a:lnSpc>
                <a:spcPts val="1536"/>
              </a:lnSpc>
            </a:pPr>
            <a:r>
              <a:rPr lang="en-US" b="1" sz="900">
                <a:solidFill>
                  <a:srgbClr val="3C3D41"/>
                </a:solidFill>
                <a:latin typeface="Tahoma"/>
              </a:rPr>
              <a:t>Estimated bulk procurement savings at full statewide volume.</a:t>
            </a:r>
          </a:p>
        </p:txBody>
      </p:sp>
      <p:sp>
        <p:nvSpPr>
          <p:cNvPr id="17" name=""/>
          <p:cNvSpPr/>
          <p:nvPr/>
        </p:nvSpPr>
        <p:spPr>
          <a:xfrm>
            <a:off x="14334744" y="4511040"/>
            <a:ext cx="2648712" cy="1097280"/>
          </a:xfrm>
          <a:prstGeom prst="rect">
            <a:avLst/>
          </a:prstGeom>
        </p:spPr>
        <p:txBody>
          <a:bodyPr lIns="0" tIns="0" rIns="0" bIns="0">
            <a:noAutofit/>
          </a:bodyPr>
          <a:p>
            <a:pPr algn="just" indent="0">
              <a:spcAft>
                <a:spcPts val="1050"/>
              </a:spcAft>
            </a:pPr>
            <a:r>
              <a:rPr lang="en-US" sz="1000" spc="150">
                <a:solidFill>
                  <a:srgbClr val="78292E"/>
                </a:solidFill>
                <a:latin typeface="Consolas"/>
              </a:rPr>
              <a:t>E • M&amp;E + MANPOWER</a:t>
            </a:r>
          </a:p>
          <a:p>
            <a:pPr algn="just" indent="0">
              <a:spcAft>
                <a:spcPts val="1050"/>
              </a:spcAft>
            </a:pPr>
            <a:r>
              <a:rPr lang="en-US" b="1" cap="small" sz="1300" spc="100">
                <a:solidFill>
                  <a:srgbClr val="17181F"/>
                </a:solidFill>
                <a:latin typeface="Tahoma"/>
              </a:rPr>
              <a:t>?62.16</a:t>
            </a:r>
            <a:r>
              <a:rPr lang="en-US" b="1" cap="small" sz="1300" spc="100">
                <a:solidFill>
                  <a:srgbClr val="68686F"/>
                </a:solidFill>
                <a:latin typeface="Tahoma"/>
              </a:rPr>
              <a:t>l</a:t>
            </a:r>
          </a:p>
          <a:p>
            <a:pPr algn="just" indent="0">
              <a:lnSpc>
                <a:spcPts val="1512"/>
              </a:lnSpc>
            </a:pPr>
            <a:r>
              <a:rPr lang="en-US" b="1" sz="900">
                <a:solidFill>
                  <a:srgbClr val="3C3D41"/>
                </a:solidFill>
                <a:latin typeface="Tahoma"/>
              </a:rPr>
              <a:t>Field coordinators, M&amp;E officer, field visits &amp; reports.</a:t>
            </a:r>
          </a:p>
        </p:txBody>
      </p:sp>
      <p:sp>
        <p:nvSpPr>
          <p:cNvPr id="18" name=""/>
          <p:cNvSpPr/>
          <p:nvPr/>
        </p:nvSpPr>
        <p:spPr>
          <a:xfrm>
            <a:off x="14331696" y="9070848"/>
            <a:ext cx="1063752" cy="109728"/>
          </a:xfrm>
          <a:prstGeom prst="rect">
            <a:avLst/>
          </a:prstGeom>
        </p:spPr>
        <p:txBody>
          <a:bodyPr lIns="0" tIns="0" rIns="0" bIns="0" wrap="none">
            <a:noAutofit/>
          </a:bodyPr>
          <a:p>
            <a:pPr indent="0"/>
            <a:r>
              <a:rPr lang="en-US" sz="750" spc="200">
                <a:solidFill>
                  <a:srgbClr val="68686F"/>
                </a:solidFill>
                <a:latin typeface="Tahoma"/>
              </a:rPr>
              <a:t>7.7% OF TOTAL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"/>
          <p:cNvSpPr/>
          <p:nvPr/>
        </p:nvSpPr>
        <p:spPr>
          <a:xfrm>
            <a:off x="1027176" y="445008"/>
            <a:ext cx="2221992" cy="149352"/>
          </a:xfrm>
          <a:prstGeom prst="rect">
            <a:avLst/>
          </a:prstGeom>
          <a:solidFill>
            <a:srgbClr val="F5EBE1"/>
          </a:solidFill>
        </p:spPr>
        <p:txBody>
          <a:bodyPr lIns="0" tIns="0" rIns="0" bIns="0" wrap="none">
            <a:noAutofit/>
          </a:bodyPr>
          <a:p>
            <a:pPr indent="0"/>
            <a:r>
              <a:rPr lang="en-US" sz="1100" spc="300">
                <a:solidFill>
                  <a:srgbClr val="78292E"/>
                </a:solidFill>
                <a:latin typeface="Tahoma"/>
              </a:rPr>
              <a:t>• </a:t>
            </a:r>
            <a:r>
              <a:rPr lang="en-US" sz="1100" spc="300">
                <a:solidFill>
                  <a:srgbClr val="68686F"/>
                </a:solidFill>
                <a:latin typeface="Tahoma"/>
              </a:rPr>
              <a:t>STHREE SWABHIMAN</a:t>
            </a:r>
          </a:p>
        </p:txBody>
      </p:sp>
      <p:sp>
        <p:nvSpPr>
          <p:cNvPr id="3" name=""/>
          <p:cNvSpPr/>
          <p:nvPr/>
        </p:nvSpPr>
        <p:spPr>
          <a:xfrm>
            <a:off x="1057656" y="1002792"/>
            <a:ext cx="7744968" cy="1380744"/>
          </a:xfrm>
          <a:prstGeom prst="rect">
            <a:avLst/>
          </a:prstGeom>
          <a:solidFill>
            <a:srgbClr val="F5EBE1"/>
          </a:solidFill>
        </p:spPr>
        <p:txBody>
          <a:bodyPr lIns="0" tIns="0" rIns="0" bIns="0">
            <a:noAutofit/>
          </a:bodyPr>
          <a:p>
            <a:pPr algn="just" indent="0">
              <a:spcAft>
                <a:spcPts val="1470"/>
              </a:spcAft>
            </a:pPr>
            <a:r>
              <a:rPr lang="en-US" sz="1800" spc="450">
                <a:solidFill>
                  <a:srgbClr val="78292E"/>
                </a:solidFill>
                <a:latin typeface="Sylfaen"/>
              </a:rPr>
              <a:t>- DETAILED BUDGET BREAKDOWN</a:t>
            </a:r>
          </a:p>
          <a:p>
            <a:pPr indent="0">
              <a:lnSpc>
                <a:spcPts val="4104"/>
              </a:lnSpc>
              <a:spcAft>
                <a:spcPts val="2730"/>
              </a:spcAft>
            </a:pPr>
            <a:r>
              <a:rPr lang="en-US" sz="3900">
                <a:solidFill>
                  <a:srgbClr val="17181F"/>
                </a:solidFill>
                <a:latin typeface="Sylfaen"/>
              </a:rPr>
              <a:t>Every line item — verifiable through Schedule VII utilisation certificates.</a:t>
            </a:r>
          </a:p>
        </p:txBody>
      </p:sp>
      <p:graphicFrame>
        <p:nvGraphicFramePr>
          <p:cNvPr id="4" name=""/>
          <p:cNvGraphicFramePr>
            <a:graphicFrameLocks noGrp="1"/>
          </p:cNvGraphicFramePr>
          <p:nvPr/>
        </p:nvGraphicFramePr>
        <p:xfrm>
          <a:off x="1027176" y="2895600"/>
          <a:ext cx="7869936" cy="6763512"/>
        </p:xfrm>
        <a:graphic>
          <a:graphicData uri="http://schemas.openxmlformats.org/drawingml/2006/table">
            <a:tbl>
              <a:tblPr/>
              <a:tblGrid>
                <a:gridCol w="4130040"/>
                <a:gridCol w="2109216"/>
                <a:gridCol w="1630680"/>
              </a:tblGrid>
              <a:tr h="1027176">
                <a:tc>
                  <a:txBody>
                    <a:bodyPr lIns="0" tIns="0" rIns="0" bIns="0">
                      <a:noAutofit/>
                    </a:bodyPr>
                    <a:p>
                      <a:pPr indent="0">
                        <a:spcAft>
                          <a:spcPts val="420"/>
                        </a:spcAft>
                      </a:pPr>
                      <a:r>
                        <a:rPr lang="en-US" sz="1000" spc="150">
                          <a:solidFill>
                            <a:srgbClr val="78292E"/>
                          </a:solidFill>
                          <a:latin typeface="Consolas"/>
                        </a:rPr>
                        <a:t>COMPONENT A</a:t>
                      </a:r>
                    </a:p>
                    <a:p>
                      <a:pPr indent="0"/>
                      <a:r>
                        <a:rPr lang="en-US" sz="1900">
                          <a:latin typeface="Sylfaen"/>
                        </a:rPr>
                        <a:t>Awareness &amp; Capacity Building</a:t>
                      </a:r>
                    </a:p>
                  </a:txBody>
                  <a:tcPr marL="0" marR="0" marT="0" marB="0" anchor="ctr">
                    <a:solidFill>
                      <a:srgbClr val="F5EBE1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p>
                      <a:endParaRPr sz="4900"/>
                    </a:p>
                  </a:txBody>
                  <a:tcPr marL="0" marR="0" marT="0" marB="0">
                    <a:solidFill>
                      <a:srgbClr val="F5EBE1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p>
                      <a:pPr algn="r" indent="0"/>
                      <a:r>
                        <a:rPr lang="en-US" sz="1900">
                          <a:latin typeface="Sylfaen"/>
                        </a:rPr>
                        <a:t>^68,75,000</a:t>
                      </a:r>
                    </a:p>
                  </a:txBody>
                  <a:tcPr marL="0" marR="0" marT="0" marB="0" anchor="ctr">
                    <a:solidFill>
                      <a:srgbClr val="F5EBE1"/>
                    </a:solidFill>
                  </a:tcPr>
                </a:tc>
              </a:tr>
              <a:tr h="597408">
                <a:tc>
                  <a:txBody>
                    <a:bodyPr lIns="0" tIns="0" rIns="0" bIns="0">
                      <a:noAutofit/>
                    </a:bodyPr>
                    <a:p>
                      <a:pPr marL="203200" indent="0"/>
                      <a:r>
                        <a:rPr lang="en-US" b="1" sz="1200">
                          <a:solidFill>
                            <a:srgbClr val="3C3D41"/>
                          </a:solidFill>
                          <a:latin typeface="Tahoma"/>
                        </a:rPr>
                        <a:t>Facilitator costs</a:t>
                      </a:r>
                    </a:p>
                  </a:txBody>
                  <a:tcPr marL="0" marR="0" marT="0" marB="0" anchor="ctr">
                    <a:solidFill>
                      <a:srgbClr val="F5EBE1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p>
                      <a:pPr algn="r" marR="431800" indent="0"/>
                      <a:r>
                        <a:rPr lang="en-US" b="1" sz="1200">
                          <a:solidFill>
                            <a:srgbClr val="68686F"/>
                          </a:solidFill>
                          <a:latin typeface="Tahoma"/>
                        </a:rPr>
                        <a:t>f2,500 x 275</a:t>
                      </a:r>
                    </a:p>
                  </a:txBody>
                  <a:tcPr marL="0" marR="0" marT="0" marB="0" anchor="ctr">
                    <a:solidFill>
                      <a:srgbClr val="F5EBE1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p>
                      <a:pPr algn="r" marR="203200" indent="0"/>
                      <a:r>
                        <a:rPr lang="en-US" b="1" sz="1200">
                          <a:latin typeface="Tahoma"/>
                        </a:rPr>
                        <a:t>^25,00,000</a:t>
                      </a:r>
                    </a:p>
                  </a:txBody>
                  <a:tcPr marL="0" marR="0" marT="0" marB="0" anchor="ctr">
                    <a:solidFill>
                      <a:srgbClr val="F5EBE1"/>
                    </a:solidFill>
                  </a:tcPr>
                </a:tc>
              </a:tr>
              <a:tr h="609600">
                <a:tc>
                  <a:txBody>
                    <a:bodyPr lIns="0" tIns="0" rIns="0" bIns="0">
                      <a:noAutofit/>
                    </a:bodyPr>
                    <a:p>
                      <a:pPr marL="203200" indent="0"/>
                      <a:r>
                        <a:rPr lang="en-US" b="1" sz="1200">
                          <a:solidFill>
                            <a:srgbClr val="3C3D41"/>
                          </a:solidFill>
                          <a:latin typeface="Tahoma"/>
                        </a:rPr>
                        <a:t>Training of Trainers workshops</a:t>
                      </a:r>
                    </a:p>
                  </a:txBody>
                  <a:tcPr marL="0" marR="0" marT="0" marB="0" anchor="ctr">
                    <a:solidFill>
                      <a:srgbClr val="F5EBE1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p>
                      <a:pPr algn="r" marR="431800" indent="0"/>
                      <a:r>
                        <a:rPr lang="en-US" b="1" sz="1200">
                          <a:solidFill>
                            <a:srgbClr val="68686F"/>
                          </a:solidFill>
                          <a:latin typeface="Tahoma"/>
                        </a:rPr>
                        <a:t>Lump sum</a:t>
                      </a:r>
                    </a:p>
                  </a:txBody>
                  <a:tcPr marL="0" marR="0" marT="0" marB="0" anchor="ctr">
                    <a:solidFill>
                      <a:srgbClr val="F5EBE1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p>
                      <a:pPr algn="r" marR="203200" indent="0"/>
                      <a:r>
                        <a:rPr lang="en-US" b="1" sz="1200">
                          <a:latin typeface="Tahoma"/>
                        </a:rPr>
                        <a:t>^20,00,000</a:t>
                      </a:r>
                    </a:p>
                  </a:txBody>
                  <a:tcPr marL="0" marR="0" marT="0" marB="0" anchor="ctr">
                    <a:solidFill>
                      <a:srgbClr val="F5EBE1"/>
                    </a:solidFill>
                  </a:tcPr>
                </a:tc>
              </a:tr>
              <a:tr h="609600">
                <a:tc>
                  <a:txBody>
                    <a:bodyPr lIns="0" tIns="0" rIns="0" bIns="0">
                      <a:noAutofit/>
                    </a:bodyPr>
                    <a:p>
                      <a:pPr marL="203200" indent="0"/>
                      <a:r>
                        <a:rPr lang="en-US" b="1" sz="1200">
                          <a:solidFill>
                            <a:srgbClr val="3C3D41"/>
                          </a:solidFill>
                          <a:latin typeface="Tahoma"/>
                        </a:rPr>
                        <a:t>Peer mentor training materials</a:t>
                      </a:r>
                    </a:p>
                  </a:txBody>
                  <a:tcPr marL="0" marR="0" marT="0" marB="0" anchor="ctr">
                    <a:solidFill>
                      <a:srgbClr val="F5EBE1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p>
                      <a:pPr algn="r" marR="431800" indent="0"/>
                      <a:r>
                        <a:rPr lang="en-US" b="1" sz="1200">
                          <a:solidFill>
                            <a:srgbClr val="68686F"/>
                          </a:solidFill>
                          <a:latin typeface="Tahoma"/>
                        </a:rPr>
                        <a:t>Lump sum</a:t>
                      </a:r>
                    </a:p>
                  </a:txBody>
                  <a:tcPr marL="0" marR="0" marT="0" marB="0" anchor="ctr">
                    <a:solidFill>
                      <a:srgbClr val="F5EBE1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p>
                      <a:pPr algn="r" marR="203200" indent="0"/>
                      <a:r>
                        <a:rPr lang="en-US" b="1" sz="1200">
                          <a:latin typeface="Tahoma"/>
                        </a:rPr>
                        <a:t>?15,00,000</a:t>
                      </a:r>
                    </a:p>
                  </a:txBody>
                  <a:tcPr marL="0" marR="0" marT="0" marB="0" anchor="ctr">
                    <a:solidFill>
                      <a:srgbClr val="F5EBE1"/>
                    </a:solidFill>
                  </a:tcPr>
                </a:tc>
              </a:tr>
              <a:tr h="841248">
                <a:tc>
                  <a:txBody>
                    <a:bodyPr lIns="0" tIns="0" rIns="0" bIns="0">
                      <a:noAutofit/>
                    </a:bodyPr>
                    <a:p>
                      <a:pPr marL="203200" indent="0"/>
                      <a:r>
                        <a:rPr lang="en-US" b="1" sz="1200">
                          <a:solidFill>
                            <a:srgbClr val="3C3D41"/>
                          </a:solidFill>
                          <a:latin typeface="Tahoma"/>
                        </a:rPr>
                        <a:t>Logistics &amp; coordination</a:t>
                      </a:r>
                    </a:p>
                  </a:txBody>
                  <a:tcPr marL="0" marR="0" marT="0" marB="0" anchor="ctr">
                    <a:solidFill>
                      <a:srgbClr val="F5EBE1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p>
                      <a:pPr algn="r" marR="431800" indent="0"/>
                      <a:r>
                        <a:rPr lang="en-US" b="1" sz="1200">
                          <a:solidFill>
                            <a:srgbClr val="68686F"/>
                          </a:solidFill>
                          <a:latin typeface="Tahoma"/>
                        </a:rPr>
                        <a:t>Lump sum</a:t>
                      </a:r>
                    </a:p>
                  </a:txBody>
                  <a:tcPr marL="0" marR="0" marT="0" marB="0" anchor="ctr">
                    <a:solidFill>
                      <a:srgbClr val="F5EBE1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p>
                      <a:pPr algn="r" marR="203200" indent="0"/>
                      <a:r>
                        <a:rPr lang="en-US" b="1" sz="1200">
                          <a:latin typeface="Tahoma"/>
                        </a:rPr>
                        <a:t>?8,75,000</a:t>
                      </a:r>
                    </a:p>
                  </a:txBody>
                  <a:tcPr marL="0" marR="0" marT="0" marB="0" anchor="ctr">
                    <a:solidFill>
                      <a:srgbClr val="F5EBE1"/>
                    </a:solidFill>
                  </a:tcPr>
                </a:tc>
              </a:tr>
              <a:tr h="993648">
                <a:tc>
                  <a:txBody>
                    <a:bodyPr lIns="0" tIns="0" rIns="0" bIns="0">
                      <a:noAutofit/>
                    </a:bodyPr>
                    <a:p>
                      <a:pPr indent="0">
                        <a:spcAft>
                          <a:spcPts val="420"/>
                        </a:spcAft>
                      </a:pPr>
                      <a:r>
                        <a:rPr lang="en-US" sz="1000" spc="150">
                          <a:solidFill>
                            <a:srgbClr val="78292E"/>
                          </a:solidFill>
                          <a:latin typeface="Consolas"/>
                        </a:rPr>
                        <a:t>COMPONENT C</a:t>
                      </a:r>
                    </a:p>
                    <a:p>
                      <a:pPr indent="0"/>
                      <a:r>
                        <a:rPr lang="en-US" sz="1900">
                          <a:latin typeface="Sylfaen"/>
                        </a:rPr>
                        <a:t>IEC Materials</a:t>
                      </a:r>
                    </a:p>
                  </a:txBody>
                  <a:tcPr marL="0" marR="0" marT="0" marB="0" anchor="ctr">
                    <a:solidFill>
                      <a:srgbClr val="F5EBE1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p>
                      <a:endParaRPr sz="4700"/>
                    </a:p>
                  </a:txBody>
                  <a:tcPr marL="0" marR="0" marT="0" marB="0">
                    <a:solidFill>
                      <a:srgbClr val="F5EBE1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p>
                      <a:pPr algn="r" indent="0"/>
                      <a:r>
                        <a:rPr lang="en-US" sz="1900">
                          <a:latin typeface="Sylfaen"/>
                        </a:rPr>
                        <a:t>?8,25,000</a:t>
                      </a:r>
                    </a:p>
                  </a:txBody>
                  <a:tcPr marL="0" marR="0" marT="0" marB="0" anchor="ctr">
                    <a:solidFill>
                      <a:srgbClr val="F5EBE1"/>
                    </a:solidFill>
                  </a:tcPr>
                </a:tc>
              </a:tr>
              <a:tr h="621792">
                <a:tc>
                  <a:txBody>
                    <a:bodyPr lIns="0" tIns="0" rIns="0" bIns="0">
                      <a:noAutofit/>
                    </a:bodyPr>
                    <a:p>
                      <a:pPr marL="203200" indent="0"/>
                      <a:r>
                        <a:rPr lang="en-US" b="1" sz="1200">
                          <a:solidFill>
                            <a:srgbClr val="3C3D41"/>
                          </a:solidFill>
                          <a:latin typeface="Tahoma"/>
                        </a:rPr>
                        <a:t>Telugu flipbooks &amp; visual aids</a:t>
                      </a:r>
                    </a:p>
                  </a:txBody>
                  <a:tcPr marL="0" marR="0" marT="0" marB="0" anchor="ctr">
                    <a:solidFill>
                      <a:srgbClr val="F5EBE1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p>
                      <a:pPr marL="1016000" indent="0"/>
                      <a:r>
                        <a:rPr lang="en-US" b="1" sz="1200">
                          <a:solidFill>
                            <a:srgbClr val="68686F"/>
                          </a:solidFill>
                          <a:latin typeface="Tahoma"/>
                        </a:rPr>
                        <a:t>Lump sum</a:t>
                      </a:r>
                    </a:p>
                  </a:txBody>
                  <a:tcPr marL="0" marR="0" marT="0" marB="0" anchor="ctr">
                    <a:solidFill>
                      <a:srgbClr val="F5EBE1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p>
                      <a:pPr algn="r" marR="203200" indent="0"/>
                      <a:r>
                        <a:rPr lang="en-US" b="1" sz="1200">
                          <a:latin typeface="Tahoma"/>
                        </a:rPr>
                        <a:t>^4,12,500</a:t>
                      </a:r>
                    </a:p>
                  </a:txBody>
                  <a:tcPr marL="0" marR="0" marT="0" marB="0" anchor="ctr">
                    <a:solidFill>
                      <a:srgbClr val="F5EBE1"/>
                    </a:solidFill>
                  </a:tcPr>
                </a:tc>
              </a:tr>
              <a:tr h="609600">
                <a:tc>
                  <a:txBody>
                    <a:bodyPr lIns="0" tIns="0" rIns="0" bIns="0">
                      <a:noAutofit/>
                    </a:bodyPr>
                    <a:p>
                      <a:pPr marL="203200" indent="0"/>
                      <a:r>
                        <a:rPr lang="en-US" b="1" sz="1200">
                          <a:solidFill>
                            <a:srgbClr val="3C3D41"/>
                          </a:solidFill>
                          <a:latin typeface="Tahoma"/>
                        </a:rPr>
                        <a:t>Wall charts and posters</a:t>
                      </a:r>
                    </a:p>
                  </a:txBody>
                  <a:tcPr marL="0" marR="0" marT="0" marB="0" anchor="ctr">
                    <a:solidFill>
                      <a:srgbClr val="F5EBE1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p>
                      <a:pPr marL="1016000" indent="0"/>
                      <a:r>
                        <a:rPr lang="en-US" b="1" sz="1200">
                          <a:solidFill>
                            <a:srgbClr val="68686F"/>
                          </a:solidFill>
                          <a:latin typeface="Tahoma"/>
                        </a:rPr>
                        <a:t>Lump sum</a:t>
                      </a:r>
                    </a:p>
                  </a:txBody>
                  <a:tcPr marL="0" marR="0" marT="0" marB="0" anchor="ctr">
                    <a:solidFill>
                      <a:srgbClr val="F5EBE1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p>
                      <a:pPr algn="r" marR="203200" indent="0"/>
                      <a:r>
                        <a:rPr lang="en-US" b="1" sz="1200">
                          <a:latin typeface="Tahoma"/>
                        </a:rPr>
                        <a:t>?2,75,000</a:t>
                      </a:r>
                    </a:p>
                  </a:txBody>
                  <a:tcPr marL="0" marR="0" marT="0" marB="0" anchor="ctr">
                    <a:solidFill>
                      <a:srgbClr val="F5EBE1"/>
                    </a:solidFill>
                  </a:tcPr>
                </a:tc>
              </a:tr>
              <a:tr h="853440">
                <a:tc>
                  <a:txBody>
                    <a:bodyPr lIns="0" tIns="0" rIns="0" bIns="0">
                      <a:noAutofit/>
                    </a:bodyPr>
                    <a:p>
                      <a:pPr marL="203200" indent="0"/>
                      <a:r>
                        <a:rPr lang="en-US" b="1" sz="1200">
                          <a:solidFill>
                            <a:srgbClr val="3C3D41"/>
                          </a:solidFill>
                          <a:latin typeface="Tahoma"/>
                        </a:rPr>
                        <a:t>Lamination &amp; durability treatment</a:t>
                      </a:r>
                    </a:p>
                  </a:txBody>
                  <a:tcPr marL="0" marR="0" marT="0" marB="0" anchor="ctr">
                    <a:solidFill>
                      <a:srgbClr val="F5EBE1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p>
                      <a:pPr marL="1016000" indent="0"/>
                      <a:r>
                        <a:rPr lang="en-US" b="1" sz="1200">
                          <a:solidFill>
                            <a:srgbClr val="68686F"/>
                          </a:solidFill>
                          <a:latin typeface="Tahoma"/>
                        </a:rPr>
                        <a:t>Lump sum</a:t>
                      </a:r>
                    </a:p>
                  </a:txBody>
                  <a:tcPr marL="0" marR="0" marT="0" marB="0" anchor="ctr">
                    <a:solidFill>
                      <a:srgbClr val="F5EBE1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p>
                      <a:pPr algn="r" marR="203200" indent="0"/>
                      <a:r>
                        <a:rPr lang="en-US" b="1" sz="1200">
                          <a:latin typeface="Tahoma"/>
                        </a:rPr>
                        <a:t>?1,37,500</a:t>
                      </a:r>
                    </a:p>
                  </a:txBody>
                  <a:tcPr marL="0" marR="0" marT="0" marB="0" anchor="ctr">
                    <a:solidFill>
                      <a:srgbClr val="F5EBE1"/>
                    </a:solidFill>
                  </a:tcPr>
                </a:tc>
              </a:tr>
            </a:tbl>
          </a:graphicData>
        </a:graphic>
      </p:graphicFrame>
      <p:sp>
        <p:nvSpPr>
          <p:cNvPr id="5" name=""/>
          <p:cNvSpPr/>
          <p:nvPr/>
        </p:nvSpPr>
        <p:spPr>
          <a:xfrm>
            <a:off x="7562088" y="9887712"/>
            <a:ext cx="1322832" cy="283464"/>
          </a:xfrm>
          <a:prstGeom prst="rect">
            <a:avLst/>
          </a:prstGeom>
          <a:solidFill>
            <a:srgbClr val="F5EBE1"/>
          </a:solidFill>
        </p:spPr>
        <p:txBody>
          <a:bodyPr lIns="0" tIns="0" rIns="0" bIns="0" wrap="none">
            <a:noAutofit/>
          </a:bodyPr>
          <a:p>
            <a:pPr indent="0"/>
            <a:r>
              <a:rPr lang="en-US" sz="1100" spc="50">
                <a:latin typeface="Tahoma"/>
              </a:rPr>
              <a:t>^62,16,000</a:t>
            </a:r>
          </a:p>
        </p:txBody>
      </p:sp>
      <p:sp>
        <p:nvSpPr>
          <p:cNvPr id="6" name=""/>
          <p:cNvSpPr/>
          <p:nvPr/>
        </p:nvSpPr>
        <p:spPr>
          <a:xfrm>
            <a:off x="1039368" y="9997440"/>
            <a:ext cx="1002792" cy="118872"/>
          </a:xfrm>
          <a:prstGeom prst="rect">
            <a:avLst/>
          </a:prstGeom>
          <a:solidFill>
            <a:srgbClr val="F5EBE1"/>
          </a:solidFill>
        </p:spPr>
        <p:txBody>
          <a:bodyPr lIns="0" tIns="0" rIns="0" bIns="0" wrap="none">
            <a:noAutofit/>
          </a:bodyPr>
          <a:p>
            <a:pPr indent="0"/>
            <a:r>
              <a:rPr lang="en-US" sz="850" spc="200">
                <a:solidFill>
                  <a:srgbClr val="78292E"/>
                </a:solidFill>
                <a:latin typeface="Tahoma"/>
              </a:rPr>
              <a:t>COMPONENT 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"/>
          <p:cNvSpPr/>
          <p:nvPr/>
        </p:nvSpPr>
        <p:spPr>
          <a:xfrm>
            <a:off x="5711952" y="445008"/>
            <a:ext cx="2374392" cy="149352"/>
          </a:xfrm>
          <a:prstGeom prst="rect">
            <a:avLst/>
          </a:prstGeom>
          <a:solidFill>
            <a:srgbClr val="F5EBE1"/>
          </a:solidFill>
        </p:spPr>
        <p:txBody>
          <a:bodyPr lIns="0" tIns="0" rIns="0" bIns="0" wrap="none">
            <a:noAutofit/>
          </a:bodyPr>
          <a:p>
            <a:pPr algn="just" indent="0"/>
            <a:r>
              <a:rPr lang="en-US" sz="1100" spc="300">
                <a:solidFill>
                  <a:srgbClr val="68686F"/>
                </a:solidFill>
                <a:latin typeface="Tahoma"/>
              </a:rPr>
              <a:t>14</a:t>
            </a:r>
            <a:r>
              <a:rPr lang="en-US" sz="1100" spc="300">
                <a:solidFill>
                  <a:srgbClr val="68686F"/>
                </a:solidFill>
                <a:latin typeface="Tahoma"/>
              </a:rPr>
              <a:t>    • DETAILED BUDGET</a:t>
            </a:r>
          </a:p>
        </p:txBody>
      </p:sp>
      <p:graphicFrame>
        <p:nvGraphicFramePr>
          <p:cNvPr id="3" name=""/>
          <p:cNvGraphicFramePr>
            <a:graphicFrameLocks noGrp="1"/>
          </p:cNvGraphicFramePr>
          <p:nvPr/>
        </p:nvGraphicFramePr>
        <p:xfrm>
          <a:off x="249936" y="2895600"/>
          <a:ext cx="7869936" cy="5916168"/>
        </p:xfrm>
        <a:graphic>
          <a:graphicData uri="http://schemas.openxmlformats.org/drawingml/2006/table">
            <a:tbl>
              <a:tblPr/>
              <a:tblGrid>
                <a:gridCol w="3663696"/>
                <a:gridCol w="2350008"/>
                <a:gridCol w="1856232"/>
              </a:tblGrid>
              <a:tr h="1027176">
                <a:tc>
                  <a:txBody>
                    <a:bodyPr lIns="0" tIns="0" rIns="0" bIns="0">
                      <a:noAutofit/>
                    </a:bodyPr>
                    <a:p>
                      <a:pPr indent="0">
                        <a:spcAft>
                          <a:spcPts val="420"/>
                        </a:spcAft>
                      </a:pPr>
                      <a:r>
                        <a:rPr lang="en-US" sz="1000" spc="150">
                          <a:solidFill>
                            <a:srgbClr val="78292E"/>
                          </a:solidFill>
                          <a:latin typeface="Consolas"/>
                        </a:rPr>
                        <a:t>COMPONENT B</a:t>
                      </a:r>
                    </a:p>
                    <a:p>
                      <a:pPr indent="0"/>
                      <a:r>
                        <a:rPr lang="en-US" sz="1900">
                          <a:latin typeface="Sylfaen"/>
                        </a:rPr>
                        <a:t>Sanitary Napkin Starter Kits</a:t>
                      </a:r>
                    </a:p>
                  </a:txBody>
                  <a:tcPr marL="0" marR="0" marT="0" marB="0" anchor="ctr">
                    <a:solidFill>
                      <a:srgbClr val="F5EBE1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p>
                      <a:endParaRPr sz="4900"/>
                    </a:p>
                  </a:txBody>
                  <a:tcPr marL="0" marR="0" marT="0" marB="0">
                    <a:solidFill>
                      <a:srgbClr val="F5EBE1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p>
                      <a:pPr marL="317500" indent="0"/>
                      <a:r>
                        <a:rPr lang="en-US" sz="1900">
                          <a:latin typeface="Sylfaen"/>
                        </a:rPr>
                        <a:t>?5,28,00,000</a:t>
                      </a:r>
                    </a:p>
                  </a:txBody>
                  <a:tcPr marL="0" marR="0" marT="0" marB="0" anchor="ctr">
                    <a:solidFill>
                      <a:srgbClr val="F5EBE1"/>
                    </a:solidFill>
                  </a:tcPr>
                </a:tc>
              </a:tr>
              <a:tr h="597408">
                <a:tc>
                  <a:txBody>
                    <a:bodyPr lIns="0" tIns="0" rIns="0" bIns="0">
                      <a:noAutofit/>
                    </a:bodyPr>
                    <a:p>
                      <a:pPr marL="203200" indent="0"/>
                      <a:r>
                        <a:rPr lang="en-US" b="1" sz="1200">
                          <a:solidFill>
                            <a:srgbClr val="3C3D41"/>
                          </a:solidFill>
                          <a:latin typeface="Tahoma"/>
                        </a:rPr>
                        <a:t>Sanitary napkins</a:t>
                      </a:r>
                    </a:p>
                  </a:txBody>
                  <a:tcPr marL="0" marR="0" marT="0" marB="0" anchor="ctr">
                    <a:solidFill>
                      <a:srgbClr val="F5EBE1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p>
                      <a:pPr algn="r" marR="406400" indent="0"/>
                      <a:r>
                        <a:rPr lang="en-US" b="1" sz="1200">
                          <a:solidFill>
                            <a:srgbClr val="68686F"/>
                          </a:solidFill>
                          <a:latin typeface="Tahoma"/>
                        </a:rPr>
                        <a:t>88,000 x 12 x f45</a:t>
                      </a:r>
                    </a:p>
                  </a:txBody>
                  <a:tcPr marL="0" marR="0" marT="0" marB="0" anchor="ctr">
                    <a:solidFill>
                      <a:srgbClr val="F5EBE1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p>
                      <a:pPr algn="r" marR="203200" indent="0"/>
                      <a:r>
                        <a:rPr lang="en-US" b="1" sz="1200">
                          <a:latin typeface="Tahoma"/>
                        </a:rPr>
                        <a:t>?4,75,20,000</a:t>
                      </a:r>
                    </a:p>
                  </a:txBody>
                  <a:tcPr marL="0" marR="0" marT="0" marB="0" anchor="ctr">
                    <a:solidFill>
                      <a:srgbClr val="F5EBE1"/>
                    </a:solidFill>
                  </a:tcPr>
                </a:tc>
              </a:tr>
              <a:tr h="609600">
                <a:tc>
                  <a:txBody>
                    <a:bodyPr lIns="0" tIns="0" rIns="0" bIns="0">
                      <a:noAutofit/>
                    </a:bodyPr>
                    <a:p>
                      <a:pPr marL="203200" indent="0"/>
                      <a:r>
                        <a:rPr lang="en-US" b="1" sz="1200">
                          <a:solidFill>
                            <a:srgbClr val="3C3D41"/>
                          </a:solidFill>
                          <a:latin typeface="Tahoma"/>
                        </a:rPr>
                        <a:t>Packaging &amp; user guides</a:t>
                      </a:r>
                    </a:p>
                  </a:txBody>
                  <a:tcPr marL="0" marR="0" marT="0" marB="0" anchor="ctr">
                    <a:solidFill>
                      <a:srgbClr val="F5EBE1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p>
                      <a:pPr algn="r" marR="406400" indent="0"/>
                      <a:r>
                        <a:rPr lang="en-US" b="1" sz="1200">
                          <a:solidFill>
                            <a:srgbClr val="68686F"/>
                          </a:solidFill>
                          <a:latin typeface="Tahoma"/>
                        </a:rPr>
                        <a:t>Lump sum</a:t>
                      </a:r>
                    </a:p>
                  </a:txBody>
                  <a:tcPr marL="0" marR="0" marT="0" marB="0" anchor="ctr">
                    <a:solidFill>
                      <a:srgbClr val="F5EBE1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p>
                      <a:pPr algn="r" marR="203200" indent="0"/>
                      <a:r>
                        <a:rPr lang="en-US" b="1" sz="1200">
                          <a:latin typeface="Tahoma"/>
                        </a:rPr>
                        <a:t>?22,00,000</a:t>
                      </a:r>
                    </a:p>
                  </a:txBody>
                  <a:tcPr marL="0" marR="0" marT="0" marB="0" anchor="ctr">
                    <a:solidFill>
                      <a:srgbClr val="F5EBE1"/>
                    </a:solidFill>
                  </a:tcPr>
                </a:tc>
              </a:tr>
              <a:tr h="841248">
                <a:tc>
                  <a:txBody>
                    <a:bodyPr lIns="0" tIns="0" rIns="0" bIns="0">
                      <a:noAutofit/>
                    </a:bodyPr>
                    <a:p>
                      <a:pPr marL="203200" indent="0"/>
                      <a:r>
                        <a:rPr lang="en-US" b="1" sz="1200">
                          <a:solidFill>
                            <a:srgbClr val="3C3D41"/>
                          </a:solidFill>
                          <a:latin typeface="Tahoma"/>
                        </a:rPr>
                        <a:t>Logistics &amp; distribution</a:t>
                      </a:r>
                    </a:p>
                  </a:txBody>
                  <a:tcPr marL="0" marR="0" marT="0" marB="0" anchor="ctr">
                    <a:solidFill>
                      <a:srgbClr val="F5EBE1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p>
                      <a:pPr algn="r" marR="406400" indent="0"/>
                      <a:r>
                        <a:rPr lang="en-US" b="1" sz="1200">
                          <a:solidFill>
                            <a:srgbClr val="68686F"/>
                          </a:solidFill>
                          <a:latin typeface="Tahoma"/>
                        </a:rPr>
                        <a:t>Lump sum</a:t>
                      </a:r>
                    </a:p>
                  </a:txBody>
                  <a:tcPr marL="0" marR="0" marT="0" marB="0" anchor="ctr">
                    <a:solidFill>
                      <a:srgbClr val="F5EBE1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p>
                      <a:pPr algn="r" marR="203200" indent="0"/>
                      <a:r>
                        <a:rPr lang="en-US" b="1" sz="1200">
                          <a:latin typeface="Tahoma"/>
                        </a:rPr>
                        <a:t>?30,80,000</a:t>
                      </a:r>
                    </a:p>
                  </a:txBody>
                  <a:tcPr marL="0" marR="0" marT="0" marB="0" anchor="ctr">
                    <a:solidFill>
                      <a:srgbClr val="F5EBE1"/>
                    </a:solidFill>
                  </a:tcPr>
                </a:tc>
              </a:tr>
              <a:tr h="999744">
                <a:tc>
                  <a:txBody>
                    <a:bodyPr lIns="0" tIns="0" rIns="0" bIns="0">
                      <a:noAutofit/>
                    </a:bodyPr>
                    <a:p>
                      <a:pPr indent="0">
                        <a:spcAft>
                          <a:spcPts val="420"/>
                        </a:spcAft>
                      </a:pPr>
                      <a:r>
                        <a:rPr lang="en-US" sz="1000" spc="150">
                          <a:solidFill>
                            <a:srgbClr val="78292E"/>
                          </a:solidFill>
                          <a:latin typeface="Consolas"/>
                        </a:rPr>
                        <a:t>COMPONENT D ■ ONE-TIME CAPITAL</a:t>
                      </a:r>
                    </a:p>
                    <a:p>
                      <a:pPr indent="0"/>
                      <a:r>
                        <a:rPr lang="en-US" sz="1900">
                          <a:latin typeface="Sylfaen"/>
                        </a:rPr>
                        <a:t>Incinerators (550 units)</a:t>
                      </a:r>
                    </a:p>
                  </a:txBody>
                  <a:tcPr marL="0" marR="0" marT="0" marB="0" anchor="ctr">
                    <a:solidFill>
                      <a:srgbClr val="F5EBE1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p>
                      <a:endParaRPr sz="4800"/>
                    </a:p>
                  </a:txBody>
                  <a:tcPr marL="0" marR="0" marT="0" marB="0">
                    <a:solidFill>
                      <a:srgbClr val="F5EBE1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p>
                      <a:pPr marL="317500" indent="0"/>
                      <a:r>
                        <a:rPr lang="en-US" i="1" sz="1700" spc="150">
                          <a:latin typeface="Tahoma"/>
                        </a:rPr>
                        <a:t>U,</a:t>
                      </a:r>
                      <a:r>
                        <a:rPr lang="en-US" sz="1900">
                          <a:latin typeface="Sylfaen"/>
                        </a:rPr>
                        <a:t>37,50,000</a:t>
                      </a:r>
                    </a:p>
                  </a:txBody>
                  <a:tcPr marL="0" marR="0" marT="0" marB="0" anchor="ctr">
                    <a:solidFill>
                      <a:srgbClr val="F5EBE1"/>
                    </a:solidFill>
                  </a:tcPr>
                </a:tc>
              </a:tr>
              <a:tr h="615696">
                <a:tc>
                  <a:txBody>
                    <a:bodyPr lIns="0" tIns="0" rIns="0" bIns="0">
                      <a:noAutofit/>
                    </a:bodyPr>
                    <a:p>
                      <a:pPr marL="203200" indent="0"/>
                      <a:r>
                        <a:rPr lang="en-US" b="1" sz="1200">
                          <a:solidFill>
                            <a:srgbClr val="3C3D41"/>
                          </a:solidFill>
                          <a:latin typeface="Tahoma"/>
                        </a:rPr>
                        <a:t>Incinerator units</a:t>
                      </a:r>
                    </a:p>
                  </a:txBody>
                  <a:tcPr marL="0" marR="0" marT="0" marB="0" anchor="ctr">
                    <a:solidFill>
                      <a:srgbClr val="F5EBE1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p>
                      <a:pPr algn="r" marR="317500" indent="0"/>
                      <a:r>
                        <a:rPr lang="en-US" b="1" sz="1200">
                          <a:solidFill>
                            <a:srgbClr val="68686F"/>
                          </a:solidFill>
                          <a:latin typeface="Tahoma"/>
                        </a:rPr>
                        <a:t>550 x f20,000</a:t>
                      </a:r>
                    </a:p>
                  </a:txBody>
                  <a:tcPr marL="0" marR="0" marT="0" marB="0" anchor="ctr">
                    <a:solidFill>
                      <a:srgbClr val="F5EBE1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p>
                      <a:pPr algn="r" marR="203200" indent="0"/>
                      <a:r>
                        <a:rPr lang="en-US" b="1" sz="1200">
                          <a:latin typeface="Tahoma"/>
                        </a:rPr>
                        <a:t>?1,10,00,000</a:t>
                      </a:r>
                    </a:p>
                  </a:txBody>
                  <a:tcPr marL="0" marR="0" marT="0" marB="0" anchor="ctr">
                    <a:solidFill>
                      <a:srgbClr val="F5EBE1"/>
                    </a:solidFill>
                  </a:tcPr>
                </a:tc>
              </a:tr>
              <a:tr h="609600">
                <a:tc>
                  <a:txBody>
                    <a:bodyPr lIns="0" tIns="0" rIns="0" bIns="0">
                      <a:noAutofit/>
                    </a:bodyPr>
                    <a:p>
                      <a:pPr marL="203200" indent="0"/>
                      <a:r>
                        <a:rPr lang="en-US" b="1" sz="1200">
                          <a:solidFill>
                            <a:srgbClr val="3C3D41"/>
                          </a:solidFill>
                          <a:latin typeface="Tahoma"/>
                        </a:rPr>
                        <a:t>Installation &amp; electrical</a:t>
                      </a:r>
                    </a:p>
                  </a:txBody>
                  <a:tcPr marL="0" marR="0" marT="0" marB="0" anchor="ctr">
                    <a:solidFill>
                      <a:srgbClr val="F5EBE1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p>
                      <a:pPr algn="r" marR="317500" indent="0"/>
                      <a:r>
                        <a:rPr lang="en-US" b="1" sz="1200">
                          <a:solidFill>
                            <a:srgbClr val="68686F"/>
                          </a:solidFill>
                          <a:latin typeface="Tahoma"/>
                        </a:rPr>
                        <a:t>f6,000 x 275</a:t>
                      </a:r>
                    </a:p>
                  </a:txBody>
                  <a:tcPr marL="0" marR="0" marT="0" marB="0" anchor="ctr">
                    <a:solidFill>
                      <a:srgbClr val="F5EBE1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p>
                      <a:pPr algn="r" marR="203200" indent="0"/>
                      <a:r>
                        <a:rPr lang="en-US" b="1" sz="1200">
                          <a:latin typeface="Tahoma"/>
                        </a:rPr>
                        <a:t>?16,50,000</a:t>
                      </a:r>
                    </a:p>
                  </a:txBody>
                  <a:tcPr marL="0" marR="0" marT="0" marB="0" anchor="ctr">
                    <a:solidFill>
                      <a:srgbClr val="F5EBE1"/>
                    </a:solidFill>
                  </a:tcPr>
                </a:tc>
              </a:tr>
              <a:tr h="615696">
                <a:tc>
                  <a:txBody>
                    <a:bodyPr lIns="0" tIns="0" rIns="0" bIns="0">
                      <a:noAutofit/>
                    </a:bodyPr>
                    <a:p>
                      <a:pPr marL="203200" indent="0"/>
                      <a:r>
                        <a:rPr lang="en-US" b="1" sz="1200">
                          <a:solidFill>
                            <a:srgbClr val="3C3D41"/>
                          </a:solidFill>
                          <a:latin typeface="Tahoma"/>
                        </a:rPr>
                        <a:t>First-year maintenance</a:t>
                      </a:r>
                    </a:p>
                  </a:txBody>
                  <a:tcPr marL="0" marR="0" marT="0" marB="0" anchor="ctr">
                    <a:solidFill>
                      <a:srgbClr val="F5EBE1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p>
                      <a:pPr algn="r" marR="317500" indent="0"/>
                      <a:r>
                        <a:rPr lang="en-US" b="1" sz="1200">
                          <a:solidFill>
                            <a:srgbClr val="68686F"/>
                          </a:solidFill>
                          <a:latin typeface="Tahoma"/>
                        </a:rPr>
                        <a:t>275 institutions</a:t>
                      </a:r>
                    </a:p>
                  </a:txBody>
                  <a:tcPr marL="0" marR="0" marT="0" marB="0" anchor="ctr">
                    <a:solidFill>
                      <a:srgbClr val="F5EBE1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p>
                      <a:pPr algn="r" marR="203200" indent="0"/>
                      <a:r>
                        <a:rPr lang="en-US" b="1" sz="1200">
                          <a:latin typeface="Tahoma"/>
                        </a:rPr>
                        <a:t>^8,25,000</a:t>
                      </a:r>
                    </a:p>
                  </a:txBody>
                  <a:tcPr marL="0" marR="0" marT="0" marB="0" anchor="ctr">
                    <a:solidFill>
                      <a:srgbClr val="F5EBE1"/>
                    </a:solidFill>
                  </a:tcPr>
                </a:tc>
              </a:tr>
            </a:tbl>
          </a:graphicData>
        </a:graphic>
      </p:graphicFrame>
      <p:sp>
        <p:nvSpPr>
          <p:cNvPr id="4" name=""/>
          <p:cNvSpPr/>
          <p:nvPr/>
        </p:nvSpPr>
        <p:spPr>
          <a:xfrm>
            <a:off x="426720" y="9025128"/>
            <a:ext cx="2356104" cy="201168"/>
          </a:xfrm>
          <a:prstGeom prst="rect">
            <a:avLst/>
          </a:prstGeom>
          <a:solidFill>
            <a:srgbClr val="F5EBE1"/>
          </a:solidFill>
        </p:spPr>
        <p:txBody>
          <a:bodyPr lIns="0" tIns="0" rIns="0" bIns="0" wrap="none">
            <a:noAutofit/>
          </a:bodyPr>
          <a:p>
            <a:pPr indent="0"/>
            <a:r>
              <a:rPr lang="en-US" b="1" sz="1200">
                <a:solidFill>
                  <a:srgbClr val="3C3D41"/>
                </a:solidFill>
                <a:latin typeface="Tahoma"/>
              </a:rPr>
              <a:t>Training on op. &amp; maintenance</a:t>
            </a:r>
          </a:p>
        </p:txBody>
      </p:sp>
      <p:sp>
        <p:nvSpPr>
          <p:cNvPr id="5" name=""/>
          <p:cNvSpPr/>
          <p:nvPr/>
        </p:nvSpPr>
        <p:spPr>
          <a:xfrm>
            <a:off x="5148072" y="9031224"/>
            <a:ext cx="810768" cy="195072"/>
          </a:xfrm>
          <a:prstGeom prst="rect">
            <a:avLst/>
          </a:prstGeom>
          <a:solidFill>
            <a:srgbClr val="F5EBE1"/>
          </a:solidFill>
        </p:spPr>
        <p:txBody>
          <a:bodyPr lIns="0" tIns="0" rIns="0" bIns="0" wrap="none">
            <a:noAutofit/>
          </a:bodyPr>
          <a:p>
            <a:pPr indent="0"/>
            <a:r>
              <a:rPr lang="en-US" b="1" sz="1200">
                <a:solidFill>
                  <a:srgbClr val="68686F"/>
                </a:solidFill>
                <a:latin typeface="Tahoma"/>
              </a:rPr>
              <a:t>Lump sum</a:t>
            </a:r>
          </a:p>
        </p:txBody>
      </p:sp>
      <p:sp>
        <p:nvSpPr>
          <p:cNvPr id="6" name=""/>
          <p:cNvSpPr/>
          <p:nvPr/>
        </p:nvSpPr>
        <p:spPr>
          <a:xfrm>
            <a:off x="7092696" y="9031224"/>
            <a:ext cx="847344" cy="185928"/>
          </a:xfrm>
          <a:prstGeom prst="rect">
            <a:avLst/>
          </a:prstGeom>
          <a:solidFill>
            <a:srgbClr val="F5EBE1"/>
          </a:solidFill>
        </p:spPr>
        <p:txBody>
          <a:bodyPr lIns="0" tIns="0" rIns="0" bIns="0" wrap="none">
            <a:noAutofit/>
          </a:bodyPr>
          <a:p>
            <a:pPr indent="0"/>
            <a:r>
              <a:rPr lang="en-US" b="1" sz="1200">
                <a:latin typeface="Tahoma"/>
              </a:rPr>
              <a:t>?2,75,000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"/>
          <p:cNvSpPr/>
          <p:nvPr/>
        </p:nvSpPr>
        <p:spPr>
          <a:xfrm>
            <a:off x="1027176" y="445008"/>
            <a:ext cx="2221992" cy="149352"/>
          </a:xfrm>
          <a:prstGeom prst="rect">
            <a:avLst/>
          </a:prstGeom>
          <a:solidFill>
            <a:srgbClr val="F5EBE1"/>
          </a:solidFill>
        </p:spPr>
        <p:txBody>
          <a:bodyPr lIns="0" tIns="0" rIns="0" bIns="0" wrap="none">
            <a:noAutofit/>
          </a:bodyPr>
          <a:p>
            <a:pPr indent="0"/>
            <a:r>
              <a:rPr lang="en-US" sz="1100" spc="300">
                <a:solidFill>
                  <a:srgbClr val="78292E"/>
                </a:solidFill>
                <a:latin typeface="Tahoma"/>
              </a:rPr>
              <a:t>• </a:t>
            </a:r>
            <a:r>
              <a:rPr lang="en-US" sz="1100" spc="300">
                <a:solidFill>
                  <a:srgbClr val="68686F"/>
                </a:solidFill>
                <a:latin typeface="Tahoma"/>
              </a:rPr>
              <a:t>STHREE SWABHIMAN</a:t>
            </a:r>
          </a:p>
        </p:txBody>
      </p:sp>
      <p:sp>
        <p:nvSpPr>
          <p:cNvPr id="3" name=""/>
          <p:cNvSpPr/>
          <p:nvPr/>
        </p:nvSpPr>
        <p:spPr>
          <a:xfrm>
            <a:off x="14734032" y="445008"/>
            <a:ext cx="2487168" cy="149352"/>
          </a:xfrm>
          <a:prstGeom prst="rect">
            <a:avLst/>
          </a:prstGeom>
          <a:solidFill>
            <a:srgbClr val="F5EBE1"/>
          </a:solidFill>
        </p:spPr>
        <p:txBody>
          <a:bodyPr lIns="0" tIns="0" rIns="0" bIns="0" wrap="none">
            <a:noAutofit/>
          </a:bodyPr>
          <a:p>
            <a:pPr algn="just" indent="0"/>
            <a:r>
              <a:rPr lang="en-US" sz="1100" spc="300">
                <a:solidFill>
                  <a:srgbClr val="68686F"/>
                </a:solidFill>
                <a:latin typeface="Tahoma"/>
              </a:rPr>
              <a:t>15    • FOR CSR PARTNERS</a:t>
            </a:r>
          </a:p>
        </p:txBody>
      </p:sp>
      <p:sp>
        <p:nvSpPr>
          <p:cNvPr id="4" name=""/>
          <p:cNvSpPr/>
          <p:nvPr/>
        </p:nvSpPr>
        <p:spPr>
          <a:xfrm>
            <a:off x="1048512" y="1002792"/>
            <a:ext cx="10104120" cy="1728216"/>
          </a:xfrm>
          <a:prstGeom prst="rect">
            <a:avLst/>
          </a:prstGeom>
          <a:solidFill>
            <a:srgbClr val="F5EBE1"/>
          </a:solidFill>
        </p:spPr>
        <p:txBody>
          <a:bodyPr lIns="0" tIns="0" rIns="0" bIns="0">
            <a:noAutofit/>
          </a:bodyPr>
          <a:p>
            <a:pPr algn="just" indent="0">
              <a:spcAft>
                <a:spcPts val="1470"/>
              </a:spcAft>
            </a:pPr>
            <a:r>
              <a:rPr lang="en-US" sz="1800" spc="450">
                <a:solidFill>
                  <a:srgbClr val="78292E"/>
                </a:solidFill>
                <a:latin typeface="Sylfaen"/>
              </a:rPr>
              <a:t>- WHAT CSR PARTNERS RECEIVE</a:t>
            </a:r>
          </a:p>
          <a:p>
            <a:pPr indent="0">
              <a:lnSpc>
                <a:spcPts val="4992"/>
              </a:lnSpc>
            </a:pPr>
            <a:r>
              <a:rPr lang="en-US" b="1" sz="4800">
                <a:solidFill>
                  <a:srgbClr val="17181F"/>
                </a:solidFill>
                <a:latin typeface="Sylfaen"/>
              </a:rPr>
              <a:t>Visibility, verification, and compliance — bundled with the impact.</a:t>
            </a:r>
          </a:p>
        </p:txBody>
      </p:sp>
      <p:graphicFrame>
        <p:nvGraphicFramePr>
          <p:cNvPr id="5" name=""/>
          <p:cNvGraphicFramePr>
            <a:graphicFrameLocks noGrp="1"/>
          </p:cNvGraphicFramePr>
          <p:nvPr/>
        </p:nvGraphicFramePr>
        <p:xfrm>
          <a:off x="1048512" y="3133344"/>
          <a:ext cx="10728960" cy="3051048"/>
        </p:xfrm>
        <a:graphic>
          <a:graphicData uri="http://schemas.openxmlformats.org/drawingml/2006/table">
            <a:tbl>
              <a:tblPr/>
              <a:tblGrid>
                <a:gridCol w="5251704"/>
                <a:gridCol w="219456"/>
                <a:gridCol w="5257800"/>
              </a:tblGrid>
              <a:tr h="731520">
                <a:tc>
                  <a:txBody>
                    <a:bodyPr lIns="0" tIns="0" rIns="0" bIns="0">
                      <a:noAutofit/>
                    </a:bodyPr>
                    <a:p>
                      <a:pPr marL="279400" indent="0"/>
                      <a:r>
                        <a:rPr lang="en-US" sz="4100" spc="-100">
                          <a:solidFill>
                            <a:srgbClr val="78292E"/>
                          </a:solidFill>
                          <a:latin typeface="Sylfaen"/>
                        </a:rPr>
                        <a:t>☆ </a:t>
                      </a:r>
                      <a:r>
                        <a:rPr lang="en-US" sz="4100" spc="-100">
                          <a:solidFill>
                            <a:srgbClr val="E4DCD6"/>
                          </a:solidFill>
                          <a:latin typeface="Sylfaen"/>
                        </a:rPr>
                        <a:t>01</a:t>
                      </a:r>
                    </a:p>
                  </a:txBody>
                  <a:tcPr marL="0" marR="0" marT="0" marB="0" anchor="b"/>
                </a:tc>
                <a:tc>
                  <a:txBody>
                    <a:bodyPr lIns="0" tIns="0" rIns="0" bIns="0">
                      <a:noAutofit/>
                    </a:bodyPr>
                    <a:p>
                      <a:endParaRPr sz="3500"/>
                    </a:p>
                  </a:txBody>
                  <a:tcPr marL="0" marR="0" marT="0" marB="0">
                    <a:solidFill>
                      <a:srgbClr val="F5EBE1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p>
                      <a:pPr marL="292100" indent="0"/>
                      <a:r>
                        <a:rPr lang="en-US" sz="4100" spc="-100">
                          <a:solidFill>
                            <a:srgbClr val="78292E"/>
                          </a:solidFill>
                          <a:latin typeface="Sylfaen"/>
                        </a:rPr>
                        <a:t>m </a:t>
                      </a:r>
                      <a:r>
                        <a:rPr lang="en-US" sz="4100" spc="-100">
                          <a:solidFill>
                            <a:srgbClr val="E4DCD6"/>
                          </a:solidFill>
                          <a:latin typeface="Sylfaen"/>
                        </a:rPr>
                        <a:t>02</a:t>
                      </a:r>
                    </a:p>
                  </a:txBody>
                  <a:tcPr marL="0" marR="0" marT="0" marB="0" anchor="b"/>
                </a:tc>
              </a:tr>
              <a:tr h="246888">
                <a:tc>
                  <a:txBody>
                    <a:bodyPr lIns="0" tIns="0" rIns="0" bIns="0">
                      <a:noAutofit/>
                    </a:bodyPr>
                    <a:p>
                      <a:pPr marL="279400" indent="0"/>
                      <a:r>
                        <a:rPr lang="en-US" sz="750" spc="200">
                          <a:solidFill>
                            <a:srgbClr val="68686F"/>
                          </a:solidFill>
                          <a:latin typeface="Tahoma"/>
                        </a:rPr>
                        <a:t>RECOGNITION</a:t>
                      </a:r>
                    </a:p>
                  </a:txBody>
                  <a:tcPr marL="0" marR="0" marT="0" marB="0" anchor="ctr"/>
                </a:tc>
                <a:tc>
                  <a:txBody>
                    <a:bodyPr lIns="0" tIns="0" rIns="0" bIns="0">
                      <a:noAutofit/>
                    </a:bodyPr>
                    <a:p>
                      <a:endParaRPr sz="1200"/>
                    </a:p>
                  </a:txBody>
                  <a:tcPr marL="0" marR="0" marT="0" marB="0">
                    <a:solidFill>
                      <a:srgbClr val="F5EBE1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p>
                      <a:pPr marL="292100" indent="0"/>
                      <a:r>
                        <a:rPr lang="en-US" sz="750" spc="200">
                          <a:solidFill>
                            <a:srgbClr val="68686F"/>
                          </a:solidFill>
                          <a:latin typeface="Tahoma"/>
                        </a:rPr>
                        <a:t>RECOGNITION</a:t>
                      </a:r>
                    </a:p>
                  </a:txBody>
                  <a:tcPr marL="0" marR="0" marT="0" marB="0" anchor="ctr"/>
                </a:tc>
              </a:tr>
              <a:tr h="365760">
                <a:tc>
                  <a:txBody>
                    <a:bodyPr lIns="0" tIns="0" rIns="0" bIns="0">
                      <a:noAutofit/>
                    </a:bodyPr>
                    <a:p>
                      <a:pPr marL="279400" indent="0"/>
                      <a:r>
                        <a:rPr lang="en-US" sz="1800">
                          <a:solidFill>
                            <a:srgbClr val="17181F"/>
                          </a:solidFill>
                          <a:latin typeface="Sylfaen"/>
                        </a:rPr>
                        <a:t>Named partner across all 275 campuses</a:t>
                      </a:r>
                    </a:p>
                  </a:txBody>
                  <a:tcPr marL="0" marR="0" marT="0" marB="0"/>
                </a:tc>
                <a:tc>
                  <a:txBody>
                    <a:bodyPr lIns="0" tIns="0" rIns="0" bIns="0">
                      <a:noAutofit/>
                    </a:bodyPr>
                    <a:p>
                      <a:endParaRPr sz="1800"/>
                    </a:p>
                  </a:txBody>
                  <a:tcPr marL="0" marR="0" marT="0" marB="0">
                    <a:solidFill>
                      <a:srgbClr val="F5EBE1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p>
                      <a:pPr marL="292100" indent="0"/>
                      <a:r>
                        <a:rPr lang="en-US" sz="1800">
                          <a:solidFill>
                            <a:srgbClr val="17181F"/>
                          </a:solidFill>
                          <a:latin typeface="Sylfaen"/>
                        </a:rPr>
                        <a:t>Branded plaques on 550 incinerators</a:t>
                      </a:r>
                    </a:p>
                  </a:txBody>
                  <a:tcPr marL="0" marR="0" marT="0" marB="0"/>
                </a:tc>
              </a:tr>
              <a:tr h="286512">
                <a:tc>
                  <a:txBody>
                    <a:bodyPr lIns="0" tIns="0" rIns="0" bIns="0">
                      <a:noAutofit/>
                    </a:bodyPr>
                    <a:p>
                      <a:pPr marL="279400" indent="0"/>
                      <a:r>
                        <a:rPr lang="en-US" b="1" sz="1050">
                          <a:solidFill>
                            <a:srgbClr val="3C3D41"/>
                          </a:solidFill>
                          <a:latin typeface="Tahoma"/>
                        </a:rPr>
                        <a:t>Co-branding on Telugu IEC materials, session backdrops, and</a:t>
                      </a:r>
                    </a:p>
                  </a:txBody>
                  <a:tcPr marL="0" marR="0" marT="0" marB="0" anchor="b"/>
                </a:tc>
                <a:tc>
                  <a:txBody>
                    <a:bodyPr lIns="0" tIns="0" rIns="0" bIns="0">
                      <a:noAutofit/>
                    </a:bodyPr>
                    <a:p>
                      <a:endParaRPr sz="1400"/>
                    </a:p>
                  </a:txBody>
                  <a:tcPr marL="0" marR="0" marT="0" marB="0">
                    <a:solidFill>
                      <a:srgbClr val="F5EBE1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p>
                      <a:pPr marL="292100" indent="0"/>
                      <a:r>
                        <a:rPr lang="en-US" b="1" sz="1050">
                          <a:solidFill>
                            <a:srgbClr val="3C3D41"/>
                          </a:solidFill>
                          <a:latin typeface="Tahoma"/>
                        </a:rPr>
                        <a:t>Permanent metal plaques on every unit — a 10+ year visibility</a:t>
                      </a:r>
                    </a:p>
                  </a:txBody>
                  <a:tcPr marL="0" marR="0" marT="0" marB="0" anchor="b"/>
                </a:tc>
              </a:tr>
              <a:tr h="1420368">
                <a:tc>
                  <a:txBody>
                    <a:bodyPr lIns="0" tIns="0" rIns="0" bIns="0">
                      <a:noAutofit/>
                    </a:bodyPr>
                    <a:p>
                      <a:pPr marL="279400" indent="0"/>
                      <a:r>
                        <a:rPr lang="en-US" b="1" sz="1050">
                          <a:solidFill>
                            <a:srgbClr val="3C3D41"/>
                          </a:solidFill>
                          <a:latin typeface="Tahoma"/>
                        </a:rPr>
                        <a:t>partner credits delivered to 1,23,000 girls.</a:t>
                      </a:r>
                    </a:p>
                  </a:txBody>
                  <a:tcPr marL="0" marR="0" marT="0" marB="0"/>
                </a:tc>
                <a:tc>
                  <a:txBody>
                    <a:bodyPr lIns="0" tIns="0" rIns="0" bIns="0">
                      <a:noAutofit/>
                    </a:bodyPr>
                    <a:p>
                      <a:endParaRPr sz="6800"/>
                    </a:p>
                  </a:txBody>
                  <a:tcPr marL="0" marR="0" marT="0" marB="0">
                    <a:solidFill>
                      <a:srgbClr val="F5EBE1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p>
                      <a:pPr marL="292100" indent="0"/>
                      <a:r>
                        <a:rPr lang="en-US" b="1" sz="1050">
                          <a:solidFill>
                            <a:srgbClr val="3C3D41"/>
                          </a:solidFill>
                          <a:latin typeface="Tahoma"/>
                        </a:rPr>
                        <a:t>footprint anchored to real infrastructure.</a:t>
                      </a:r>
                    </a:p>
                  </a:txBody>
                  <a:tcPr marL="0" marR="0" marT="0" marB="0"/>
                </a:tc>
              </a:tr>
            </a:tbl>
          </a:graphicData>
        </a:graphic>
      </p:graphicFrame>
      <p:sp>
        <p:nvSpPr>
          <p:cNvPr id="6" name=""/>
          <p:cNvSpPr/>
          <p:nvPr/>
        </p:nvSpPr>
        <p:spPr>
          <a:xfrm>
            <a:off x="12243816" y="3453384"/>
            <a:ext cx="4123944" cy="1767840"/>
          </a:xfrm>
          <a:prstGeom prst="rect">
            <a:avLst/>
          </a:prstGeom>
        </p:spPr>
        <p:txBody>
          <a:bodyPr lIns="0" tIns="0" rIns="0" bIns="0">
            <a:noAutofit/>
          </a:bodyPr>
          <a:p>
            <a:pPr indent="0">
              <a:spcAft>
                <a:spcPts val="1050"/>
              </a:spcAft>
            </a:pPr>
            <a:r>
              <a:rPr lang="en-US" sz="1800">
                <a:solidFill>
                  <a:srgbClr val="78292E"/>
                </a:solidFill>
                <a:latin typeface="Sylfaen"/>
              </a:rPr>
              <a:t>i*</a:t>
            </a:r>
          </a:p>
          <a:p>
            <a:pPr algn="just" indent="0">
              <a:spcAft>
                <a:spcPts val="420"/>
              </a:spcAft>
            </a:pPr>
            <a:r>
              <a:rPr lang="en-US" sz="750" spc="200">
                <a:solidFill>
                  <a:srgbClr val="68686F"/>
                </a:solidFill>
                <a:latin typeface="Tahoma"/>
              </a:rPr>
              <a:t>REPORTING</a:t>
            </a:r>
          </a:p>
          <a:p>
            <a:pPr indent="0">
              <a:lnSpc>
                <a:spcPts val="2184"/>
              </a:lnSpc>
              <a:spcAft>
                <a:spcPts val="420"/>
              </a:spcAft>
            </a:pPr>
            <a:r>
              <a:rPr lang="en-US" sz="1800">
                <a:solidFill>
                  <a:srgbClr val="17181F"/>
                </a:solidFill>
                <a:latin typeface="Sylfaen"/>
              </a:rPr>
              <a:t>Quarterly progress reports with photo evidence</a:t>
            </a:r>
          </a:p>
          <a:p>
            <a:pPr algn="just" indent="0">
              <a:lnSpc>
                <a:spcPts val="1800"/>
              </a:lnSpc>
            </a:pPr>
            <a:r>
              <a:rPr lang="en-US" b="1" sz="1050">
                <a:solidFill>
                  <a:srgbClr val="3C3D41"/>
                </a:solidFill>
                <a:latin typeface="Tahoma"/>
              </a:rPr>
              <a:t>Distribution records, install logs, and institution-wise data — formatted for CSR committee review.</a:t>
            </a:r>
          </a:p>
        </p:txBody>
      </p:sp>
      <p:graphicFrame>
        <p:nvGraphicFramePr>
          <p:cNvPr id="7" name=""/>
          <p:cNvGraphicFramePr>
            <a:graphicFrameLocks noGrp="1"/>
          </p:cNvGraphicFramePr>
          <p:nvPr/>
        </p:nvGraphicFramePr>
        <p:xfrm>
          <a:off x="1045464" y="6385560"/>
          <a:ext cx="16200120" cy="3044952"/>
        </p:xfrm>
        <a:graphic>
          <a:graphicData uri="http://schemas.openxmlformats.org/drawingml/2006/table">
            <a:tbl>
              <a:tblPr/>
              <a:tblGrid>
                <a:gridCol w="5254752"/>
                <a:gridCol w="219456"/>
                <a:gridCol w="5248656"/>
                <a:gridCol w="219456"/>
                <a:gridCol w="5257800"/>
              </a:tblGrid>
              <a:tr h="731520">
                <a:tc>
                  <a:txBody>
                    <a:bodyPr lIns="0" tIns="0" rIns="0" bIns="0">
                      <a:noAutofit/>
                    </a:bodyPr>
                    <a:p>
                      <a:pPr marL="292100" indent="0"/>
                      <a:r>
                        <a:rPr lang="en-US" sz="4100" spc="-100">
                          <a:solidFill>
                            <a:srgbClr val="78292E"/>
                          </a:solidFill>
                          <a:latin typeface="Sylfaen"/>
                        </a:rPr>
                        <a:t>© </a:t>
                      </a:r>
                      <a:r>
                        <a:rPr lang="en-US" sz="4100" spc="-100">
                          <a:solidFill>
                            <a:srgbClr val="E4DCD6"/>
                          </a:solidFill>
                          <a:latin typeface="Sylfaen"/>
                        </a:rPr>
                        <a:t>04</a:t>
                      </a:r>
                    </a:p>
                  </a:txBody>
                  <a:tcPr marL="0" marR="0" marT="0" marB="0" anchor="b"/>
                </a:tc>
                <a:tc>
                  <a:txBody>
                    <a:bodyPr lIns="0" tIns="0" rIns="0" bIns="0">
                      <a:noAutofit/>
                    </a:bodyPr>
                    <a:p>
                      <a:endParaRPr sz="3500"/>
                    </a:p>
                  </a:txBody>
                  <a:tcPr marL="0" marR="0" marT="0" marB="0">
                    <a:solidFill>
                      <a:srgbClr val="F5EBE1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p>
                      <a:pPr marL="292100" indent="0"/>
                      <a:r>
                        <a:rPr lang="en-US" sz="4100" spc="-100">
                          <a:solidFill>
                            <a:srgbClr val="78292E"/>
                          </a:solidFill>
                          <a:latin typeface="Sylfaen"/>
                        </a:rPr>
                        <a:t>0 </a:t>
                      </a:r>
                      <a:r>
                        <a:rPr lang="en-US" sz="4100" spc="-100">
                          <a:solidFill>
                            <a:srgbClr val="E4DCD6"/>
                          </a:solidFill>
                          <a:latin typeface="Sylfaen"/>
                        </a:rPr>
                        <a:t>05</a:t>
                      </a:r>
                    </a:p>
                  </a:txBody>
                  <a:tcPr marL="0" marR="0" marT="0" marB="0" anchor="b"/>
                </a:tc>
                <a:tc>
                  <a:txBody>
                    <a:bodyPr lIns="0" tIns="0" rIns="0" bIns="0">
                      <a:noAutofit/>
                    </a:bodyPr>
                    <a:p>
                      <a:endParaRPr sz="3500"/>
                    </a:p>
                  </a:txBody>
                  <a:tcPr marL="0" marR="0" marT="0" marB="0">
                    <a:solidFill>
                      <a:srgbClr val="F5EBE1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p>
                      <a:pPr marL="292100" indent="0"/>
                      <a:r>
                        <a:rPr lang="en-US" sz="4100" spc="-100">
                          <a:solidFill>
                            <a:srgbClr val="78292E"/>
                          </a:solidFill>
                          <a:latin typeface="Sylfaen"/>
                        </a:rPr>
                        <a:t>Ini </a:t>
                      </a:r>
                      <a:r>
                        <a:rPr lang="en-US" sz="4100" spc="-100">
                          <a:solidFill>
                            <a:srgbClr val="E4DCD6"/>
                          </a:solidFill>
                          <a:latin typeface="Sylfaen"/>
                        </a:rPr>
                        <a:t>06</a:t>
                      </a:r>
                    </a:p>
                  </a:txBody>
                  <a:tcPr marL="0" marR="0" marT="0" marB="0" anchor="b"/>
                </a:tc>
              </a:tr>
              <a:tr h="249936">
                <a:tc>
                  <a:txBody>
                    <a:bodyPr lIns="0" tIns="0" rIns="0" bIns="0">
                      <a:noAutofit/>
                    </a:bodyPr>
                    <a:p>
                      <a:pPr marL="292100" indent="0"/>
                      <a:r>
                        <a:rPr lang="en-US" sz="750" spc="200">
                          <a:solidFill>
                            <a:srgbClr val="68686F"/>
                          </a:solidFill>
                          <a:latin typeface="Tahoma"/>
                        </a:rPr>
                        <a:t>REPORTING</a:t>
                      </a:r>
                    </a:p>
                  </a:txBody>
                  <a:tcPr marL="0" marR="0" marT="0" marB="0" anchor="ctr"/>
                </a:tc>
                <a:tc>
                  <a:txBody>
                    <a:bodyPr lIns="0" tIns="0" rIns="0" bIns="0">
                      <a:noAutofit/>
                    </a:bodyPr>
                    <a:p>
                      <a:endParaRPr sz="1200"/>
                    </a:p>
                  </a:txBody>
                  <a:tcPr marL="0" marR="0" marT="0" marB="0">
                    <a:solidFill>
                      <a:srgbClr val="F5EBE1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p>
                      <a:pPr marL="292100" indent="0"/>
                      <a:r>
                        <a:rPr lang="en-US" sz="750" spc="200">
                          <a:solidFill>
                            <a:srgbClr val="68686F"/>
                          </a:solidFill>
                          <a:latin typeface="Tahoma"/>
                        </a:rPr>
                        <a:t>COMPLIANCE</a:t>
                      </a:r>
                    </a:p>
                  </a:txBody>
                  <a:tcPr marL="0" marR="0" marT="0" marB="0" anchor="ctr"/>
                </a:tc>
                <a:tc>
                  <a:txBody>
                    <a:bodyPr lIns="0" tIns="0" rIns="0" bIns="0">
                      <a:noAutofit/>
                    </a:bodyPr>
                    <a:p>
                      <a:endParaRPr sz="1200"/>
                    </a:p>
                  </a:txBody>
                  <a:tcPr marL="0" marR="0" marT="0" marB="0">
                    <a:solidFill>
                      <a:srgbClr val="F5EBE1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p>
                      <a:pPr marL="292100" indent="0"/>
                      <a:r>
                        <a:rPr lang="en-US" sz="750" spc="200">
                          <a:solidFill>
                            <a:srgbClr val="68686F"/>
                          </a:solidFill>
                          <a:latin typeface="Tahoma"/>
                        </a:rPr>
                        <a:t>COMPLIANCE</a:t>
                      </a:r>
                    </a:p>
                  </a:txBody>
                  <a:tcPr marL="0" marR="0" marT="0" marB="0" anchor="ctr"/>
                </a:tc>
              </a:tr>
              <a:tr h="347472">
                <a:tc>
                  <a:txBody>
                    <a:bodyPr lIns="0" tIns="0" rIns="0" bIns="0">
                      <a:noAutofit/>
                    </a:bodyPr>
                    <a:p>
                      <a:pPr marL="292100" indent="0"/>
                      <a:r>
                        <a:rPr lang="en-US" sz="1800">
                          <a:solidFill>
                            <a:srgbClr val="17181F"/>
                          </a:solidFill>
                          <a:latin typeface="Sylfaen"/>
                        </a:rPr>
                        <a:t>Annual impact report &amp; field-visit access</a:t>
                      </a:r>
                    </a:p>
                  </a:txBody>
                  <a:tcPr marL="0" marR="0" marT="0" marB="0"/>
                </a:tc>
                <a:tc>
                  <a:txBody>
                    <a:bodyPr lIns="0" tIns="0" rIns="0" bIns="0">
                      <a:noAutofit/>
                    </a:bodyPr>
                    <a:p>
                      <a:endParaRPr sz="1700"/>
                    </a:p>
                  </a:txBody>
                  <a:tcPr marL="0" marR="0" marT="0" marB="0">
                    <a:solidFill>
                      <a:srgbClr val="F5EBE1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p>
                      <a:pPr marL="292100" indent="0"/>
                      <a:r>
                        <a:rPr lang="en-US" sz="1800">
                          <a:solidFill>
                            <a:srgbClr val="17181F"/>
                          </a:solidFill>
                          <a:latin typeface="Sylfaen"/>
                        </a:rPr>
                        <a:t>Full Schedule VII certification</a:t>
                      </a:r>
                    </a:p>
                  </a:txBody>
                  <a:tcPr marL="0" marR="0" marT="0" marB="0"/>
                </a:tc>
                <a:tc>
                  <a:txBody>
                    <a:bodyPr lIns="0" tIns="0" rIns="0" bIns="0">
                      <a:noAutofit/>
                    </a:bodyPr>
                    <a:p>
                      <a:endParaRPr sz="1700"/>
                    </a:p>
                  </a:txBody>
                  <a:tcPr marL="0" marR="0" marT="0" marB="0">
                    <a:solidFill>
                      <a:srgbClr val="F5EBE1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p>
                      <a:pPr marL="292100" indent="0"/>
                      <a:r>
                        <a:rPr lang="en-US" sz="1800">
                          <a:solidFill>
                            <a:srgbClr val="17181F"/>
                          </a:solidFill>
                          <a:latin typeface="Sylfaen"/>
                        </a:rPr>
                        <a:t>Government-endorsed delivery chain</a:t>
                      </a:r>
                    </a:p>
                  </a:txBody>
                  <a:tcPr marL="0" marR="0" marT="0" marB="0"/>
                </a:tc>
              </a:tr>
              <a:tr h="292608">
                <a:tc>
                  <a:txBody>
                    <a:bodyPr lIns="0" tIns="0" rIns="0" bIns="0">
                      <a:noAutofit/>
                    </a:bodyPr>
                    <a:p>
                      <a:pPr marL="292100" indent="0"/>
                      <a:r>
                        <a:rPr lang="en-US" b="1" sz="1050">
                          <a:solidFill>
                            <a:srgbClr val="3C3D41"/>
                          </a:solidFill>
                          <a:latin typeface="Tahoma"/>
                        </a:rPr>
                        <a:t>Year-end documentation, sample field visits, and third-party</a:t>
                      </a:r>
                    </a:p>
                  </a:txBody>
                  <a:tcPr marL="0" marR="0" marT="0" marB="0" anchor="b"/>
                </a:tc>
                <a:tc>
                  <a:txBody>
                    <a:bodyPr lIns="0" tIns="0" rIns="0" bIns="0">
                      <a:noAutofit/>
                    </a:bodyPr>
                    <a:p>
                      <a:endParaRPr sz="1400"/>
                    </a:p>
                  </a:txBody>
                  <a:tcPr marL="0" marR="0" marT="0" marB="0">
                    <a:solidFill>
                      <a:srgbClr val="F5EBE1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p>
                      <a:pPr marL="292100" indent="0"/>
                      <a:r>
                        <a:rPr lang="en-US" b="1" sz="1050">
                          <a:solidFill>
                            <a:srgbClr val="3C3D41"/>
                          </a:solidFill>
                          <a:latin typeface="Tahoma"/>
                        </a:rPr>
                        <a:t>Utilisation certificates and expenditure data for Companies Act 2013</a:t>
                      </a:r>
                    </a:p>
                  </a:txBody>
                  <a:tcPr marL="0" marR="0" marT="0" marB="0" anchor="b"/>
                </a:tc>
                <a:tc>
                  <a:txBody>
                    <a:bodyPr lIns="0" tIns="0" rIns="0" bIns="0">
                      <a:noAutofit/>
                    </a:bodyPr>
                    <a:p>
                      <a:endParaRPr sz="1400"/>
                    </a:p>
                  </a:txBody>
                  <a:tcPr marL="0" marR="0" marT="0" marB="0">
                    <a:solidFill>
                      <a:srgbClr val="F5EBE1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p>
                      <a:pPr marL="292100" indent="0"/>
                      <a:r>
                        <a:rPr lang="en-US" b="1" sz="1050">
                          <a:solidFill>
                            <a:srgbClr val="3C3D41"/>
                          </a:solidFill>
                          <a:latin typeface="Tahoma"/>
                        </a:rPr>
                        <a:t>Delivered under a signed MoC with MJPTBCWREIS — full</a:t>
                      </a:r>
                    </a:p>
                  </a:txBody>
                  <a:tcPr marL="0" marR="0" marT="0" marB="0" anchor="b"/>
                </a:tc>
              </a:tr>
              <a:tr h="1423416">
                <a:tc>
                  <a:txBody>
                    <a:bodyPr lIns="0" tIns="0" rIns="0" bIns="0">
                      <a:noAutofit/>
                    </a:bodyPr>
                    <a:p>
                      <a:pPr marL="292100" indent="0"/>
                      <a:r>
                        <a:rPr lang="en-US" b="1" sz="1050">
                          <a:solidFill>
                            <a:srgbClr val="3C3D41"/>
                          </a:solidFill>
                          <a:latin typeface="Tahoma"/>
                        </a:rPr>
                        <a:t>verification on request.</a:t>
                      </a:r>
                    </a:p>
                  </a:txBody>
                  <a:tcPr marL="0" marR="0" marT="0" marB="0"/>
                </a:tc>
                <a:tc>
                  <a:txBody>
                    <a:bodyPr lIns="0" tIns="0" rIns="0" bIns="0">
                      <a:noAutofit/>
                    </a:bodyPr>
                    <a:p>
                      <a:endParaRPr sz="6800"/>
                    </a:p>
                  </a:txBody>
                  <a:tcPr marL="0" marR="0" marT="0" marB="0">
                    <a:solidFill>
                      <a:srgbClr val="F5EBE1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p>
                      <a:pPr marL="292100" indent="0"/>
                      <a:r>
                        <a:rPr lang="en-US" b="1" sz="1050">
                          <a:solidFill>
                            <a:srgbClr val="3C3D41"/>
                          </a:solidFill>
                          <a:latin typeface="Tahoma"/>
                        </a:rPr>
                        <a:t>Schedule VII (Clauses i, ii &amp; iii).</a:t>
                      </a:r>
                    </a:p>
                  </a:txBody>
                  <a:tcPr marL="0" marR="0" marT="0" marB="0"/>
                </a:tc>
                <a:tc>
                  <a:txBody>
                    <a:bodyPr lIns="0" tIns="0" rIns="0" bIns="0">
                      <a:noAutofit/>
                    </a:bodyPr>
                    <a:p>
                      <a:endParaRPr sz="6800"/>
                    </a:p>
                  </a:txBody>
                  <a:tcPr marL="0" marR="0" marT="0" marB="0">
                    <a:solidFill>
                      <a:srgbClr val="F5EBE1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p>
                      <a:pPr marL="292100" indent="0"/>
                      <a:r>
                        <a:rPr lang="en-US" b="1" sz="1050">
                          <a:solidFill>
                            <a:srgbClr val="3C3D41"/>
                          </a:solidFill>
                          <a:latin typeface="Tahoma"/>
                        </a:rPr>
                        <a:t>cooperation, named focal persons, audit-ready records.</a:t>
                      </a:r>
                    </a:p>
                  </a:txBody>
                  <a:tcPr marL="0" marR="0" marT="0" marB="0"/>
                </a:tc>
              </a:tr>
            </a:tbl>
          </a:graphicData>
        </a:graphic>
      </p:graphicFrame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"/>
          <p:cNvPicPr>
            <a:picLocks noChangeAspect="1"/>
          </p:cNvPicPr>
          <p:nvPr/>
        </p:nvPicPr>
        <p:blipFill>
          <a:blip r:embed="rPictId0"/>
          <a:stretch>
            <a:fillRect/>
          </a:stretch>
        </p:blipFill>
        <p:spPr>
          <a:xfrm>
            <a:off x="1039368" y="3392424"/>
            <a:ext cx="627888" cy="3313176"/>
          </a:xfrm>
          <a:prstGeom prst="rect">
            <a:avLst/>
          </a:prstGeom>
        </p:spPr>
      </p:pic>
      <p:sp>
        <p:nvSpPr>
          <p:cNvPr id="3" name=""/>
          <p:cNvSpPr/>
          <p:nvPr/>
        </p:nvSpPr>
        <p:spPr>
          <a:xfrm>
            <a:off x="1027176" y="445008"/>
            <a:ext cx="2221992" cy="149352"/>
          </a:xfrm>
          <a:prstGeom prst="rect">
            <a:avLst/>
          </a:prstGeom>
          <a:solidFill>
            <a:srgbClr val="241818"/>
          </a:solidFill>
        </p:spPr>
        <p:txBody>
          <a:bodyPr lIns="0" tIns="0" rIns="0" bIns="0" wrap="none">
            <a:noAutofit/>
          </a:bodyPr>
          <a:p>
            <a:pPr indent="0"/>
            <a:r>
              <a:rPr lang="en-US" sz="1100" spc="300">
                <a:solidFill>
                  <a:srgbClr val="B99056"/>
                </a:solidFill>
                <a:latin typeface="Tahoma"/>
              </a:rPr>
              <a:t>• </a:t>
            </a:r>
            <a:r>
              <a:rPr lang="en-US" sz="1100" spc="300">
                <a:solidFill>
                  <a:srgbClr val="BAB0A8"/>
                </a:solidFill>
                <a:latin typeface="Tahoma"/>
              </a:rPr>
              <a:t>STHREE SWABHIMAN</a:t>
            </a:r>
          </a:p>
        </p:txBody>
      </p:sp>
      <p:sp>
        <p:nvSpPr>
          <p:cNvPr id="4" name=""/>
          <p:cNvSpPr/>
          <p:nvPr/>
        </p:nvSpPr>
        <p:spPr>
          <a:xfrm>
            <a:off x="14971776" y="445008"/>
            <a:ext cx="2246376" cy="149352"/>
          </a:xfrm>
          <a:prstGeom prst="rect">
            <a:avLst/>
          </a:prstGeom>
          <a:solidFill>
            <a:srgbClr val="241818"/>
          </a:solidFill>
        </p:spPr>
        <p:txBody>
          <a:bodyPr lIns="0" tIns="0" rIns="0" bIns="0" wrap="none">
            <a:noAutofit/>
          </a:bodyPr>
          <a:p>
            <a:pPr algn="just" indent="0"/>
            <a:r>
              <a:rPr lang="en-US" sz="1100" spc="300">
                <a:solidFill>
                  <a:srgbClr val="BAB0A8"/>
                </a:solidFill>
                <a:latin typeface="Tahoma"/>
              </a:rPr>
              <a:t>16    • CALL TO ACTION</a:t>
            </a:r>
          </a:p>
        </p:txBody>
      </p:sp>
      <p:sp>
        <p:nvSpPr>
          <p:cNvPr id="5" name=""/>
          <p:cNvSpPr/>
          <p:nvPr/>
        </p:nvSpPr>
        <p:spPr>
          <a:xfrm>
            <a:off x="1054608" y="1002792"/>
            <a:ext cx="12164568" cy="1731264"/>
          </a:xfrm>
          <a:prstGeom prst="rect">
            <a:avLst/>
          </a:prstGeom>
          <a:solidFill>
            <a:srgbClr val="241818"/>
          </a:solidFill>
        </p:spPr>
        <p:txBody>
          <a:bodyPr lIns="0" tIns="0" rIns="0" bIns="0">
            <a:noAutofit/>
          </a:bodyPr>
          <a:p>
            <a:pPr algn="just" indent="0">
              <a:spcAft>
                <a:spcPts val="1470"/>
              </a:spcAft>
            </a:pPr>
            <a:r>
              <a:rPr lang="en-US" sz="1800">
                <a:solidFill>
                  <a:srgbClr val="B99056"/>
                </a:solidFill>
                <a:latin typeface="Sylfaen"/>
              </a:rPr>
              <a:t>- </a:t>
            </a:r>
            <a:r>
              <a:rPr lang="en-US" sz="1800" spc="450">
                <a:solidFill>
                  <a:srgbClr val="B99056"/>
                </a:solidFill>
                <a:latin typeface="Sylfaen"/>
              </a:rPr>
              <a:t>CALL TO ACTION</a:t>
            </a:r>
          </a:p>
          <a:p>
            <a:pPr indent="0">
              <a:lnSpc>
                <a:spcPts val="5088"/>
              </a:lnSpc>
            </a:pPr>
            <a:r>
              <a:rPr lang="en-US" b="1" sz="4800">
                <a:solidFill>
                  <a:srgbClr val="FFFFFF"/>
                </a:solidFill>
                <a:latin typeface="Sylfaen"/>
              </a:rPr>
              <a:t>Partner with us — to reach </a:t>
            </a:r>
            <a:r>
              <a:rPr lang="en-US" i="1" sz="4800" spc="-150">
                <a:solidFill>
                  <a:srgbClr val="B99056"/>
                </a:solidFill>
                <a:latin typeface="Sylfaen"/>
              </a:rPr>
              <a:t>1,23,000 girls</a:t>
            </a:r>
            <a:r>
              <a:rPr lang="en-US" b="1" sz="4800">
                <a:solidFill>
                  <a:srgbClr val="B99056"/>
                </a:solidFill>
                <a:latin typeface="Sylfaen"/>
              </a:rPr>
              <a:t> </a:t>
            </a:r>
            <a:r>
              <a:rPr lang="en-US" b="1" sz="4800">
                <a:solidFill>
                  <a:srgbClr val="FFFFFF"/>
                </a:solidFill>
                <a:latin typeface="Sylfaen"/>
              </a:rPr>
              <a:t>across 275 campuses, starting this academic year.</a:t>
            </a:r>
          </a:p>
        </p:txBody>
      </p:sp>
      <p:sp>
        <p:nvSpPr>
          <p:cNvPr id="6" name=""/>
          <p:cNvSpPr/>
          <p:nvPr/>
        </p:nvSpPr>
        <p:spPr>
          <a:xfrm>
            <a:off x="1042416" y="3038856"/>
            <a:ext cx="2392680" cy="134112"/>
          </a:xfrm>
          <a:prstGeom prst="rect">
            <a:avLst/>
          </a:prstGeom>
          <a:solidFill>
            <a:srgbClr val="241818"/>
          </a:solidFill>
        </p:spPr>
        <p:txBody>
          <a:bodyPr lIns="0" tIns="0" rIns="0" bIns="0" wrap="none">
            <a:noAutofit/>
          </a:bodyPr>
          <a:p>
            <a:pPr indent="0"/>
            <a:r>
              <a:rPr lang="en-US" sz="1100" spc="200">
                <a:solidFill>
                  <a:srgbClr val="B99056"/>
                </a:solidFill>
                <a:latin typeface="Consolas"/>
              </a:rPr>
              <a:t>ROADMAP TO PARTNERSHIP</a:t>
            </a:r>
          </a:p>
        </p:txBody>
      </p:sp>
      <p:sp>
        <p:nvSpPr>
          <p:cNvPr id="7" name=""/>
          <p:cNvSpPr/>
          <p:nvPr/>
        </p:nvSpPr>
        <p:spPr>
          <a:xfrm>
            <a:off x="1871472" y="3541776"/>
            <a:ext cx="4956048" cy="573024"/>
          </a:xfrm>
          <a:prstGeom prst="rect">
            <a:avLst/>
          </a:prstGeom>
          <a:solidFill>
            <a:srgbClr val="241818"/>
          </a:solidFill>
        </p:spPr>
        <p:txBody>
          <a:bodyPr lIns="0" tIns="0" rIns="0" bIns="0">
            <a:noAutofit/>
          </a:bodyPr>
          <a:p>
            <a:pPr indent="0">
              <a:spcAft>
                <a:spcPts val="1050"/>
              </a:spcAft>
            </a:pPr>
            <a:r>
              <a:rPr lang="en-US" sz="1800">
                <a:solidFill>
                  <a:srgbClr val="FFFFFF"/>
                </a:solidFill>
                <a:latin typeface="Sylfaen"/>
              </a:rPr>
              <a:t>Partnership conversation</a:t>
            </a:r>
          </a:p>
          <a:p>
            <a:pPr indent="0"/>
            <a:r>
              <a:rPr lang="en-US" b="1" sz="1050">
                <a:solidFill>
                  <a:srgbClr val="BAB0A8"/>
                </a:solidFill>
                <a:latin typeface="Tahoma"/>
              </a:rPr>
              <a:t>A 45-minute review with your CSR committee — fit, scale, disbursement.</a:t>
            </a:r>
          </a:p>
        </p:txBody>
      </p:sp>
      <p:sp>
        <p:nvSpPr>
          <p:cNvPr id="8" name=""/>
          <p:cNvSpPr/>
          <p:nvPr/>
        </p:nvSpPr>
        <p:spPr>
          <a:xfrm>
            <a:off x="1874520" y="4437888"/>
            <a:ext cx="6102096" cy="2368296"/>
          </a:xfrm>
          <a:prstGeom prst="rect">
            <a:avLst/>
          </a:prstGeom>
          <a:solidFill>
            <a:srgbClr val="241818"/>
          </a:solidFill>
        </p:spPr>
        <p:txBody>
          <a:bodyPr lIns="0" tIns="0" rIns="0" bIns="0">
            <a:noAutofit/>
          </a:bodyPr>
          <a:p>
            <a:pPr indent="0">
              <a:spcAft>
                <a:spcPts val="1050"/>
              </a:spcAft>
            </a:pPr>
            <a:r>
              <a:rPr lang="en-US" sz="1800">
                <a:solidFill>
                  <a:srgbClr val="FFFFFF"/>
                </a:solidFill>
                <a:latin typeface="Sylfaen"/>
              </a:rPr>
              <a:t>Site visit &amp; pilot review</a:t>
            </a:r>
          </a:p>
          <a:p>
            <a:pPr indent="0">
              <a:spcAft>
                <a:spcPts val="1890"/>
              </a:spcAft>
            </a:pPr>
            <a:r>
              <a:rPr lang="en-US" b="1" sz="1050">
                <a:solidFill>
                  <a:srgbClr val="BAB0A8"/>
                </a:solidFill>
                <a:latin typeface="Tahoma"/>
              </a:rPr>
              <a:t>Optional visit to the Warangal pilot — observe a session, inspect an install, meet wardens.</a:t>
            </a:r>
          </a:p>
          <a:p>
            <a:pPr indent="0">
              <a:spcAft>
                <a:spcPts val="1050"/>
              </a:spcAft>
            </a:pPr>
            <a:r>
              <a:rPr lang="en-US" sz="1800">
                <a:solidFill>
                  <a:srgbClr val="FFFFFF"/>
                </a:solidFill>
                <a:latin typeface="Sylfaen"/>
              </a:rPr>
              <a:t>MoU &amp; milestone-linked disbursement</a:t>
            </a:r>
          </a:p>
          <a:p>
            <a:pPr indent="0">
              <a:spcAft>
                <a:spcPts val="1890"/>
              </a:spcAft>
            </a:pPr>
            <a:r>
              <a:rPr lang="en-US" b="1" sz="1050">
                <a:solidFill>
                  <a:srgbClr val="BAB0A8"/>
                </a:solidFill>
                <a:latin typeface="Tahoma"/>
              </a:rPr>
              <a:t>Sign the MoU; launch with the April-May planning phase.</a:t>
            </a:r>
          </a:p>
          <a:p>
            <a:pPr indent="0">
              <a:spcAft>
                <a:spcPts val="1050"/>
              </a:spcAft>
            </a:pPr>
            <a:r>
              <a:rPr lang="en-US" sz="1800">
                <a:solidFill>
                  <a:srgbClr val="FFFFFF"/>
                </a:solidFill>
                <a:latin typeface="Sylfaen"/>
              </a:rPr>
              <a:t>First reach — June 2026</a:t>
            </a:r>
          </a:p>
          <a:p>
            <a:pPr indent="0"/>
            <a:r>
              <a:rPr lang="en-US" b="1" sz="1050">
                <a:solidFill>
                  <a:srgbClr val="BAB0A8"/>
                </a:solidFill>
                <a:latin typeface="Tahoma"/>
              </a:rPr>
              <a:t>First girls receive kits, training, and access to safe disposal at academic year-start.</a:t>
            </a:r>
          </a:p>
        </p:txBody>
      </p:sp>
      <p:sp>
        <p:nvSpPr>
          <p:cNvPr id="9" name=""/>
          <p:cNvSpPr/>
          <p:nvPr/>
        </p:nvSpPr>
        <p:spPr>
          <a:xfrm>
            <a:off x="10268712" y="3425952"/>
            <a:ext cx="6446520" cy="1978152"/>
          </a:xfrm>
          <a:prstGeom prst="rect">
            <a:avLst/>
          </a:prstGeom>
          <a:solidFill>
            <a:srgbClr val="2E2B2D"/>
          </a:solidFill>
        </p:spPr>
        <p:txBody>
          <a:bodyPr lIns="0" tIns="0" rIns="0" bIns="0">
            <a:noAutofit/>
          </a:bodyPr>
          <a:p>
            <a:pPr algn="just" indent="0">
              <a:spcAft>
                <a:spcPts val="1470"/>
              </a:spcAft>
            </a:pPr>
            <a:r>
              <a:rPr lang="en-US" sz="1100" spc="200">
                <a:solidFill>
                  <a:srgbClr val="B99056"/>
                </a:solidFill>
                <a:latin typeface="Consolas"/>
              </a:rPr>
              <a:t>THE ASK</a:t>
            </a:r>
          </a:p>
          <a:p>
            <a:pPr indent="0">
              <a:spcAft>
                <a:spcPts val="2310"/>
              </a:spcAft>
            </a:pPr>
            <a:r>
              <a:rPr lang="en-US" sz="7300" spc="-150">
                <a:solidFill>
                  <a:srgbClr val="FFFFFF"/>
                </a:solidFill>
                <a:latin typeface="Tahoma"/>
              </a:rPr>
              <a:t>?8.04c</a:t>
            </a:r>
          </a:p>
          <a:p>
            <a:pPr algn="just" indent="0">
              <a:lnSpc>
                <a:spcPts val="2040"/>
              </a:lnSpc>
            </a:pPr>
            <a:r>
              <a:rPr lang="en-US" b="1" sz="1200">
                <a:solidFill>
                  <a:srgbClr val="D0C4BC"/>
                </a:solidFill>
                <a:latin typeface="Tahoma"/>
              </a:rPr>
              <a:t>For one full academic year of statewide delivery. Full, partial, or component-specific commitments welcomed.</a:t>
            </a:r>
          </a:p>
        </p:txBody>
      </p:sp>
      <p:sp>
        <p:nvSpPr>
          <p:cNvPr id="10" name=""/>
          <p:cNvSpPr/>
          <p:nvPr/>
        </p:nvSpPr>
        <p:spPr>
          <a:xfrm>
            <a:off x="9881616" y="6083808"/>
            <a:ext cx="6708648" cy="954024"/>
          </a:xfrm>
          <a:prstGeom prst="rect">
            <a:avLst/>
          </a:prstGeom>
          <a:solidFill>
            <a:srgbClr val="241818"/>
          </a:solidFill>
        </p:spPr>
        <p:txBody>
          <a:bodyPr lIns="0" tIns="0" rIns="0" bIns="0">
            <a:noAutofit/>
          </a:bodyPr>
          <a:p>
            <a:pPr indent="0">
              <a:spcAft>
                <a:spcPts val="2100"/>
              </a:spcAft>
            </a:pPr>
            <a:r>
              <a:rPr lang="en-US" sz="1100" spc="200">
                <a:solidFill>
                  <a:srgbClr val="9D9A96"/>
                </a:solidFill>
                <a:latin typeface="Consolas"/>
              </a:rPr>
              <a:t>OR SCOPE DOWN THE PARTNERSHIP</a:t>
            </a:r>
          </a:p>
          <a:p>
            <a:pPr algn="just" marL="203200" indent="0">
              <a:spcAft>
                <a:spcPts val="840"/>
              </a:spcAft>
            </a:pPr>
            <a:r>
              <a:rPr lang="en-US" sz="1100" spc="-50">
                <a:solidFill>
                  <a:srgbClr val="FFFFFF"/>
                </a:solidFill>
                <a:latin typeface="Consolas"/>
              </a:rPr>
              <a:t>^1.38 </a:t>
            </a:r>
            <a:r>
              <a:rPr lang="en-US" sz="1100" spc="-50">
                <a:solidFill>
                  <a:srgbClr val="9D9A96"/>
                </a:solidFill>
                <a:latin typeface="Consolas"/>
              </a:rPr>
              <a:t>Cr    </a:t>
            </a:r>
            <a:r>
              <a:rPr lang="en-US" sz="1100" spc="-50">
                <a:solidFill>
                  <a:srgbClr val="FFFFFF"/>
                </a:solidFill>
                <a:latin typeface="Consolas"/>
              </a:rPr>
              <a:t>^68.75 </a:t>
            </a:r>
            <a:r>
              <a:rPr lang="en-US" cap="small" sz="1100" spc="-50">
                <a:solidFill>
                  <a:srgbClr val="9D9A96"/>
                </a:solidFill>
                <a:latin typeface="Consolas"/>
              </a:rPr>
              <a:t>l    </a:t>
            </a:r>
            <a:r>
              <a:rPr lang="en-US" cap="small" sz="1100" spc="-50">
                <a:solidFill>
                  <a:srgbClr val="FFFFFF"/>
                </a:solidFill>
                <a:latin typeface="Consolas"/>
              </a:rPr>
              <a:t>^2.92 </a:t>
            </a:r>
            <a:r>
              <a:rPr lang="en-US" cap="small" sz="1100" spc="-50">
                <a:solidFill>
                  <a:srgbClr val="9D9A96"/>
                </a:solidFill>
                <a:latin typeface="Consolas"/>
              </a:rPr>
              <a:t>l</a:t>
            </a:r>
          </a:p>
          <a:p>
            <a:pPr algn="just" marL="203200" indent="0"/>
            <a:r>
              <a:rPr lang="en-US" sz="750" spc="200">
                <a:solidFill>
                  <a:srgbClr val="BAB0A8"/>
                </a:solidFill>
                <a:latin typeface="Tahoma"/>
              </a:rPr>
              <a:t>ALL 550 INCINERATORS    STATEWIDE AWARENESS    ADOPT 1 INSTITUTION</a:t>
            </a:r>
          </a:p>
        </p:txBody>
      </p:sp>
      <p:sp>
        <p:nvSpPr>
          <p:cNvPr id="11" name=""/>
          <p:cNvSpPr/>
          <p:nvPr/>
        </p:nvSpPr>
        <p:spPr>
          <a:xfrm>
            <a:off x="10119360" y="8766048"/>
            <a:ext cx="3700272" cy="423672"/>
          </a:xfrm>
          <a:prstGeom prst="rect">
            <a:avLst/>
          </a:prstGeom>
          <a:solidFill>
            <a:srgbClr val="2E2B2D"/>
          </a:solidFill>
        </p:spPr>
        <p:txBody>
          <a:bodyPr lIns="0" tIns="0" rIns="0" bIns="0">
            <a:noAutofit/>
          </a:bodyPr>
          <a:p>
            <a:pPr indent="0">
              <a:spcAft>
                <a:spcPts val="420"/>
              </a:spcAft>
            </a:pPr>
            <a:r>
              <a:rPr lang="en-US" sz="750" spc="200">
                <a:solidFill>
                  <a:srgbClr val="B99056"/>
                </a:solidFill>
                <a:latin typeface="Tahoma"/>
              </a:rPr>
              <a:t>NEXT STEP</a:t>
            </a:r>
          </a:p>
          <a:p>
            <a:pPr indent="0"/>
            <a:r>
              <a:rPr lang="en-US" sz="1600">
                <a:solidFill>
                  <a:srgbClr val="FFFFFF"/>
                </a:solidFill>
                <a:latin typeface="Sylfaen"/>
              </a:rPr>
              <a:t>Sign the MoU. Reach the first girls by June.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"/>
          <p:cNvPicPr>
            <a:picLocks noChangeAspect="1"/>
          </p:cNvPicPr>
          <p:nvPr/>
        </p:nvPicPr>
        <p:blipFill>
          <a:blip r:embed="rPictId0"/>
          <a:stretch>
            <a:fillRect/>
          </a:stretch>
        </p:blipFill>
        <p:spPr>
          <a:xfrm>
            <a:off x="5608320" y="5903976"/>
            <a:ext cx="1240536" cy="1240536"/>
          </a:xfrm>
          <a:prstGeom prst="rect">
            <a:avLst/>
          </a:prstGeom>
        </p:spPr>
      </p:pic>
      <p:pic>
        <p:nvPicPr>
          <p:cNvPr id="3" name=""/>
          <p:cNvPicPr>
            <a:picLocks noChangeAspect="1"/>
          </p:cNvPicPr>
          <p:nvPr/>
        </p:nvPicPr>
        <p:blipFill>
          <a:blip r:embed="rPictId1"/>
          <a:stretch>
            <a:fillRect/>
          </a:stretch>
        </p:blipFill>
        <p:spPr>
          <a:xfrm>
            <a:off x="8446008" y="5903976"/>
            <a:ext cx="1243584" cy="1240536"/>
          </a:xfrm>
          <a:prstGeom prst="rect">
            <a:avLst/>
          </a:prstGeom>
        </p:spPr>
      </p:pic>
      <p:pic>
        <p:nvPicPr>
          <p:cNvPr id="4" name=""/>
          <p:cNvPicPr>
            <a:picLocks noChangeAspect="1"/>
          </p:cNvPicPr>
          <p:nvPr/>
        </p:nvPicPr>
        <p:blipFill>
          <a:blip r:embed="rPictId2"/>
          <a:stretch>
            <a:fillRect/>
          </a:stretch>
        </p:blipFill>
        <p:spPr>
          <a:xfrm>
            <a:off x="11094720" y="5998464"/>
            <a:ext cx="1783080" cy="1051560"/>
          </a:xfrm>
          <a:prstGeom prst="rect">
            <a:avLst/>
          </a:prstGeom>
        </p:spPr>
      </p:pic>
      <p:sp>
        <p:nvSpPr>
          <p:cNvPr id="5" name=""/>
          <p:cNvSpPr/>
          <p:nvPr/>
        </p:nvSpPr>
        <p:spPr>
          <a:xfrm>
            <a:off x="1030224" y="972312"/>
            <a:ext cx="960120" cy="134112"/>
          </a:xfrm>
          <a:prstGeom prst="rect">
            <a:avLst/>
          </a:prstGeom>
          <a:solidFill>
            <a:srgbClr val="F5EBE1"/>
          </a:solidFill>
        </p:spPr>
        <p:txBody>
          <a:bodyPr lIns="0" tIns="0" rIns="0" bIns="0" wrap="none">
            <a:noAutofit/>
          </a:bodyPr>
          <a:p>
            <a:pPr indent="0"/>
            <a:r>
              <a:rPr lang="en-US" sz="1100" spc="200">
                <a:solidFill>
                  <a:srgbClr val="68686F"/>
                </a:solidFill>
                <a:latin typeface="Consolas"/>
              </a:rPr>
              <a:t>THANK YOU</a:t>
            </a:r>
          </a:p>
        </p:txBody>
      </p:sp>
      <p:sp>
        <p:nvSpPr>
          <p:cNvPr id="6" name=""/>
          <p:cNvSpPr/>
          <p:nvPr/>
        </p:nvSpPr>
        <p:spPr>
          <a:xfrm>
            <a:off x="16480536" y="963168"/>
            <a:ext cx="743712" cy="158496"/>
          </a:xfrm>
          <a:prstGeom prst="rect">
            <a:avLst/>
          </a:prstGeom>
          <a:solidFill>
            <a:srgbClr val="F5EBE1"/>
          </a:solidFill>
        </p:spPr>
        <p:txBody>
          <a:bodyPr lIns="0" tIns="0" rIns="0" bIns="0" wrap="none">
            <a:noAutofit/>
          </a:bodyPr>
          <a:p>
            <a:pPr algn="just" indent="0"/>
            <a:r>
              <a:rPr lang="en-US" sz="1100" spc="200">
                <a:solidFill>
                  <a:srgbClr val="68686F"/>
                </a:solidFill>
                <a:latin typeface="Consolas"/>
              </a:rPr>
              <a:t>17    /    17</a:t>
            </a:r>
          </a:p>
        </p:txBody>
      </p:sp>
      <p:sp>
        <p:nvSpPr>
          <p:cNvPr id="7" name=""/>
          <p:cNvSpPr/>
          <p:nvPr/>
        </p:nvSpPr>
        <p:spPr>
          <a:xfrm>
            <a:off x="4255008" y="1408176"/>
            <a:ext cx="9808464" cy="3432048"/>
          </a:xfrm>
          <a:prstGeom prst="rect">
            <a:avLst/>
          </a:prstGeom>
          <a:solidFill>
            <a:srgbClr val="F5EBE1"/>
          </a:solidFill>
        </p:spPr>
        <p:txBody>
          <a:bodyPr lIns="0" tIns="0" rIns="0" bIns="0">
            <a:noAutofit/>
          </a:bodyPr>
          <a:p>
            <a:pPr algn="ctr" indent="0">
              <a:lnSpc>
                <a:spcPts val="7236"/>
              </a:lnSpc>
            </a:pPr>
            <a:r>
              <a:rPr lang="en-US" b="1" sz="6900">
                <a:solidFill>
                  <a:srgbClr val="17181F"/>
                </a:solidFill>
                <a:latin typeface="Sylfaen"/>
              </a:rPr>
              <a:t>No girl should miss school </a:t>
            </a:r>
            <a:r>
              <a:rPr lang="en-US" i="1" sz="6300">
                <a:solidFill>
                  <a:srgbClr val="78292E"/>
                </a:solidFill>
                <a:latin typeface="Times New Roman"/>
              </a:rPr>
              <a:t>because of her period.</a:t>
            </a:r>
          </a:p>
          <a:p>
            <a:pPr algn="r" marL="96012" marR="237236" indent="0">
              <a:lnSpc>
                <a:spcPts val="3144"/>
              </a:lnSpc>
            </a:pPr>
            <a:r>
              <a:rPr lang="en-US" sz="2300">
                <a:solidFill>
                  <a:srgbClr val="3C3D41"/>
                </a:solidFill>
                <a:latin typeface="Sylfaen"/>
              </a:rPr>
              <a:t>No campus should lack a safe way to dispose of menstrual waste. Your CSR partnership makes both possible — for 1,23,000 girls, across 275 institutions,</a:t>
            </a:r>
          </a:p>
          <a:p>
            <a:pPr marL="3220212" indent="0">
              <a:lnSpc>
                <a:spcPts val="3144"/>
              </a:lnSpc>
            </a:pPr>
            <a:r>
              <a:rPr lang="en-US" sz="2300">
                <a:solidFill>
                  <a:srgbClr val="3C3D41"/>
                </a:solidFill>
                <a:latin typeface="Sylfaen"/>
              </a:rPr>
              <a:t>starting this academic year.</a:t>
            </a:r>
          </a:p>
        </p:txBody>
      </p:sp>
      <p:sp>
        <p:nvSpPr>
          <p:cNvPr id="8" name=""/>
          <p:cNvSpPr/>
          <p:nvPr/>
        </p:nvSpPr>
        <p:spPr>
          <a:xfrm>
            <a:off x="5401056" y="7278624"/>
            <a:ext cx="1633728" cy="545592"/>
          </a:xfrm>
          <a:prstGeom prst="rect">
            <a:avLst/>
          </a:prstGeom>
          <a:solidFill>
            <a:srgbClr val="F5EBE1"/>
          </a:solidFill>
        </p:spPr>
        <p:txBody>
          <a:bodyPr lIns="0" tIns="0" rIns="0" bIns="0">
            <a:noAutofit/>
          </a:bodyPr>
          <a:p>
            <a:pPr indent="0">
              <a:spcAft>
                <a:spcPts val="420"/>
              </a:spcAft>
            </a:pPr>
            <a:r>
              <a:rPr lang="en-US" sz="750" spc="200">
                <a:solidFill>
                  <a:srgbClr val="68686F"/>
                </a:solidFill>
                <a:latin typeface="Tahoma"/>
              </a:rPr>
              <a:t>IMPLEMENTING AGENCY</a:t>
            </a:r>
          </a:p>
          <a:p>
            <a:pPr marL="139700" indent="0">
              <a:spcAft>
                <a:spcPts val="420"/>
              </a:spcAft>
            </a:pPr>
            <a:r>
              <a:rPr lang="en-US" sz="1600">
                <a:solidFill>
                  <a:srgbClr val="17181F"/>
                </a:solidFill>
                <a:latin typeface="Sylfaen"/>
              </a:rPr>
              <a:t>Give For Society</a:t>
            </a:r>
          </a:p>
          <a:p>
            <a:pPr algn="ctr" indent="0"/>
            <a:r>
              <a:rPr lang="en-US" sz="750" spc="200">
                <a:solidFill>
                  <a:srgbClr val="68686F"/>
                </a:solidFill>
                <a:latin typeface="Tahoma"/>
              </a:rPr>
              <a:t>Reg. 1255/2017</a:t>
            </a:r>
          </a:p>
        </p:txBody>
      </p:sp>
      <p:sp>
        <p:nvSpPr>
          <p:cNvPr id="9" name=""/>
          <p:cNvSpPr/>
          <p:nvPr/>
        </p:nvSpPr>
        <p:spPr>
          <a:xfrm>
            <a:off x="7952232" y="7278624"/>
            <a:ext cx="2212848" cy="545592"/>
          </a:xfrm>
          <a:prstGeom prst="rect">
            <a:avLst/>
          </a:prstGeom>
          <a:solidFill>
            <a:srgbClr val="F5EBE1"/>
          </a:solidFill>
        </p:spPr>
        <p:txBody>
          <a:bodyPr lIns="0" tIns="0" rIns="0" bIns="0">
            <a:noAutofit/>
          </a:bodyPr>
          <a:p>
            <a:pPr algn="ctr" indent="0">
              <a:spcAft>
                <a:spcPts val="420"/>
              </a:spcAft>
            </a:pPr>
            <a:r>
              <a:rPr lang="en-US" sz="750" spc="200">
                <a:solidFill>
                  <a:srgbClr val="68686F"/>
                </a:solidFill>
                <a:latin typeface="Tahoma"/>
              </a:rPr>
              <a:t>PROGRAMME</a:t>
            </a:r>
          </a:p>
          <a:p>
            <a:pPr algn="ctr" indent="0">
              <a:spcAft>
                <a:spcPts val="420"/>
              </a:spcAft>
            </a:pPr>
            <a:r>
              <a:rPr lang="en-US" sz="1600">
                <a:solidFill>
                  <a:srgbClr val="17181F"/>
                </a:solidFill>
                <a:latin typeface="Sylfaen"/>
              </a:rPr>
              <a:t>Sthree Swabhiman</a:t>
            </a:r>
          </a:p>
          <a:p>
            <a:pPr indent="0"/>
            <a:r>
              <a:rPr lang="en-US" sz="750" spc="200">
                <a:solidFill>
                  <a:srgbClr val="68686F"/>
                </a:solidFill>
                <a:latin typeface="Tahoma"/>
              </a:rPr>
              <a:t>Menstrual Hygiene &amp; Dignity</a:t>
            </a:r>
          </a:p>
        </p:txBody>
      </p:sp>
      <p:sp>
        <p:nvSpPr>
          <p:cNvPr id="10" name=""/>
          <p:cNvSpPr/>
          <p:nvPr/>
        </p:nvSpPr>
        <p:spPr>
          <a:xfrm>
            <a:off x="11201400" y="7278624"/>
            <a:ext cx="1548384" cy="545592"/>
          </a:xfrm>
          <a:prstGeom prst="rect">
            <a:avLst/>
          </a:prstGeom>
          <a:solidFill>
            <a:srgbClr val="F5EBE1"/>
          </a:solidFill>
        </p:spPr>
        <p:txBody>
          <a:bodyPr lIns="0" tIns="0" rIns="0" bIns="0">
            <a:noAutofit/>
          </a:bodyPr>
          <a:p>
            <a:pPr indent="0">
              <a:spcAft>
                <a:spcPts val="420"/>
              </a:spcAft>
            </a:pPr>
            <a:r>
              <a:rPr lang="en-US" sz="750" spc="200">
                <a:solidFill>
                  <a:srgbClr val="68686F"/>
                </a:solidFill>
                <a:latin typeface="Tahoma"/>
              </a:rPr>
              <a:t>GOVERNMENT PARTNER</a:t>
            </a:r>
          </a:p>
          <a:p>
            <a:pPr marL="101600" indent="0">
              <a:spcAft>
                <a:spcPts val="420"/>
              </a:spcAft>
            </a:pPr>
            <a:r>
              <a:rPr lang="en-US" sz="1600">
                <a:solidFill>
                  <a:srgbClr val="17181F"/>
                </a:solidFill>
                <a:latin typeface="Sylfaen"/>
              </a:rPr>
              <a:t>MJPTBCWREIS</a:t>
            </a:r>
          </a:p>
          <a:p>
            <a:pPr indent="0"/>
            <a:r>
              <a:rPr lang="en-US" sz="750" spc="200">
                <a:solidFill>
                  <a:srgbClr val="68686F"/>
                </a:solidFill>
                <a:latin typeface="Tahoma"/>
              </a:rPr>
              <a:t>Govt. of Telangana</a:t>
            </a:r>
          </a:p>
        </p:txBody>
      </p:sp>
      <p:sp>
        <p:nvSpPr>
          <p:cNvPr id="11" name=""/>
          <p:cNvSpPr/>
          <p:nvPr/>
        </p:nvSpPr>
        <p:spPr>
          <a:xfrm>
            <a:off x="4916424" y="8631936"/>
            <a:ext cx="8452104" cy="158496"/>
          </a:xfrm>
          <a:prstGeom prst="rect">
            <a:avLst/>
          </a:prstGeom>
          <a:solidFill>
            <a:srgbClr val="F5EBE1"/>
          </a:solidFill>
        </p:spPr>
        <p:txBody>
          <a:bodyPr lIns="0" tIns="0" rIns="0" bIns="0" wrap="none">
            <a:noAutofit/>
          </a:bodyPr>
          <a:p>
            <a:pPr algn="just" indent="0">
              <a:spcAft>
                <a:spcPts val="2730"/>
              </a:spcAft>
            </a:pPr>
            <a:r>
              <a:rPr lang="en-US" u="sng" sz="1100" spc="200">
                <a:solidFill>
                  <a:srgbClr val="0000EE"/>
                </a:solidFill>
                <a:latin typeface="Consolas"/>
                <a:hlinkClick r:id="rLinkId0"/>
              </a:rPr>
              <a:t>r E M AIL PROTECTED!</a:t>
            </a:r>
            <a:r>
              <a:rPr lang="en-US" sz="1100" spc="200">
                <a:solidFill>
                  <a:srgbClr val="0000EE"/>
                </a:solidFill>
                <a:latin typeface="Consolas"/>
                <a:hlinkClick r:id="rLinkId0"/>
              </a:rPr>
              <a:t>    </a:t>
            </a:r>
            <a:r>
              <a:rPr lang="en-US" sz="1100" spc="200">
                <a:solidFill>
                  <a:srgbClr val="68686F"/>
                </a:solidFill>
                <a:latin typeface="Consolas"/>
              </a:rPr>
              <a:t>•    HYDERABAD, TELANGANA    •    MOC LR . NO.C2/3357/202 5</a:t>
            </a:r>
          </a:p>
        </p:txBody>
      </p:sp>
      <p:sp>
        <p:nvSpPr>
          <p:cNvPr id="12" name=""/>
          <p:cNvSpPr/>
          <p:nvPr/>
        </p:nvSpPr>
        <p:spPr>
          <a:xfrm>
            <a:off x="1036320" y="9281160"/>
            <a:ext cx="4383024" cy="131064"/>
          </a:xfrm>
          <a:prstGeom prst="rect">
            <a:avLst/>
          </a:prstGeom>
          <a:solidFill>
            <a:srgbClr val="F5EBE1"/>
          </a:solidFill>
        </p:spPr>
        <p:txBody>
          <a:bodyPr lIns="0" tIns="0" rIns="0" bIns="0" wrap="none">
            <a:noAutofit/>
          </a:bodyPr>
          <a:p>
            <a:pPr indent="0">
              <a:spcBef>
                <a:spcPts val="2730"/>
              </a:spcBef>
            </a:pPr>
            <a:r>
              <a:rPr lang="en-US" sz="1100" spc="200">
                <a:solidFill>
                  <a:srgbClr val="68686F"/>
                </a:solidFill>
                <a:latin typeface="Consolas"/>
              </a:rPr>
              <a:t>★ TELANGANA GOVERNOR’S EXCELLENCE AWARD 2025</a:t>
            </a:r>
          </a:p>
        </p:txBody>
      </p:sp>
      <p:sp>
        <p:nvSpPr>
          <p:cNvPr id="13" name=""/>
          <p:cNvSpPr/>
          <p:nvPr/>
        </p:nvSpPr>
        <p:spPr>
          <a:xfrm>
            <a:off x="12966192" y="9284208"/>
            <a:ext cx="4258056" cy="128016"/>
          </a:xfrm>
          <a:prstGeom prst="rect">
            <a:avLst/>
          </a:prstGeom>
          <a:solidFill>
            <a:srgbClr val="F5EBE1"/>
          </a:solidFill>
        </p:spPr>
        <p:txBody>
          <a:bodyPr lIns="0" tIns="0" rIns="0" bIns="0" wrap="none">
            <a:noAutofit/>
          </a:bodyPr>
          <a:p>
            <a:pPr indent="0"/>
            <a:r>
              <a:rPr lang="en-US" sz="1100" spc="200">
                <a:solidFill>
                  <a:srgbClr val="68686F"/>
                </a:solidFill>
                <a:latin typeface="Consolas"/>
              </a:rPr>
              <a:t>STHREE SWABHIMAN • CSR PARTNERSHIP PROPOSAL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100000" t="-60000" r="100000" b="20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</a:theme>
</file>

<file path=docProps/core.xml><?xml version="1.0" encoding="utf-8"?>
<cp:coreProperties xmlns:cp="http://schemas.openxmlformats.org/package/2006/metadata/core-properties" xmlns:dc="http://purl.org/dc/elements/1.1/">
  <dc:title>Sthree Swabhiman — CSR Partnership Proposal</dc:title>
  <dc:subject/>
  <dc:creator/>
  <cp:keywords/>
</cp:coreProperties>
</file>