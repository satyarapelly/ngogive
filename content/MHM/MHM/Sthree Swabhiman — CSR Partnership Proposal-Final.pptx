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.jpg" ContentType="image/jpeg"/>
  <Override PartName="/ppt/media/image3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656" y="1196975"/>
            <a:ext cx="9902686" cy="1991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.jp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jp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jpg"/><Relationship Id="rId4" Type="http://schemas.openxmlformats.org/officeDocument/2006/relationships/image" Target="../media/image3.jp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\\localhost\C:\cdn-cgi\l\email-protection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ontact@give4soiety.org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 descr="Give For Socie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762000"/>
            <a:ext cx="800099" cy="800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8500" y="873125"/>
            <a:ext cx="257619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chemeClr val="tx1"/>
                </a:solidFill>
                <a:latin typeface="Times New Roman"/>
                <a:cs typeface="Times New Roman"/>
              </a:rPr>
              <a:t>Give</a:t>
            </a:r>
            <a:r>
              <a:rPr sz="2100" b="1"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100" b="1" spc="80"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r>
              <a:rPr sz="2100" b="1"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Society</a:t>
            </a:r>
            <a:endParaRPr sz="21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950" spc="4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67110" y="861694"/>
            <a:ext cx="2559685" cy="474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48800"/>
              </a:lnSpc>
              <a:spcBef>
                <a:spcPts val="100"/>
              </a:spcBef>
              <a:tabLst>
                <a:tab pos="438784" algn="l"/>
                <a:tab pos="1292860" algn="l"/>
                <a:tab pos="1718945" algn="l"/>
                <a:tab pos="1826260" algn="l"/>
              </a:tabLst>
            </a:pP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	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T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H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P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L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D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M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Y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	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0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6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–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7</a:t>
            </a:r>
            <a:endParaRPr sz="105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7749" y="327659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35050" y="3140075"/>
            <a:ext cx="8794750" cy="52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ts val="1850"/>
              </a:lnSpc>
              <a:spcBef>
                <a:spcPts val="100"/>
              </a:spcBef>
              <a:tabLst>
                <a:tab pos="2435225" algn="l"/>
                <a:tab pos="3810000" algn="l"/>
                <a:tab pos="4153535" algn="l"/>
                <a:tab pos="5528310" algn="l"/>
              </a:tabLst>
            </a:pP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U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lang="en-US" b="1" spc="-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r>
              <a:rPr b="1" spc="-6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	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&amp;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	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D</a:t>
            </a:r>
            <a:r>
              <a:rPr b="1" spc="-6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	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V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endParaRPr b="1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2700">
              <a:lnSpc>
                <a:spcPts val="13205"/>
              </a:lnSpc>
            </a:pPr>
            <a:r>
              <a:rPr sz="12600" spc="360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endParaRPr sz="12600" dirty="0">
              <a:latin typeface="Times New Roman"/>
              <a:cs typeface="Times New Roman"/>
            </a:endParaRPr>
          </a:p>
          <a:p>
            <a:pPr marL="12700">
              <a:lnSpc>
                <a:spcPts val="13335"/>
              </a:lnSpc>
            </a:pPr>
            <a:r>
              <a:rPr sz="12600" i="1" spc="-105" dirty="0">
                <a:solidFill>
                  <a:srgbClr val="77292E"/>
                </a:solidFill>
                <a:latin typeface="Times New Roman"/>
                <a:cs typeface="Times New Roman"/>
              </a:rPr>
              <a:t>Swabhiman</a:t>
            </a:r>
            <a:endParaRPr sz="12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7800"/>
              </a:lnSpc>
              <a:spcBef>
                <a:spcPts val="2790"/>
              </a:spcBef>
            </a:pPr>
            <a:r>
              <a:rPr sz="25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Dignity,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awareness,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and</a:t>
            </a:r>
            <a:r>
              <a:rPr sz="25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safe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infrastructure</a:t>
            </a:r>
            <a:r>
              <a:rPr sz="25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for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16171F"/>
                </a:solidFill>
                <a:latin typeface="Times New Roman"/>
                <a:cs typeface="Times New Roman"/>
              </a:rPr>
              <a:t>1,23,000 </a:t>
            </a:r>
            <a:r>
              <a:rPr sz="2550" spc="125" dirty="0">
                <a:solidFill>
                  <a:srgbClr val="16171F"/>
                </a:solidFill>
                <a:latin typeface="Times New Roman"/>
                <a:cs typeface="Times New Roman"/>
              </a:rPr>
              <a:t>adolescent</a:t>
            </a:r>
            <a:r>
              <a:rPr sz="25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550" spc="10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25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across</a:t>
            </a:r>
            <a:r>
              <a:rPr sz="2550" spc="-4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275</a:t>
            </a:r>
            <a:r>
              <a:rPr sz="2550" spc="-4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50" dirty="0">
                <a:solidFill>
                  <a:srgbClr val="3B3C43"/>
                </a:solidFill>
                <a:latin typeface="Palatino Linotype"/>
                <a:cs typeface="Palatino Linotype"/>
              </a:rPr>
              <a:t>government</a:t>
            </a:r>
            <a:r>
              <a:rPr sz="25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residential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institutions</a:t>
            </a:r>
            <a:r>
              <a:rPr sz="25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in</a:t>
            </a:r>
            <a:r>
              <a:rPr sz="2550" spc="-1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Telangana.</a:t>
            </a:r>
            <a:endParaRPr sz="2550" dirty="0">
              <a:latin typeface="Palatino Linotype"/>
              <a:cs typeface="Palatino Linotype"/>
            </a:endParaRPr>
          </a:p>
        </p:txBody>
      </p:sp>
      <p:pic>
        <p:nvPicPr>
          <p:cNvPr id="8" name="object 8" descr="Sthree Swabhima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10949" y="2838450"/>
            <a:ext cx="4571999" cy="4571999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9" name="object 9"/>
          <p:cNvGrpSpPr/>
          <p:nvPr/>
        </p:nvGrpSpPr>
        <p:grpSpPr>
          <a:xfrm>
            <a:off x="11830049" y="7753349"/>
            <a:ext cx="3743325" cy="971550"/>
            <a:chOff x="11830049" y="7753349"/>
            <a:chExt cx="3743325" cy="971550"/>
          </a:xfrm>
        </p:grpSpPr>
        <p:sp>
          <p:nvSpPr>
            <p:cNvPr id="10" name="object 10"/>
            <p:cNvSpPr/>
            <p:nvPr/>
          </p:nvSpPr>
          <p:spPr>
            <a:xfrm>
              <a:off x="11830049" y="7753349"/>
              <a:ext cx="3743325" cy="971550"/>
            </a:xfrm>
            <a:custGeom>
              <a:avLst/>
              <a:gdLst/>
              <a:ahLst/>
              <a:cxnLst/>
              <a:rect l="l" t="t" r="r" b="b"/>
              <a:pathLst>
                <a:path w="3743325" h="971550">
                  <a:moveTo>
                    <a:pt x="3743324" y="971549"/>
                  </a:moveTo>
                  <a:lnTo>
                    <a:pt x="0" y="971549"/>
                  </a:lnTo>
                  <a:lnTo>
                    <a:pt x="0" y="0"/>
                  </a:lnTo>
                  <a:lnTo>
                    <a:pt x="3743324" y="0"/>
                  </a:lnTo>
                  <a:lnTo>
                    <a:pt x="3743324" y="971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6274" y="7934324"/>
              <a:ext cx="1038224" cy="6095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34811" y="7758111"/>
            <a:ext cx="3733800" cy="1143903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577340">
              <a:lnSpc>
                <a:spcPct val="150000"/>
              </a:lnSpc>
            </a:pP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900" b="1" spc="3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P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P</a:t>
            </a:r>
            <a:r>
              <a:rPr sz="900" b="1" spc="3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W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spc="-50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endParaRPr sz="900" b="1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577340">
              <a:lnSpc>
                <a:spcPct val="150000"/>
              </a:lnSpc>
            </a:pPr>
            <a:r>
              <a:rPr sz="1650" b="1" spc="5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650" b="1" dirty="0">
              <a:latin typeface="Times New Roman"/>
              <a:cs typeface="Times New Roman"/>
            </a:endParaRPr>
          </a:p>
          <a:p>
            <a:pPr marL="1577340">
              <a:lnSpc>
                <a:spcPct val="150000"/>
              </a:lnSpc>
              <a:spcBef>
                <a:spcPts val="145"/>
              </a:spcBef>
            </a:pP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V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800" b="1" spc="38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F</a:t>
            </a:r>
            <a:r>
              <a:rPr sz="800" b="1" spc="38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spc="-50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endParaRPr lang="en-US" sz="800" b="1" spc="-50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577340">
              <a:lnSpc>
                <a:spcPct val="100000"/>
              </a:lnSpc>
              <a:spcBef>
                <a:spcPts val="145"/>
              </a:spcBef>
            </a:pPr>
            <a:endParaRPr sz="8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7749" y="9410699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5050" y="9626600"/>
            <a:ext cx="47237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" algn="l"/>
                <a:tab pos="1323340" algn="l"/>
                <a:tab pos="2496820" algn="l"/>
                <a:tab pos="3670300" algn="l"/>
                <a:tab pos="4310380" algn="l"/>
              </a:tabLst>
            </a:pPr>
            <a:r>
              <a:rPr sz="1050" b="1" spc="-50" dirty="0">
                <a:solidFill>
                  <a:schemeClr val="tx1"/>
                </a:solidFill>
                <a:latin typeface="Segoe UI Symbol"/>
                <a:cs typeface="Segoe UI Symbol"/>
              </a:rPr>
              <a:t>★</a:t>
            </a:r>
            <a:r>
              <a:rPr sz="1050" b="1" dirty="0">
                <a:solidFill>
                  <a:schemeClr val="tx1"/>
                </a:solidFill>
                <a:latin typeface="Segoe UI Symbol"/>
                <a:cs typeface="Segoe UI Symbol"/>
              </a:rPr>
              <a:t>	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T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G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G</a:t>
            </a:r>
            <a:r>
              <a:rPr sz="1050" b="1" spc="-434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V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'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W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D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0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5</a:t>
            </a:r>
            <a:endParaRPr sz="105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4130" y="9626600"/>
            <a:ext cx="2120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763125" cy="2433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243522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X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S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650" dirty="0">
              <a:latin typeface="Courier New"/>
              <a:cs typeface="Courier New"/>
            </a:endParaRPr>
          </a:p>
          <a:p>
            <a:pPr marL="12700" marR="5080" algn="just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government-</a:t>
            </a:r>
            <a:r>
              <a:rPr sz="4800" spc="235" dirty="0">
                <a:solidFill>
                  <a:srgbClr val="16171F"/>
                </a:solidFill>
                <a:latin typeface="Times New Roman"/>
                <a:cs typeface="Times New Roman"/>
              </a:rPr>
              <a:t>partnered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programme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54" dirty="0">
                <a:solidFill>
                  <a:srgbClr val="16171F"/>
                </a:solidFill>
                <a:latin typeface="Times New Roman"/>
                <a:cs typeface="Times New Roman"/>
              </a:rPr>
              <a:t>end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95" dirty="0">
                <a:solidFill>
                  <a:srgbClr val="16171F"/>
                </a:solidFill>
                <a:latin typeface="Times New Roman"/>
                <a:cs typeface="Times New Roman"/>
              </a:rPr>
              <a:t>period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spc="-50" dirty="0">
                <a:solidFill>
                  <a:srgbClr val="77292E"/>
                </a:solidFill>
                <a:latin typeface="Times New Roman"/>
                <a:cs typeface="Times New Roman"/>
              </a:rPr>
              <a:t>absenteeism,</a:t>
            </a:r>
            <a:r>
              <a:rPr sz="4800" i="1" spc="-204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60" dirty="0">
                <a:solidFill>
                  <a:srgbClr val="77292E"/>
                </a:solidFill>
                <a:latin typeface="Times New Roman"/>
                <a:cs typeface="Times New Roman"/>
              </a:rPr>
              <a:t>shame,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25" dirty="0">
                <a:solidFill>
                  <a:srgbClr val="77292E"/>
                </a:solidFill>
                <a:latin typeface="Times New Roman"/>
                <a:cs typeface="Times New Roman"/>
              </a:rPr>
              <a:t>and </a:t>
            </a:r>
            <a:r>
              <a:rPr sz="4800"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unsafe</a:t>
            </a:r>
            <a:r>
              <a:rPr sz="4800" i="1" spc="-2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80" dirty="0">
                <a:solidFill>
                  <a:srgbClr val="77292E"/>
                </a:solidFill>
                <a:latin typeface="Times New Roman"/>
                <a:cs typeface="Times New Roman"/>
              </a:rPr>
              <a:t>disposal</a:t>
            </a:r>
            <a:r>
              <a:rPr sz="4800" i="1" spc="-19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across</a:t>
            </a:r>
            <a:r>
              <a:rPr sz="4800" spc="-1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r>
              <a:rPr sz="4800" spc="-19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campuses.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5050" y="3735435"/>
            <a:ext cx="8534400" cy="18483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Sthree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Swabhiman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Menstrual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14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Hygiene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initiative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adolescent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girls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MJPTBCWREIS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junior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sz="2050" spc="-12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Telangana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awareness,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sanitary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napkin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starter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kits, </a:t>
            </a:r>
            <a:r>
              <a:rPr sz="205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permanent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incinerator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infrastructure,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Trainers.</a:t>
            </a:r>
            <a:endParaRPr sz="20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926" y="5649739"/>
            <a:ext cx="8433435" cy="1375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50" spc="-1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endorsed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Memorandum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Secretary,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MJPTBCWREIS,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launched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Warangal </a:t>
            </a:r>
            <a:r>
              <a:rPr sz="2050" spc="-9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1,200+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students.</a:t>
            </a:r>
            <a:endParaRPr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7749" y="8020049"/>
            <a:ext cx="8515350" cy="9525"/>
          </a:xfrm>
          <a:custGeom>
            <a:avLst/>
            <a:gdLst/>
            <a:ahLst/>
            <a:cxnLst/>
            <a:rect l="l" t="t" r="r" b="b"/>
            <a:pathLst>
              <a:path w="8515350" h="9525">
                <a:moveTo>
                  <a:pt x="8515349" y="9524"/>
                </a:moveTo>
                <a:lnTo>
                  <a:pt x="0" y="9524"/>
                </a:lnTo>
                <a:lnTo>
                  <a:pt x="0" y="0"/>
                </a:lnTo>
                <a:lnTo>
                  <a:pt x="8515349" y="0"/>
                </a:lnTo>
                <a:lnTo>
                  <a:pt x="851534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5050" y="7742554"/>
            <a:ext cx="2585085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-140" dirty="0">
                <a:solidFill>
                  <a:srgbClr val="16171F"/>
                </a:solidFill>
                <a:latin typeface="Times New Roman"/>
                <a:cs typeface="Times New Roman"/>
              </a:rPr>
              <a:t>₹8.0</a:t>
            </a:r>
            <a:r>
              <a:rPr sz="7200" spc="459" dirty="0">
                <a:solidFill>
                  <a:srgbClr val="16171F"/>
                </a:solidFill>
                <a:latin typeface="Times New Roman"/>
                <a:cs typeface="Times New Roman"/>
              </a:rPr>
              <a:t>4</a:t>
            </a:r>
            <a:r>
              <a:rPr sz="3200" spc="5" dirty="0">
                <a:solidFill>
                  <a:srgbClr val="67686E"/>
                </a:solidFill>
                <a:latin typeface="Palatino Linotype"/>
                <a:cs typeface="Palatino Linotype"/>
              </a:rPr>
              <a:t>Cr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725805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198" y="7742554"/>
            <a:ext cx="1781175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1</a:t>
            </a:r>
            <a:r>
              <a:rPr sz="7200" spc="-2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7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120078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3207" y="7742554"/>
            <a:ext cx="1899920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3</a:t>
            </a:r>
            <a:r>
              <a:rPr sz="7200" spc="-2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7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36893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20349" y="37814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1617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20349" y="51911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11816" y="4387850"/>
            <a:ext cx="13373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60569" y="4387850"/>
            <a:ext cx="66865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14228" y="4302125"/>
            <a:ext cx="18389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420349" y="66008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11816" y="5797549"/>
            <a:ext cx="144843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80720" algn="l"/>
              </a:tabLst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9465" y="5711824"/>
            <a:ext cx="18434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20349" y="80105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411816" y="7207250"/>
            <a:ext cx="13373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83023" y="7121525"/>
            <a:ext cx="26701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r>
              <a:rPr sz="1950" spc="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girls-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only</a:t>
            </a:r>
            <a:r>
              <a:rPr sz="1950" spc="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campuses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420349" y="94202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1816" y="8616950"/>
            <a:ext cx="5568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646423" y="8531225"/>
            <a:ext cx="26066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~1,23,000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1950" spc="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annually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4"/>
            <a:ext cx="95250" cy="9524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12342" y="406400"/>
            <a:ext cx="2613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79514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705849" cy="10286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599" y="108584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48428" y="949325"/>
            <a:ext cx="186943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9770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P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743578" y="1282700"/>
            <a:ext cx="6791822" cy="4391843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ct val="87600"/>
              </a:lnSpc>
              <a:spcBef>
                <a:spcPts val="1035"/>
              </a:spcBef>
            </a:pPr>
            <a:r>
              <a:rPr sz="6300" spc="225" dirty="0">
                <a:solidFill>
                  <a:srgbClr val="FCF8EF"/>
                </a:solidFill>
                <a:latin typeface="Times New Roman"/>
                <a:cs typeface="Times New Roman"/>
              </a:rPr>
              <a:t>For</a:t>
            </a:r>
            <a:r>
              <a:rPr sz="6300" spc="-229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05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90" dirty="0">
                <a:solidFill>
                  <a:srgbClr val="FCF8EF"/>
                </a:solidFill>
                <a:latin typeface="Times New Roman"/>
                <a:cs typeface="Times New Roman"/>
              </a:rPr>
              <a:t>girl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45" dirty="0">
                <a:solidFill>
                  <a:srgbClr val="FCF8EF"/>
                </a:solidFill>
                <a:latin typeface="Times New Roman"/>
                <a:cs typeface="Times New Roman"/>
              </a:rPr>
              <a:t>in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05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250" dirty="0">
                <a:solidFill>
                  <a:srgbClr val="FCF8EF"/>
                </a:solidFill>
                <a:latin typeface="Times New Roman"/>
                <a:cs typeface="Times New Roman"/>
              </a:rPr>
              <a:t>rural </a:t>
            </a:r>
            <a:r>
              <a:rPr sz="6300" spc="225" dirty="0">
                <a:solidFill>
                  <a:srgbClr val="FCF8EF"/>
                </a:solidFill>
                <a:latin typeface="Times New Roman"/>
                <a:cs typeface="Times New Roman"/>
              </a:rPr>
              <a:t>residential</a:t>
            </a:r>
            <a:r>
              <a:rPr sz="6300" spc="-229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40" dirty="0">
                <a:solidFill>
                  <a:srgbClr val="FCF8EF"/>
                </a:solidFill>
                <a:latin typeface="Times New Roman"/>
                <a:cs typeface="Times New Roman"/>
              </a:rPr>
              <a:t>school, </a:t>
            </a:r>
            <a:r>
              <a:rPr sz="6300" spc="340" dirty="0">
                <a:solidFill>
                  <a:srgbClr val="FCF8EF"/>
                </a:solidFill>
                <a:latin typeface="Times New Roman"/>
                <a:cs typeface="Times New Roman"/>
              </a:rPr>
              <a:t>her</a:t>
            </a:r>
            <a:r>
              <a:rPr sz="6300" spc="-2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254" dirty="0">
                <a:solidFill>
                  <a:srgbClr val="FCF8EF"/>
                </a:solidFill>
                <a:latin typeface="Times New Roman"/>
                <a:cs typeface="Times New Roman"/>
              </a:rPr>
              <a:t>period</a:t>
            </a:r>
            <a:r>
              <a:rPr sz="6300" spc="-2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90" dirty="0">
                <a:solidFill>
                  <a:srgbClr val="FCF8EF"/>
                </a:solidFill>
                <a:latin typeface="Times New Roman"/>
                <a:cs typeface="Times New Roman"/>
              </a:rPr>
              <a:t>costs </a:t>
            </a:r>
            <a:r>
              <a:rPr sz="6300" spc="340" dirty="0">
                <a:solidFill>
                  <a:srgbClr val="FCF8EF"/>
                </a:solidFill>
                <a:latin typeface="Times New Roman"/>
                <a:cs typeface="Times New Roman"/>
              </a:rPr>
              <a:t>her</a:t>
            </a:r>
            <a:r>
              <a:rPr sz="6300" spc="-27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lang="en-US" sz="6300" i="1" dirty="0">
                <a:solidFill>
                  <a:srgbClr val="B89056"/>
                </a:solidFill>
                <a:latin typeface="Times New Roman"/>
                <a:cs typeface="Times New Roman"/>
              </a:rPr>
              <a:t>four</a:t>
            </a:r>
            <a:r>
              <a:rPr sz="6300" i="1" spc="-3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school</a:t>
            </a:r>
            <a:endParaRPr sz="6300" dirty="0">
              <a:latin typeface="Times New Roman"/>
              <a:cs typeface="Times New Roman"/>
            </a:endParaRPr>
          </a:p>
          <a:p>
            <a:pPr marL="12700">
              <a:lnSpc>
                <a:spcPts val="6600"/>
              </a:lnSpc>
            </a:pPr>
            <a:r>
              <a:rPr sz="6300" i="1" spc="-110" dirty="0">
                <a:solidFill>
                  <a:srgbClr val="B89056"/>
                </a:solidFill>
                <a:latin typeface="Times New Roman"/>
                <a:cs typeface="Times New Roman"/>
              </a:rPr>
              <a:t>days</a:t>
            </a:r>
            <a:r>
              <a:rPr sz="6300" i="1" spc="-26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-155" dirty="0">
                <a:solidFill>
                  <a:srgbClr val="B89056"/>
                </a:solidFill>
                <a:latin typeface="Times New Roman"/>
                <a:cs typeface="Times New Roman"/>
              </a:rPr>
              <a:t>every</a:t>
            </a:r>
            <a:r>
              <a:rPr sz="6300" i="1" spc="-26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65" dirty="0">
                <a:solidFill>
                  <a:srgbClr val="B89056"/>
                </a:solidFill>
                <a:latin typeface="Times New Roman"/>
                <a:cs typeface="Times New Roman"/>
              </a:rPr>
              <a:t>month</a:t>
            </a:r>
            <a:r>
              <a:rPr sz="6300" spc="65" dirty="0">
                <a:solidFill>
                  <a:srgbClr val="FCF8EF"/>
                </a:solidFill>
                <a:latin typeface="Times New Roman"/>
                <a:cs typeface="Times New Roman"/>
              </a:rPr>
              <a:t>.</a:t>
            </a:r>
            <a:endParaRPr sz="63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43578" y="6169024"/>
            <a:ext cx="7233284" cy="15589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75"/>
              </a:spcBef>
            </a:pP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Across</a:t>
            </a:r>
            <a:r>
              <a:rPr sz="2250" spc="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MJPTBCWREIS</a:t>
            </a:r>
            <a:r>
              <a:rPr sz="2250" spc="1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campuses,</a:t>
            </a:r>
            <a:r>
              <a:rPr sz="2250" spc="1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menstruation</a:t>
            </a:r>
            <a:r>
              <a:rPr sz="2250" spc="1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collides </a:t>
            </a:r>
            <a:r>
              <a:rPr sz="2250" spc="-35" dirty="0">
                <a:solidFill>
                  <a:srgbClr val="CDC1B8"/>
                </a:solidFill>
                <a:latin typeface="Palatino Linotype"/>
                <a:cs typeface="Palatino Linotype"/>
              </a:rPr>
              <a:t>with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three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failures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at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once: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no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CDC1B8"/>
                </a:solidFill>
                <a:latin typeface="Palatino Linotype"/>
                <a:cs typeface="Palatino Linotype"/>
              </a:rPr>
              <a:t>awareness,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no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reliable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products,</a:t>
            </a:r>
            <a:r>
              <a:rPr sz="2250" spc="-5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and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nowhere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safe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to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dispose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of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CDC1B8"/>
                </a:solidFill>
                <a:latin typeface="Palatino Linotype"/>
                <a:cs typeface="Palatino Linotype"/>
              </a:rPr>
              <a:t>waste.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The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result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is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silence,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shame,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and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absence.</a:t>
            </a:r>
            <a:endParaRPr sz="2250" dirty="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599" y="8972548"/>
            <a:ext cx="7486650" cy="9525"/>
          </a:xfrm>
          <a:custGeom>
            <a:avLst/>
            <a:gdLst/>
            <a:ahLst/>
            <a:cxnLst/>
            <a:rect l="l" t="t" r="r" b="b"/>
            <a:pathLst>
              <a:path w="7486650" h="9525">
                <a:moveTo>
                  <a:pt x="7486649" y="9524"/>
                </a:moveTo>
                <a:lnTo>
                  <a:pt x="0" y="9524"/>
                </a:lnTo>
                <a:lnTo>
                  <a:pt x="0" y="0"/>
                </a:lnTo>
                <a:lnTo>
                  <a:pt x="7486649" y="0"/>
                </a:lnTo>
                <a:lnTo>
                  <a:pt x="7486649" y="9524"/>
                </a:lnTo>
                <a:close/>
              </a:path>
            </a:pathLst>
          </a:custGeom>
          <a:solidFill>
            <a:srgbClr val="524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43578" y="9245600"/>
            <a:ext cx="4723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" algn="l"/>
                <a:tab pos="1323340" algn="l"/>
                <a:tab pos="2496820" algn="l"/>
                <a:tab pos="3670300" algn="l"/>
                <a:tab pos="4310380" algn="l"/>
              </a:tabLst>
            </a:pPr>
            <a:r>
              <a:rPr sz="1050" spc="-50" dirty="0">
                <a:solidFill>
                  <a:srgbClr val="968D86"/>
                </a:solidFill>
                <a:latin typeface="Segoe UI Symbol"/>
                <a:cs typeface="Segoe UI Symbol"/>
              </a:rPr>
              <a:t>★</a:t>
            </a:r>
            <a:r>
              <a:rPr sz="1050" dirty="0">
                <a:solidFill>
                  <a:srgbClr val="968D86"/>
                </a:solidFill>
                <a:latin typeface="Segoe UI Symbol"/>
                <a:cs typeface="Segoe UI Symbol"/>
              </a:rPr>
              <a:t>	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G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G</a:t>
            </a:r>
            <a:r>
              <a:rPr sz="1050" spc="-434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V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'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S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X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D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2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2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7240" y="9236075"/>
            <a:ext cx="2239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8825" algn="l"/>
                <a:tab pos="1825625" algn="l"/>
                <a:tab pos="2038985" algn="l"/>
              </a:tabLst>
            </a:pP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S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B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25526" y="406400"/>
            <a:ext cx="1899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862820" cy="11569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3294379" algn="l"/>
                <a:tab pos="3810000" algn="l"/>
                <a:tab pos="501269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O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scale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80" dirty="0">
                <a:solidFill>
                  <a:srgbClr val="16171F"/>
                </a:solidFill>
                <a:latin typeface="Times New Roman"/>
                <a:cs typeface="Times New Roman"/>
              </a:rPr>
              <a:t>of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gap,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55" dirty="0">
                <a:solidFill>
                  <a:srgbClr val="16171F"/>
                </a:solidFill>
                <a:latin typeface="Times New Roman"/>
                <a:cs typeface="Times New Roman"/>
              </a:rPr>
              <a:t>four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0" dirty="0">
                <a:solidFill>
                  <a:srgbClr val="16171F"/>
                </a:solidFill>
                <a:latin typeface="Times New Roman"/>
                <a:cs typeface="Times New Roman"/>
              </a:rPr>
              <a:t>numbers.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774100"/>
              </p:ext>
            </p:extLst>
          </p:nvPr>
        </p:nvGraphicFramePr>
        <p:xfrm>
          <a:off x="1047749" y="2495548"/>
          <a:ext cx="16189958" cy="635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2035">
                <a:tc>
                  <a:txBody>
                    <a:bodyPr/>
                    <a:lstStyle/>
                    <a:p>
                      <a:pPr marL="304800">
                        <a:lnSpc>
                          <a:spcPts val="17965"/>
                        </a:lnSpc>
                      </a:pPr>
                      <a:r>
                        <a:rPr sz="15000" spc="-525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4–</a:t>
                      </a:r>
                      <a:r>
                        <a:rPr sz="15000" spc="10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-71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7500" spc="-12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7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10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-74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7500" spc="-15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×</a:t>
                      </a:r>
                      <a:endParaRPr sz="7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tabLst>
                          <a:tab pos="1050925" algn="l"/>
                          <a:tab pos="1584325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D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L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4800" marR="443865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8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institution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misses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800" spc="-1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menstruation.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tabLst>
                          <a:tab pos="1056005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382270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8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girls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cloth,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sanitary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protection.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tabLst>
                          <a:tab pos="842644" algn="l"/>
                          <a:tab pos="1802764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D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769620" algn="l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</a:t>
                      </a:r>
                      <a:r>
                        <a:rPr sz="1800" spc="-114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MJPTBCWREIS</a:t>
                      </a:r>
                      <a:r>
                        <a:rPr sz="1800" spc="-1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campuses </a:t>
                      </a:r>
                      <a:r>
                        <a:rPr sz="1800" spc="-8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incinerator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openly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burned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buried.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 algn="just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50" spc="409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516890" algn="just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1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1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8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menstrual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hygiene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sessions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girls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their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entire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schooling.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5050" y="9071889"/>
            <a:ext cx="86721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145" dirty="0">
                <a:solidFill>
                  <a:srgbClr val="67686E"/>
                </a:solidFill>
                <a:latin typeface="Arial"/>
                <a:cs typeface="Arial"/>
              </a:rPr>
              <a:t>Source: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50" dirty="0">
                <a:solidFill>
                  <a:srgbClr val="67686E"/>
                </a:solidFill>
                <a:latin typeface="Arial"/>
                <a:cs typeface="Arial"/>
              </a:rPr>
              <a:t>Programme</a:t>
            </a:r>
            <a:r>
              <a:rPr sz="2050" i="1" spc="-90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10" dirty="0">
                <a:solidFill>
                  <a:srgbClr val="67686E"/>
                </a:solidFill>
                <a:latin typeface="Arial"/>
                <a:cs typeface="Arial"/>
              </a:rPr>
              <a:t>baseline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35" dirty="0">
                <a:solidFill>
                  <a:srgbClr val="67686E"/>
                </a:solidFill>
                <a:latin typeface="Arial"/>
                <a:cs typeface="Arial"/>
              </a:rPr>
              <a:t>survey,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250" dirty="0">
                <a:solidFill>
                  <a:srgbClr val="67686E"/>
                </a:solidFill>
                <a:latin typeface="Arial"/>
                <a:cs typeface="Arial"/>
              </a:rPr>
              <a:t>MJPTBCWREIS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45" dirty="0">
                <a:solidFill>
                  <a:srgbClr val="67686E"/>
                </a:solidFill>
                <a:latin typeface="Arial"/>
                <a:cs typeface="Arial"/>
              </a:rPr>
              <a:t>pilot,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60" dirty="0">
                <a:solidFill>
                  <a:srgbClr val="67686E"/>
                </a:solidFill>
                <a:latin typeface="Arial"/>
                <a:cs typeface="Arial"/>
              </a:rPr>
              <a:t>Warangal</a:t>
            </a:r>
            <a:r>
              <a:rPr sz="2050" i="1" spc="-90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00" dirty="0">
                <a:solidFill>
                  <a:srgbClr val="67686E"/>
                </a:solidFill>
                <a:latin typeface="Arial"/>
                <a:cs typeface="Arial"/>
              </a:rPr>
              <a:t>Dist.,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80" dirty="0">
                <a:solidFill>
                  <a:srgbClr val="67686E"/>
                </a:solidFill>
                <a:latin typeface="Arial"/>
                <a:cs typeface="Arial"/>
              </a:rPr>
              <a:t>Nov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67686E"/>
                </a:solidFill>
                <a:latin typeface="Arial"/>
                <a:cs typeface="Arial"/>
              </a:rPr>
              <a:t>2025.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3"/>
            <a:ext cx="95250" cy="95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68934" y="406400"/>
            <a:ext cx="2256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8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3879194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20" dirty="0">
                <a:solidFill>
                  <a:srgbClr val="16171F"/>
                </a:solidFill>
                <a:latin typeface="Times New Roman"/>
                <a:cs typeface="Times New Roman"/>
              </a:rPr>
              <a:t>four-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part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5" dirty="0">
                <a:solidFill>
                  <a:srgbClr val="16171F"/>
                </a:solidFill>
                <a:latin typeface="Times New Roman"/>
                <a:cs typeface="Times New Roman"/>
              </a:rPr>
              <a:t>programme,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4" dirty="0">
                <a:solidFill>
                  <a:srgbClr val="16171F"/>
                </a:solidFill>
                <a:latin typeface="Times New Roman"/>
                <a:cs typeface="Times New Roman"/>
              </a:rPr>
              <a:t>delivered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90" dirty="0">
                <a:solidFill>
                  <a:srgbClr val="16171F"/>
                </a:solidFill>
                <a:latin typeface="Times New Roman"/>
                <a:cs typeface="Times New Roman"/>
              </a:rPr>
              <a:t>annually,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designed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spc="-80" dirty="0">
                <a:solidFill>
                  <a:srgbClr val="77292E"/>
                </a:solidFill>
                <a:latin typeface="Times New Roman"/>
                <a:cs typeface="Times New Roman"/>
              </a:rPr>
              <a:t>graduate</a:t>
            </a:r>
            <a:r>
              <a:rPr sz="4800" i="1" spc="-18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65" dirty="0">
                <a:solidFill>
                  <a:srgbClr val="77292E"/>
                </a:solidFill>
                <a:latin typeface="Times New Roman"/>
                <a:cs typeface="Times New Roman"/>
              </a:rPr>
              <a:t>to</a:t>
            </a:r>
            <a:r>
              <a:rPr sz="4800" i="1" spc="-19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77292E"/>
                </a:solidFill>
                <a:latin typeface="Times New Roman"/>
                <a:cs typeface="Times New Roman"/>
              </a:rPr>
              <a:t>institutional</a:t>
            </a:r>
            <a:r>
              <a:rPr sz="4800" i="1" spc="-18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105" dirty="0">
                <a:solidFill>
                  <a:srgbClr val="77292E"/>
                </a:solidFill>
                <a:latin typeface="Times New Roman"/>
                <a:cs typeface="Times New Roman"/>
              </a:rPr>
              <a:t>self-</a:t>
            </a:r>
            <a:r>
              <a:rPr sz="4800" i="1" spc="-100" dirty="0">
                <a:solidFill>
                  <a:srgbClr val="77292E"/>
                </a:solidFill>
                <a:latin typeface="Times New Roman"/>
                <a:cs typeface="Times New Roman"/>
              </a:rPr>
              <a:t>reliance</a:t>
            </a:r>
            <a:r>
              <a:rPr sz="4800" i="1" spc="-14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by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Year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-25" dirty="0">
                <a:solidFill>
                  <a:srgbClr val="16171F"/>
                </a:solidFill>
                <a:latin typeface="Times New Roman"/>
                <a:cs typeface="Times New Roman"/>
              </a:rPr>
              <a:t>3.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3133723"/>
            <a:ext cx="3848100" cy="6296025"/>
            <a:chOff x="1047749" y="3133723"/>
            <a:chExt cx="3848100" cy="6296025"/>
          </a:xfrm>
        </p:grpSpPr>
        <p:sp>
          <p:nvSpPr>
            <p:cNvPr id="6" name="object 6"/>
            <p:cNvSpPr/>
            <p:nvPr/>
          </p:nvSpPr>
          <p:spPr>
            <a:xfrm>
              <a:off x="10477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39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2512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050" dirty="0">
              <a:latin typeface="Courier New"/>
              <a:cs typeface="Courier New"/>
            </a:endParaRPr>
          </a:p>
          <a:p>
            <a:pPr marL="271145" marR="286385">
              <a:lnSpc>
                <a:spcPct val="95800"/>
              </a:lnSpc>
              <a:spcBef>
                <a:spcPts val="950"/>
              </a:spcBef>
            </a:pP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Structured</a:t>
            </a:r>
            <a:r>
              <a:rPr sz="225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55" dirty="0">
                <a:solidFill>
                  <a:srgbClr val="16171F"/>
                </a:solidFill>
                <a:latin typeface="Times New Roman"/>
                <a:cs typeface="Times New Roman"/>
              </a:rPr>
              <a:t>MHM</a:t>
            </a:r>
            <a:r>
              <a:rPr sz="225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sessions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every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institution,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every </a:t>
            </a: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year.</a:t>
            </a:r>
            <a:endParaRPr sz="2250" dirty="0">
              <a:latin typeface="Times New Roman"/>
              <a:cs typeface="Times New Roman"/>
            </a:endParaRPr>
          </a:p>
          <a:p>
            <a:pPr marL="271145" marR="481965">
              <a:lnSpc>
                <a:spcPct val="116399"/>
              </a:lnSpc>
              <a:spcBef>
                <a:spcPts val="1040"/>
              </a:spcBef>
            </a:pP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day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workshops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cycle, 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hygiene,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myth-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busting,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emotional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being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9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in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Telugu.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 dirty="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6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50" dirty="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62549" y="3133723"/>
            <a:ext cx="3848100" cy="6296025"/>
            <a:chOff x="5162549" y="3133723"/>
            <a:chExt cx="3848100" cy="6296025"/>
          </a:xfrm>
        </p:grpSpPr>
        <p:sp>
          <p:nvSpPr>
            <p:cNvPr id="10" name="object 10"/>
            <p:cNvSpPr/>
            <p:nvPr/>
          </p:nvSpPr>
          <p:spPr>
            <a:xfrm>
              <a:off x="51625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387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67312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050">
              <a:latin typeface="Courier New"/>
              <a:cs typeface="Courier New"/>
            </a:endParaRPr>
          </a:p>
          <a:p>
            <a:pPr marL="271145" marR="494030">
              <a:lnSpc>
                <a:spcPct val="95800"/>
              </a:lnSpc>
              <a:spcBef>
                <a:spcPts val="950"/>
              </a:spcBef>
            </a:pPr>
            <a:r>
              <a:rPr sz="2250" spc="100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00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placed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14" dirty="0">
                <a:solidFill>
                  <a:srgbClr val="16171F"/>
                </a:solidFill>
                <a:latin typeface="Times New Roman"/>
                <a:cs typeface="Times New Roman"/>
              </a:rPr>
              <a:t>the </a:t>
            </a:r>
            <a:r>
              <a:rPr sz="2250" spc="125" dirty="0">
                <a:solidFill>
                  <a:srgbClr val="16171F"/>
                </a:solidFill>
                <a:latin typeface="Times New Roman"/>
                <a:cs typeface="Times New Roman"/>
              </a:rPr>
              <a:t>hands</a:t>
            </a:r>
            <a:r>
              <a:rPr sz="22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of every </a:t>
            </a:r>
            <a:r>
              <a:rPr sz="2250" spc="40" dirty="0">
                <a:solidFill>
                  <a:srgbClr val="16171F"/>
                </a:solidFill>
                <a:latin typeface="Times New Roman"/>
                <a:cs typeface="Times New Roman"/>
              </a:rPr>
              <a:t>newly-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enrolled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40" dirty="0">
                <a:solidFill>
                  <a:srgbClr val="16171F"/>
                </a:solidFill>
                <a:latin typeface="Times New Roman"/>
                <a:cs typeface="Times New Roman"/>
              </a:rPr>
              <a:t>girl.</a:t>
            </a:r>
            <a:endParaRPr sz="2250">
              <a:latin typeface="Times New Roman"/>
              <a:cs typeface="Times New Roman"/>
            </a:endParaRPr>
          </a:p>
          <a:p>
            <a:pPr marL="271145" marR="513080">
              <a:lnSpc>
                <a:spcPct val="116399"/>
              </a:lnSpc>
              <a:spcBef>
                <a:spcPts val="1040"/>
              </a:spcBef>
            </a:pP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sanitary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napkin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girl,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30" dirty="0">
                <a:solidFill>
                  <a:srgbClr val="3B3C43"/>
                </a:solidFill>
                <a:latin typeface="Arial"/>
                <a:cs typeface="Arial"/>
              </a:rPr>
              <a:t>a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user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guide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demonstration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on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safe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disposal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practice.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77349" y="3133723"/>
            <a:ext cx="3848100" cy="6296025"/>
            <a:chOff x="9277349" y="3133723"/>
            <a:chExt cx="3848100" cy="6296025"/>
          </a:xfrm>
        </p:grpSpPr>
        <p:sp>
          <p:nvSpPr>
            <p:cNvPr id="14" name="object 14"/>
            <p:cNvSpPr/>
            <p:nvPr/>
          </p:nvSpPr>
          <p:spPr>
            <a:xfrm>
              <a:off x="92773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535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82111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050">
              <a:latin typeface="Courier New"/>
              <a:cs typeface="Courier New"/>
            </a:endParaRPr>
          </a:p>
          <a:p>
            <a:pPr marL="271145" marR="604520">
              <a:lnSpc>
                <a:spcPct val="95800"/>
              </a:lnSpc>
              <a:spcBef>
                <a:spcPts val="950"/>
              </a:spcBef>
            </a:pP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Permanent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eco-</a:t>
            </a:r>
            <a:r>
              <a:rPr sz="2250" spc="55" dirty="0">
                <a:solidFill>
                  <a:srgbClr val="16171F"/>
                </a:solidFill>
                <a:latin typeface="Times New Roman"/>
                <a:cs typeface="Times New Roman"/>
              </a:rPr>
              <a:t>friendly </a:t>
            </a: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225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225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every </a:t>
            </a:r>
            <a:r>
              <a:rPr sz="2250" spc="7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2250">
              <a:latin typeface="Times New Roman"/>
              <a:cs typeface="Times New Roman"/>
            </a:endParaRPr>
          </a:p>
          <a:p>
            <a:pPr marL="271145" marR="323850">
              <a:lnSpc>
                <a:spcPct val="116399"/>
              </a:lnSpc>
              <a:spcBef>
                <a:spcPts val="1040"/>
              </a:spcBef>
            </a:pPr>
            <a:r>
              <a:rPr sz="1450" spc="-85" dirty="0">
                <a:solidFill>
                  <a:srgbClr val="3B3C43"/>
                </a:solidFill>
                <a:latin typeface="Arial"/>
                <a:cs typeface="Arial"/>
              </a:rPr>
              <a:t>Two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units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institution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9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9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time 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capital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investment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9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year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service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life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on-site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training.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92148" y="3133723"/>
            <a:ext cx="3848100" cy="6296025"/>
            <a:chOff x="13392148" y="3133723"/>
            <a:chExt cx="3848100" cy="6296025"/>
          </a:xfrm>
        </p:grpSpPr>
        <p:sp>
          <p:nvSpPr>
            <p:cNvPr id="18" name="object 18"/>
            <p:cNvSpPr/>
            <p:nvPr/>
          </p:nvSpPr>
          <p:spPr>
            <a:xfrm>
              <a:off x="13392148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668373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396910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 algn="just">
              <a:lnSpc>
                <a:spcPct val="100000"/>
              </a:lnSpc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050">
              <a:latin typeface="Courier New"/>
              <a:cs typeface="Courier New"/>
            </a:endParaRPr>
          </a:p>
          <a:p>
            <a:pPr marL="271145" marR="584835" algn="just">
              <a:lnSpc>
                <a:spcPct val="95800"/>
              </a:lnSpc>
              <a:spcBef>
                <a:spcPts val="950"/>
              </a:spcBef>
            </a:pP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Training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of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Trainers,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55" dirty="0">
                <a:solidFill>
                  <a:srgbClr val="16171F"/>
                </a:solidFill>
                <a:latin typeface="Times New Roman"/>
                <a:cs typeface="Times New Roman"/>
              </a:rPr>
              <a:t>so </a:t>
            </a:r>
            <a:r>
              <a:rPr sz="2250" spc="14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14" dirty="0">
                <a:solidFill>
                  <a:srgbClr val="16171F"/>
                </a:solidFill>
                <a:latin typeface="Times New Roman"/>
                <a:cs typeface="Times New Roman"/>
              </a:rPr>
              <a:t>programme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50" dirty="0">
                <a:solidFill>
                  <a:srgbClr val="16171F"/>
                </a:solidFill>
                <a:latin typeface="Times New Roman"/>
                <a:cs typeface="Times New Roman"/>
              </a:rPr>
              <a:t>outlives </a:t>
            </a:r>
            <a:r>
              <a:rPr sz="2250" spc="110" dirty="0">
                <a:solidFill>
                  <a:srgbClr val="16171F"/>
                </a:solidFill>
                <a:latin typeface="Times New Roman"/>
                <a:cs typeface="Times New Roman"/>
              </a:rPr>
              <a:t>our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presence.</a:t>
            </a:r>
            <a:endParaRPr sz="2250">
              <a:latin typeface="Times New Roman"/>
              <a:cs typeface="Times New Roman"/>
            </a:endParaRPr>
          </a:p>
          <a:p>
            <a:pPr marL="271145" marR="288290">
              <a:lnSpc>
                <a:spcPct val="116399"/>
              </a:lnSpc>
              <a:spcBef>
                <a:spcPts val="1040"/>
              </a:spcBef>
            </a:pPr>
            <a:r>
              <a:rPr sz="1450" spc="-85" dirty="0">
                <a:solidFill>
                  <a:srgbClr val="3B3C43"/>
                </a:solidFill>
                <a:latin typeface="Arial"/>
                <a:cs typeface="Arial"/>
              </a:rPr>
              <a:t>Lady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wardens,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science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teachers,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peer-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mentor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students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certified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deliver 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content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independently.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+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3"/>
            <a:ext cx="95250" cy="952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206612" y="406400"/>
            <a:ext cx="2019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758634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435225" algn="l"/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G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650" dirty="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5" dirty="0">
                <a:solidFill>
                  <a:srgbClr val="16171F"/>
                </a:solidFill>
                <a:latin typeface="Times New Roman"/>
                <a:cs typeface="Times New Roman"/>
              </a:rPr>
              <a:t>Four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interventions,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delivered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together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48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37" y="3133722"/>
            <a:ext cx="3895737" cy="7153277"/>
            <a:chOff x="1047737" y="3133722"/>
            <a:chExt cx="3895737" cy="7153277"/>
          </a:xfrm>
        </p:grpSpPr>
        <p:sp>
          <p:nvSpPr>
            <p:cNvPr id="4" name="object 4"/>
            <p:cNvSpPr/>
            <p:nvPr/>
          </p:nvSpPr>
          <p:spPr>
            <a:xfrm>
              <a:off x="1047749" y="3133722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4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95724" y="0"/>
                  </a:lnTo>
                  <a:lnTo>
                    <a:pt x="3895724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737" y="3133724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5" y="0"/>
                  </a:moveTo>
                  <a:lnTo>
                    <a:pt x="3886200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86200" y="9525"/>
                  </a:lnTo>
                  <a:lnTo>
                    <a:pt x="3886200" y="7153275"/>
                  </a:lnTo>
                  <a:lnTo>
                    <a:pt x="3895725" y="715327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57274" y="3162301"/>
              <a:ext cx="3876674" cy="456120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7274" y="8162607"/>
            <a:ext cx="3876675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  <a:p>
            <a:pPr marL="209550" marR="592455">
              <a:lnSpc>
                <a:spcPts val="2180"/>
              </a:lnSpc>
              <a:spcBef>
                <a:spcPts val="915"/>
              </a:spcBef>
            </a:pPr>
            <a:r>
              <a:rPr sz="1950" spc="110" dirty="0">
                <a:solidFill>
                  <a:srgbClr val="16171F"/>
                </a:solidFill>
                <a:latin typeface="Times New Roman"/>
                <a:cs typeface="Times New Roman"/>
              </a:rPr>
              <a:t>One-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day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35" dirty="0">
                <a:solidFill>
                  <a:srgbClr val="16171F"/>
                </a:solidFill>
                <a:latin typeface="Times New Roman"/>
                <a:cs typeface="Times New Roman"/>
              </a:rPr>
              <a:t>MHM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workshop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in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institution.</a:t>
            </a:r>
            <a:endParaRPr sz="1950">
              <a:latin typeface="Times New Roman"/>
              <a:cs typeface="Times New Roman"/>
            </a:endParaRPr>
          </a:p>
          <a:p>
            <a:pPr marL="209550" marR="222250">
              <a:lnSpc>
                <a:spcPct val="115399"/>
              </a:lnSpc>
              <a:spcBef>
                <a:spcPts val="869"/>
              </a:spcBef>
            </a:pP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cycle,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hygiene,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myth-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busting,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emotional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being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incinerator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use.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flipbooks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+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facilitator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script.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53012" y="3133722"/>
            <a:ext cx="3886212" cy="7153277"/>
            <a:chOff x="5153012" y="3133722"/>
            <a:chExt cx="3886212" cy="7153277"/>
          </a:xfrm>
        </p:grpSpPr>
        <p:sp>
          <p:nvSpPr>
            <p:cNvPr id="9" name="object 9"/>
            <p:cNvSpPr/>
            <p:nvPr/>
          </p:nvSpPr>
          <p:spPr>
            <a:xfrm>
              <a:off x="5153024" y="3133722"/>
              <a:ext cx="3886200" cy="7153275"/>
            </a:xfrm>
            <a:custGeom>
              <a:avLst/>
              <a:gdLst/>
              <a:ahLst/>
              <a:cxnLst/>
              <a:rect l="l" t="t" r="r" b="b"/>
              <a:pathLst>
                <a:path w="3886200" h="7153275">
                  <a:moveTo>
                    <a:pt x="3886199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86199" y="0"/>
                  </a:lnTo>
                  <a:lnTo>
                    <a:pt x="3886199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3012" y="3133724"/>
              <a:ext cx="3886200" cy="7153275"/>
            </a:xfrm>
            <a:custGeom>
              <a:avLst/>
              <a:gdLst/>
              <a:ahLst/>
              <a:cxnLst/>
              <a:rect l="l" t="t" r="r" b="b"/>
              <a:pathLst>
                <a:path w="3886200" h="7153275">
                  <a:moveTo>
                    <a:pt x="3886200" y="0"/>
                  </a:moveTo>
                  <a:lnTo>
                    <a:pt x="387667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76675" y="9525"/>
                  </a:lnTo>
                  <a:lnTo>
                    <a:pt x="3876675" y="7153275"/>
                  </a:lnTo>
                  <a:lnTo>
                    <a:pt x="3886200" y="7153275"/>
                  </a:lnTo>
                  <a:lnTo>
                    <a:pt x="3886200" y="9525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2549" y="3162300"/>
              <a:ext cx="3867149" cy="45730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162549" y="8162607"/>
            <a:ext cx="3867150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  <a:p>
            <a:pPr marL="204470" marR="429259">
              <a:lnSpc>
                <a:spcPts val="2180"/>
              </a:lnSpc>
              <a:spcBef>
                <a:spcPts val="915"/>
              </a:spcBef>
            </a:pP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napkin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in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girl's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hands.</a:t>
            </a:r>
            <a:endParaRPr sz="1950">
              <a:latin typeface="Times New Roman"/>
              <a:cs typeface="Times New Roman"/>
            </a:endParaRPr>
          </a:p>
          <a:p>
            <a:pPr marL="204470" marR="434975">
              <a:lnSpc>
                <a:spcPct val="115399"/>
              </a:lnSpc>
              <a:spcBef>
                <a:spcPts val="869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newly-enrolled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girl,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printed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user guide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live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demonstration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on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safe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disposal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practice.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48762" y="3133722"/>
            <a:ext cx="3895737" cy="7153277"/>
            <a:chOff x="9248762" y="3133722"/>
            <a:chExt cx="3895737" cy="7153277"/>
          </a:xfrm>
        </p:grpSpPr>
        <p:sp>
          <p:nvSpPr>
            <p:cNvPr id="14" name="object 14"/>
            <p:cNvSpPr/>
            <p:nvPr/>
          </p:nvSpPr>
          <p:spPr>
            <a:xfrm>
              <a:off x="9248774" y="3133722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4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95724" y="0"/>
                  </a:lnTo>
                  <a:lnTo>
                    <a:pt x="3895724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48762" y="3133724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5" y="0"/>
                  </a:moveTo>
                  <a:lnTo>
                    <a:pt x="3886200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86200" y="9525"/>
                  </a:lnTo>
                  <a:lnTo>
                    <a:pt x="3886200" y="7153275"/>
                  </a:lnTo>
                  <a:lnTo>
                    <a:pt x="3895725" y="715327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8299" y="3143249"/>
              <a:ext cx="3876674" cy="459212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258299" y="8162607"/>
            <a:ext cx="3876675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 marL="209550" marR="431165">
              <a:lnSpc>
                <a:spcPts val="2180"/>
              </a:lnSpc>
              <a:spcBef>
                <a:spcPts val="915"/>
              </a:spcBef>
            </a:pP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Permanent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eco-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friendly 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19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1950">
              <a:latin typeface="Times New Roman"/>
              <a:cs typeface="Times New Roman"/>
            </a:endParaRPr>
          </a:p>
          <a:p>
            <a:pPr marL="209550" marR="377190">
              <a:lnSpc>
                <a:spcPct val="115399"/>
              </a:lnSpc>
              <a:spcBef>
                <a:spcPts val="869"/>
              </a:spcBef>
            </a:pP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Two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units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institution.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time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capital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investment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service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life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first-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maintenance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contract.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354048" y="3133722"/>
            <a:ext cx="3886200" cy="7153275"/>
          </a:xfrm>
          <a:custGeom>
            <a:avLst/>
            <a:gdLst/>
            <a:ahLst/>
            <a:cxnLst/>
            <a:rect l="l" t="t" r="r" b="b"/>
            <a:pathLst>
              <a:path w="3886200" h="7153275">
                <a:moveTo>
                  <a:pt x="3886199" y="7153274"/>
                </a:moveTo>
                <a:lnTo>
                  <a:pt x="0" y="7153274"/>
                </a:lnTo>
                <a:lnTo>
                  <a:pt x="0" y="0"/>
                </a:lnTo>
                <a:lnTo>
                  <a:pt x="3886199" y="0"/>
                </a:lnTo>
                <a:lnTo>
                  <a:pt x="3886199" y="7153274"/>
                </a:lnTo>
                <a:close/>
              </a:path>
            </a:pathLst>
          </a:custGeom>
          <a:solidFill>
            <a:srgbClr val="FCF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354037" y="3133724"/>
            <a:ext cx="3886200" cy="7153275"/>
          </a:xfrm>
          <a:custGeom>
            <a:avLst/>
            <a:gdLst/>
            <a:ahLst/>
            <a:cxnLst/>
            <a:rect l="l" t="t" r="r" b="b"/>
            <a:pathLst>
              <a:path w="3886200" h="7153275">
                <a:moveTo>
                  <a:pt x="3886200" y="0"/>
                </a:moveTo>
                <a:lnTo>
                  <a:pt x="3876675" y="0"/>
                </a:lnTo>
                <a:lnTo>
                  <a:pt x="9525" y="0"/>
                </a:lnTo>
                <a:lnTo>
                  <a:pt x="0" y="0"/>
                </a:lnTo>
                <a:lnTo>
                  <a:pt x="0" y="9525"/>
                </a:lnTo>
                <a:lnTo>
                  <a:pt x="0" y="7153275"/>
                </a:lnTo>
                <a:lnTo>
                  <a:pt x="9525" y="7153275"/>
                </a:lnTo>
                <a:lnTo>
                  <a:pt x="9525" y="9525"/>
                </a:lnTo>
                <a:lnTo>
                  <a:pt x="3876675" y="9525"/>
                </a:lnTo>
                <a:lnTo>
                  <a:pt x="3876675" y="7153275"/>
                </a:lnTo>
                <a:lnTo>
                  <a:pt x="3886200" y="7153275"/>
                </a:lnTo>
                <a:lnTo>
                  <a:pt x="3886200" y="9525"/>
                </a:lnTo>
                <a:lnTo>
                  <a:pt x="3886200" y="0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63574" y="3143249"/>
            <a:ext cx="3867149" cy="458025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363573" y="8162607"/>
            <a:ext cx="3867150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950" dirty="0">
              <a:latin typeface="Courier New"/>
              <a:cs typeface="Courier New"/>
            </a:endParaRPr>
          </a:p>
          <a:p>
            <a:pPr marL="204470" marR="687070">
              <a:lnSpc>
                <a:spcPts val="2180"/>
              </a:lnSpc>
              <a:spcBef>
                <a:spcPts val="915"/>
              </a:spcBef>
            </a:pP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Training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of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Trainers,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so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the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programme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5" dirty="0">
                <a:solidFill>
                  <a:srgbClr val="16171F"/>
                </a:solidFill>
                <a:latin typeface="Times New Roman"/>
                <a:cs typeface="Times New Roman"/>
              </a:rPr>
              <a:t>outlives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16171F"/>
                </a:solidFill>
                <a:latin typeface="Times New Roman"/>
                <a:cs typeface="Times New Roman"/>
              </a:rPr>
              <a:t>us.</a:t>
            </a:r>
            <a:endParaRPr sz="1950" dirty="0">
              <a:latin typeface="Times New Roman"/>
              <a:cs typeface="Times New Roman"/>
            </a:endParaRPr>
          </a:p>
          <a:p>
            <a:pPr marL="204470" marR="289560">
              <a:lnSpc>
                <a:spcPct val="115399"/>
              </a:lnSpc>
              <a:spcBef>
                <a:spcPts val="869"/>
              </a:spcBef>
            </a:pP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Lady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wardens,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science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teachers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senior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peer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mentors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ToT-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certified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sustain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delivery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from </a:t>
            </a:r>
            <a:r>
              <a:rPr sz="1300" spc="-9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2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onwards.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7749" y="466723"/>
            <a:ext cx="95250" cy="9524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79514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59421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192023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5" dirty="0">
                <a:solidFill>
                  <a:srgbClr val="16171F"/>
                </a:solidFill>
                <a:latin typeface="Times New Roman"/>
                <a:cs typeface="Times New Roman"/>
              </a:rPr>
              <a:t>Targeting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20" dirty="0">
                <a:solidFill>
                  <a:srgbClr val="16171F"/>
                </a:solidFill>
                <a:latin typeface="Times New Roman"/>
                <a:cs typeface="Times New Roman"/>
              </a:rPr>
              <a:t>most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underserved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adolescent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90" dirty="0">
                <a:solidFill>
                  <a:srgbClr val="16171F"/>
                </a:solidFill>
                <a:latin typeface="Times New Roman"/>
                <a:cs typeface="Times New Roman"/>
              </a:rPr>
              <a:t>demographic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state.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749" y="3133722"/>
          <a:ext cx="8569958" cy="2769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3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275</a:t>
                      </a:r>
                      <a:endParaRPr sz="7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90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1.2</a:t>
                      </a:r>
                      <a:r>
                        <a:rPr sz="7200" spc="509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3200" spc="55" dirty="0">
                          <a:solidFill>
                            <a:srgbClr val="67686E"/>
                          </a:solidFill>
                          <a:latin typeface="Palatino Linotype"/>
                          <a:cs typeface="Palatino Linotype"/>
                        </a:rPr>
                        <a:t>L</a:t>
                      </a:r>
                      <a:endParaRPr sz="3200">
                        <a:latin typeface="Palatino Linotype"/>
                        <a:cs typeface="Palatino Linotype"/>
                      </a:endParaRPr>
                    </a:p>
                    <a:p>
                      <a:pPr marL="229870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942975" algn="l"/>
                          <a:tab pos="1180465" algn="l"/>
                        </a:tabLst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1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7200" spc="47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3200" spc="20" dirty="0">
                          <a:solidFill>
                            <a:srgbClr val="67686E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endParaRPr sz="3200">
                        <a:latin typeface="Palatino Linotype"/>
                        <a:cs typeface="Palatino Linotype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705485" algn="l"/>
                        </a:tabLst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6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7200">
                        <a:latin typeface="Times New Roman"/>
                        <a:cs typeface="Times New Roman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146</a:t>
                      </a:r>
                      <a:r>
                        <a:rPr sz="1950" spc="-1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schools</a:t>
                      </a:r>
                      <a:r>
                        <a:rPr sz="1950" spc="-1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&amp;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1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Classes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VI–</a:t>
                      </a:r>
                      <a:r>
                        <a:rPr sz="19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XII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Newly</a:t>
                      </a: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enrolled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1950" spc="-1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erstwhile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129</a:t>
                      </a:r>
                      <a:r>
                        <a:rPr sz="1950" spc="-1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6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jr.</a:t>
                      </a:r>
                      <a:r>
                        <a:rPr sz="1950" spc="-1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colleges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250"/>
                        </a:lnSpc>
                      </a:pP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Intermediate</a:t>
                      </a: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1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950" spc="-9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&amp;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ts val="2250"/>
                        </a:lnSpc>
                      </a:pP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950" spc="-114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2250"/>
                        </a:lnSpc>
                      </a:pPr>
                      <a:r>
                        <a:rPr sz="1950" spc="-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districts</a:t>
                      </a: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250"/>
                        </a:lnSpc>
                      </a:pPr>
                      <a:r>
                        <a:rPr sz="1950" spc="14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II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2250"/>
                        </a:lnSpc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Telangana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5050" y="6207124"/>
            <a:ext cx="2239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C</a:t>
            </a:r>
            <a:r>
              <a:rPr sz="1050" spc="-43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6524621"/>
            <a:ext cx="8572500" cy="209550"/>
            <a:chOff x="1047749" y="6524621"/>
            <a:chExt cx="8572500" cy="209550"/>
          </a:xfrm>
        </p:grpSpPr>
        <p:sp>
          <p:nvSpPr>
            <p:cNvPr id="6" name="object 6"/>
            <p:cNvSpPr/>
            <p:nvPr/>
          </p:nvSpPr>
          <p:spPr>
            <a:xfrm>
              <a:off x="1047749" y="6524621"/>
              <a:ext cx="3257550" cy="209550"/>
            </a:xfrm>
            <a:custGeom>
              <a:avLst/>
              <a:gdLst/>
              <a:ahLst/>
              <a:cxnLst/>
              <a:rect l="l" t="t" r="r" b="b"/>
              <a:pathLst>
                <a:path w="3257550" h="209550">
                  <a:moveTo>
                    <a:pt x="32575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3257549" y="0"/>
                  </a:lnTo>
                  <a:lnTo>
                    <a:pt x="3257549" y="2095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5299" y="6524621"/>
              <a:ext cx="2228850" cy="209550"/>
            </a:xfrm>
            <a:custGeom>
              <a:avLst/>
              <a:gdLst/>
              <a:ahLst/>
              <a:cxnLst/>
              <a:rect l="l" t="t" r="r" b="b"/>
              <a:pathLst>
                <a:path w="2228850" h="209550">
                  <a:moveTo>
                    <a:pt x="22288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2228849" y="0"/>
                  </a:lnTo>
                  <a:lnTo>
                    <a:pt x="2228849" y="2095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34149" y="6524621"/>
              <a:ext cx="1885950" cy="209550"/>
            </a:xfrm>
            <a:custGeom>
              <a:avLst/>
              <a:gdLst/>
              <a:ahLst/>
              <a:cxnLst/>
              <a:rect l="l" t="t" r="r" b="b"/>
              <a:pathLst>
                <a:path w="1885950" h="209550">
                  <a:moveTo>
                    <a:pt x="18859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1885949" y="0"/>
                  </a:lnTo>
                  <a:lnTo>
                    <a:pt x="1885949" y="209549"/>
                  </a:lnTo>
                  <a:close/>
                </a:path>
              </a:pathLst>
            </a:custGeom>
            <a:solidFill>
              <a:srgbClr val="B3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20099" y="6524621"/>
              <a:ext cx="1200150" cy="209550"/>
            </a:xfrm>
            <a:custGeom>
              <a:avLst/>
              <a:gdLst/>
              <a:ahLst/>
              <a:cxnLst/>
              <a:rect l="l" t="t" r="r" b="b"/>
              <a:pathLst>
                <a:path w="1200150" h="209550">
                  <a:moveTo>
                    <a:pt x="12001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1200149" y="0"/>
                  </a:lnTo>
                  <a:lnTo>
                    <a:pt x="1200149" y="209549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047749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499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00449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55925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43624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B371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05202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96324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6768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854628" y="6797675"/>
            <a:ext cx="7588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4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5050" y="7307309"/>
            <a:ext cx="8445500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5"/>
              </a:spcBef>
            </a:pPr>
            <a:r>
              <a:rPr sz="2050" spc="-1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girl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BC,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SC, </a:t>
            </a:r>
            <a:r>
              <a:rPr sz="2050" spc="-23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ST,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steepest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barriers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menstrual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awareness.</a:t>
            </a:r>
            <a:endParaRPr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2"/>
            <a:ext cx="95250" cy="9524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06612" y="406400"/>
            <a:ext cx="2019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82249" y="3133725"/>
            <a:ext cx="6858000" cy="2009775"/>
            <a:chOff x="10382249" y="3133725"/>
            <a:chExt cx="6858000" cy="20097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249" y="3133725"/>
              <a:ext cx="6857999" cy="20097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82249" y="4781547"/>
              <a:ext cx="6857999" cy="3619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382249" y="4781547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3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J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W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'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W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82249" y="5276850"/>
            <a:ext cx="6858000" cy="2009775"/>
            <a:chOff x="10382249" y="5276850"/>
            <a:chExt cx="6858000" cy="200977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82249" y="5276850"/>
              <a:ext cx="6857999" cy="20097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2249" y="6924672"/>
              <a:ext cx="6857999" cy="3619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382249" y="6924671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K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6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–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X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382249" y="7419971"/>
            <a:ext cx="6858000" cy="2009775"/>
            <a:chOff x="10382249" y="7419971"/>
            <a:chExt cx="6858000" cy="2009775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2249" y="7419971"/>
              <a:ext cx="6858000" cy="20097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82249" y="9067796"/>
              <a:ext cx="6857999" cy="3619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382249" y="9067796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Y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37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047432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five-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phase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annual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cycle,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anchored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5" dirty="0">
                <a:solidFill>
                  <a:srgbClr val="16171F"/>
                </a:solidFill>
                <a:latin typeface="Times New Roman"/>
                <a:cs typeface="Times New Roman"/>
              </a:rPr>
              <a:t>to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academic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calendar.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505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4999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1705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67374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99408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29749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56454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92123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95311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Q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47749" y="3486146"/>
            <a:ext cx="3105150" cy="5543550"/>
            <a:chOff x="1047749" y="3486146"/>
            <a:chExt cx="3105150" cy="5543550"/>
          </a:xfrm>
        </p:grpSpPr>
        <p:sp>
          <p:nvSpPr>
            <p:cNvPr id="13" name="object 13"/>
            <p:cNvSpPr/>
            <p:nvPr/>
          </p:nvSpPr>
          <p:spPr>
            <a:xfrm>
              <a:off x="1047749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2074" y="3819524"/>
              <a:ext cx="266700" cy="323850"/>
            </a:xfrm>
            <a:custGeom>
              <a:avLst/>
              <a:gdLst/>
              <a:ahLst/>
              <a:cxnLst/>
              <a:rect l="l" t="t" r="r" b="b"/>
              <a:pathLst>
                <a:path w="266700" h="323850">
                  <a:moveTo>
                    <a:pt x="19050" y="0"/>
                  </a:moveTo>
                  <a:lnTo>
                    <a:pt x="247649" y="0"/>
                  </a:lnTo>
                  <a:lnTo>
                    <a:pt x="250176" y="0"/>
                  </a:lnTo>
                  <a:lnTo>
                    <a:pt x="252606" y="483"/>
                  </a:lnTo>
                  <a:lnTo>
                    <a:pt x="265249" y="11759"/>
                  </a:lnTo>
                  <a:lnTo>
                    <a:pt x="266216" y="14093"/>
                  </a:lnTo>
                  <a:lnTo>
                    <a:pt x="266699" y="16523"/>
                  </a:lnTo>
                  <a:lnTo>
                    <a:pt x="266699" y="19049"/>
                  </a:lnTo>
                  <a:lnTo>
                    <a:pt x="266699" y="304799"/>
                  </a:lnTo>
                  <a:lnTo>
                    <a:pt x="266699" y="307326"/>
                  </a:lnTo>
                  <a:lnTo>
                    <a:pt x="266216" y="309756"/>
                  </a:lnTo>
                  <a:lnTo>
                    <a:pt x="265249" y="312090"/>
                  </a:lnTo>
                  <a:lnTo>
                    <a:pt x="264283" y="314423"/>
                  </a:lnTo>
                  <a:lnTo>
                    <a:pt x="247649" y="323849"/>
                  </a:lnTo>
                  <a:lnTo>
                    <a:pt x="19050" y="323849"/>
                  </a:lnTo>
                  <a:lnTo>
                    <a:pt x="5579" y="318270"/>
                  </a:lnTo>
                  <a:lnTo>
                    <a:pt x="3793" y="316484"/>
                  </a:lnTo>
                  <a:lnTo>
                    <a:pt x="2416" y="314423"/>
                  </a:lnTo>
                  <a:lnTo>
                    <a:pt x="1450" y="312090"/>
                  </a:lnTo>
                  <a:lnTo>
                    <a:pt x="483" y="309756"/>
                  </a:lnTo>
                  <a:lnTo>
                    <a:pt x="0" y="307326"/>
                  </a:lnTo>
                  <a:lnTo>
                    <a:pt x="0" y="304799"/>
                  </a:lnTo>
                  <a:lnTo>
                    <a:pt x="0" y="19049"/>
                  </a:lnTo>
                  <a:lnTo>
                    <a:pt x="5579" y="5579"/>
                  </a:lnTo>
                  <a:lnTo>
                    <a:pt x="7365" y="3793"/>
                  </a:lnTo>
                  <a:lnTo>
                    <a:pt x="9425" y="2416"/>
                  </a:lnTo>
                  <a:lnTo>
                    <a:pt x="11759" y="1450"/>
                  </a:lnTo>
                  <a:lnTo>
                    <a:pt x="14093" y="483"/>
                  </a:lnTo>
                  <a:lnTo>
                    <a:pt x="16523" y="0"/>
                  </a:lnTo>
                  <a:lnTo>
                    <a:pt x="19050" y="0"/>
                  </a:lnTo>
                  <a:close/>
                </a:path>
                <a:path w="266700" h="323850">
                  <a:moveTo>
                    <a:pt x="57150" y="95249"/>
                  </a:moveTo>
                  <a:lnTo>
                    <a:pt x="209549" y="95249"/>
                  </a:lnTo>
                </a:path>
                <a:path w="266700" h="323850">
                  <a:moveTo>
                    <a:pt x="57150" y="152399"/>
                  </a:moveTo>
                  <a:lnTo>
                    <a:pt x="209549" y="152399"/>
                  </a:lnTo>
                </a:path>
                <a:path w="266700" h="323850">
                  <a:moveTo>
                    <a:pt x="57150" y="209549"/>
                  </a:moveTo>
                  <a:lnTo>
                    <a:pt x="152399" y="2095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1612" y="37766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6970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5" y="23812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1612" y="37766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3812"/>
                  </a:moveTo>
                  <a:lnTo>
                    <a:pt x="47624" y="26970"/>
                  </a:lnTo>
                  <a:lnTo>
                    <a:pt x="47020" y="30007"/>
                  </a:lnTo>
                  <a:lnTo>
                    <a:pt x="45812" y="32925"/>
                  </a:lnTo>
                  <a:lnTo>
                    <a:pt x="44603" y="35842"/>
                  </a:lnTo>
                  <a:lnTo>
                    <a:pt x="32925" y="45812"/>
                  </a:lnTo>
                  <a:lnTo>
                    <a:pt x="30007" y="47020"/>
                  </a:lnTo>
                  <a:lnTo>
                    <a:pt x="26970" y="47624"/>
                  </a:lnTo>
                  <a:lnTo>
                    <a:pt x="23812" y="47624"/>
                  </a:lnTo>
                  <a:lnTo>
                    <a:pt x="20654" y="47624"/>
                  </a:lnTo>
                  <a:lnTo>
                    <a:pt x="6974" y="40650"/>
                  </a:lnTo>
                  <a:lnTo>
                    <a:pt x="4741" y="38417"/>
                  </a:lnTo>
                  <a:lnTo>
                    <a:pt x="3021" y="35842"/>
                  </a:lnTo>
                  <a:lnTo>
                    <a:pt x="1812" y="32925"/>
                  </a:lnTo>
                  <a:lnTo>
                    <a:pt x="604" y="30007"/>
                  </a:lnTo>
                  <a:lnTo>
                    <a:pt x="0" y="2697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1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26970" y="0"/>
                  </a:lnTo>
                  <a:lnTo>
                    <a:pt x="30007" y="604"/>
                  </a:lnTo>
                  <a:lnTo>
                    <a:pt x="32925" y="1812"/>
                  </a:lnTo>
                  <a:lnTo>
                    <a:pt x="35842" y="3021"/>
                  </a:lnTo>
                  <a:lnTo>
                    <a:pt x="45812" y="14699"/>
                  </a:lnTo>
                  <a:lnTo>
                    <a:pt x="47020" y="17617"/>
                  </a:lnTo>
                  <a:lnTo>
                    <a:pt x="47624" y="20654"/>
                  </a:lnTo>
                  <a:lnTo>
                    <a:pt x="47625" y="23812"/>
                  </a:lnTo>
                  <a:close/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6824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52512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399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34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Planning</a:t>
            </a:r>
            <a:endParaRPr sz="1950">
              <a:latin typeface="Times New Roman"/>
              <a:cs typeface="Times New Roman"/>
            </a:endParaRPr>
          </a:p>
          <a:p>
            <a:pPr marL="213995" marR="478155">
              <a:lnSpc>
                <a:spcPct val="115399"/>
              </a:lnSpc>
              <a:spcBef>
                <a:spcPts val="1070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Institution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lists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finalised,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principals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coordinated,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site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assessments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for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300" spc="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completed.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2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24349" y="3486146"/>
            <a:ext cx="3095625" cy="5543550"/>
            <a:chOff x="4324349" y="3486146"/>
            <a:chExt cx="3095625" cy="5543550"/>
          </a:xfrm>
        </p:grpSpPr>
        <p:sp>
          <p:nvSpPr>
            <p:cNvPr id="20" name="object 20"/>
            <p:cNvSpPr/>
            <p:nvPr/>
          </p:nvSpPr>
          <p:spPr>
            <a:xfrm>
              <a:off x="4324349" y="3486146"/>
              <a:ext cx="3095625" cy="5543550"/>
            </a:xfrm>
            <a:custGeom>
              <a:avLst/>
              <a:gdLst/>
              <a:ahLst/>
              <a:cxnLst/>
              <a:rect l="l" t="t" r="r" b="b"/>
              <a:pathLst>
                <a:path w="3095625" h="5543550">
                  <a:moveTo>
                    <a:pt x="3095624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095624" y="0"/>
                  </a:lnTo>
                  <a:lnTo>
                    <a:pt x="3095624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0574" y="38004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0"/>
                  </a:moveTo>
                  <a:lnTo>
                    <a:pt x="171449" y="57149"/>
                  </a:lnTo>
                </a:path>
                <a:path w="342900" h="342900">
                  <a:moveTo>
                    <a:pt x="171449" y="285749"/>
                  </a:moveTo>
                  <a:lnTo>
                    <a:pt x="171449" y="342899"/>
                  </a:lnTo>
                </a:path>
                <a:path w="342900" h="342900">
                  <a:moveTo>
                    <a:pt x="0" y="171449"/>
                  </a:moveTo>
                  <a:lnTo>
                    <a:pt x="57149" y="171449"/>
                  </a:lnTo>
                </a:path>
                <a:path w="342900" h="342900">
                  <a:moveTo>
                    <a:pt x="285749" y="171449"/>
                  </a:moveTo>
                  <a:lnTo>
                    <a:pt x="342899" y="1714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0579" y="3840479"/>
              <a:ext cx="262889" cy="26288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43424" y="8448671"/>
              <a:ext cx="2657475" cy="9525"/>
            </a:xfrm>
            <a:custGeom>
              <a:avLst/>
              <a:gdLst/>
              <a:ahLst/>
              <a:cxnLst/>
              <a:rect l="l" t="t" r="r" b="b"/>
              <a:pathLst>
                <a:path w="2657475" h="9525">
                  <a:moveTo>
                    <a:pt x="26574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29112" y="3490909"/>
            <a:ext cx="3086100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  <a:p>
            <a:pPr marL="210185" marR="1104900">
              <a:lnSpc>
                <a:spcPts val="2250"/>
              </a:lnSpc>
              <a:spcBef>
                <a:spcPts val="49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Infrastructure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05" dirty="0">
                <a:solidFill>
                  <a:srgbClr val="16171F"/>
                </a:solidFill>
                <a:latin typeface="Times New Roman"/>
                <a:cs typeface="Times New Roman"/>
              </a:rPr>
              <a:t>&amp;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Capacity</a:t>
            </a:r>
            <a:endParaRPr sz="1950">
              <a:latin typeface="Times New Roman"/>
              <a:cs typeface="Times New Roman"/>
            </a:endParaRPr>
          </a:p>
          <a:p>
            <a:pPr marL="210185" marR="455930">
              <a:lnSpc>
                <a:spcPct val="115399"/>
              </a:lnSpc>
              <a:spcBef>
                <a:spcPts val="1010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incinerators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installed.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ToT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workshops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staff.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Peer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mentors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trained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each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campus.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91424" y="3486146"/>
            <a:ext cx="3105150" cy="5543550"/>
            <a:chOff x="7591424" y="3486146"/>
            <a:chExt cx="3105150" cy="5543550"/>
          </a:xfrm>
        </p:grpSpPr>
        <p:sp>
          <p:nvSpPr>
            <p:cNvPr id="26" name="object 26"/>
            <p:cNvSpPr/>
            <p:nvPr/>
          </p:nvSpPr>
          <p:spPr>
            <a:xfrm>
              <a:off x="7591424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58124" y="3838574"/>
              <a:ext cx="257175" cy="266700"/>
            </a:xfrm>
            <a:custGeom>
              <a:avLst/>
              <a:gdLst/>
              <a:ahLst/>
              <a:cxnLst/>
              <a:rect l="l" t="t" r="r" b="b"/>
              <a:pathLst>
                <a:path w="257175" h="266700">
                  <a:moveTo>
                    <a:pt x="47625" y="76199"/>
                  </a:moveTo>
                  <a:lnTo>
                    <a:pt x="47625" y="190499"/>
                  </a:lnTo>
                  <a:lnTo>
                    <a:pt x="257174" y="266699"/>
                  </a:lnTo>
                  <a:lnTo>
                    <a:pt x="257174" y="0"/>
                  </a:lnTo>
                  <a:lnTo>
                    <a:pt x="47625" y="76199"/>
                  </a:lnTo>
                  <a:close/>
                </a:path>
                <a:path w="257175" h="266700">
                  <a:moveTo>
                    <a:pt x="47625" y="76199"/>
                  </a:moveTo>
                  <a:lnTo>
                    <a:pt x="19050" y="76199"/>
                  </a:lnTo>
                  <a:lnTo>
                    <a:pt x="16523" y="76199"/>
                  </a:lnTo>
                  <a:lnTo>
                    <a:pt x="14093" y="76683"/>
                  </a:lnTo>
                  <a:lnTo>
                    <a:pt x="11759" y="77650"/>
                  </a:lnTo>
                  <a:lnTo>
                    <a:pt x="9425" y="78616"/>
                  </a:lnTo>
                  <a:lnTo>
                    <a:pt x="7365" y="79993"/>
                  </a:lnTo>
                  <a:lnTo>
                    <a:pt x="0" y="95249"/>
                  </a:lnTo>
                  <a:lnTo>
                    <a:pt x="0" y="171449"/>
                  </a:lnTo>
                  <a:lnTo>
                    <a:pt x="0" y="173976"/>
                  </a:lnTo>
                  <a:lnTo>
                    <a:pt x="11759" y="189049"/>
                  </a:lnTo>
                  <a:lnTo>
                    <a:pt x="14093" y="190016"/>
                  </a:lnTo>
                  <a:lnTo>
                    <a:pt x="16523" y="190499"/>
                  </a:lnTo>
                  <a:lnTo>
                    <a:pt x="19050" y="190499"/>
                  </a:lnTo>
                  <a:lnTo>
                    <a:pt x="47625" y="19049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0303" y="3907154"/>
              <a:ext cx="67865" cy="12953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810499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96186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  <a:p>
            <a:pPr marL="215900" marR="1473835">
              <a:lnSpc>
                <a:spcPts val="2250"/>
              </a:lnSpc>
              <a:spcBef>
                <a:spcPts val="495"/>
              </a:spcBef>
            </a:pP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Awareness</a:t>
            </a:r>
            <a:r>
              <a:rPr sz="1950" spc="-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30" dirty="0">
                <a:solidFill>
                  <a:srgbClr val="16171F"/>
                </a:solidFill>
                <a:latin typeface="Times New Roman"/>
                <a:cs typeface="Times New Roman"/>
              </a:rPr>
              <a:t>&amp;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Distribution</a:t>
            </a:r>
            <a:endParaRPr sz="1950">
              <a:latin typeface="Times New Roman"/>
              <a:cs typeface="Times New Roman"/>
            </a:endParaRPr>
          </a:p>
          <a:p>
            <a:pPr marL="215900" marR="389255">
              <a:lnSpc>
                <a:spcPct val="115399"/>
              </a:lnSpc>
              <a:spcBef>
                <a:spcPts val="1010"/>
              </a:spcBef>
            </a:pP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One-day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14" dirty="0">
                <a:solidFill>
                  <a:srgbClr val="3B3C43"/>
                </a:solidFill>
                <a:latin typeface="Arial"/>
                <a:cs typeface="Arial"/>
              </a:rPr>
              <a:t>MHM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workshop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per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institution.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Starter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kits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distributed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to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every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newly-enrolled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girl.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68024" y="3486146"/>
            <a:ext cx="3095625" cy="5543550"/>
            <a:chOff x="10868024" y="3486146"/>
            <a:chExt cx="3095625" cy="5543550"/>
          </a:xfrm>
        </p:grpSpPr>
        <p:sp>
          <p:nvSpPr>
            <p:cNvPr id="32" name="object 32"/>
            <p:cNvSpPr/>
            <p:nvPr/>
          </p:nvSpPr>
          <p:spPr>
            <a:xfrm>
              <a:off x="10868024" y="3486146"/>
              <a:ext cx="3095625" cy="5543550"/>
            </a:xfrm>
            <a:custGeom>
              <a:avLst/>
              <a:gdLst/>
              <a:ahLst/>
              <a:cxnLst/>
              <a:rect l="l" t="t" r="r" b="b"/>
              <a:pathLst>
                <a:path w="3095625" h="5543550">
                  <a:moveTo>
                    <a:pt x="3095624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095624" y="0"/>
                  </a:lnTo>
                  <a:lnTo>
                    <a:pt x="3095624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163216" y="3797205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304883" y="155669"/>
                  </a:moveTo>
                  <a:lnTo>
                    <a:pt x="300086" y="113969"/>
                  </a:lnTo>
                  <a:lnTo>
                    <a:pt x="289566" y="85850"/>
                  </a:lnTo>
                  <a:lnTo>
                    <a:pt x="286933" y="80436"/>
                  </a:lnTo>
                  <a:lnTo>
                    <a:pt x="283990" y="75197"/>
                  </a:lnTo>
                  <a:lnTo>
                    <a:pt x="280736" y="70133"/>
                  </a:lnTo>
                  <a:lnTo>
                    <a:pt x="277483" y="65068"/>
                  </a:lnTo>
                  <a:lnTo>
                    <a:pt x="273942" y="60213"/>
                  </a:lnTo>
                  <a:lnTo>
                    <a:pt x="270113" y="55568"/>
                  </a:lnTo>
                  <a:lnTo>
                    <a:pt x="266284" y="50923"/>
                  </a:lnTo>
                  <a:lnTo>
                    <a:pt x="262194" y="46521"/>
                  </a:lnTo>
                  <a:lnTo>
                    <a:pt x="257843" y="42360"/>
                  </a:lnTo>
                  <a:lnTo>
                    <a:pt x="253493" y="38200"/>
                  </a:lnTo>
                  <a:lnTo>
                    <a:pt x="218506" y="15001"/>
                  </a:lnTo>
                  <a:lnTo>
                    <a:pt x="196038" y="6451"/>
                  </a:lnTo>
                  <a:lnTo>
                    <a:pt x="190269" y="4732"/>
                  </a:lnTo>
                  <a:lnTo>
                    <a:pt x="184419" y="3360"/>
                  </a:lnTo>
                  <a:lnTo>
                    <a:pt x="178488" y="2334"/>
                  </a:lnTo>
                  <a:lnTo>
                    <a:pt x="172556" y="1308"/>
                  </a:lnTo>
                  <a:lnTo>
                    <a:pt x="166585" y="636"/>
                  </a:lnTo>
                  <a:lnTo>
                    <a:pt x="160573" y="318"/>
                  </a:lnTo>
                  <a:lnTo>
                    <a:pt x="154562" y="0"/>
                  </a:lnTo>
                  <a:lnTo>
                    <a:pt x="148553" y="37"/>
                  </a:lnTo>
                  <a:lnTo>
                    <a:pt x="142546" y="431"/>
                  </a:lnTo>
                  <a:lnTo>
                    <a:pt x="136540" y="825"/>
                  </a:lnTo>
                  <a:lnTo>
                    <a:pt x="130577" y="1572"/>
                  </a:lnTo>
                  <a:lnTo>
                    <a:pt x="124659" y="2672"/>
                  </a:lnTo>
                  <a:lnTo>
                    <a:pt x="118741" y="3772"/>
                  </a:lnTo>
                  <a:lnTo>
                    <a:pt x="112908" y="5218"/>
                  </a:lnTo>
                  <a:lnTo>
                    <a:pt x="107161" y="7010"/>
                  </a:lnTo>
                  <a:lnTo>
                    <a:pt x="101414" y="8801"/>
                  </a:lnTo>
                  <a:lnTo>
                    <a:pt x="95793" y="10926"/>
                  </a:lnTo>
                  <a:lnTo>
                    <a:pt x="90298" y="13383"/>
                  </a:lnTo>
                  <a:lnTo>
                    <a:pt x="84803" y="15841"/>
                  </a:lnTo>
                  <a:lnTo>
                    <a:pt x="79472" y="18614"/>
                  </a:lnTo>
                  <a:lnTo>
                    <a:pt x="74306" y="21703"/>
                  </a:lnTo>
                  <a:lnTo>
                    <a:pt x="69139" y="24792"/>
                  </a:lnTo>
                  <a:lnTo>
                    <a:pt x="64173" y="28176"/>
                  </a:lnTo>
                  <a:lnTo>
                    <a:pt x="59407" y="31854"/>
                  </a:lnTo>
                  <a:lnTo>
                    <a:pt x="54642" y="35531"/>
                  </a:lnTo>
                  <a:lnTo>
                    <a:pt x="50110" y="39477"/>
                  </a:lnTo>
                  <a:lnTo>
                    <a:pt x="45812" y="43692"/>
                  </a:lnTo>
                  <a:lnTo>
                    <a:pt x="41514" y="47907"/>
                  </a:lnTo>
                  <a:lnTo>
                    <a:pt x="37480" y="52360"/>
                  </a:lnTo>
                  <a:lnTo>
                    <a:pt x="33710" y="57053"/>
                  </a:lnTo>
                  <a:lnTo>
                    <a:pt x="29940" y="61746"/>
                  </a:lnTo>
                  <a:lnTo>
                    <a:pt x="26460" y="66645"/>
                  </a:lnTo>
                  <a:lnTo>
                    <a:pt x="23270" y="71750"/>
                  </a:lnTo>
                  <a:lnTo>
                    <a:pt x="20080" y="76855"/>
                  </a:lnTo>
                  <a:lnTo>
                    <a:pt x="4473" y="115825"/>
                  </a:lnTo>
                  <a:lnTo>
                    <a:pt x="666" y="139561"/>
                  </a:lnTo>
                  <a:lnTo>
                    <a:pt x="155" y="145559"/>
                  </a:lnTo>
                  <a:lnTo>
                    <a:pt x="4033" y="187359"/>
                  </a:lnTo>
                  <a:lnTo>
                    <a:pt x="5638" y="193161"/>
                  </a:lnTo>
                  <a:lnTo>
                    <a:pt x="7244" y="198962"/>
                  </a:lnTo>
                  <a:lnTo>
                    <a:pt x="9187" y="204649"/>
                  </a:lnTo>
                  <a:lnTo>
                    <a:pt x="11467" y="210220"/>
                  </a:lnTo>
                  <a:lnTo>
                    <a:pt x="13747" y="215791"/>
                  </a:lnTo>
                  <a:lnTo>
                    <a:pt x="16347" y="221208"/>
                  </a:lnTo>
                  <a:lnTo>
                    <a:pt x="19269" y="226471"/>
                  </a:lnTo>
                  <a:lnTo>
                    <a:pt x="22190" y="231735"/>
                  </a:lnTo>
                  <a:lnTo>
                    <a:pt x="40331" y="255657"/>
                  </a:lnTo>
                  <a:lnTo>
                    <a:pt x="44405" y="260088"/>
                  </a:lnTo>
                  <a:lnTo>
                    <a:pt x="48727" y="264263"/>
                  </a:lnTo>
                  <a:lnTo>
                    <a:pt x="53296" y="268182"/>
                  </a:lnTo>
                  <a:lnTo>
                    <a:pt x="57865" y="272101"/>
                  </a:lnTo>
                  <a:lnTo>
                    <a:pt x="62650" y="275737"/>
                  </a:lnTo>
                  <a:lnTo>
                    <a:pt x="67650" y="279089"/>
                  </a:lnTo>
                  <a:lnTo>
                    <a:pt x="72650" y="282441"/>
                  </a:lnTo>
                  <a:lnTo>
                    <a:pt x="99702" y="295461"/>
                  </a:lnTo>
                  <a:lnTo>
                    <a:pt x="105349" y="297547"/>
                  </a:lnTo>
                  <a:lnTo>
                    <a:pt x="111099" y="299292"/>
                  </a:lnTo>
                  <a:lnTo>
                    <a:pt x="116952" y="300697"/>
                  </a:lnTo>
                  <a:lnTo>
                    <a:pt x="122806" y="302102"/>
                  </a:lnTo>
                  <a:lnTo>
                    <a:pt x="128721" y="303156"/>
                  </a:lnTo>
                  <a:lnTo>
                    <a:pt x="134700" y="303860"/>
                  </a:lnTo>
                  <a:lnTo>
                    <a:pt x="140678" y="304563"/>
                  </a:lnTo>
                  <a:lnTo>
                    <a:pt x="146677" y="304912"/>
                  </a:lnTo>
                  <a:lnTo>
                    <a:pt x="152697" y="304904"/>
                  </a:lnTo>
                  <a:lnTo>
                    <a:pt x="158716" y="304897"/>
                  </a:lnTo>
                  <a:lnTo>
                    <a:pt x="188431" y="300612"/>
                  </a:lnTo>
                  <a:lnTo>
                    <a:pt x="194281" y="299193"/>
                  </a:lnTo>
                  <a:lnTo>
                    <a:pt x="200027" y="297434"/>
                  </a:lnTo>
                  <a:lnTo>
                    <a:pt x="205669" y="295335"/>
                  </a:lnTo>
                  <a:lnTo>
                    <a:pt x="211311" y="293235"/>
                  </a:lnTo>
                  <a:lnTo>
                    <a:pt x="237682" y="278887"/>
                  </a:lnTo>
                  <a:lnTo>
                    <a:pt x="242674" y="275523"/>
                  </a:lnTo>
                  <a:lnTo>
                    <a:pt x="272797" y="246283"/>
                  </a:lnTo>
                  <a:lnTo>
                    <a:pt x="276308" y="241394"/>
                  </a:lnTo>
                </a:path>
                <a:path w="305434" h="305435">
                  <a:moveTo>
                    <a:pt x="304883" y="41369"/>
                  </a:moveTo>
                  <a:lnTo>
                    <a:pt x="304883" y="155669"/>
                  </a:lnTo>
                  <a:lnTo>
                    <a:pt x="190583" y="15566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87099" y="8448671"/>
              <a:ext cx="2657475" cy="9525"/>
            </a:xfrm>
            <a:custGeom>
              <a:avLst/>
              <a:gdLst/>
              <a:ahLst/>
              <a:cxnLst/>
              <a:rect l="l" t="t" r="r" b="b"/>
              <a:pathLst>
                <a:path w="2657475" h="9525">
                  <a:moveTo>
                    <a:pt x="26574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72786" y="3490909"/>
            <a:ext cx="3086100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  <a:p>
            <a:pPr marL="212090" marR="1275715">
              <a:lnSpc>
                <a:spcPts val="2250"/>
              </a:lnSpc>
              <a:spcBef>
                <a:spcPts val="495"/>
              </a:spcBef>
            </a:pP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Institution-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led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Continuity</a:t>
            </a:r>
            <a:endParaRPr sz="1950">
              <a:latin typeface="Times New Roman"/>
              <a:cs typeface="Times New Roman"/>
            </a:endParaRPr>
          </a:p>
          <a:p>
            <a:pPr marL="212090" marR="378460">
              <a:lnSpc>
                <a:spcPct val="115399"/>
              </a:lnSpc>
              <a:spcBef>
                <a:spcPts val="1010"/>
              </a:spcBef>
            </a:pP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Trained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staff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peer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mentors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carry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messaging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independently.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IEC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materials</a:t>
            </a:r>
            <a:r>
              <a:rPr sz="1300" spc="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displayed</a:t>
            </a:r>
            <a:r>
              <a:rPr sz="1300" spc="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campus-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wide.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135098" y="3486146"/>
            <a:ext cx="3105150" cy="5543550"/>
            <a:chOff x="14135098" y="3486146"/>
            <a:chExt cx="3105150" cy="5543550"/>
          </a:xfrm>
        </p:grpSpPr>
        <p:sp>
          <p:nvSpPr>
            <p:cNvPr id="37" name="object 37"/>
            <p:cNvSpPr/>
            <p:nvPr/>
          </p:nvSpPr>
          <p:spPr>
            <a:xfrm>
              <a:off x="14135098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430373" y="3819524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0" y="285749"/>
                  </a:moveTo>
                  <a:lnTo>
                    <a:pt x="0" y="0"/>
                  </a:lnTo>
                </a:path>
                <a:path w="304800" h="285750">
                  <a:moveTo>
                    <a:pt x="0" y="285749"/>
                  </a:moveTo>
                  <a:lnTo>
                    <a:pt x="304799" y="2857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9903" y="3830954"/>
              <a:ext cx="262889" cy="2057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354173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139860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5</a:t>
            </a:r>
            <a:endParaRPr sz="900">
              <a:latin typeface="Courier New"/>
              <a:cs typeface="Courier New"/>
            </a:endParaRPr>
          </a:p>
          <a:p>
            <a:pPr marL="217804">
              <a:lnSpc>
                <a:spcPct val="100000"/>
              </a:lnSpc>
              <a:spcBef>
                <a:spcPts val="34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Monitoring</a:t>
            </a:r>
            <a:r>
              <a:rPr sz="195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45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95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Reporting</a:t>
            </a:r>
            <a:endParaRPr sz="1950">
              <a:latin typeface="Times New Roman"/>
              <a:cs typeface="Times New Roman"/>
            </a:endParaRPr>
          </a:p>
          <a:p>
            <a:pPr marL="217804" marR="435609" algn="just">
              <a:lnSpc>
                <a:spcPct val="115399"/>
              </a:lnSpc>
              <a:spcBef>
                <a:spcPts val="1070"/>
              </a:spcBef>
            </a:pP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Quarterly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warden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check-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ins,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district field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visits, incinerator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audits,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impact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report.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200">
              <a:latin typeface="Arial"/>
              <a:cs typeface="Arial"/>
            </a:endParaRPr>
          </a:p>
          <a:p>
            <a:pPr marL="217804" algn="just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Q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5050" y="9255125"/>
            <a:ext cx="101136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1145" algn="l"/>
              </a:tabLst>
            </a:pPr>
            <a:r>
              <a:rPr sz="950" spc="-50" dirty="0">
                <a:solidFill>
                  <a:srgbClr val="77292E"/>
                </a:solidFill>
                <a:latin typeface="Segoe UI Symbol"/>
                <a:cs typeface="Segoe UI Symbol"/>
              </a:rPr>
              <a:t>★</a:t>
            </a:r>
            <a:r>
              <a:rPr sz="950" dirty="0">
                <a:solidFill>
                  <a:srgbClr val="77292E"/>
                </a:solidFill>
                <a:latin typeface="Segoe UI Symbol"/>
                <a:cs typeface="Segoe UI Symbol"/>
              </a:rPr>
              <a:t>	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4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2"/>
            <a:ext cx="95250" cy="9524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374514" y="406400"/>
            <a:ext cx="2851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238950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1827510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-70" dirty="0">
                <a:solidFill>
                  <a:srgbClr val="16171F"/>
                </a:solidFill>
                <a:latin typeface="Times New Roman"/>
                <a:cs typeface="Times New Roman"/>
              </a:rPr>
              <a:t>By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Year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3,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0" dirty="0">
                <a:solidFill>
                  <a:srgbClr val="16171F"/>
                </a:solidFill>
                <a:latin typeface="Times New Roman"/>
                <a:cs typeface="Times New Roman"/>
              </a:rPr>
              <a:t>campus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50" dirty="0">
                <a:solidFill>
                  <a:srgbClr val="16171F"/>
                </a:solidFill>
                <a:latin typeface="Times New Roman"/>
                <a:cs typeface="Times New Roman"/>
              </a:rPr>
              <a:t>runs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programme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0" dirty="0">
                <a:solidFill>
                  <a:srgbClr val="16171F"/>
                </a:solidFill>
                <a:latin typeface="Times New Roman"/>
                <a:cs typeface="Times New Roman"/>
              </a:rPr>
              <a:t>its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0" dirty="0">
                <a:solidFill>
                  <a:srgbClr val="16171F"/>
                </a:solidFill>
                <a:latin typeface="Times New Roman"/>
                <a:cs typeface="Times New Roman"/>
              </a:rPr>
              <a:t>own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77292E"/>
                </a:solidFill>
                <a:latin typeface="Times New Roman"/>
                <a:cs typeface="Times New Roman"/>
              </a:rPr>
              <a:t>without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185" dirty="0">
                <a:solidFill>
                  <a:srgbClr val="77292E"/>
                </a:solidFill>
                <a:latin typeface="Times New Roman"/>
                <a:cs typeface="Times New Roman"/>
              </a:rPr>
              <a:t>NGO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dependency</a:t>
            </a:r>
            <a:r>
              <a:rPr sz="4800" spc="-10" dirty="0">
                <a:solidFill>
                  <a:srgbClr val="16171F"/>
                </a:solidFill>
                <a:latin typeface="Times New Roman"/>
                <a:cs typeface="Times New Roman"/>
              </a:rPr>
              <a:t>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749" y="3263503"/>
          <a:ext cx="7715249" cy="43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4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963930" algn="l"/>
                          <a:tab pos="1409700" algn="l"/>
                        </a:tabLst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F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S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2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1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 marR="29146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sz="1950" b="1" spc="-1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implementation. </a:t>
                      </a:r>
                      <a:r>
                        <a:rPr sz="1950" spc="-10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Sessions,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kits,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incinerators, </a:t>
                      </a:r>
                      <a:r>
                        <a:rPr sz="1950" spc="-2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ToT</a:t>
                      </a:r>
                      <a:r>
                        <a:rPr sz="19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delivered</a:t>
                      </a:r>
                      <a:r>
                        <a:rPr sz="1950" spc="-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end-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to-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end.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 marR="32829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Observe,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nominate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focal </a:t>
                      </a:r>
                      <a:r>
                        <a:rPr sz="19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persons,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host</a:t>
                      </a:r>
                      <a:r>
                        <a:rPr sz="1950" spc="-8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facilitation.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0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2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 marR="35242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b="1" spc="-6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Partial</a:t>
                      </a:r>
                      <a:r>
                        <a:rPr sz="1950" b="1" spc="-8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10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support.</a:t>
                      </a:r>
                      <a:r>
                        <a:rPr sz="1950" b="1" spc="-8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Joint 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sessions</a:t>
                      </a:r>
                      <a:r>
                        <a:rPr sz="19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3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co-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delivered</a:t>
                      </a:r>
                      <a:r>
                        <a:rPr sz="19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institution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staff.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 marR="521970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spc="-1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Lead</a:t>
                      </a:r>
                      <a:r>
                        <a:rPr sz="1950" spc="-10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delivery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NGO 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guidance;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manage incinerators independently.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3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7034" marR="645160">
                        <a:lnSpc>
                          <a:spcPct val="102600"/>
                        </a:lnSpc>
                        <a:spcBef>
                          <a:spcPts val="1290"/>
                        </a:spcBef>
                      </a:pPr>
                      <a:r>
                        <a:rPr sz="1950" b="1" spc="-13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Remote</a:t>
                      </a: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12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only.</a:t>
                      </a: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Refresher </a:t>
                      </a:r>
                      <a:r>
                        <a:rPr sz="19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8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technical helpline.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63830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9085" marR="421005">
                        <a:lnSpc>
                          <a:spcPct val="102600"/>
                        </a:lnSpc>
                        <a:spcBef>
                          <a:spcPts val="1290"/>
                        </a:spcBef>
                      </a:pPr>
                      <a:r>
                        <a:rPr sz="1950" spc="-1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Run</a:t>
                      </a:r>
                      <a:r>
                        <a:rPr sz="1950" spc="-9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programme</a:t>
                      </a:r>
                      <a:r>
                        <a:rPr sz="1950" spc="-9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fully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independently;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maintain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infrastructure.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63830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512299" y="4770427"/>
            <a:ext cx="7308215" cy="1577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580">
              <a:lnSpc>
                <a:spcPct val="111400"/>
              </a:lnSpc>
              <a:spcBef>
                <a:spcPts val="95"/>
              </a:spcBef>
            </a:pPr>
            <a:r>
              <a:rPr sz="2300" spc="-110" dirty="0">
                <a:solidFill>
                  <a:srgbClr val="3B3C43"/>
                </a:solidFill>
                <a:latin typeface="Tahoma"/>
                <a:cs typeface="Tahoma"/>
              </a:rPr>
              <a:t>The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5" dirty="0">
                <a:solidFill>
                  <a:srgbClr val="3B3C43"/>
                </a:solidFill>
                <a:latin typeface="Tahoma"/>
                <a:cs typeface="Tahoma"/>
              </a:rPr>
              <a:t>investment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30" dirty="0">
                <a:solidFill>
                  <a:srgbClr val="3B3C43"/>
                </a:solidFill>
                <a:latin typeface="Tahoma"/>
                <a:cs typeface="Tahoma"/>
              </a:rPr>
              <a:t>lasts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0" dirty="0">
                <a:solidFill>
                  <a:srgbClr val="3B3C43"/>
                </a:solidFill>
                <a:latin typeface="Tahoma"/>
                <a:cs typeface="Tahoma"/>
              </a:rPr>
              <a:t>beyond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the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0" dirty="0">
                <a:solidFill>
                  <a:srgbClr val="3B3C43"/>
                </a:solidFill>
                <a:latin typeface="Tahoma"/>
                <a:cs typeface="Tahoma"/>
              </a:rPr>
              <a:t>funding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35" dirty="0">
                <a:solidFill>
                  <a:srgbClr val="3B3C43"/>
                </a:solidFill>
                <a:latin typeface="Tahoma"/>
                <a:cs typeface="Tahoma"/>
              </a:rPr>
              <a:t>year.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b="1" spc="-85" dirty="0">
                <a:solidFill>
                  <a:srgbClr val="16171F"/>
                </a:solidFill>
                <a:latin typeface="Arial"/>
                <a:cs typeface="Arial"/>
              </a:rPr>
              <a:t>Incinerators </a:t>
            </a:r>
            <a:r>
              <a:rPr sz="2300" b="1" spc="-145" dirty="0">
                <a:solidFill>
                  <a:srgbClr val="16171F"/>
                </a:solidFill>
                <a:latin typeface="Arial"/>
                <a:cs typeface="Arial"/>
              </a:rPr>
              <a:t>have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95" dirty="0">
                <a:solidFill>
                  <a:srgbClr val="16171F"/>
                </a:solidFill>
                <a:latin typeface="Arial"/>
                <a:cs typeface="Arial"/>
              </a:rPr>
              <a:t>a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50" dirty="0">
                <a:solidFill>
                  <a:srgbClr val="16171F"/>
                </a:solidFill>
                <a:latin typeface="Arial"/>
                <a:cs typeface="Arial"/>
              </a:rPr>
              <a:t>10+</a:t>
            </a:r>
            <a:r>
              <a:rPr sz="2300" b="1" spc="-114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105" dirty="0">
                <a:solidFill>
                  <a:srgbClr val="16171F"/>
                </a:solidFill>
                <a:latin typeface="Arial"/>
                <a:cs typeface="Arial"/>
              </a:rPr>
              <a:t>year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130" dirty="0">
                <a:solidFill>
                  <a:srgbClr val="16171F"/>
                </a:solidFill>
                <a:latin typeface="Arial"/>
                <a:cs typeface="Arial"/>
              </a:rPr>
              <a:t>service</a:t>
            </a:r>
            <a:r>
              <a:rPr sz="2300" b="1" spc="-114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45" dirty="0">
                <a:solidFill>
                  <a:srgbClr val="16171F"/>
                </a:solidFill>
                <a:latin typeface="Arial"/>
                <a:cs typeface="Arial"/>
              </a:rPr>
              <a:t>life.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spc="-65" dirty="0">
                <a:solidFill>
                  <a:srgbClr val="3B3C43"/>
                </a:solidFill>
                <a:latin typeface="Tahoma"/>
                <a:cs typeface="Tahoma"/>
              </a:rPr>
              <a:t>IEC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55" dirty="0">
                <a:solidFill>
                  <a:srgbClr val="3B3C43"/>
                </a:solidFill>
                <a:latin typeface="Tahoma"/>
                <a:cs typeface="Tahoma"/>
              </a:rPr>
              <a:t>materials</a:t>
            </a:r>
            <a:r>
              <a:rPr sz="2300" spc="-20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are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3B3C43"/>
                </a:solidFill>
                <a:latin typeface="Tahoma"/>
                <a:cs typeface="Tahoma"/>
              </a:rPr>
              <a:t>reusable.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ts val="3080"/>
              </a:lnSpc>
              <a:spcBef>
                <a:spcPts val="20"/>
              </a:spcBef>
            </a:pPr>
            <a:r>
              <a:rPr sz="2300" spc="-95" dirty="0">
                <a:solidFill>
                  <a:srgbClr val="3B3C43"/>
                </a:solidFill>
                <a:latin typeface="Tahoma"/>
                <a:cs typeface="Tahoma"/>
              </a:rPr>
              <a:t>Trained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55" dirty="0">
                <a:solidFill>
                  <a:srgbClr val="3B3C43"/>
                </a:solidFill>
                <a:latin typeface="Tahoma"/>
                <a:cs typeface="Tahoma"/>
              </a:rPr>
              <a:t>staff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stay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5" dirty="0">
                <a:solidFill>
                  <a:srgbClr val="3B3C43"/>
                </a:solidFill>
                <a:latin typeface="Tahoma"/>
                <a:cs typeface="Tahoma"/>
              </a:rPr>
              <a:t>on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campus.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Peer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mentors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graduate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60" dirty="0">
                <a:solidFill>
                  <a:srgbClr val="3B3C43"/>
                </a:solidFill>
                <a:latin typeface="Tahoma"/>
                <a:cs typeface="Tahoma"/>
              </a:rPr>
              <a:t>into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60" dirty="0">
                <a:solidFill>
                  <a:srgbClr val="3B3C43"/>
                </a:solidFill>
                <a:latin typeface="Tahoma"/>
                <a:cs typeface="Tahoma"/>
              </a:rPr>
              <a:t>the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next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3B3C43"/>
                </a:solidFill>
                <a:latin typeface="Tahoma"/>
                <a:cs typeface="Tahoma"/>
              </a:rPr>
              <a:t>cohort.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2299" y="6711950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6649" y="6614585"/>
            <a:ext cx="5402580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No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recurring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product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procurement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after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3B3C43"/>
                </a:solidFill>
                <a:latin typeface="Tahoma"/>
                <a:cs typeface="Tahoma"/>
              </a:rPr>
              <a:t>Year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B3C43"/>
                </a:solidFill>
                <a:latin typeface="Tahoma"/>
                <a:cs typeface="Tahoma"/>
              </a:rPr>
              <a:t>1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starter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3B3C43"/>
                </a:solidFill>
                <a:latin typeface="Tahoma"/>
                <a:cs typeface="Tahoma"/>
              </a:rPr>
              <a:t>kit.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2299" y="7121525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6649" y="7024160"/>
            <a:ext cx="6204585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30" dirty="0">
                <a:solidFill>
                  <a:srgbClr val="3B3C43"/>
                </a:solidFill>
                <a:latin typeface="Tahoma"/>
                <a:cs typeface="Tahoma"/>
              </a:rPr>
              <a:t>Self-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financing</a:t>
            </a:r>
            <a:r>
              <a:rPr sz="1800" spc="-11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3B3C43"/>
                </a:solidFill>
                <a:latin typeface="Tahoma"/>
                <a:cs typeface="Tahoma"/>
              </a:rPr>
              <a:t>pipeline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routed</a:t>
            </a:r>
            <a:r>
              <a:rPr sz="1800" spc="-11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B3C43"/>
                </a:solidFill>
                <a:latin typeface="Tahoma"/>
                <a:cs typeface="Tahoma"/>
              </a:rPr>
              <a:t>through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MJPTBCWREIS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B3C43"/>
                </a:solidFill>
                <a:latin typeface="Tahoma"/>
                <a:cs typeface="Tahoma"/>
              </a:rPr>
              <a:t>allocations.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2299" y="7531100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26649" y="7433735"/>
            <a:ext cx="5986780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75" dirty="0">
                <a:solidFill>
                  <a:srgbClr val="3B3C43"/>
                </a:solidFill>
                <a:latin typeface="Tahoma"/>
                <a:cs typeface="Tahoma"/>
              </a:rPr>
              <a:t>Programme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survives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3B3C43"/>
                </a:solidFill>
                <a:latin typeface="Tahoma"/>
                <a:cs typeface="Tahoma"/>
              </a:rPr>
              <a:t>staff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transfers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via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documented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3B3C43"/>
                </a:solidFill>
                <a:latin typeface="Tahoma"/>
                <a:cs typeface="Tahoma"/>
              </a:rPr>
              <a:t>curriculum.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238950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9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3136244" cy="11569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920239" algn="l"/>
                <a:tab pos="226377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K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6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4800" spc="245" dirty="0">
                <a:solidFill>
                  <a:srgbClr val="16171F"/>
                </a:solidFill>
                <a:latin typeface="Times New Roman"/>
                <a:cs typeface="Times New Roman"/>
              </a:rPr>
              <a:t>What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we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measure,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and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5" dirty="0">
                <a:solidFill>
                  <a:srgbClr val="16171F"/>
                </a:solidFill>
                <a:latin typeface="Times New Roman"/>
                <a:cs typeface="Times New Roman"/>
              </a:rPr>
              <a:t>what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we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commit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35" dirty="0">
                <a:solidFill>
                  <a:srgbClr val="16171F"/>
                </a:solidFill>
                <a:latin typeface="Times New Roman"/>
                <a:cs typeface="Times New Roman"/>
              </a:rPr>
              <a:t>deliver.</a:t>
            </a:r>
            <a:endParaRPr sz="48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49" y="2495546"/>
            <a:ext cx="2590800" cy="1457325"/>
            <a:chOff x="1047749" y="2495546"/>
            <a:chExt cx="2590800" cy="1457325"/>
          </a:xfrm>
        </p:grpSpPr>
        <p:sp>
          <p:nvSpPr>
            <p:cNvPr id="4" name="object 4"/>
            <p:cNvSpPr/>
            <p:nvPr/>
          </p:nvSpPr>
          <p:spPr>
            <a:xfrm>
              <a:off x="1047749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2062" y="274796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200024"/>
                  </a:moveTo>
                  <a:lnTo>
                    <a:pt x="0" y="66674"/>
                  </a:lnTo>
                  <a:lnTo>
                    <a:pt x="100012" y="0"/>
                  </a:lnTo>
                  <a:lnTo>
                    <a:pt x="200024" y="66674"/>
                  </a:lnTo>
                  <a:lnTo>
                    <a:pt x="200024" y="200024"/>
                  </a:lnTo>
                </a:path>
                <a:path w="200025" h="200025">
                  <a:moveTo>
                    <a:pt x="66674" y="200024"/>
                  </a:moveTo>
                  <a:lnTo>
                    <a:pt x="66674" y="133349"/>
                  </a:lnTo>
                  <a:lnTo>
                    <a:pt x="133349" y="133349"/>
                  </a:lnTo>
                  <a:lnTo>
                    <a:pt x="133349" y="200024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2512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endParaRPr sz="3600" dirty="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00" dirty="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71899" y="2495546"/>
            <a:ext cx="2581275" cy="1457325"/>
            <a:chOff x="3771899" y="2495546"/>
            <a:chExt cx="2581275" cy="1457325"/>
          </a:xfrm>
        </p:grpSpPr>
        <p:sp>
          <p:nvSpPr>
            <p:cNvPr id="8" name="object 8"/>
            <p:cNvSpPr/>
            <p:nvPr/>
          </p:nvSpPr>
          <p:spPr>
            <a:xfrm>
              <a:off x="3771899" y="2495546"/>
              <a:ext cx="2581275" cy="1457325"/>
            </a:xfrm>
            <a:custGeom>
              <a:avLst/>
              <a:gdLst/>
              <a:ahLst/>
              <a:cxnLst/>
              <a:rect l="l" t="t" r="r" b="b"/>
              <a:pathLst>
                <a:path w="2581275" h="1457325">
                  <a:moveTo>
                    <a:pt x="2581274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81274" y="0"/>
                  </a:lnTo>
                  <a:lnTo>
                    <a:pt x="2581274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6212" y="2764631"/>
              <a:ext cx="211454" cy="183515"/>
            </a:xfrm>
            <a:custGeom>
              <a:avLst/>
              <a:gdLst/>
              <a:ahLst/>
              <a:cxnLst/>
              <a:rect l="l" t="t" r="r" b="b"/>
              <a:pathLst>
                <a:path w="211454" h="183514">
                  <a:moveTo>
                    <a:pt x="105568" y="38893"/>
                  </a:moveTo>
                  <a:lnTo>
                    <a:pt x="105568" y="44051"/>
                  </a:lnTo>
                  <a:lnTo>
                    <a:pt x="104581" y="49012"/>
                  </a:lnTo>
                  <a:lnTo>
                    <a:pt x="102608" y="53777"/>
                  </a:lnTo>
                  <a:lnTo>
                    <a:pt x="100634" y="58542"/>
                  </a:lnTo>
                  <a:lnTo>
                    <a:pt x="81558" y="74826"/>
                  </a:lnTo>
                  <a:lnTo>
                    <a:pt x="76793" y="76800"/>
                  </a:lnTo>
                  <a:lnTo>
                    <a:pt x="71832" y="77787"/>
                  </a:lnTo>
                  <a:lnTo>
                    <a:pt x="66674" y="77787"/>
                  </a:lnTo>
                  <a:lnTo>
                    <a:pt x="61517" y="77787"/>
                  </a:lnTo>
                  <a:lnTo>
                    <a:pt x="56556" y="76800"/>
                  </a:lnTo>
                  <a:lnTo>
                    <a:pt x="51790" y="74826"/>
                  </a:lnTo>
                  <a:lnTo>
                    <a:pt x="47025" y="72853"/>
                  </a:lnTo>
                  <a:lnTo>
                    <a:pt x="30741" y="53777"/>
                  </a:lnTo>
                  <a:lnTo>
                    <a:pt x="28768" y="49012"/>
                  </a:lnTo>
                  <a:lnTo>
                    <a:pt x="27781" y="44051"/>
                  </a:lnTo>
                  <a:lnTo>
                    <a:pt x="27781" y="38893"/>
                  </a:lnTo>
                  <a:lnTo>
                    <a:pt x="27781" y="33736"/>
                  </a:lnTo>
                  <a:lnTo>
                    <a:pt x="28768" y="28774"/>
                  </a:lnTo>
                  <a:lnTo>
                    <a:pt x="30741" y="24009"/>
                  </a:lnTo>
                  <a:lnTo>
                    <a:pt x="32715" y="19244"/>
                  </a:lnTo>
                  <a:lnTo>
                    <a:pt x="35525" y="15038"/>
                  </a:lnTo>
                  <a:lnTo>
                    <a:pt x="39172" y="11391"/>
                  </a:lnTo>
                  <a:lnTo>
                    <a:pt x="42819" y="7744"/>
                  </a:lnTo>
                  <a:lnTo>
                    <a:pt x="47025" y="4934"/>
                  </a:lnTo>
                  <a:lnTo>
                    <a:pt x="51790" y="2960"/>
                  </a:lnTo>
                  <a:lnTo>
                    <a:pt x="56556" y="986"/>
                  </a:lnTo>
                  <a:lnTo>
                    <a:pt x="61517" y="0"/>
                  </a:lnTo>
                  <a:lnTo>
                    <a:pt x="66674" y="0"/>
                  </a:lnTo>
                  <a:lnTo>
                    <a:pt x="71832" y="0"/>
                  </a:lnTo>
                  <a:lnTo>
                    <a:pt x="76793" y="986"/>
                  </a:lnTo>
                  <a:lnTo>
                    <a:pt x="81558" y="2960"/>
                  </a:lnTo>
                  <a:lnTo>
                    <a:pt x="86323" y="4934"/>
                  </a:lnTo>
                  <a:lnTo>
                    <a:pt x="105568" y="33736"/>
                  </a:lnTo>
                  <a:lnTo>
                    <a:pt x="105568" y="38893"/>
                  </a:lnTo>
                  <a:close/>
                </a:path>
                <a:path w="211454" h="183514">
                  <a:moveTo>
                    <a:pt x="0" y="183356"/>
                  </a:moveTo>
                  <a:lnTo>
                    <a:pt x="4948" y="158874"/>
                  </a:lnTo>
                  <a:lnTo>
                    <a:pt x="18752" y="137517"/>
                  </a:lnTo>
                  <a:lnTo>
                    <a:pt x="39848" y="122411"/>
                  </a:lnTo>
                  <a:lnTo>
                    <a:pt x="66674" y="116681"/>
                  </a:lnTo>
                  <a:lnTo>
                    <a:pt x="93501" y="122411"/>
                  </a:lnTo>
                  <a:lnTo>
                    <a:pt x="114597" y="137517"/>
                  </a:lnTo>
                  <a:lnTo>
                    <a:pt x="128401" y="158874"/>
                  </a:lnTo>
                  <a:lnTo>
                    <a:pt x="133349" y="183356"/>
                  </a:lnTo>
                </a:path>
                <a:path w="211454" h="183514">
                  <a:moveTo>
                    <a:pt x="183356" y="50006"/>
                  </a:moveTo>
                  <a:lnTo>
                    <a:pt x="155574" y="77787"/>
                  </a:lnTo>
                  <a:lnTo>
                    <a:pt x="151890" y="77787"/>
                  </a:lnTo>
                  <a:lnTo>
                    <a:pt x="129908" y="60637"/>
                  </a:lnTo>
                  <a:lnTo>
                    <a:pt x="128498" y="57234"/>
                  </a:lnTo>
                  <a:lnTo>
                    <a:pt x="127793" y="53690"/>
                  </a:lnTo>
                  <a:lnTo>
                    <a:pt x="127793" y="50006"/>
                  </a:lnTo>
                  <a:lnTo>
                    <a:pt x="127793" y="46322"/>
                  </a:lnTo>
                  <a:lnTo>
                    <a:pt x="135930" y="30361"/>
                  </a:lnTo>
                  <a:lnTo>
                    <a:pt x="138535" y="27756"/>
                  </a:lnTo>
                  <a:lnTo>
                    <a:pt x="141539" y="25749"/>
                  </a:lnTo>
                  <a:lnTo>
                    <a:pt x="144943" y="24339"/>
                  </a:lnTo>
                  <a:lnTo>
                    <a:pt x="148347" y="22929"/>
                  </a:lnTo>
                  <a:lnTo>
                    <a:pt x="151890" y="22224"/>
                  </a:lnTo>
                  <a:lnTo>
                    <a:pt x="155574" y="22224"/>
                  </a:lnTo>
                  <a:lnTo>
                    <a:pt x="159258" y="22224"/>
                  </a:lnTo>
                  <a:lnTo>
                    <a:pt x="183356" y="46322"/>
                  </a:lnTo>
                  <a:lnTo>
                    <a:pt x="183356" y="50006"/>
                  </a:lnTo>
                  <a:close/>
                </a:path>
                <a:path w="211454" h="183514">
                  <a:moveTo>
                    <a:pt x="122237" y="183356"/>
                  </a:moveTo>
                  <a:lnTo>
                    <a:pt x="125276" y="167034"/>
                  </a:lnTo>
                  <a:lnTo>
                    <a:pt x="134044" y="152796"/>
                  </a:lnTo>
                  <a:lnTo>
                    <a:pt x="148021" y="142726"/>
                  </a:lnTo>
                  <a:lnTo>
                    <a:pt x="166687" y="138906"/>
                  </a:lnTo>
                  <a:lnTo>
                    <a:pt x="185353" y="142726"/>
                  </a:lnTo>
                  <a:lnTo>
                    <a:pt x="199330" y="152796"/>
                  </a:lnTo>
                  <a:lnTo>
                    <a:pt x="208098" y="167034"/>
                  </a:lnTo>
                  <a:lnTo>
                    <a:pt x="211137" y="183356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76662" y="2500308"/>
            <a:ext cx="2571750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635"/>
              </a:spcBef>
            </a:pPr>
            <a:r>
              <a:rPr sz="3600" spc="-10" dirty="0">
                <a:solidFill>
                  <a:srgbClr val="16171F"/>
                </a:solidFill>
                <a:latin typeface="Times New Roman"/>
                <a:cs typeface="Times New Roman"/>
              </a:rPr>
              <a:t>1.23</a:t>
            </a:r>
            <a:r>
              <a:rPr sz="165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86524" y="2495546"/>
            <a:ext cx="2590800" cy="1457325"/>
            <a:chOff x="6486524" y="2495546"/>
            <a:chExt cx="2590800" cy="1457325"/>
          </a:xfrm>
        </p:grpSpPr>
        <p:sp>
          <p:nvSpPr>
            <p:cNvPr id="12" name="object 12"/>
            <p:cNvSpPr/>
            <p:nvPr/>
          </p:nvSpPr>
          <p:spPr>
            <a:xfrm>
              <a:off x="6486524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4172" y="2727959"/>
              <a:ext cx="173354" cy="2178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91287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88</a:t>
            </a:r>
            <a:r>
              <a:rPr sz="1650" spc="-25" dirty="0">
                <a:solidFill>
                  <a:srgbClr val="67686E"/>
                </a:solidFill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10674" y="2495546"/>
            <a:ext cx="2590800" cy="1457325"/>
            <a:chOff x="9210674" y="2495546"/>
            <a:chExt cx="2590800" cy="1457325"/>
          </a:xfrm>
        </p:grpSpPr>
        <p:sp>
          <p:nvSpPr>
            <p:cNvPr id="16" name="object 16"/>
            <p:cNvSpPr/>
            <p:nvPr/>
          </p:nvSpPr>
          <p:spPr>
            <a:xfrm>
              <a:off x="9210674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24987" y="2770187"/>
              <a:ext cx="200025" cy="155575"/>
            </a:xfrm>
            <a:custGeom>
              <a:avLst/>
              <a:gdLst/>
              <a:ahLst/>
              <a:cxnLst/>
              <a:rect l="l" t="t" r="r" b="b"/>
              <a:pathLst>
                <a:path w="200025" h="155575">
                  <a:moveTo>
                    <a:pt x="0" y="77787"/>
                  </a:moveTo>
                  <a:lnTo>
                    <a:pt x="44449" y="77787"/>
                  </a:lnTo>
                  <a:lnTo>
                    <a:pt x="77787" y="0"/>
                  </a:lnTo>
                  <a:lnTo>
                    <a:pt x="122237" y="155574"/>
                  </a:lnTo>
                  <a:lnTo>
                    <a:pt x="155574" y="77787"/>
                  </a:lnTo>
                  <a:lnTo>
                    <a:pt x="200024" y="77787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15436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endParaRPr sz="36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934824" y="2495546"/>
            <a:ext cx="2581275" cy="1457325"/>
            <a:chOff x="11934824" y="2495546"/>
            <a:chExt cx="2581275" cy="1457325"/>
          </a:xfrm>
        </p:grpSpPr>
        <p:sp>
          <p:nvSpPr>
            <p:cNvPr id="20" name="object 20"/>
            <p:cNvSpPr/>
            <p:nvPr/>
          </p:nvSpPr>
          <p:spPr>
            <a:xfrm>
              <a:off x="11934824" y="2495546"/>
              <a:ext cx="2581275" cy="1457325"/>
            </a:xfrm>
            <a:custGeom>
              <a:avLst/>
              <a:gdLst/>
              <a:ahLst/>
              <a:cxnLst/>
              <a:rect l="l" t="t" r="r" b="b"/>
              <a:pathLst>
                <a:path w="2581275" h="1457325">
                  <a:moveTo>
                    <a:pt x="2581274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81274" y="0"/>
                  </a:lnTo>
                  <a:lnTo>
                    <a:pt x="2581274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3584" y="2736849"/>
              <a:ext cx="151129" cy="2311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1939586" y="2500308"/>
            <a:ext cx="2571750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550</a:t>
            </a:r>
            <a:endParaRPr sz="360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649448" y="2495546"/>
            <a:ext cx="2590800" cy="1457325"/>
            <a:chOff x="14649448" y="2495546"/>
            <a:chExt cx="2590800" cy="1457325"/>
          </a:xfrm>
        </p:grpSpPr>
        <p:sp>
          <p:nvSpPr>
            <p:cNvPr id="24" name="object 24"/>
            <p:cNvSpPr/>
            <p:nvPr/>
          </p:nvSpPr>
          <p:spPr>
            <a:xfrm>
              <a:off x="14649448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096" y="2727959"/>
              <a:ext cx="206692" cy="22891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654210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635"/>
              </a:spcBef>
            </a:pPr>
            <a:r>
              <a:rPr sz="3600" spc="-20" dirty="0">
                <a:solidFill>
                  <a:srgbClr val="16171F"/>
                </a:solidFill>
                <a:latin typeface="Times New Roman"/>
                <a:cs typeface="Times New Roman"/>
              </a:rPr>
              <a:t>825+</a:t>
            </a:r>
            <a:endParaRPr sz="36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47749" y="4219571"/>
            <a:ext cx="5219700" cy="5210175"/>
            <a:chOff x="1047749" y="4219571"/>
            <a:chExt cx="5219700" cy="5210175"/>
          </a:xfrm>
        </p:grpSpPr>
        <p:sp>
          <p:nvSpPr>
            <p:cNvPr id="28" name="object 28"/>
            <p:cNvSpPr/>
            <p:nvPr/>
          </p:nvSpPr>
          <p:spPr>
            <a:xfrm>
              <a:off x="10477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2512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323974" y="4465955"/>
            <a:ext cx="3066415" cy="48831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Period-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related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school</a:t>
            </a:r>
            <a:r>
              <a:rPr sz="18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absence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96392" y="5206999"/>
            <a:ext cx="4203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67686E"/>
                </a:solidFill>
                <a:latin typeface="Times New Roman"/>
                <a:cs typeface="Times New Roman"/>
              </a:rPr>
              <a:t>4–</a:t>
            </a:r>
            <a:r>
              <a:rPr sz="2100" spc="-50" dirty="0">
                <a:solidFill>
                  <a:srgbClr val="67686E"/>
                </a:solidFill>
                <a:latin typeface="Times New Roman"/>
                <a:cs typeface="Times New Roman"/>
              </a:rPr>
              <a:t>5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05024" y="5705471"/>
            <a:ext cx="3886200" cy="885825"/>
            <a:chOff x="2105024" y="5705471"/>
            <a:chExt cx="3886200" cy="885825"/>
          </a:xfrm>
        </p:grpSpPr>
        <p:sp>
          <p:nvSpPr>
            <p:cNvPr id="33" name="object 33"/>
            <p:cNvSpPr/>
            <p:nvPr/>
          </p:nvSpPr>
          <p:spPr>
            <a:xfrm>
              <a:off x="2105024" y="5705471"/>
              <a:ext cx="1171575" cy="885825"/>
            </a:xfrm>
            <a:custGeom>
              <a:avLst/>
              <a:gdLst/>
              <a:ahLst/>
              <a:cxnLst/>
              <a:rect l="l" t="t" r="r" b="b"/>
              <a:pathLst>
                <a:path w="1171575" h="885825">
                  <a:moveTo>
                    <a:pt x="1171574" y="885824"/>
                  </a:moveTo>
                  <a:lnTo>
                    <a:pt x="0" y="885824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885824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19649" y="5705471"/>
              <a:ext cx="1171575" cy="485775"/>
            </a:xfrm>
            <a:custGeom>
              <a:avLst/>
              <a:gdLst/>
              <a:ahLst/>
              <a:cxnLst/>
              <a:rect l="l" t="t" r="r" b="b"/>
              <a:pathLst>
                <a:path w="1171575" h="485775">
                  <a:moveTo>
                    <a:pt x="1171574" y="485774"/>
                  </a:moveTo>
                  <a:lnTo>
                    <a:pt x="0" y="485774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485774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05200" y="5788024"/>
            <a:ext cx="31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7292E"/>
                </a:solidFill>
                <a:latin typeface="Times New Roman"/>
                <a:cs typeface="Times New Roman"/>
              </a:rPr>
              <a:t>→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26955" y="5206999"/>
            <a:ext cx="188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275" dirty="0">
                <a:solidFill>
                  <a:srgbClr val="77292E"/>
                </a:solidFill>
                <a:latin typeface="Times New Roman"/>
                <a:cs typeface="Times New Roman"/>
              </a:rPr>
              <a:t>↓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06230" y="6273799"/>
            <a:ext cx="81153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3974" y="6673850"/>
            <a:ext cx="335724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Pre/post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attendance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logs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days/month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34149" y="4219571"/>
            <a:ext cx="5219700" cy="5210175"/>
            <a:chOff x="6534149" y="4219571"/>
            <a:chExt cx="5219700" cy="5210175"/>
          </a:xfrm>
        </p:grpSpPr>
        <p:sp>
          <p:nvSpPr>
            <p:cNvPr id="40" name="object 40"/>
            <p:cNvSpPr/>
            <p:nvPr/>
          </p:nvSpPr>
          <p:spPr>
            <a:xfrm>
              <a:off x="65341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38911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10375" y="4465955"/>
            <a:ext cx="3426460" cy="48831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using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6171F"/>
                </a:solidFill>
                <a:latin typeface="Times New Roman"/>
                <a:cs typeface="Times New Roman"/>
              </a:rPr>
              <a:t>safe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products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894108" y="5274733"/>
            <a:ext cx="2499995" cy="899794"/>
            <a:chOff x="7894108" y="5274733"/>
            <a:chExt cx="2499995" cy="899794"/>
          </a:xfrm>
        </p:grpSpPr>
        <p:sp>
          <p:nvSpPr>
            <p:cNvPr id="44" name="object 44"/>
            <p:cNvSpPr/>
            <p:nvPr/>
          </p:nvSpPr>
          <p:spPr>
            <a:xfrm>
              <a:off x="7973483" y="5354108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740833" y="370416"/>
                  </a:moveTo>
                  <a:lnTo>
                    <a:pt x="738047" y="415762"/>
                  </a:lnTo>
                  <a:lnTo>
                    <a:pt x="729732" y="460420"/>
                  </a:lnTo>
                  <a:lnTo>
                    <a:pt x="716013" y="503725"/>
                  </a:lnTo>
                  <a:lnTo>
                    <a:pt x="697095" y="545029"/>
                  </a:lnTo>
                  <a:lnTo>
                    <a:pt x="673262" y="583707"/>
                  </a:lnTo>
                  <a:lnTo>
                    <a:pt x="644877" y="619173"/>
                  </a:lnTo>
                  <a:lnTo>
                    <a:pt x="612364" y="650897"/>
                  </a:lnTo>
                  <a:lnTo>
                    <a:pt x="576209" y="678406"/>
                  </a:lnTo>
                  <a:lnTo>
                    <a:pt x="536957" y="701283"/>
                  </a:lnTo>
                  <a:lnTo>
                    <a:pt x="495206" y="719180"/>
                  </a:lnTo>
                  <a:lnTo>
                    <a:pt x="451578" y="731832"/>
                  </a:lnTo>
                  <a:lnTo>
                    <a:pt x="406723" y="739049"/>
                  </a:lnTo>
                  <a:lnTo>
                    <a:pt x="370416" y="740833"/>
                  </a:lnTo>
                  <a:lnTo>
                    <a:pt x="361323" y="740721"/>
                  </a:lnTo>
                  <a:lnTo>
                    <a:pt x="316065" y="736824"/>
                  </a:lnTo>
                  <a:lnTo>
                    <a:pt x="271624" y="727416"/>
                  </a:lnTo>
                  <a:lnTo>
                    <a:pt x="228664" y="712636"/>
                  </a:lnTo>
                  <a:lnTo>
                    <a:pt x="187836" y="692710"/>
                  </a:lnTo>
                  <a:lnTo>
                    <a:pt x="149759" y="667938"/>
                  </a:lnTo>
                  <a:lnTo>
                    <a:pt x="115001" y="638691"/>
                  </a:lnTo>
                  <a:lnTo>
                    <a:pt x="84080" y="605406"/>
                  </a:lnTo>
                  <a:lnTo>
                    <a:pt x="57467" y="568586"/>
                  </a:lnTo>
                  <a:lnTo>
                    <a:pt x="35563" y="528790"/>
                  </a:lnTo>
                  <a:lnTo>
                    <a:pt x="18696" y="486612"/>
                  </a:lnTo>
                  <a:lnTo>
                    <a:pt x="7117" y="442681"/>
                  </a:lnTo>
                  <a:lnTo>
                    <a:pt x="1003" y="397663"/>
                  </a:lnTo>
                  <a:lnTo>
                    <a:pt x="0" y="370416"/>
                  </a:lnTo>
                  <a:lnTo>
                    <a:pt x="111" y="361323"/>
                  </a:lnTo>
                  <a:lnTo>
                    <a:pt x="4008" y="316065"/>
                  </a:lnTo>
                  <a:lnTo>
                    <a:pt x="13417" y="271624"/>
                  </a:lnTo>
                  <a:lnTo>
                    <a:pt x="28196" y="228664"/>
                  </a:lnTo>
                  <a:lnTo>
                    <a:pt x="48123" y="187836"/>
                  </a:lnTo>
                  <a:lnTo>
                    <a:pt x="72894" y="149759"/>
                  </a:lnTo>
                  <a:lnTo>
                    <a:pt x="102141" y="115001"/>
                  </a:lnTo>
                  <a:lnTo>
                    <a:pt x="135426" y="84080"/>
                  </a:lnTo>
                  <a:lnTo>
                    <a:pt x="172246" y="57467"/>
                  </a:lnTo>
                  <a:lnTo>
                    <a:pt x="212042" y="35563"/>
                  </a:lnTo>
                  <a:lnTo>
                    <a:pt x="254221" y="18696"/>
                  </a:lnTo>
                  <a:lnTo>
                    <a:pt x="298151" y="7117"/>
                  </a:lnTo>
                  <a:lnTo>
                    <a:pt x="343169" y="1003"/>
                  </a:lnTo>
                  <a:lnTo>
                    <a:pt x="370416" y="0"/>
                  </a:lnTo>
                  <a:lnTo>
                    <a:pt x="379509" y="111"/>
                  </a:lnTo>
                  <a:lnTo>
                    <a:pt x="424768" y="4008"/>
                  </a:lnTo>
                  <a:lnTo>
                    <a:pt x="469208" y="13417"/>
                  </a:lnTo>
                  <a:lnTo>
                    <a:pt x="512168" y="28196"/>
                  </a:lnTo>
                  <a:lnTo>
                    <a:pt x="552996" y="48123"/>
                  </a:lnTo>
                  <a:lnTo>
                    <a:pt x="591073" y="72894"/>
                  </a:lnTo>
                  <a:lnTo>
                    <a:pt x="625832" y="102141"/>
                  </a:lnTo>
                  <a:lnTo>
                    <a:pt x="656752" y="135426"/>
                  </a:lnTo>
                  <a:lnTo>
                    <a:pt x="683366" y="172246"/>
                  </a:lnTo>
                  <a:lnTo>
                    <a:pt x="705269" y="212042"/>
                  </a:lnTo>
                  <a:lnTo>
                    <a:pt x="722136" y="254221"/>
                  </a:lnTo>
                  <a:lnTo>
                    <a:pt x="733715" y="298151"/>
                  </a:lnTo>
                  <a:lnTo>
                    <a:pt x="739829" y="343169"/>
                  </a:lnTo>
                  <a:lnTo>
                    <a:pt x="740833" y="370416"/>
                  </a:lnTo>
                  <a:close/>
                </a:path>
              </a:pathLst>
            </a:custGeom>
            <a:ln w="158749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43899" y="5274733"/>
              <a:ext cx="450215" cy="641985"/>
            </a:xfrm>
            <a:custGeom>
              <a:avLst/>
              <a:gdLst/>
              <a:ahLst/>
              <a:cxnLst/>
              <a:rect l="l" t="t" r="r" b="b"/>
              <a:pathLst>
                <a:path w="450215" h="641985">
                  <a:moveTo>
                    <a:pt x="449791" y="449791"/>
                  </a:moveTo>
                  <a:lnTo>
                    <a:pt x="447106" y="499553"/>
                  </a:lnTo>
                  <a:lnTo>
                    <a:pt x="439052" y="548112"/>
                  </a:lnTo>
                  <a:lnTo>
                    <a:pt x="425627" y="595468"/>
                  </a:lnTo>
                  <a:lnTo>
                    <a:pt x="406833" y="641622"/>
                  </a:lnTo>
                  <a:lnTo>
                    <a:pt x="263245" y="573917"/>
                  </a:lnTo>
                  <a:lnTo>
                    <a:pt x="275406" y="544053"/>
                  </a:lnTo>
                  <a:lnTo>
                    <a:pt x="284092" y="513410"/>
                  </a:lnTo>
                  <a:lnTo>
                    <a:pt x="289304" y="481990"/>
                  </a:lnTo>
                  <a:lnTo>
                    <a:pt x="291041" y="449791"/>
                  </a:lnTo>
                  <a:lnTo>
                    <a:pt x="287631" y="402982"/>
                  </a:lnTo>
                  <a:lnTo>
                    <a:pt x="277402" y="358998"/>
                  </a:lnTo>
                  <a:lnTo>
                    <a:pt x="260353" y="317838"/>
                  </a:lnTo>
                  <a:lnTo>
                    <a:pt x="236485" y="279504"/>
                  </a:lnTo>
                  <a:lnTo>
                    <a:pt x="205797" y="243994"/>
                  </a:lnTo>
                  <a:lnTo>
                    <a:pt x="170287" y="213306"/>
                  </a:lnTo>
                  <a:lnTo>
                    <a:pt x="131952" y="189437"/>
                  </a:lnTo>
                  <a:lnTo>
                    <a:pt x="90793" y="172389"/>
                  </a:lnTo>
                  <a:lnTo>
                    <a:pt x="46808" y="162159"/>
                  </a:lnTo>
                  <a:lnTo>
                    <a:pt x="0" y="158749"/>
                  </a:lnTo>
                  <a:lnTo>
                    <a:pt x="0" y="0"/>
                  </a:lnTo>
                  <a:lnTo>
                    <a:pt x="52117" y="2688"/>
                  </a:lnTo>
                  <a:lnTo>
                    <a:pt x="102008" y="10754"/>
                  </a:lnTo>
                  <a:lnTo>
                    <a:pt x="149671" y="24197"/>
                  </a:lnTo>
                  <a:lnTo>
                    <a:pt x="195107" y="43017"/>
                  </a:lnTo>
                  <a:lnTo>
                    <a:pt x="238315" y="67214"/>
                  </a:lnTo>
                  <a:lnTo>
                    <a:pt x="279296" y="96789"/>
                  </a:lnTo>
                  <a:lnTo>
                    <a:pt x="318050" y="131740"/>
                  </a:lnTo>
                  <a:lnTo>
                    <a:pt x="353002" y="170494"/>
                  </a:lnTo>
                  <a:lnTo>
                    <a:pt x="382576" y="211476"/>
                  </a:lnTo>
                  <a:lnTo>
                    <a:pt x="406774" y="254684"/>
                  </a:lnTo>
                  <a:lnTo>
                    <a:pt x="425594" y="300120"/>
                  </a:lnTo>
                  <a:lnTo>
                    <a:pt x="439037" y="347783"/>
                  </a:lnTo>
                  <a:lnTo>
                    <a:pt x="447103" y="397673"/>
                  </a:lnTo>
                  <a:lnTo>
                    <a:pt x="449791" y="449791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73683" y="5354108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740833" y="370416"/>
                  </a:moveTo>
                  <a:lnTo>
                    <a:pt x="738047" y="415762"/>
                  </a:lnTo>
                  <a:lnTo>
                    <a:pt x="729732" y="460420"/>
                  </a:lnTo>
                  <a:lnTo>
                    <a:pt x="716013" y="503725"/>
                  </a:lnTo>
                  <a:lnTo>
                    <a:pt x="697095" y="545029"/>
                  </a:lnTo>
                  <a:lnTo>
                    <a:pt x="673262" y="583707"/>
                  </a:lnTo>
                  <a:lnTo>
                    <a:pt x="644877" y="619173"/>
                  </a:lnTo>
                  <a:lnTo>
                    <a:pt x="612364" y="650897"/>
                  </a:lnTo>
                  <a:lnTo>
                    <a:pt x="576209" y="678406"/>
                  </a:lnTo>
                  <a:lnTo>
                    <a:pt x="536957" y="701283"/>
                  </a:lnTo>
                  <a:lnTo>
                    <a:pt x="495206" y="719180"/>
                  </a:lnTo>
                  <a:lnTo>
                    <a:pt x="451578" y="731832"/>
                  </a:lnTo>
                  <a:lnTo>
                    <a:pt x="406723" y="739049"/>
                  </a:lnTo>
                  <a:lnTo>
                    <a:pt x="370416" y="740833"/>
                  </a:lnTo>
                  <a:lnTo>
                    <a:pt x="361323" y="740721"/>
                  </a:lnTo>
                  <a:lnTo>
                    <a:pt x="316065" y="736824"/>
                  </a:lnTo>
                  <a:lnTo>
                    <a:pt x="271624" y="727416"/>
                  </a:lnTo>
                  <a:lnTo>
                    <a:pt x="228664" y="712636"/>
                  </a:lnTo>
                  <a:lnTo>
                    <a:pt x="187836" y="692710"/>
                  </a:lnTo>
                  <a:lnTo>
                    <a:pt x="149759" y="667938"/>
                  </a:lnTo>
                  <a:lnTo>
                    <a:pt x="115001" y="638691"/>
                  </a:lnTo>
                  <a:lnTo>
                    <a:pt x="84080" y="605406"/>
                  </a:lnTo>
                  <a:lnTo>
                    <a:pt x="57467" y="568586"/>
                  </a:lnTo>
                  <a:lnTo>
                    <a:pt x="35563" y="528790"/>
                  </a:lnTo>
                  <a:lnTo>
                    <a:pt x="18696" y="486612"/>
                  </a:lnTo>
                  <a:lnTo>
                    <a:pt x="7117" y="442681"/>
                  </a:lnTo>
                  <a:lnTo>
                    <a:pt x="1003" y="397663"/>
                  </a:lnTo>
                  <a:lnTo>
                    <a:pt x="0" y="370416"/>
                  </a:lnTo>
                  <a:lnTo>
                    <a:pt x="111" y="361323"/>
                  </a:lnTo>
                  <a:lnTo>
                    <a:pt x="4008" y="316065"/>
                  </a:lnTo>
                  <a:lnTo>
                    <a:pt x="13417" y="271624"/>
                  </a:lnTo>
                  <a:lnTo>
                    <a:pt x="28196" y="228664"/>
                  </a:lnTo>
                  <a:lnTo>
                    <a:pt x="48123" y="187836"/>
                  </a:lnTo>
                  <a:lnTo>
                    <a:pt x="72894" y="149759"/>
                  </a:lnTo>
                  <a:lnTo>
                    <a:pt x="102141" y="115001"/>
                  </a:lnTo>
                  <a:lnTo>
                    <a:pt x="135426" y="84080"/>
                  </a:lnTo>
                  <a:lnTo>
                    <a:pt x="172246" y="57467"/>
                  </a:lnTo>
                  <a:lnTo>
                    <a:pt x="212042" y="35563"/>
                  </a:lnTo>
                  <a:lnTo>
                    <a:pt x="254221" y="18696"/>
                  </a:lnTo>
                  <a:lnTo>
                    <a:pt x="298151" y="7117"/>
                  </a:lnTo>
                  <a:lnTo>
                    <a:pt x="343169" y="1003"/>
                  </a:lnTo>
                  <a:lnTo>
                    <a:pt x="370416" y="0"/>
                  </a:lnTo>
                  <a:lnTo>
                    <a:pt x="379509" y="111"/>
                  </a:lnTo>
                  <a:lnTo>
                    <a:pt x="424768" y="4008"/>
                  </a:lnTo>
                  <a:lnTo>
                    <a:pt x="469208" y="13417"/>
                  </a:lnTo>
                  <a:lnTo>
                    <a:pt x="512168" y="28196"/>
                  </a:lnTo>
                  <a:lnTo>
                    <a:pt x="552996" y="48123"/>
                  </a:lnTo>
                  <a:lnTo>
                    <a:pt x="591073" y="72894"/>
                  </a:lnTo>
                  <a:lnTo>
                    <a:pt x="625832" y="102141"/>
                  </a:lnTo>
                  <a:lnTo>
                    <a:pt x="656752" y="135426"/>
                  </a:lnTo>
                  <a:lnTo>
                    <a:pt x="683366" y="172246"/>
                  </a:lnTo>
                  <a:lnTo>
                    <a:pt x="705269" y="212042"/>
                  </a:lnTo>
                  <a:lnTo>
                    <a:pt x="722136" y="254221"/>
                  </a:lnTo>
                  <a:lnTo>
                    <a:pt x="733715" y="298151"/>
                  </a:lnTo>
                  <a:lnTo>
                    <a:pt x="739829" y="343169"/>
                  </a:lnTo>
                  <a:lnTo>
                    <a:pt x="740833" y="370416"/>
                  </a:lnTo>
                  <a:close/>
                </a:path>
              </a:pathLst>
            </a:custGeom>
            <a:ln w="158749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576070" y="5274733"/>
              <a:ext cx="817880" cy="899794"/>
            </a:xfrm>
            <a:custGeom>
              <a:avLst/>
              <a:gdLst/>
              <a:ahLst/>
              <a:cxnLst/>
              <a:rect l="l" t="t" r="r" b="b"/>
              <a:pathLst>
                <a:path w="817879" h="899795">
                  <a:moveTo>
                    <a:pt x="817821" y="449791"/>
                  </a:moveTo>
                  <a:lnTo>
                    <a:pt x="815132" y="501909"/>
                  </a:lnTo>
                  <a:lnTo>
                    <a:pt x="807066" y="551799"/>
                  </a:lnTo>
                  <a:lnTo>
                    <a:pt x="793623" y="599462"/>
                  </a:lnTo>
                  <a:lnTo>
                    <a:pt x="774803" y="644898"/>
                  </a:lnTo>
                  <a:lnTo>
                    <a:pt x="750606" y="688107"/>
                  </a:lnTo>
                  <a:lnTo>
                    <a:pt x="721031" y="729088"/>
                  </a:lnTo>
                  <a:lnTo>
                    <a:pt x="686080" y="767842"/>
                  </a:lnTo>
                  <a:lnTo>
                    <a:pt x="647326" y="802794"/>
                  </a:lnTo>
                  <a:lnTo>
                    <a:pt x="606345" y="832368"/>
                  </a:lnTo>
                  <a:lnTo>
                    <a:pt x="563136" y="856565"/>
                  </a:lnTo>
                  <a:lnTo>
                    <a:pt x="517700" y="875385"/>
                  </a:lnTo>
                  <a:lnTo>
                    <a:pt x="470037" y="888828"/>
                  </a:lnTo>
                  <a:lnTo>
                    <a:pt x="420147" y="896894"/>
                  </a:lnTo>
                  <a:lnTo>
                    <a:pt x="368029" y="899583"/>
                  </a:lnTo>
                  <a:lnTo>
                    <a:pt x="317326" y="897222"/>
                  </a:lnTo>
                  <a:lnTo>
                    <a:pt x="269075" y="890141"/>
                  </a:lnTo>
                  <a:lnTo>
                    <a:pt x="223277" y="878338"/>
                  </a:lnTo>
                  <a:lnTo>
                    <a:pt x="179932" y="861814"/>
                  </a:lnTo>
                  <a:lnTo>
                    <a:pt x="139040" y="840569"/>
                  </a:lnTo>
                  <a:lnTo>
                    <a:pt x="100601" y="814603"/>
                  </a:lnTo>
                  <a:lnTo>
                    <a:pt x="64614" y="783915"/>
                  </a:lnTo>
                  <a:lnTo>
                    <a:pt x="31080" y="748507"/>
                  </a:lnTo>
                  <a:lnTo>
                    <a:pt x="0" y="708377"/>
                  </a:lnTo>
                  <a:lnTo>
                    <a:pt x="129892" y="617112"/>
                  </a:lnTo>
                  <a:lnTo>
                    <a:pt x="160654" y="654915"/>
                  </a:lnTo>
                  <a:lnTo>
                    <a:pt x="194987" y="685846"/>
                  </a:lnTo>
                  <a:lnTo>
                    <a:pt x="232891" y="709903"/>
                  </a:lnTo>
                  <a:lnTo>
                    <a:pt x="274366" y="727086"/>
                  </a:lnTo>
                  <a:lnTo>
                    <a:pt x="319412" y="737396"/>
                  </a:lnTo>
                  <a:lnTo>
                    <a:pt x="368029" y="740833"/>
                  </a:lnTo>
                  <a:lnTo>
                    <a:pt x="414838" y="737423"/>
                  </a:lnTo>
                  <a:lnTo>
                    <a:pt x="458822" y="727194"/>
                  </a:lnTo>
                  <a:lnTo>
                    <a:pt x="499982" y="710145"/>
                  </a:lnTo>
                  <a:lnTo>
                    <a:pt x="538316" y="686277"/>
                  </a:lnTo>
                  <a:lnTo>
                    <a:pt x="573826" y="655589"/>
                  </a:lnTo>
                  <a:lnTo>
                    <a:pt x="604514" y="620079"/>
                  </a:lnTo>
                  <a:lnTo>
                    <a:pt x="628383" y="581744"/>
                  </a:lnTo>
                  <a:lnTo>
                    <a:pt x="645432" y="540584"/>
                  </a:lnTo>
                  <a:lnTo>
                    <a:pt x="655661" y="496600"/>
                  </a:lnTo>
                  <a:lnTo>
                    <a:pt x="659071" y="449791"/>
                  </a:lnTo>
                  <a:lnTo>
                    <a:pt x="655661" y="402982"/>
                  </a:lnTo>
                  <a:lnTo>
                    <a:pt x="645432" y="358998"/>
                  </a:lnTo>
                  <a:lnTo>
                    <a:pt x="628383" y="317838"/>
                  </a:lnTo>
                  <a:lnTo>
                    <a:pt x="604514" y="279504"/>
                  </a:lnTo>
                  <a:lnTo>
                    <a:pt x="573826" y="243994"/>
                  </a:lnTo>
                  <a:lnTo>
                    <a:pt x="538316" y="213306"/>
                  </a:lnTo>
                  <a:lnTo>
                    <a:pt x="499982" y="189437"/>
                  </a:lnTo>
                  <a:lnTo>
                    <a:pt x="458822" y="172389"/>
                  </a:lnTo>
                  <a:lnTo>
                    <a:pt x="414838" y="162159"/>
                  </a:lnTo>
                  <a:lnTo>
                    <a:pt x="368029" y="158749"/>
                  </a:lnTo>
                  <a:lnTo>
                    <a:pt x="368029" y="0"/>
                  </a:lnTo>
                  <a:lnTo>
                    <a:pt x="420147" y="2688"/>
                  </a:lnTo>
                  <a:lnTo>
                    <a:pt x="470037" y="10754"/>
                  </a:lnTo>
                  <a:lnTo>
                    <a:pt x="517700" y="24197"/>
                  </a:lnTo>
                  <a:lnTo>
                    <a:pt x="563136" y="43017"/>
                  </a:lnTo>
                  <a:lnTo>
                    <a:pt x="606345" y="67214"/>
                  </a:lnTo>
                  <a:lnTo>
                    <a:pt x="647326" y="96789"/>
                  </a:lnTo>
                  <a:lnTo>
                    <a:pt x="686080" y="131740"/>
                  </a:lnTo>
                  <a:lnTo>
                    <a:pt x="721031" y="170494"/>
                  </a:lnTo>
                  <a:lnTo>
                    <a:pt x="750606" y="211476"/>
                  </a:lnTo>
                  <a:lnTo>
                    <a:pt x="774803" y="254684"/>
                  </a:lnTo>
                  <a:lnTo>
                    <a:pt x="793623" y="300120"/>
                  </a:lnTo>
                  <a:lnTo>
                    <a:pt x="807066" y="347783"/>
                  </a:lnTo>
                  <a:lnTo>
                    <a:pt x="815132" y="397673"/>
                  </a:lnTo>
                  <a:lnTo>
                    <a:pt x="817821" y="449791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016924" y="6254749"/>
            <a:ext cx="6477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650" spc="-20" dirty="0">
                <a:solidFill>
                  <a:srgbClr val="16171F"/>
                </a:solidFill>
                <a:latin typeface="Times New Roman"/>
                <a:cs typeface="Times New Roman"/>
              </a:rPr>
              <a:t>~50%</a:t>
            </a:r>
            <a:endParaRPr sz="16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89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991600" y="5778499"/>
            <a:ext cx="31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7292E"/>
                </a:solidFill>
                <a:latin typeface="Times New Roman"/>
                <a:cs typeface="Times New Roman"/>
              </a:rPr>
              <a:t>→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535417" y="6254749"/>
            <a:ext cx="82359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1650" spc="75" dirty="0">
                <a:solidFill>
                  <a:srgbClr val="77292E"/>
                </a:solidFill>
                <a:latin typeface="Times New Roman"/>
                <a:cs typeface="Times New Roman"/>
              </a:rPr>
              <a:t>Target</a:t>
            </a:r>
            <a:r>
              <a:rPr sz="1650" spc="2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1650" spc="204" dirty="0">
                <a:solidFill>
                  <a:srgbClr val="77292E"/>
                </a:solidFill>
                <a:latin typeface="Times New Roman"/>
                <a:cs typeface="Times New Roman"/>
              </a:rPr>
              <a:t>↑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10375" y="6959600"/>
            <a:ext cx="371982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Baseline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vs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80" dirty="0">
                <a:solidFill>
                  <a:srgbClr val="67686E"/>
                </a:solidFill>
                <a:latin typeface="Courier New"/>
                <a:cs typeface="Courier New"/>
              </a:rPr>
              <a:t>follow-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up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5" dirty="0">
                <a:solidFill>
                  <a:srgbClr val="67686E"/>
                </a:solidFill>
                <a:latin typeface="Courier New"/>
                <a:cs typeface="Courier New"/>
              </a:rPr>
              <a:t>survey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of</a:t>
            </a:r>
            <a:r>
              <a:rPr sz="1050" spc="20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50" dirty="0">
                <a:solidFill>
                  <a:srgbClr val="67686E"/>
                </a:solidFill>
                <a:latin typeface="Courier New"/>
                <a:cs typeface="Courier New"/>
              </a:rPr>
              <a:t>girls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020549" y="4219571"/>
            <a:ext cx="5219700" cy="5210175"/>
            <a:chOff x="12020549" y="4219571"/>
            <a:chExt cx="5219700" cy="5210175"/>
          </a:xfrm>
        </p:grpSpPr>
        <p:sp>
          <p:nvSpPr>
            <p:cNvPr id="53" name="object 53"/>
            <p:cNvSpPr/>
            <p:nvPr/>
          </p:nvSpPr>
          <p:spPr>
            <a:xfrm>
              <a:off x="120205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025311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2296774" y="5419721"/>
              <a:ext cx="4667250" cy="114300"/>
            </a:xfrm>
            <a:custGeom>
              <a:avLst/>
              <a:gdLst/>
              <a:ahLst/>
              <a:cxnLst/>
              <a:rect l="l" t="t" r="r" b="b"/>
              <a:pathLst>
                <a:path w="4667250" h="114300">
                  <a:moveTo>
                    <a:pt x="466724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4667249" y="0"/>
                  </a:lnTo>
                  <a:lnTo>
                    <a:pt x="4667249" y="11429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2296774" y="4465955"/>
            <a:ext cx="3615690" cy="89598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110" dirty="0">
                <a:solidFill>
                  <a:srgbClr val="16171F"/>
                </a:solidFill>
                <a:latin typeface="Times New Roman"/>
                <a:cs typeface="Times New Roman"/>
              </a:rPr>
              <a:t>Institutions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20" dirty="0">
                <a:solidFill>
                  <a:srgbClr val="16171F"/>
                </a:solidFill>
                <a:latin typeface="Times New Roman"/>
                <a:cs typeface="Times New Roman"/>
              </a:rPr>
              <a:t>running</a:t>
            </a:r>
            <a:r>
              <a:rPr sz="18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independently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815344" y="5187949"/>
            <a:ext cx="1612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67686E"/>
                </a:solidFill>
                <a:latin typeface="Courier New"/>
                <a:cs typeface="Courier New"/>
              </a:rPr>
              <a:t>0%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2296774" y="5905496"/>
            <a:ext cx="4667250" cy="600075"/>
            <a:chOff x="12296774" y="5905496"/>
            <a:chExt cx="4667250" cy="600075"/>
          </a:xfrm>
        </p:grpSpPr>
        <p:sp>
          <p:nvSpPr>
            <p:cNvPr id="59" name="object 59"/>
            <p:cNvSpPr/>
            <p:nvPr/>
          </p:nvSpPr>
          <p:spPr>
            <a:xfrm>
              <a:off x="15097124" y="5905496"/>
              <a:ext cx="1866900" cy="114300"/>
            </a:xfrm>
            <a:custGeom>
              <a:avLst/>
              <a:gdLst/>
              <a:ahLst/>
              <a:cxnLst/>
              <a:rect l="l" t="t" r="r" b="b"/>
              <a:pathLst>
                <a:path w="1866900" h="114300">
                  <a:moveTo>
                    <a:pt x="0" y="114299"/>
                  </a:moveTo>
                  <a:lnTo>
                    <a:pt x="1866899" y="114299"/>
                  </a:lnTo>
                  <a:lnTo>
                    <a:pt x="1866899" y="0"/>
                  </a:lnTo>
                  <a:lnTo>
                    <a:pt x="0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2296763" y="5905499"/>
              <a:ext cx="4667250" cy="600075"/>
            </a:xfrm>
            <a:custGeom>
              <a:avLst/>
              <a:gdLst/>
              <a:ahLst/>
              <a:cxnLst/>
              <a:rect l="l" t="t" r="r" b="b"/>
              <a:pathLst>
                <a:path w="4667250" h="600075">
                  <a:moveTo>
                    <a:pt x="280035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800350" y="114300"/>
                  </a:lnTo>
                  <a:lnTo>
                    <a:pt x="2800350" y="0"/>
                  </a:lnTo>
                  <a:close/>
                </a:path>
                <a:path w="4667250" h="600075">
                  <a:moveTo>
                    <a:pt x="4667250" y="485775"/>
                  </a:moveTo>
                  <a:lnTo>
                    <a:pt x="0" y="485775"/>
                  </a:lnTo>
                  <a:lnTo>
                    <a:pt x="0" y="600075"/>
                  </a:lnTo>
                  <a:lnTo>
                    <a:pt x="4667250" y="600075"/>
                  </a:lnTo>
                  <a:lnTo>
                    <a:pt x="4667250" y="485775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296774" y="5673724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666815" y="5673724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67686E"/>
                </a:solidFill>
                <a:latin typeface="Courier New"/>
                <a:cs typeface="Courier New"/>
              </a:rPr>
              <a:t>~60%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296774" y="6159499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666815" y="6159499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77292E"/>
                </a:solidFill>
                <a:latin typeface="Courier New"/>
                <a:cs typeface="Courier New"/>
              </a:rPr>
              <a:t>100%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296774" y="8691244"/>
            <a:ext cx="399224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7100"/>
              </a:lnSpc>
              <a:spcBef>
                <a:spcPts val="10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1050" spc="1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80" dirty="0">
                <a:solidFill>
                  <a:srgbClr val="67686E"/>
                </a:solidFill>
                <a:latin typeface="Courier New"/>
                <a:cs typeface="Courier New"/>
              </a:rPr>
              <a:t>self-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delivering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1050" spc="1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institution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staff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050" spc="1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40" dirty="0">
                <a:solidFill>
                  <a:srgbClr val="67686E"/>
                </a:solidFill>
                <a:latin typeface="Courier New"/>
                <a:cs typeface="Courier New"/>
              </a:rPr>
              <a:t>peer </a:t>
            </a:r>
            <a:r>
              <a:rPr sz="1050" spc="55" dirty="0">
                <a:solidFill>
                  <a:srgbClr val="67686E"/>
                </a:solidFill>
                <a:latin typeface="Courier New"/>
                <a:cs typeface="Courier New"/>
              </a:rPr>
              <a:t>mentors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087848" y="406400"/>
            <a:ext cx="2138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438910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6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847407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1748155" algn="l"/>
                <a:tab pos="295084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220" dirty="0">
                <a:solidFill>
                  <a:srgbClr val="16171F"/>
                </a:solidFill>
                <a:latin typeface="Times New Roman"/>
                <a:cs typeface="Times New Roman"/>
              </a:rPr>
              <a:t>Contributing</a:t>
            </a:r>
            <a:r>
              <a:rPr sz="4800" spc="-1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five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345" dirty="0">
                <a:solidFill>
                  <a:srgbClr val="16171F"/>
                </a:solidFill>
                <a:latin typeface="Times New Roman"/>
                <a:cs typeface="Times New Roman"/>
              </a:rPr>
              <a:t>UN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Sustainable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Development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65" dirty="0">
                <a:solidFill>
                  <a:srgbClr val="16171F"/>
                </a:solidFill>
                <a:latin typeface="Times New Roman"/>
                <a:cs typeface="Times New Roman"/>
              </a:rPr>
              <a:t>Goals.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3133720"/>
            <a:ext cx="3067050" cy="3076575"/>
            <a:chOff x="1047749" y="3133720"/>
            <a:chExt cx="3067050" cy="3076575"/>
          </a:xfrm>
        </p:grpSpPr>
        <p:sp>
          <p:nvSpPr>
            <p:cNvPr id="6" name="object 6"/>
            <p:cNvSpPr/>
            <p:nvPr/>
          </p:nvSpPr>
          <p:spPr>
            <a:xfrm>
              <a:off x="1047749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4B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67099" y="560070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5"/>
                  </a:moveTo>
                  <a:lnTo>
                    <a:pt x="144660" y="324292"/>
                  </a:lnTo>
                  <a:lnTo>
                    <a:pt x="85724" y="272648"/>
                  </a:lnTo>
                  <a:lnTo>
                    <a:pt x="26789" y="194216"/>
                  </a:lnTo>
                  <a:lnTo>
                    <a:pt x="0" y="95245"/>
                  </a:lnTo>
                  <a:lnTo>
                    <a:pt x="287" y="87794"/>
                  </a:lnTo>
                  <a:lnTo>
                    <a:pt x="13855" y="45765"/>
                  </a:lnTo>
                  <a:lnTo>
                    <a:pt x="44999" y="14324"/>
                  </a:lnTo>
                  <a:lnTo>
                    <a:pt x="86897" y="358"/>
                  </a:lnTo>
                  <a:lnTo>
                    <a:pt x="94346" y="0"/>
                  </a:lnTo>
                  <a:lnTo>
                    <a:pt x="101799" y="217"/>
                  </a:lnTo>
                  <a:lnTo>
                    <a:pt x="143955" y="13385"/>
                  </a:lnTo>
                  <a:lnTo>
                    <a:pt x="171449" y="38095"/>
                  </a:lnTo>
                  <a:lnTo>
                    <a:pt x="176151" y="32307"/>
                  </a:lnTo>
                  <a:lnTo>
                    <a:pt x="212222" y="6824"/>
                  </a:lnTo>
                  <a:lnTo>
                    <a:pt x="248553" y="0"/>
                  </a:lnTo>
                  <a:lnTo>
                    <a:pt x="256002" y="358"/>
                  </a:lnTo>
                  <a:lnTo>
                    <a:pt x="297900" y="14324"/>
                  </a:lnTo>
                  <a:lnTo>
                    <a:pt x="329044" y="45765"/>
                  </a:lnTo>
                  <a:lnTo>
                    <a:pt x="342612" y="87794"/>
                  </a:lnTo>
                  <a:lnTo>
                    <a:pt x="342899" y="95245"/>
                  </a:lnTo>
                  <a:lnTo>
                    <a:pt x="316110" y="194216"/>
                  </a:lnTo>
                  <a:lnTo>
                    <a:pt x="257174" y="272648"/>
                  </a:lnTo>
                  <a:lnTo>
                    <a:pt x="198239" y="324292"/>
                  </a:lnTo>
                  <a:lnTo>
                    <a:pt x="171449" y="342895"/>
                  </a:lnTo>
                  <a:close/>
                </a:path>
                <a:path w="342900" h="342900">
                  <a:moveTo>
                    <a:pt x="76199" y="95245"/>
                  </a:moveTo>
                  <a:lnTo>
                    <a:pt x="133349" y="95245"/>
                  </a:lnTo>
                  <a:lnTo>
                    <a:pt x="152399" y="38095"/>
                  </a:lnTo>
                  <a:lnTo>
                    <a:pt x="190499" y="152395"/>
                  </a:lnTo>
                  <a:lnTo>
                    <a:pt x="209549" y="95245"/>
                  </a:lnTo>
                  <a:lnTo>
                    <a:pt x="266699" y="95245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5050" y="6345458"/>
            <a:ext cx="2982595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0600"/>
              </a:lnSpc>
              <a:spcBef>
                <a:spcPts val="95"/>
              </a:spcBef>
            </a:pP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Promotes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hygiene;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reduces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RTIs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UTIs;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protects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physical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emotional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being.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24349" y="3133720"/>
            <a:ext cx="3076575" cy="3076575"/>
            <a:chOff x="4324349" y="3133720"/>
            <a:chExt cx="3076575" cy="3076575"/>
          </a:xfrm>
        </p:grpSpPr>
        <p:sp>
          <p:nvSpPr>
            <p:cNvPr id="10" name="object 10"/>
            <p:cNvSpPr/>
            <p:nvPr/>
          </p:nvSpPr>
          <p:spPr>
            <a:xfrm>
              <a:off x="4324349" y="3133720"/>
              <a:ext cx="3076575" cy="3076575"/>
            </a:xfrm>
            <a:custGeom>
              <a:avLst/>
              <a:gdLst/>
              <a:ahLst/>
              <a:cxnLst/>
              <a:rect l="l" t="t" r="r" b="b"/>
              <a:pathLst>
                <a:path w="3076575" h="3076575">
                  <a:moveTo>
                    <a:pt x="3076574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3076574"/>
                  </a:lnTo>
                  <a:close/>
                </a:path>
              </a:pathLst>
            </a:custGeom>
            <a:solidFill>
              <a:srgbClr val="C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6074" y="5543549"/>
              <a:ext cx="457200" cy="323850"/>
            </a:xfrm>
            <a:custGeom>
              <a:avLst/>
              <a:gdLst/>
              <a:ahLst/>
              <a:cxnLst/>
              <a:rect l="l" t="t" r="r" b="b"/>
              <a:pathLst>
                <a:path w="457200" h="323850">
                  <a:moveTo>
                    <a:pt x="0" y="95249"/>
                  </a:moveTo>
                  <a:lnTo>
                    <a:pt x="228599" y="0"/>
                  </a:lnTo>
                  <a:lnTo>
                    <a:pt x="457199" y="95249"/>
                  </a:lnTo>
                  <a:lnTo>
                    <a:pt x="228599" y="190499"/>
                  </a:lnTo>
                  <a:lnTo>
                    <a:pt x="0" y="95249"/>
                  </a:lnTo>
                  <a:close/>
                </a:path>
                <a:path w="457200" h="323850">
                  <a:moveTo>
                    <a:pt x="76199" y="133349"/>
                  </a:moveTo>
                  <a:lnTo>
                    <a:pt x="76199" y="266699"/>
                  </a:lnTo>
                  <a:lnTo>
                    <a:pt x="87957" y="287684"/>
                  </a:lnTo>
                  <a:lnTo>
                    <a:pt x="120253" y="305990"/>
                  </a:lnTo>
                  <a:lnTo>
                    <a:pt x="168622" y="318938"/>
                  </a:lnTo>
                  <a:lnTo>
                    <a:pt x="228599" y="323849"/>
                  </a:lnTo>
                  <a:lnTo>
                    <a:pt x="288577" y="318938"/>
                  </a:lnTo>
                  <a:lnTo>
                    <a:pt x="336946" y="305990"/>
                  </a:lnTo>
                  <a:lnTo>
                    <a:pt x="369242" y="287684"/>
                  </a:lnTo>
                  <a:lnTo>
                    <a:pt x="380999" y="266699"/>
                  </a:lnTo>
                  <a:lnTo>
                    <a:pt x="380999" y="133349"/>
                  </a:lnTo>
                </a:path>
                <a:path w="457200" h="323850">
                  <a:moveTo>
                    <a:pt x="457199" y="95249"/>
                  </a:moveTo>
                  <a:lnTo>
                    <a:pt x="457199" y="22859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5370" y="6345458"/>
            <a:ext cx="2830830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Cuts</a:t>
            </a:r>
            <a:r>
              <a:rPr sz="130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menstruation-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driven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absenteeism;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preserves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school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attendance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academic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continuity.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10474" y="3133720"/>
            <a:ext cx="3067050" cy="3076575"/>
            <a:chOff x="7610474" y="3133720"/>
            <a:chExt cx="3067050" cy="3076575"/>
          </a:xfrm>
        </p:grpSpPr>
        <p:sp>
          <p:nvSpPr>
            <p:cNvPr id="14" name="object 14"/>
            <p:cNvSpPr/>
            <p:nvPr/>
          </p:nvSpPr>
          <p:spPr>
            <a:xfrm>
              <a:off x="7610474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FF3A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86974" y="5543549"/>
              <a:ext cx="228600" cy="438150"/>
            </a:xfrm>
            <a:custGeom>
              <a:avLst/>
              <a:gdLst/>
              <a:ahLst/>
              <a:cxnLst/>
              <a:rect l="l" t="t" r="r" b="b"/>
              <a:pathLst>
                <a:path w="228600" h="438150">
                  <a:moveTo>
                    <a:pt x="228600" y="114299"/>
                  </a:moveTo>
                  <a:lnTo>
                    <a:pt x="228599" y="121805"/>
                  </a:lnTo>
                  <a:lnTo>
                    <a:pt x="227867" y="129237"/>
                  </a:lnTo>
                  <a:lnTo>
                    <a:pt x="226403" y="136598"/>
                  </a:lnTo>
                  <a:lnTo>
                    <a:pt x="224939" y="143959"/>
                  </a:lnTo>
                  <a:lnTo>
                    <a:pt x="222771" y="151106"/>
                  </a:lnTo>
                  <a:lnTo>
                    <a:pt x="219899" y="158040"/>
                  </a:lnTo>
                  <a:lnTo>
                    <a:pt x="217027" y="164974"/>
                  </a:lnTo>
                  <a:lnTo>
                    <a:pt x="189815" y="200429"/>
                  </a:lnTo>
                  <a:lnTo>
                    <a:pt x="177801" y="209336"/>
                  </a:lnTo>
                  <a:lnTo>
                    <a:pt x="171561" y="213506"/>
                  </a:lnTo>
                  <a:lnTo>
                    <a:pt x="164974" y="217027"/>
                  </a:lnTo>
                  <a:lnTo>
                    <a:pt x="158040" y="219899"/>
                  </a:lnTo>
                  <a:lnTo>
                    <a:pt x="151106" y="222771"/>
                  </a:lnTo>
                  <a:lnTo>
                    <a:pt x="143959" y="224939"/>
                  </a:lnTo>
                  <a:lnTo>
                    <a:pt x="136598" y="226403"/>
                  </a:lnTo>
                  <a:lnTo>
                    <a:pt x="129237" y="227867"/>
                  </a:lnTo>
                  <a:lnTo>
                    <a:pt x="121805" y="228599"/>
                  </a:lnTo>
                  <a:lnTo>
                    <a:pt x="114300" y="228599"/>
                  </a:lnTo>
                  <a:lnTo>
                    <a:pt x="106794" y="228599"/>
                  </a:lnTo>
                  <a:lnTo>
                    <a:pt x="99362" y="227867"/>
                  </a:lnTo>
                  <a:lnTo>
                    <a:pt x="92001" y="226403"/>
                  </a:lnTo>
                  <a:lnTo>
                    <a:pt x="84640" y="224939"/>
                  </a:lnTo>
                  <a:lnTo>
                    <a:pt x="77493" y="222771"/>
                  </a:lnTo>
                  <a:lnTo>
                    <a:pt x="70559" y="219899"/>
                  </a:lnTo>
                  <a:lnTo>
                    <a:pt x="63625" y="217027"/>
                  </a:lnTo>
                  <a:lnTo>
                    <a:pt x="28170" y="189815"/>
                  </a:lnTo>
                  <a:lnTo>
                    <a:pt x="19263" y="177801"/>
                  </a:lnTo>
                  <a:lnTo>
                    <a:pt x="15093" y="171561"/>
                  </a:lnTo>
                  <a:lnTo>
                    <a:pt x="11572" y="164974"/>
                  </a:lnTo>
                  <a:lnTo>
                    <a:pt x="8700" y="158040"/>
                  </a:lnTo>
                  <a:lnTo>
                    <a:pt x="5828" y="151106"/>
                  </a:lnTo>
                  <a:lnTo>
                    <a:pt x="3660" y="143959"/>
                  </a:lnTo>
                  <a:lnTo>
                    <a:pt x="2196" y="136598"/>
                  </a:lnTo>
                  <a:lnTo>
                    <a:pt x="732" y="129237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732" y="99361"/>
                  </a:lnTo>
                  <a:lnTo>
                    <a:pt x="2196" y="92001"/>
                  </a:lnTo>
                  <a:lnTo>
                    <a:pt x="3660" y="84640"/>
                  </a:lnTo>
                  <a:lnTo>
                    <a:pt x="5828" y="77492"/>
                  </a:lnTo>
                  <a:lnTo>
                    <a:pt x="8700" y="70559"/>
                  </a:lnTo>
                  <a:lnTo>
                    <a:pt x="11572" y="63625"/>
                  </a:lnTo>
                  <a:lnTo>
                    <a:pt x="15093" y="57038"/>
                  </a:lnTo>
                  <a:lnTo>
                    <a:pt x="19263" y="50798"/>
                  </a:lnTo>
                  <a:lnTo>
                    <a:pt x="23432" y="44558"/>
                  </a:lnTo>
                  <a:lnTo>
                    <a:pt x="28170" y="38784"/>
                  </a:lnTo>
                  <a:lnTo>
                    <a:pt x="33477" y="33477"/>
                  </a:lnTo>
                  <a:lnTo>
                    <a:pt x="38784" y="28170"/>
                  </a:lnTo>
                  <a:lnTo>
                    <a:pt x="44558" y="23432"/>
                  </a:lnTo>
                  <a:lnTo>
                    <a:pt x="50798" y="19263"/>
                  </a:lnTo>
                  <a:lnTo>
                    <a:pt x="57038" y="15093"/>
                  </a:lnTo>
                  <a:lnTo>
                    <a:pt x="63625" y="11572"/>
                  </a:lnTo>
                  <a:lnTo>
                    <a:pt x="70559" y="8700"/>
                  </a:lnTo>
                  <a:lnTo>
                    <a:pt x="77493" y="5828"/>
                  </a:lnTo>
                  <a:lnTo>
                    <a:pt x="84640" y="3660"/>
                  </a:lnTo>
                  <a:lnTo>
                    <a:pt x="92001" y="2196"/>
                  </a:lnTo>
                  <a:lnTo>
                    <a:pt x="99362" y="732"/>
                  </a:lnTo>
                  <a:lnTo>
                    <a:pt x="106794" y="0"/>
                  </a:lnTo>
                  <a:lnTo>
                    <a:pt x="114300" y="0"/>
                  </a:lnTo>
                  <a:lnTo>
                    <a:pt x="121805" y="0"/>
                  </a:lnTo>
                  <a:lnTo>
                    <a:pt x="129237" y="732"/>
                  </a:lnTo>
                  <a:lnTo>
                    <a:pt x="136598" y="2196"/>
                  </a:lnTo>
                  <a:lnTo>
                    <a:pt x="143959" y="3660"/>
                  </a:lnTo>
                  <a:lnTo>
                    <a:pt x="151106" y="5828"/>
                  </a:lnTo>
                  <a:lnTo>
                    <a:pt x="158040" y="8700"/>
                  </a:lnTo>
                  <a:lnTo>
                    <a:pt x="164974" y="11572"/>
                  </a:lnTo>
                  <a:lnTo>
                    <a:pt x="171561" y="15093"/>
                  </a:lnTo>
                  <a:lnTo>
                    <a:pt x="177801" y="19263"/>
                  </a:lnTo>
                  <a:lnTo>
                    <a:pt x="184041" y="23432"/>
                  </a:lnTo>
                  <a:lnTo>
                    <a:pt x="213506" y="57038"/>
                  </a:lnTo>
                  <a:lnTo>
                    <a:pt x="219899" y="70559"/>
                  </a:lnTo>
                  <a:lnTo>
                    <a:pt x="222771" y="77492"/>
                  </a:lnTo>
                  <a:lnTo>
                    <a:pt x="224939" y="84640"/>
                  </a:lnTo>
                  <a:lnTo>
                    <a:pt x="226403" y="92001"/>
                  </a:lnTo>
                  <a:lnTo>
                    <a:pt x="227867" y="99361"/>
                  </a:lnTo>
                  <a:lnTo>
                    <a:pt x="228599" y="106794"/>
                  </a:lnTo>
                  <a:lnTo>
                    <a:pt x="228600" y="114299"/>
                  </a:lnTo>
                  <a:close/>
                </a:path>
                <a:path w="228600" h="438150">
                  <a:moveTo>
                    <a:pt x="114300" y="228599"/>
                  </a:moveTo>
                  <a:lnTo>
                    <a:pt x="114300" y="438149"/>
                  </a:lnTo>
                </a:path>
                <a:path w="228600" h="438150">
                  <a:moveTo>
                    <a:pt x="19050" y="342899"/>
                  </a:moveTo>
                  <a:lnTo>
                    <a:pt x="209550" y="34289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95840" y="6345458"/>
            <a:ext cx="3054985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Challenges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period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stigma;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ensures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equitable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access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dignity,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knowledge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menstrual care.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887074" y="3133720"/>
            <a:ext cx="3076575" cy="3076575"/>
            <a:chOff x="10887074" y="3133720"/>
            <a:chExt cx="3076575" cy="3076575"/>
          </a:xfrm>
        </p:grpSpPr>
        <p:sp>
          <p:nvSpPr>
            <p:cNvPr id="18" name="object 18"/>
            <p:cNvSpPr/>
            <p:nvPr/>
          </p:nvSpPr>
          <p:spPr>
            <a:xfrm>
              <a:off x="10887074" y="3133720"/>
              <a:ext cx="3076575" cy="3076575"/>
            </a:xfrm>
            <a:custGeom>
              <a:avLst/>
              <a:gdLst/>
              <a:ahLst/>
              <a:cxnLst/>
              <a:rect l="l" t="t" r="r" b="b"/>
              <a:pathLst>
                <a:path w="3076575" h="3076575">
                  <a:moveTo>
                    <a:pt x="3076574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3076574"/>
                  </a:lnTo>
                  <a:close/>
                </a:path>
              </a:pathLst>
            </a:custGeom>
            <a:solidFill>
              <a:srgbClr val="25B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354049" y="5486399"/>
              <a:ext cx="266700" cy="419100"/>
            </a:xfrm>
            <a:custGeom>
              <a:avLst/>
              <a:gdLst/>
              <a:ahLst/>
              <a:cxnLst/>
              <a:rect l="l" t="t" r="r" b="b"/>
              <a:pathLst>
                <a:path w="266700" h="419100">
                  <a:moveTo>
                    <a:pt x="133349" y="0"/>
                  </a:moveTo>
                  <a:lnTo>
                    <a:pt x="112514" y="28574"/>
                  </a:lnTo>
                  <a:lnTo>
                    <a:pt x="66674" y="100012"/>
                  </a:lnTo>
                  <a:lnTo>
                    <a:pt x="20835" y="192881"/>
                  </a:lnTo>
                  <a:lnTo>
                    <a:pt x="0" y="285749"/>
                  </a:lnTo>
                  <a:lnTo>
                    <a:pt x="160" y="292301"/>
                  </a:lnTo>
                  <a:lnTo>
                    <a:pt x="7791" y="330666"/>
                  </a:lnTo>
                  <a:lnTo>
                    <a:pt x="26246" y="365193"/>
                  </a:lnTo>
                  <a:lnTo>
                    <a:pt x="53906" y="392853"/>
                  </a:lnTo>
                  <a:lnTo>
                    <a:pt x="88432" y="411308"/>
                  </a:lnTo>
                  <a:lnTo>
                    <a:pt x="126798" y="418939"/>
                  </a:lnTo>
                  <a:lnTo>
                    <a:pt x="133349" y="419099"/>
                  </a:lnTo>
                  <a:lnTo>
                    <a:pt x="139901" y="418939"/>
                  </a:lnTo>
                  <a:lnTo>
                    <a:pt x="178267" y="411308"/>
                  </a:lnTo>
                  <a:lnTo>
                    <a:pt x="212793" y="392853"/>
                  </a:lnTo>
                  <a:lnTo>
                    <a:pt x="240453" y="365193"/>
                  </a:lnTo>
                  <a:lnTo>
                    <a:pt x="258908" y="330666"/>
                  </a:lnTo>
                  <a:lnTo>
                    <a:pt x="266539" y="292301"/>
                  </a:lnTo>
                  <a:lnTo>
                    <a:pt x="266699" y="285749"/>
                  </a:lnTo>
                  <a:lnTo>
                    <a:pt x="245864" y="192881"/>
                  </a:lnTo>
                  <a:lnTo>
                    <a:pt x="200024" y="100012"/>
                  </a:lnTo>
                  <a:lnTo>
                    <a:pt x="154185" y="28574"/>
                  </a:lnTo>
                  <a:lnTo>
                    <a:pt x="133349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876160" y="6345458"/>
            <a:ext cx="306451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eco-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friendly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open-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burn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pollution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across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all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275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campuses.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173198" y="3133720"/>
            <a:ext cx="3067050" cy="3076575"/>
            <a:chOff x="14173198" y="3133720"/>
            <a:chExt cx="3067050" cy="3076575"/>
          </a:xfrm>
        </p:grpSpPr>
        <p:sp>
          <p:nvSpPr>
            <p:cNvPr id="22" name="object 22"/>
            <p:cNvSpPr/>
            <p:nvPr/>
          </p:nvSpPr>
          <p:spPr>
            <a:xfrm>
              <a:off x="14173198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DD1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21111" y="5605462"/>
              <a:ext cx="485774" cy="1809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668748" y="5562599"/>
              <a:ext cx="190500" cy="323850"/>
            </a:xfrm>
            <a:custGeom>
              <a:avLst/>
              <a:gdLst/>
              <a:ahLst/>
              <a:cxnLst/>
              <a:rect l="l" t="t" r="r" b="b"/>
              <a:pathLst>
                <a:path w="190500" h="323850">
                  <a:moveTo>
                    <a:pt x="95249" y="0"/>
                  </a:moveTo>
                  <a:lnTo>
                    <a:pt x="95249" y="323849"/>
                  </a:lnTo>
                </a:path>
                <a:path w="190500" h="323850">
                  <a:moveTo>
                    <a:pt x="0" y="323849"/>
                  </a:moveTo>
                  <a:lnTo>
                    <a:pt x="190499" y="32384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4156630" y="6345458"/>
            <a:ext cx="308165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Exclusively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serves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10" dirty="0">
                <a:solidFill>
                  <a:srgbClr val="3B3C43"/>
                </a:solidFill>
                <a:latin typeface="Arial"/>
                <a:cs typeface="Arial"/>
              </a:rPr>
              <a:t>BC,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40" dirty="0">
                <a:solidFill>
                  <a:srgbClr val="3B3C43"/>
                </a:solidFill>
                <a:latin typeface="Arial"/>
                <a:cs typeface="Arial"/>
              </a:rPr>
              <a:t>SC,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60" dirty="0">
                <a:solidFill>
                  <a:srgbClr val="3B3C43"/>
                </a:solidFill>
                <a:latin typeface="Arial"/>
                <a:cs typeface="Arial"/>
              </a:rPr>
              <a:t>ST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minority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adolescent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girls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India's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most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underserved.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7749" y="9039220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35050" y="9245600"/>
            <a:ext cx="26022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8690" algn="l"/>
                <a:tab pos="1676400" algn="l"/>
              </a:tabLst>
            </a:pP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	P</a:t>
            </a:r>
            <a:r>
              <a:rPr sz="1050" spc="-45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Y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	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G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T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68775" y="9245600"/>
            <a:ext cx="23939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  <a:tab pos="1260475" algn="l"/>
                <a:tab pos="1780539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4587" y="9245600"/>
            <a:ext cx="2185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  <a:tab pos="146875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2336" y="9245600"/>
            <a:ext cx="8337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6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77983" y="9245600"/>
            <a:ext cx="43700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  <a:tab pos="1468755" algn="l"/>
                <a:tab pos="1988820" algn="l"/>
                <a:tab pos="2196465" algn="l"/>
                <a:tab pos="2716530" algn="l"/>
                <a:tab pos="3132455" algn="l"/>
                <a:tab pos="3549015" algn="l"/>
                <a:tab pos="3964940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A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V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(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017922" y="406400"/>
            <a:ext cx="320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320165" algn="l"/>
                <a:tab pos="215201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47749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1450" marR="80772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145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8250">
              <a:latin typeface="Times New Roman"/>
              <a:cs typeface="Times New Roman"/>
            </a:endParaRPr>
          </a:p>
          <a:p>
            <a:pPr marL="171450" marR="1686560">
              <a:lnSpc>
                <a:spcPts val="1500"/>
              </a:lnSpc>
              <a:spcBef>
                <a:spcPts val="165"/>
              </a:spcBef>
            </a:pPr>
            <a:r>
              <a:rPr sz="1450" b="1" spc="-135" dirty="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r>
              <a:rPr sz="1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Health </a:t>
            </a:r>
            <a:r>
              <a:rPr sz="1450" b="1" spc="-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Well-</a:t>
            </a:r>
            <a:r>
              <a:rPr sz="1450" b="1" spc="-90" dirty="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4349" y="3133720"/>
            <a:ext cx="3076575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4625" marR="813435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4625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8250">
              <a:latin typeface="Times New Roman"/>
              <a:cs typeface="Times New Roman"/>
            </a:endParaRPr>
          </a:p>
          <a:p>
            <a:pPr marL="174625" marR="2096770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Quality </a:t>
            </a:r>
            <a:r>
              <a:rPr sz="1450" b="1" spc="-95" dirty="0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10474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68910" marR="809625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6891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8250">
              <a:latin typeface="Times New Roman"/>
              <a:cs typeface="Times New Roman"/>
            </a:endParaRPr>
          </a:p>
          <a:p>
            <a:pPr marL="168910" marR="2237105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Gender </a:t>
            </a:r>
            <a:r>
              <a:rPr sz="1450" b="1" spc="-75" dirty="0">
                <a:solidFill>
                  <a:srgbClr val="FFFFFF"/>
                </a:solidFill>
                <a:latin typeface="Arial"/>
                <a:cs typeface="Arial"/>
              </a:rPr>
              <a:t>Equality</a:t>
            </a:r>
            <a:endParaRPr sz="1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887074" y="3133720"/>
            <a:ext cx="3076575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2720" marR="81534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272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8250">
              <a:latin typeface="Times New Roman"/>
              <a:cs typeface="Times New Roman"/>
            </a:endParaRPr>
          </a:p>
          <a:p>
            <a:pPr marL="172720" marR="1916430">
              <a:lnSpc>
                <a:spcPts val="1500"/>
              </a:lnSpc>
              <a:spcBef>
                <a:spcPts val="165"/>
              </a:spcBef>
            </a:pPr>
            <a:r>
              <a:rPr sz="1450" b="1" spc="-85" dirty="0">
                <a:solidFill>
                  <a:srgbClr val="FFFFFF"/>
                </a:solidFill>
                <a:latin typeface="Arial"/>
                <a:cs typeface="Arial"/>
              </a:rPr>
              <a:t>Clean</a:t>
            </a:r>
            <a:r>
              <a:rPr sz="1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5" dirty="0">
                <a:solidFill>
                  <a:srgbClr val="FFFFFF"/>
                </a:solidFill>
                <a:latin typeface="Arial"/>
                <a:cs typeface="Arial"/>
              </a:rPr>
              <a:t>Water </a:t>
            </a:r>
            <a:r>
              <a:rPr sz="1450" b="1" spc="-1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70" dirty="0">
                <a:solidFill>
                  <a:srgbClr val="FFFFFF"/>
                </a:solidFill>
                <a:latin typeface="Arial"/>
                <a:cs typeface="Arial"/>
              </a:rPr>
              <a:t>Sanitation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173198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 marR="81153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67005">
              <a:lnSpc>
                <a:spcPts val="9815"/>
              </a:lnSpc>
            </a:pPr>
            <a:r>
              <a:rPr sz="8250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8250">
              <a:latin typeface="Times New Roman"/>
              <a:cs typeface="Times New Roman"/>
            </a:endParaRPr>
          </a:p>
          <a:p>
            <a:pPr marL="167005" marR="1932939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Reduced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Inequalities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5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102169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2263775" algn="l"/>
                <a:tab pos="2950845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G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F</a:t>
            </a:r>
            <a:r>
              <a:rPr sz="1650" spc="-64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S</a:t>
            </a:r>
            <a:r>
              <a:rPr sz="1650" spc="-64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0" dirty="0">
                <a:solidFill>
                  <a:srgbClr val="FCF8EF"/>
                </a:solidFill>
                <a:latin typeface="Times New Roman"/>
                <a:cs typeface="Times New Roman"/>
              </a:rPr>
              <a:t>Government-</a:t>
            </a:r>
            <a:r>
              <a:rPr sz="4800" spc="165" dirty="0">
                <a:solidFill>
                  <a:srgbClr val="FCF8EF"/>
                </a:solidFill>
                <a:latin typeface="Times New Roman"/>
                <a:cs typeface="Times New Roman"/>
              </a:rPr>
              <a:t>endorsed,</a:t>
            </a:r>
            <a:r>
              <a:rPr sz="4800" spc="-114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FCF8EF"/>
                </a:solidFill>
                <a:latin typeface="Times New Roman"/>
                <a:cs typeface="Times New Roman"/>
              </a:rPr>
              <a:t>award-</a:t>
            </a:r>
            <a:r>
              <a:rPr sz="4800" spc="130" dirty="0">
                <a:solidFill>
                  <a:srgbClr val="FCF8EF"/>
                </a:solidFill>
                <a:latin typeface="Times New Roman"/>
                <a:cs typeface="Times New Roman"/>
              </a:rPr>
              <a:t>recognised,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with</a:t>
            </a:r>
            <a:r>
              <a:rPr sz="4800" spc="-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29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4800" spc="-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pilot</a:t>
            </a:r>
            <a:r>
              <a:rPr sz="4800" i="1" spc="-204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00" dirty="0">
                <a:solidFill>
                  <a:srgbClr val="B89056"/>
                </a:solidFill>
                <a:latin typeface="Times New Roman"/>
                <a:cs typeface="Times New Roman"/>
              </a:rPr>
              <a:t>already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75" dirty="0">
                <a:solidFill>
                  <a:srgbClr val="B89056"/>
                </a:solidFill>
                <a:latin typeface="Times New Roman"/>
                <a:cs typeface="Times New Roman"/>
              </a:rPr>
              <a:t>in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B89056"/>
                </a:solidFill>
                <a:latin typeface="Times New Roman"/>
                <a:cs typeface="Times New Roman"/>
              </a:rPr>
              <a:t>the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ground</a:t>
            </a:r>
            <a:r>
              <a:rPr sz="4800" spc="-10" dirty="0">
                <a:solidFill>
                  <a:srgbClr val="FCF8EF"/>
                </a:solidFill>
                <a:latin typeface="Times New Roman"/>
                <a:cs typeface="Times New Roman"/>
              </a:rPr>
              <a:t>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2512" y="3138483"/>
            <a:ext cx="7972425" cy="1733550"/>
          </a:xfrm>
          <a:custGeom>
            <a:avLst/>
            <a:gdLst/>
            <a:ahLst/>
            <a:cxnLst/>
            <a:rect l="l" t="t" r="r" b="b"/>
            <a:pathLst>
              <a:path w="7972425" h="1733550">
                <a:moveTo>
                  <a:pt x="0" y="0"/>
                </a:moveTo>
                <a:lnTo>
                  <a:pt x="7972424" y="0"/>
                </a:lnTo>
                <a:lnTo>
                  <a:pt x="7972424" y="1733549"/>
                </a:lnTo>
                <a:lnTo>
                  <a:pt x="0" y="17335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2074" y="3282950"/>
            <a:ext cx="457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Segoe UI Symbol"/>
                <a:cs typeface="Segoe UI Symbol"/>
              </a:rPr>
              <a:t>★</a:t>
            </a:r>
            <a:endParaRPr sz="42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4125" y="3397250"/>
            <a:ext cx="414845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'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X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4125" y="3604895"/>
            <a:ext cx="6510020" cy="9588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>
              <a:lnSpc>
                <a:spcPct val="112799"/>
              </a:lnSpc>
              <a:spcBef>
                <a:spcPts val="135"/>
              </a:spcBef>
            </a:pP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Corporate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Volunteering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—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Organisation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Category.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Conferred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by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Hon'ble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Governor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Shri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Jishnu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Dev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Varma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on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the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77th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Republic </a:t>
            </a:r>
            <a:r>
              <a:rPr sz="1800" spc="-50" dirty="0">
                <a:solidFill>
                  <a:srgbClr val="FCF8EF"/>
                </a:solidFill>
                <a:latin typeface="Palatino Linotype"/>
                <a:cs typeface="Palatino Linotype"/>
              </a:rPr>
              <a:t>Day,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Lok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Bhavan,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Hyderabad.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2512" y="5091107"/>
            <a:ext cx="7972425" cy="1724025"/>
          </a:xfrm>
          <a:custGeom>
            <a:avLst/>
            <a:gdLst/>
            <a:ahLst/>
            <a:cxnLst/>
            <a:rect l="l" t="t" r="r" b="b"/>
            <a:pathLst>
              <a:path w="7972425" h="1724025">
                <a:moveTo>
                  <a:pt x="0" y="0"/>
                </a:moveTo>
                <a:lnTo>
                  <a:pt x="7972424" y="0"/>
                </a:lnTo>
                <a:lnTo>
                  <a:pt x="7972424" y="1724024"/>
                </a:lnTo>
                <a:lnTo>
                  <a:pt x="0" y="17240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62074" y="5235574"/>
            <a:ext cx="279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Palatino Linotype"/>
                <a:cs typeface="Palatino Linotype"/>
              </a:rPr>
              <a:t>§</a:t>
            </a:r>
            <a:endParaRPr sz="42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6425" y="5349874"/>
            <a:ext cx="19691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J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6425" y="5567044"/>
            <a:ext cx="6469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Memorandum</a:t>
            </a:r>
            <a:r>
              <a:rPr sz="1800" spc="-3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of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Collaboration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signed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with</a:t>
            </a:r>
            <a:r>
              <a:rPr sz="1800" spc="-3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the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Secretary,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MJPTBCWREIS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—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Lr.No.C2/3357/2025.</a:t>
            </a:r>
            <a:r>
              <a:rPr sz="1800" spc="12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Full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institutional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access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across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275</a:t>
            </a:r>
            <a:r>
              <a:rPr sz="1800" spc="1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girls-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only</a:t>
            </a:r>
            <a:r>
              <a:rPr sz="1800" spc="1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campuses.</a:t>
            </a:r>
            <a:endParaRPr sz="1800" dirty="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2512" y="7034207"/>
            <a:ext cx="7972425" cy="1419225"/>
          </a:xfrm>
          <a:custGeom>
            <a:avLst/>
            <a:gdLst/>
            <a:ahLst/>
            <a:cxnLst/>
            <a:rect l="l" t="t" r="r" b="b"/>
            <a:pathLst>
              <a:path w="7972425" h="1419225">
                <a:moveTo>
                  <a:pt x="0" y="0"/>
                </a:moveTo>
                <a:lnTo>
                  <a:pt x="7972424" y="0"/>
                </a:lnTo>
                <a:lnTo>
                  <a:pt x="7972424" y="1419224"/>
                </a:lnTo>
                <a:lnTo>
                  <a:pt x="0" y="14192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62074" y="7178675"/>
            <a:ext cx="2711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Cambria Math"/>
                <a:cs typeface="Cambria Math"/>
              </a:rPr>
              <a:t>⌖</a:t>
            </a:r>
            <a:endParaRPr sz="4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7644" y="7292975"/>
            <a:ext cx="25634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7644" y="7510144"/>
            <a:ext cx="63798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1,200+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students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reached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Warangal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District.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End-to-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end 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workshop,</a:t>
            </a:r>
            <a:r>
              <a:rPr sz="1800" spc="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kit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distribution,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and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incinerator</a:t>
            </a:r>
            <a:r>
              <a:rPr sz="1800" spc="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install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documented.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7749" y="8667745"/>
            <a:ext cx="7981950" cy="1066800"/>
            <a:chOff x="1047749" y="8667745"/>
            <a:chExt cx="7981950" cy="1066800"/>
          </a:xfrm>
        </p:grpSpPr>
        <p:sp>
          <p:nvSpPr>
            <p:cNvPr id="18" name="object 18"/>
            <p:cNvSpPr/>
            <p:nvPr/>
          </p:nvSpPr>
          <p:spPr>
            <a:xfrm>
              <a:off x="1047749" y="8667745"/>
              <a:ext cx="7981950" cy="1066800"/>
            </a:xfrm>
            <a:custGeom>
              <a:avLst/>
              <a:gdLst/>
              <a:ahLst/>
              <a:cxnLst/>
              <a:rect l="l" t="t" r="r" b="b"/>
              <a:pathLst>
                <a:path w="7981950" h="1066800">
                  <a:moveTo>
                    <a:pt x="798194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7981949" y="0"/>
                  </a:lnTo>
                  <a:lnTo>
                    <a:pt x="7981949" y="10667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Give For Socie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449" y="8896350"/>
              <a:ext cx="609599" cy="6095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61567" y="9007475"/>
            <a:ext cx="1268095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35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35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52824" y="8896350"/>
            <a:ext cx="3810000" cy="609600"/>
            <a:chOff x="3552824" y="8896350"/>
            <a:chExt cx="3810000" cy="609600"/>
          </a:xfrm>
        </p:grpSpPr>
        <p:sp>
          <p:nvSpPr>
            <p:cNvPr id="22" name="object 22"/>
            <p:cNvSpPr/>
            <p:nvPr/>
          </p:nvSpPr>
          <p:spPr>
            <a:xfrm>
              <a:off x="3552824" y="896302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9524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476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Sthree Swabhima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0474" y="8896350"/>
              <a:ext cx="609599" cy="6095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10299" y="896302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9524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476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7949" y="8934449"/>
              <a:ext cx="904874" cy="5333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543573" y="9007475"/>
            <a:ext cx="1445260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spc="70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r>
              <a:rPr sz="13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16171F"/>
                </a:solidFill>
                <a:latin typeface="Times New Roman"/>
                <a:cs typeface="Times New Roman"/>
              </a:rPr>
              <a:t>Swabhiman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9449" y="9007475"/>
            <a:ext cx="1271905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spc="4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0"/>
            <a:ext cx="95250" cy="952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676400" algn="l"/>
                <a:tab pos="2152015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G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V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9299" y="3316296"/>
            <a:ext cx="3743324" cy="2584757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9753599" y="3248020"/>
            <a:ext cx="1123950" cy="228600"/>
          </a:xfrm>
          <a:prstGeom prst="rect">
            <a:avLst/>
          </a:prstGeom>
          <a:solidFill>
            <a:srgbClr val="B89056"/>
          </a:solidFill>
        </p:spPr>
        <p:txBody>
          <a:bodyPr vert="horz" wrap="square" lIns="0" tIns="5715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450"/>
              </a:spcBef>
            </a:pPr>
            <a:r>
              <a:rPr sz="750" dirty="0">
                <a:solidFill>
                  <a:srgbClr val="221716"/>
                </a:solidFill>
                <a:latin typeface="Segoe UI Symbol"/>
                <a:cs typeface="Segoe UI Symbol"/>
              </a:rPr>
              <a:t>★</a:t>
            </a:r>
            <a:r>
              <a:rPr sz="750" spc="160" dirty="0">
                <a:solidFill>
                  <a:srgbClr val="221716"/>
                </a:solidFill>
                <a:latin typeface="Segoe UI Symbol"/>
                <a:cs typeface="Segoe UI Symbol"/>
              </a:rPr>
              <a:t> 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A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W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A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R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D</a:t>
            </a:r>
            <a:r>
              <a:rPr sz="750" spc="290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2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0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2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221716"/>
                </a:solidFill>
                <a:latin typeface="Courier New"/>
                <a:cs typeface="Courier New"/>
              </a:rPr>
              <a:t>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39299" y="3133720"/>
            <a:ext cx="3743325" cy="323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1200" spc="55" dirty="0">
                <a:solidFill>
                  <a:srgbClr val="FCF8EF"/>
                </a:solidFill>
                <a:latin typeface="Times New Roman"/>
                <a:cs typeface="Times New Roman"/>
              </a:rPr>
              <a:t>Governor's</a:t>
            </a:r>
            <a:r>
              <a:rPr sz="1200" spc="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10" dirty="0">
                <a:solidFill>
                  <a:srgbClr val="FCF8EF"/>
                </a:solidFill>
                <a:latin typeface="Times New Roman"/>
                <a:cs typeface="Times New Roman"/>
              </a:rPr>
              <a:t>Excellence</a:t>
            </a:r>
            <a:r>
              <a:rPr sz="1200" spc="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CF8EF"/>
                </a:solidFill>
                <a:latin typeface="Times New Roman"/>
                <a:cs typeface="Times New Roman"/>
              </a:rPr>
              <a:t>Award</a:t>
            </a:r>
            <a:endParaRPr sz="1200" dirty="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285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7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7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endParaRPr sz="750" dirty="0">
              <a:latin typeface="Courier New"/>
              <a:cs typeface="Courier New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96923" y="3133720"/>
            <a:ext cx="3743324" cy="32384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3496923" y="3133720"/>
            <a:ext cx="3743325" cy="323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1200" spc="65" dirty="0">
                <a:solidFill>
                  <a:srgbClr val="FCF8EF"/>
                </a:solidFill>
                <a:latin typeface="Times New Roman"/>
                <a:cs typeface="Times New Roman"/>
              </a:rPr>
              <a:t>MoC</a:t>
            </a:r>
            <a:r>
              <a:rPr sz="12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50" dirty="0">
                <a:solidFill>
                  <a:srgbClr val="FCF8EF"/>
                </a:solidFill>
                <a:latin typeface="Times New Roman"/>
                <a:cs typeface="Times New Roman"/>
              </a:rPr>
              <a:t>signing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285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.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639299" y="6863250"/>
            <a:ext cx="3743324" cy="2871294"/>
            <a:chOff x="9639299" y="6863250"/>
            <a:chExt cx="3743324" cy="2871294"/>
          </a:xfrm>
        </p:grpSpPr>
        <p:pic>
          <p:nvPicPr>
            <p:cNvPr id="38" name="object 38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9299" y="6863250"/>
              <a:ext cx="3743324" cy="24945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39299" y="9134470"/>
              <a:ext cx="3743324" cy="60007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639299" y="9134470"/>
            <a:ext cx="3743325" cy="6000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900"/>
              </a:spcBef>
            </a:pPr>
            <a:r>
              <a:rPr sz="1200" spc="60" dirty="0">
                <a:solidFill>
                  <a:srgbClr val="FCF8EF"/>
                </a:solidFill>
                <a:latin typeface="Times New Roman"/>
                <a:cs typeface="Times New Roman"/>
              </a:rPr>
              <a:t>Pilot</a:t>
            </a:r>
            <a:r>
              <a:rPr sz="12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55" dirty="0">
                <a:solidFill>
                  <a:srgbClr val="FCF8EF"/>
                </a:solidFill>
                <a:latin typeface="Times New Roman"/>
                <a:cs typeface="Times New Roman"/>
              </a:rPr>
              <a:t>launch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360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J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496923" y="6486525"/>
            <a:ext cx="3743325" cy="3248025"/>
            <a:chOff x="13496923" y="6486525"/>
            <a:chExt cx="3743325" cy="3248025"/>
          </a:xfrm>
        </p:grpSpPr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96924" y="6486525"/>
              <a:ext cx="3743324" cy="32480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96923" y="9134470"/>
              <a:ext cx="3743324" cy="60007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496923" y="9134470"/>
            <a:ext cx="3743325" cy="6000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FCF8EF"/>
                </a:solidFill>
                <a:latin typeface="Times New Roman"/>
                <a:cs typeface="Times New Roman"/>
              </a:rPr>
              <a:t>Kit</a:t>
            </a:r>
            <a:r>
              <a:rPr sz="1200" spc="13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60" dirty="0">
                <a:solidFill>
                  <a:srgbClr val="FCF8EF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360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1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,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+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49325"/>
            <a:ext cx="6186170" cy="249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00"/>
              </a:spcBef>
              <a:tabLst>
                <a:tab pos="192023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O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ts val="65"/>
              </a:lnSpc>
              <a:spcBef>
                <a:spcPts val="1770"/>
              </a:spcBef>
              <a:tabLst>
                <a:tab pos="652145" algn="l"/>
                <a:tab pos="1718945" algn="l"/>
                <a:tab pos="2252345" algn="l"/>
                <a:tab pos="246570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C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3930"/>
              </a:lnSpc>
            </a:pPr>
            <a:r>
              <a:rPr sz="12600" spc="-155" dirty="0">
                <a:solidFill>
                  <a:srgbClr val="77292E"/>
                </a:solidFill>
                <a:latin typeface="Times New Roman"/>
                <a:cs typeface="Times New Roman"/>
              </a:rPr>
              <a:t>₹8</a:t>
            </a:r>
            <a:r>
              <a:rPr sz="12600" spc="-160" dirty="0">
                <a:solidFill>
                  <a:srgbClr val="77292E"/>
                </a:solidFill>
                <a:latin typeface="Times New Roman"/>
                <a:cs typeface="Times New Roman"/>
              </a:rPr>
              <a:t>.</a:t>
            </a:r>
            <a:r>
              <a:rPr sz="12600" spc="-155" dirty="0">
                <a:solidFill>
                  <a:srgbClr val="77292E"/>
                </a:solidFill>
                <a:latin typeface="Times New Roman"/>
                <a:cs typeface="Times New Roman"/>
              </a:rPr>
              <a:t>0</a:t>
            </a:r>
            <a:r>
              <a:rPr sz="12600" spc="440" dirty="0">
                <a:solidFill>
                  <a:srgbClr val="77292E"/>
                </a:solidFill>
                <a:latin typeface="Times New Roman"/>
                <a:cs typeface="Times New Roman"/>
              </a:rPr>
              <a:t>4</a:t>
            </a:r>
            <a:r>
              <a:rPr sz="5000" spc="-130" dirty="0">
                <a:solidFill>
                  <a:srgbClr val="67686E"/>
                </a:solidFill>
                <a:latin typeface="Times New Roman"/>
                <a:cs typeface="Times New Roman"/>
              </a:rPr>
              <a:t>C</a:t>
            </a:r>
            <a:r>
              <a:rPr sz="5000" spc="220" dirty="0">
                <a:solidFill>
                  <a:srgbClr val="67686E"/>
                </a:solidFill>
                <a:latin typeface="Times New Roman"/>
                <a:cs typeface="Times New Roman"/>
              </a:rPr>
              <a:t>r</a:t>
            </a: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₹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39124" y="1628770"/>
            <a:ext cx="2895600" cy="1657350"/>
            <a:chOff x="8239124" y="1628770"/>
            <a:chExt cx="2895600" cy="1657350"/>
          </a:xfrm>
        </p:grpSpPr>
        <p:sp>
          <p:nvSpPr>
            <p:cNvPr id="4" name="object 4"/>
            <p:cNvSpPr/>
            <p:nvPr/>
          </p:nvSpPr>
          <p:spPr>
            <a:xfrm>
              <a:off x="8239124" y="1628770"/>
              <a:ext cx="2895600" cy="1657350"/>
            </a:xfrm>
            <a:custGeom>
              <a:avLst/>
              <a:gdLst/>
              <a:ahLst/>
              <a:cxnLst/>
              <a:rect l="l" t="t" r="r" b="b"/>
              <a:pathLst>
                <a:path w="2895600" h="1657350">
                  <a:moveTo>
                    <a:pt x="28955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895599" y="0"/>
                  </a:lnTo>
                  <a:lnTo>
                    <a:pt x="2895599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39124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77224" y="1825625"/>
            <a:ext cx="28575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190500">
              <a:lnSpc>
                <a:spcPts val="4915"/>
              </a:lnSpc>
            </a:pPr>
            <a:r>
              <a:rPr sz="4200" spc="-20" dirty="0">
                <a:solidFill>
                  <a:srgbClr val="77292E"/>
                </a:solidFill>
                <a:latin typeface="Times New Roman"/>
                <a:cs typeface="Times New Roman"/>
              </a:rPr>
              <a:t>₹600</a:t>
            </a:r>
            <a:endParaRPr sz="4200">
              <a:latin typeface="Times New Roman"/>
              <a:cs typeface="Times New Roman"/>
            </a:endParaRPr>
          </a:p>
          <a:p>
            <a:pPr marL="190500" marR="339725">
              <a:lnSpc>
                <a:spcPct val="108700"/>
              </a:lnSpc>
              <a:spcBef>
                <a:spcPts val="740"/>
              </a:spcBef>
            </a:pPr>
            <a:r>
              <a:rPr sz="1150" spc="-9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of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B3C43"/>
                </a:solidFill>
                <a:latin typeface="Arial"/>
                <a:cs typeface="Arial"/>
              </a:rPr>
              <a:t>awareness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napkin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incinerator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share.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87124" y="1628770"/>
            <a:ext cx="2905125" cy="1657350"/>
            <a:chOff x="11287124" y="1628770"/>
            <a:chExt cx="2905125" cy="1657350"/>
          </a:xfrm>
        </p:grpSpPr>
        <p:sp>
          <p:nvSpPr>
            <p:cNvPr id="8" name="object 8"/>
            <p:cNvSpPr/>
            <p:nvPr/>
          </p:nvSpPr>
          <p:spPr>
            <a:xfrm>
              <a:off x="11287124" y="1628770"/>
              <a:ext cx="2905125" cy="1657350"/>
            </a:xfrm>
            <a:custGeom>
              <a:avLst/>
              <a:gdLst/>
              <a:ahLst/>
              <a:cxnLst/>
              <a:rect l="l" t="t" r="r" b="b"/>
              <a:pathLst>
                <a:path w="2905125" h="1657350">
                  <a:moveTo>
                    <a:pt x="2905124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905124" y="0"/>
                  </a:lnTo>
                  <a:lnTo>
                    <a:pt x="2905124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87124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325224" y="1825625"/>
            <a:ext cx="286702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  <a:p>
            <a:pPr marL="193040">
              <a:lnSpc>
                <a:spcPts val="4915"/>
              </a:lnSpc>
            </a:pPr>
            <a:r>
              <a:rPr sz="4200" spc="-100" dirty="0">
                <a:solidFill>
                  <a:srgbClr val="16171F"/>
                </a:solidFill>
                <a:latin typeface="Times New Roman"/>
                <a:cs typeface="Times New Roman"/>
              </a:rPr>
              <a:t>10+</a:t>
            </a:r>
            <a:r>
              <a:rPr sz="42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200" spc="3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4200">
              <a:latin typeface="Times New Roman"/>
              <a:cs typeface="Times New Roman"/>
            </a:endParaRPr>
          </a:p>
          <a:p>
            <a:pPr marL="193040" marR="287020">
              <a:lnSpc>
                <a:spcPct val="108700"/>
              </a:lnSpc>
              <a:spcBef>
                <a:spcPts val="740"/>
              </a:spcBef>
            </a:pP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time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investment;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recurring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cost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drops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on-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year.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344648" y="1628770"/>
            <a:ext cx="2895600" cy="1657350"/>
            <a:chOff x="14344648" y="1628770"/>
            <a:chExt cx="2895600" cy="1657350"/>
          </a:xfrm>
        </p:grpSpPr>
        <p:sp>
          <p:nvSpPr>
            <p:cNvPr id="12" name="object 12"/>
            <p:cNvSpPr/>
            <p:nvPr/>
          </p:nvSpPr>
          <p:spPr>
            <a:xfrm>
              <a:off x="14344648" y="1628770"/>
              <a:ext cx="2895600" cy="1657350"/>
            </a:xfrm>
            <a:custGeom>
              <a:avLst/>
              <a:gdLst/>
              <a:ahLst/>
              <a:cxnLst/>
              <a:rect l="l" t="t" r="r" b="b"/>
              <a:pathLst>
                <a:path w="2895600" h="1657350">
                  <a:moveTo>
                    <a:pt x="28955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895599" y="0"/>
                  </a:lnTo>
                  <a:lnTo>
                    <a:pt x="2895599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44648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161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382748" y="1825625"/>
            <a:ext cx="28575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186690">
              <a:lnSpc>
                <a:spcPts val="4915"/>
              </a:lnSpc>
            </a:pPr>
            <a:r>
              <a:rPr sz="4200" spc="-20" dirty="0">
                <a:solidFill>
                  <a:srgbClr val="16171F"/>
                </a:solidFill>
                <a:latin typeface="Times New Roman"/>
                <a:cs typeface="Times New Roman"/>
              </a:rPr>
              <a:t>~10%</a:t>
            </a:r>
            <a:endParaRPr sz="4200">
              <a:latin typeface="Times New Roman"/>
              <a:cs typeface="Times New Roman"/>
            </a:endParaRPr>
          </a:p>
          <a:p>
            <a:pPr marL="186690" marR="330835">
              <a:lnSpc>
                <a:spcPct val="108700"/>
              </a:lnSpc>
              <a:spcBef>
                <a:spcPts val="740"/>
              </a:spcBef>
            </a:pP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Estimated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bulk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procurement</a:t>
            </a:r>
            <a:r>
              <a:rPr sz="115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B3C43"/>
                </a:solidFill>
                <a:latin typeface="Arial"/>
                <a:cs typeface="Arial"/>
              </a:rPr>
              <a:t>savings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at 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full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statewide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volume.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7749" y="3905244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47749" y="4257669"/>
            <a:ext cx="3114675" cy="5172075"/>
            <a:chOff x="1047749" y="4257669"/>
            <a:chExt cx="3114675" cy="5172075"/>
          </a:xfrm>
        </p:grpSpPr>
        <p:sp>
          <p:nvSpPr>
            <p:cNvPr id="17" name="object 17"/>
            <p:cNvSpPr/>
            <p:nvPr/>
          </p:nvSpPr>
          <p:spPr>
            <a:xfrm>
              <a:off x="1047749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5424" y="8943969"/>
              <a:ext cx="2447925" cy="57150"/>
            </a:xfrm>
            <a:custGeom>
              <a:avLst/>
              <a:gdLst/>
              <a:ahLst/>
              <a:cxnLst/>
              <a:rect l="l" t="t" r="r" b="b"/>
              <a:pathLst>
                <a:path w="2447925" h="57150">
                  <a:moveTo>
                    <a:pt x="0" y="57149"/>
                  </a:moveTo>
                  <a:lnTo>
                    <a:pt x="2447924" y="57149"/>
                  </a:lnTo>
                  <a:lnTo>
                    <a:pt x="24479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66824" y="8943969"/>
              <a:ext cx="228600" cy="57150"/>
            </a:xfrm>
            <a:custGeom>
              <a:avLst/>
              <a:gdLst/>
              <a:ahLst/>
              <a:cxnLst/>
              <a:rect l="l" t="t" r="r" b="b"/>
              <a:pathLst>
                <a:path w="228600" h="57150">
                  <a:moveTo>
                    <a:pt x="2285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571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52512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399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₹68.75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3995" marR="756920">
              <a:lnSpc>
                <a:spcPct val="108700"/>
              </a:lnSpc>
              <a:spcBef>
                <a:spcPts val="635"/>
              </a:spcBef>
            </a:pPr>
            <a:r>
              <a:rPr sz="1150" spc="-75" dirty="0">
                <a:solidFill>
                  <a:srgbClr val="3B3C43"/>
                </a:solidFill>
                <a:latin typeface="Arial"/>
                <a:cs typeface="Arial"/>
              </a:rPr>
              <a:t>Sessions,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35" dirty="0">
                <a:solidFill>
                  <a:srgbClr val="3B3C43"/>
                </a:solidFill>
                <a:latin typeface="Arial"/>
                <a:cs typeface="Arial"/>
              </a:rPr>
              <a:t>ToT,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peer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mentor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training,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logistics.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14824" y="4257669"/>
            <a:ext cx="3114675" cy="5172075"/>
            <a:chOff x="4314824" y="4257669"/>
            <a:chExt cx="3114675" cy="5172075"/>
          </a:xfrm>
        </p:grpSpPr>
        <p:sp>
          <p:nvSpPr>
            <p:cNvPr id="22" name="object 22"/>
            <p:cNvSpPr/>
            <p:nvPr/>
          </p:nvSpPr>
          <p:spPr>
            <a:xfrm>
              <a:off x="4314824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96024" y="8943969"/>
              <a:ext cx="914400" cy="57150"/>
            </a:xfrm>
            <a:custGeom>
              <a:avLst/>
              <a:gdLst/>
              <a:ahLst/>
              <a:cxnLst/>
              <a:rect l="l" t="t" r="r" b="b"/>
              <a:pathLst>
                <a:path w="914400" h="57150">
                  <a:moveTo>
                    <a:pt x="0" y="57149"/>
                  </a:moveTo>
                  <a:lnTo>
                    <a:pt x="914399" y="57149"/>
                  </a:lnTo>
                  <a:lnTo>
                    <a:pt x="9143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33899" y="8943969"/>
              <a:ext cx="1762125" cy="57150"/>
            </a:xfrm>
            <a:custGeom>
              <a:avLst/>
              <a:gdLst/>
              <a:ahLst/>
              <a:cxnLst/>
              <a:rect l="l" t="t" r="r" b="b"/>
              <a:pathLst>
                <a:path w="1762125" h="57150">
                  <a:moveTo>
                    <a:pt x="17621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762124" y="0"/>
                  </a:lnTo>
                  <a:lnTo>
                    <a:pt x="1762124" y="571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19587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K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77292E"/>
                </a:solidFill>
                <a:latin typeface="Times New Roman"/>
                <a:cs typeface="Times New Roman"/>
              </a:rPr>
              <a:t>₹5.28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Cr</a:t>
            </a:r>
            <a:endParaRPr sz="1200">
              <a:latin typeface="Times New Roman"/>
              <a:cs typeface="Times New Roman"/>
            </a:endParaRPr>
          </a:p>
          <a:p>
            <a:pPr marL="215900" marR="218440">
              <a:lnSpc>
                <a:spcPct val="108700"/>
              </a:lnSpc>
              <a:spcBef>
                <a:spcPts val="635"/>
              </a:spcBef>
            </a:pP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88,000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girls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×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× </a:t>
            </a:r>
            <a:r>
              <a:rPr sz="1050" dirty="0">
                <a:solidFill>
                  <a:srgbClr val="3B3C43"/>
                </a:solidFill>
                <a:latin typeface="Arial"/>
                <a:cs typeface="Arial"/>
              </a:rPr>
              <a:t>₹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45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3B3C43"/>
                </a:solidFill>
                <a:latin typeface="Arial"/>
                <a:cs typeface="Arial"/>
              </a:rPr>
              <a:t>packaging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&amp;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logistics.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81899" y="4257669"/>
            <a:ext cx="3124200" cy="5172075"/>
            <a:chOff x="7581899" y="4257669"/>
            <a:chExt cx="3124200" cy="5172075"/>
          </a:xfrm>
        </p:grpSpPr>
        <p:sp>
          <p:nvSpPr>
            <p:cNvPr id="27" name="object 27"/>
            <p:cNvSpPr/>
            <p:nvPr/>
          </p:nvSpPr>
          <p:spPr>
            <a:xfrm>
              <a:off x="7581899" y="4257669"/>
              <a:ext cx="3124200" cy="5172075"/>
            </a:xfrm>
            <a:custGeom>
              <a:avLst/>
              <a:gdLst/>
              <a:ahLst/>
              <a:cxnLst/>
              <a:rect l="l" t="t" r="r" b="b"/>
              <a:pathLst>
                <a:path w="3124200" h="5172075">
                  <a:moveTo>
                    <a:pt x="3124199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24199" y="0"/>
                  </a:lnTo>
                  <a:lnTo>
                    <a:pt x="3124199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00974" y="8943969"/>
              <a:ext cx="2686050" cy="57150"/>
            </a:xfrm>
            <a:custGeom>
              <a:avLst/>
              <a:gdLst/>
              <a:ahLst/>
              <a:cxnLst/>
              <a:rect l="l" t="t" r="r" b="b"/>
              <a:pathLst>
                <a:path w="2686050" h="57150">
                  <a:moveTo>
                    <a:pt x="26860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686049" y="0"/>
                  </a:lnTo>
                  <a:lnTo>
                    <a:pt x="2686049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00974" y="8943969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28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57149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86661" y="4262432"/>
            <a:ext cx="3114675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7804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₹8.25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7804" marR="488315">
              <a:lnSpc>
                <a:spcPct val="108700"/>
              </a:lnSpc>
              <a:spcBef>
                <a:spcPts val="635"/>
              </a:spcBef>
            </a:pPr>
            <a:r>
              <a:rPr sz="115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flipbooks,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wall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charts,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lamination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treatment.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58499" y="4257669"/>
            <a:ext cx="3114675" cy="5172075"/>
            <a:chOff x="10858499" y="4257669"/>
            <a:chExt cx="3114675" cy="5172075"/>
          </a:xfrm>
        </p:grpSpPr>
        <p:sp>
          <p:nvSpPr>
            <p:cNvPr id="32" name="object 32"/>
            <p:cNvSpPr/>
            <p:nvPr/>
          </p:nvSpPr>
          <p:spPr>
            <a:xfrm>
              <a:off x="10858499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34774" y="8943969"/>
              <a:ext cx="2219325" cy="57150"/>
            </a:xfrm>
            <a:custGeom>
              <a:avLst/>
              <a:gdLst/>
              <a:ahLst/>
              <a:cxnLst/>
              <a:rect l="l" t="t" r="r" b="b"/>
              <a:pathLst>
                <a:path w="2219325" h="57150">
                  <a:moveTo>
                    <a:pt x="0" y="57149"/>
                  </a:moveTo>
                  <a:lnTo>
                    <a:pt x="2219324" y="57149"/>
                  </a:lnTo>
                  <a:lnTo>
                    <a:pt x="22193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77574" y="8943969"/>
              <a:ext cx="457200" cy="57150"/>
            </a:xfrm>
            <a:custGeom>
              <a:avLst/>
              <a:gdLst/>
              <a:ahLst/>
              <a:cxnLst/>
              <a:rect l="l" t="t" r="r" b="b"/>
              <a:pathLst>
                <a:path w="457200" h="57150">
                  <a:moveTo>
                    <a:pt x="4571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57199" y="0"/>
                  </a:lnTo>
                  <a:lnTo>
                    <a:pt x="457199" y="57149"/>
                  </a:lnTo>
                  <a:close/>
                </a:path>
              </a:pathLst>
            </a:custGeom>
            <a:solidFill>
              <a:srgbClr val="B3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63261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B3716E"/>
                </a:solidFill>
                <a:latin typeface="Times New Roman"/>
                <a:cs typeface="Times New Roman"/>
              </a:rPr>
              <a:t>₹1.38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Cr</a:t>
            </a:r>
            <a:endParaRPr sz="1200">
              <a:latin typeface="Times New Roman"/>
              <a:cs typeface="Times New Roman"/>
            </a:endParaRPr>
          </a:p>
          <a:p>
            <a:pPr marL="210185" marR="975360">
              <a:lnSpc>
                <a:spcPct val="108700"/>
              </a:lnSpc>
              <a:spcBef>
                <a:spcPts val="635"/>
              </a:spcBef>
            </a:pP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15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units,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installation,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first-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year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maintenance.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125573" y="4257669"/>
            <a:ext cx="3114675" cy="5172075"/>
            <a:chOff x="14125573" y="4257669"/>
            <a:chExt cx="3114675" cy="5172075"/>
          </a:xfrm>
        </p:grpSpPr>
        <p:sp>
          <p:nvSpPr>
            <p:cNvPr id="37" name="object 37"/>
            <p:cNvSpPr/>
            <p:nvPr/>
          </p:nvSpPr>
          <p:spPr>
            <a:xfrm>
              <a:off x="14125573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544673" y="8943969"/>
              <a:ext cx="2476500" cy="57150"/>
            </a:xfrm>
            <a:custGeom>
              <a:avLst/>
              <a:gdLst/>
              <a:ahLst/>
              <a:cxnLst/>
              <a:rect l="l" t="t" r="r" b="b"/>
              <a:pathLst>
                <a:path w="2476500" h="57150">
                  <a:moveTo>
                    <a:pt x="0" y="57149"/>
                  </a:moveTo>
                  <a:lnTo>
                    <a:pt x="2476499" y="57149"/>
                  </a:lnTo>
                  <a:lnTo>
                    <a:pt x="24764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44648" y="8943969"/>
              <a:ext cx="200025" cy="57150"/>
            </a:xfrm>
            <a:custGeom>
              <a:avLst/>
              <a:gdLst/>
              <a:ahLst/>
              <a:cxnLst/>
              <a:rect l="l" t="t" r="r" b="b"/>
              <a:pathLst>
                <a:path w="200025" h="57150">
                  <a:moveTo>
                    <a:pt x="2000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00024" y="0"/>
                  </a:lnTo>
                  <a:lnTo>
                    <a:pt x="200024" y="57149"/>
                  </a:lnTo>
                  <a:close/>
                </a:path>
              </a:pathLst>
            </a:custGeom>
            <a:solidFill>
              <a:srgbClr val="161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130335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+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  <a:p>
            <a:pPr marL="212090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₹62.16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2090" marR="260350">
              <a:lnSpc>
                <a:spcPct val="108700"/>
              </a:lnSpc>
              <a:spcBef>
                <a:spcPts val="635"/>
              </a:spcBef>
            </a:pP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coordinators,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10" dirty="0">
                <a:solidFill>
                  <a:srgbClr val="3B3C43"/>
                </a:solidFill>
                <a:latin typeface="Arial"/>
                <a:cs typeface="Arial"/>
              </a:rPr>
              <a:t>M&amp;E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officer,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visits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reports.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0"/>
            <a:ext cx="95250" cy="9524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850020" y="406400"/>
            <a:ext cx="237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894519"/>
            <a:ext cx="7778750" cy="15798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530"/>
              </a:spcBef>
              <a:tabLst>
                <a:tab pos="2263775" algn="l"/>
                <a:tab pos="346646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B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K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4130"/>
              </a:lnSpc>
              <a:spcBef>
                <a:spcPts val="1614"/>
              </a:spcBef>
            </a:pPr>
            <a:r>
              <a:rPr sz="39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0" dirty="0">
                <a:solidFill>
                  <a:srgbClr val="16171F"/>
                </a:solidFill>
                <a:latin typeface="Times New Roman"/>
                <a:cs typeface="Times New Roman"/>
              </a:rPr>
              <a:t>line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85" dirty="0">
                <a:solidFill>
                  <a:srgbClr val="16171F"/>
                </a:solidFill>
                <a:latin typeface="Times New Roman"/>
                <a:cs typeface="Times New Roman"/>
              </a:rPr>
              <a:t>item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70" dirty="0">
                <a:solidFill>
                  <a:srgbClr val="16171F"/>
                </a:solidFill>
                <a:latin typeface="Times New Roman"/>
                <a:cs typeface="Times New Roman"/>
              </a:rPr>
              <a:t>verifiable</a:t>
            </a:r>
            <a:r>
              <a:rPr sz="39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85" dirty="0">
                <a:solidFill>
                  <a:srgbClr val="16171F"/>
                </a:solidFill>
                <a:latin typeface="Times New Roman"/>
                <a:cs typeface="Times New Roman"/>
              </a:rPr>
              <a:t>through </a:t>
            </a:r>
            <a:r>
              <a:rPr sz="3900" spc="110" dirty="0">
                <a:solidFill>
                  <a:srgbClr val="16171F"/>
                </a:solidFill>
                <a:latin typeface="Times New Roman"/>
                <a:cs typeface="Times New Roman"/>
              </a:rPr>
              <a:t>Schedule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0" dirty="0">
                <a:solidFill>
                  <a:srgbClr val="16171F"/>
                </a:solidFill>
                <a:latin typeface="Times New Roman"/>
                <a:cs typeface="Times New Roman"/>
              </a:rPr>
              <a:t>VII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5" dirty="0">
                <a:solidFill>
                  <a:srgbClr val="16171F"/>
                </a:solidFill>
                <a:latin typeface="Times New Roman"/>
                <a:cs typeface="Times New Roman"/>
              </a:rPr>
              <a:t>utilisation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90" dirty="0">
                <a:solidFill>
                  <a:srgbClr val="16171F"/>
                </a:solidFill>
                <a:latin typeface="Times New Roman"/>
                <a:cs typeface="Times New Roman"/>
              </a:rPr>
              <a:t>certificates.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7749" y="289559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3214370"/>
            <a:ext cx="350329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Awareness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40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Capacity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Building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4345" y="3054350"/>
            <a:ext cx="13455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₹68,75,000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47749" y="4142994"/>
          <a:ext cx="7830183" cy="1997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3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Facilitator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ts val="1345"/>
                        </a:lnSpc>
                      </a:pPr>
                      <a:r>
                        <a:rPr sz="14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2,500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25,00,000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Trainers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workshops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20,00,000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Peer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mentor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materials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15,00,000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Logistics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coordination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8,75,000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047749" y="657224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5050" y="6891019"/>
            <a:ext cx="158178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IEC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Materials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1239" y="6731000"/>
            <a:ext cx="119888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₹8,25,000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47749" y="7819643"/>
          <a:ext cx="7828278" cy="138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Telugu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flipbooks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aids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ts val="1345"/>
                        </a:lnSpc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4,12,500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Wall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charts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posters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Lamination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durability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1,37,500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047749" y="9639293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35050" y="9969499"/>
            <a:ext cx="1008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4345" y="9798049"/>
            <a:ext cx="13455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₹62,16,000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10699" y="289559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97999" y="3214370"/>
            <a:ext cx="316293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Napkin</a:t>
            </a:r>
            <a:r>
              <a:rPr sz="195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5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87923" y="3054350"/>
            <a:ext cx="1565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₹5,28,00,000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410699" y="4142994"/>
          <a:ext cx="7829550" cy="138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Sanitary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napkins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ts val="1345"/>
                        </a:lnSpc>
                      </a:pP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88,000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4,75,20,000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Packaging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guides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22,00,000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Logistics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distribution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30,80,000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9410699" y="596264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97999" y="6281419"/>
            <a:ext cx="2745740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-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1950" spc="-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(550</a:t>
            </a:r>
            <a:r>
              <a:rPr sz="19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units)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87923" y="6121399"/>
            <a:ext cx="1565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₹1,37,50,000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410699" y="7210043"/>
          <a:ext cx="7830184" cy="1997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Incinerator</a:t>
                      </a:r>
                      <a:r>
                        <a:rPr sz="1450" spc="-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ts val="1345"/>
                        </a:lnSpc>
                      </a:pP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550</a:t>
                      </a:r>
                      <a:r>
                        <a:rPr sz="1450" spc="-8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1,10,00,000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Installation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&amp;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electrical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6,000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16,50,000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First-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maintenance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r>
                        <a:rPr sz="1450" spc="-8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institutions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8,25,000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op.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maintenance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50020" y="406400"/>
            <a:ext cx="237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0142220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263775" algn="l"/>
                <a:tab pos="381000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ts val="5390"/>
              </a:lnSpc>
              <a:spcBef>
                <a:spcPts val="870"/>
              </a:spcBef>
            </a:pPr>
            <a:r>
              <a:rPr sz="4800" spc="55" dirty="0">
                <a:solidFill>
                  <a:srgbClr val="16171F"/>
                </a:solidFill>
                <a:latin typeface="Times New Roman"/>
                <a:cs typeface="Times New Roman"/>
              </a:rPr>
              <a:t>Visibility,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verification,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and</a:t>
            </a:r>
            <a:r>
              <a:rPr sz="4800" spc="-1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50" dirty="0">
                <a:solidFill>
                  <a:srgbClr val="16171F"/>
                </a:solidFill>
                <a:latin typeface="Times New Roman"/>
                <a:cs typeface="Times New Roman"/>
              </a:rPr>
              <a:t>compliance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ts val="5395"/>
              </a:lnSpc>
            </a:pP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4800" spc="-1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bundled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with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impact.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31107" y="406400"/>
            <a:ext cx="2494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55765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7749" y="3133719"/>
            <a:ext cx="5257800" cy="3048000"/>
            <a:chOff x="1047749" y="3133719"/>
            <a:chExt cx="5257800" cy="3048000"/>
          </a:xfrm>
        </p:grpSpPr>
        <p:sp>
          <p:nvSpPr>
            <p:cNvPr id="10" name="object 10"/>
            <p:cNvSpPr/>
            <p:nvPr/>
          </p:nvSpPr>
          <p:spPr>
            <a:xfrm>
              <a:off x="104774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5724" y="3441699"/>
              <a:ext cx="317500" cy="301625"/>
            </a:xfrm>
            <a:custGeom>
              <a:avLst/>
              <a:gdLst/>
              <a:ahLst/>
              <a:cxnLst/>
              <a:rect l="l" t="t" r="r" b="b"/>
              <a:pathLst>
                <a:path w="317500" h="301625">
                  <a:moveTo>
                    <a:pt x="158749" y="0"/>
                  </a:moveTo>
                  <a:lnTo>
                    <a:pt x="206374" y="111124"/>
                  </a:lnTo>
                  <a:lnTo>
                    <a:pt x="317499" y="111124"/>
                  </a:lnTo>
                  <a:lnTo>
                    <a:pt x="222249" y="174624"/>
                  </a:lnTo>
                  <a:lnTo>
                    <a:pt x="253999" y="301624"/>
                  </a:lnTo>
                  <a:lnTo>
                    <a:pt x="158749" y="222249"/>
                  </a:lnTo>
                  <a:lnTo>
                    <a:pt x="63499" y="301624"/>
                  </a:lnTo>
                  <a:lnTo>
                    <a:pt x="95249" y="174624"/>
                  </a:lnTo>
                  <a:lnTo>
                    <a:pt x="0" y="111124"/>
                  </a:lnTo>
                  <a:lnTo>
                    <a:pt x="111124" y="111124"/>
                  </a:lnTo>
                  <a:lnTo>
                    <a:pt x="158749" y="0"/>
                  </a:lnTo>
                  <a:close/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2512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01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Named</a:t>
            </a:r>
            <a:r>
              <a:rPr sz="180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05" dirty="0">
                <a:solidFill>
                  <a:srgbClr val="16171F"/>
                </a:solidFill>
                <a:latin typeface="Times New Roman"/>
                <a:cs typeface="Times New Roman"/>
              </a:rPr>
              <a:t>partner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across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all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275 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campuses</a:t>
            </a:r>
            <a:endParaRPr sz="1800">
              <a:latin typeface="Times New Roman"/>
              <a:cs typeface="Times New Roman"/>
            </a:endParaRPr>
          </a:p>
          <a:p>
            <a:pPr marL="271145" marR="786765">
              <a:lnSpc>
                <a:spcPct val="115399"/>
              </a:lnSpc>
              <a:spcBef>
                <a:spcPts val="950"/>
              </a:spcBef>
            </a:pP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Co-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branding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3B3C43"/>
                </a:solidFill>
                <a:latin typeface="Arial"/>
                <a:cs typeface="Arial"/>
              </a:rPr>
              <a:t>IEC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materials,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session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backdrops,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and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partner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credits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1,23,000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girls.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15099" y="3133719"/>
            <a:ext cx="5257800" cy="3048000"/>
            <a:chOff x="6515099" y="3133719"/>
            <a:chExt cx="5257800" cy="3048000"/>
          </a:xfrm>
        </p:grpSpPr>
        <p:sp>
          <p:nvSpPr>
            <p:cNvPr id="14" name="object 14"/>
            <p:cNvSpPr/>
            <p:nvPr/>
          </p:nvSpPr>
          <p:spPr>
            <a:xfrm>
              <a:off x="651509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0699" y="3457574"/>
              <a:ext cx="222250" cy="285750"/>
            </a:xfrm>
            <a:custGeom>
              <a:avLst/>
              <a:gdLst/>
              <a:ahLst/>
              <a:cxnLst/>
              <a:rect l="l" t="t" r="r" b="b"/>
              <a:pathLst>
                <a:path w="222250" h="285750">
                  <a:moveTo>
                    <a:pt x="15875" y="0"/>
                  </a:moveTo>
                  <a:lnTo>
                    <a:pt x="206374" y="0"/>
                  </a:lnTo>
                  <a:lnTo>
                    <a:pt x="208480" y="0"/>
                  </a:lnTo>
                  <a:lnTo>
                    <a:pt x="210505" y="402"/>
                  </a:lnTo>
                  <a:lnTo>
                    <a:pt x="221041" y="9799"/>
                  </a:lnTo>
                  <a:lnTo>
                    <a:pt x="221847" y="11744"/>
                  </a:lnTo>
                  <a:lnTo>
                    <a:pt x="222249" y="13769"/>
                  </a:lnTo>
                  <a:lnTo>
                    <a:pt x="222249" y="15874"/>
                  </a:lnTo>
                  <a:lnTo>
                    <a:pt x="222249" y="269874"/>
                  </a:lnTo>
                  <a:lnTo>
                    <a:pt x="222249" y="271980"/>
                  </a:lnTo>
                  <a:lnTo>
                    <a:pt x="221847" y="274005"/>
                  </a:lnTo>
                  <a:lnTo>
                    <a:pt x="221041" y="275950"/>
                  </a:lnTo>
                  <a:lnTo>
                    <a:pt x="220235" y="277894"/>
                  </a:lnTo>
                  <a:lnTo>
                    <a:pt x="206374" y="285749"/>
                  </a:lnTo>
                  <a:lnTo>
                    <a:pt x="15875" y="285749"/>
                  </a:lnTo>
                  <a:lnTo>
                    <a:pt x="0" y="271980"/>
                  </a:lnTo>
                  <a:lnTo>
                    <a:pt x="0" y="269874"/>
                  </a:lnTo>
                  <a:lnTo>
                    <a:pt x="0" y="15874"/>
                  </a:lnTo>
                  <a:lnTo>
                    <a:pt x="4649" y="4649"/>
                  </a:lnTo>
                  <a:lnTo>
                    <a:pt x="6138" y="3161"/>
                  </a:lnTo>
                  <a:lnTo>
                    <a:pt x="7854" y="2014"/>
                  </a:lnTo>
                  <a:lnTo>
                    <a:pt x="9799" y="1208"/>
                  </a:lnTo>
                  <a:lnTo>
                    <a:pt x="11744" y="402"/>
                  </a:lnTo>
                  <a:lnTo>
                    <a:pt x="13769" y="0"/>
                  </a:lnTo>
                  <a:lnTo>
                    <a:pt x="15875" y="0"/>
                  </a:lnTo>
                  <a:close/>
                </a:path>
                <a:path w="222250" h="285750">
                  <a:moveTo>
                    <a:pt x="63500" y="79374"/>
                  </a:moveTo>
                  <a:lnTo>
                    <a:pt x="158749" y="79374"/>
                  </a:lnTo>
                </a:path>
                <a:path w="222250" h="285750">
                  <a:moveTo>
                    <a:pt x="63500" y="142874"/>
                  </a:moveTo>
                  <a:lnTo>
                    <a:pt x="158749" y="142874"/>
                  </a:lnTo>
                </a:path>
                <a:path w="222250" h="285750">
                  <a:moveTo>
                    <a:pt x="63500" y="206374"/>
                  </a:moveTo>
                  <a:lnTo>
                    <a:pt x="126999" y="20637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19861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02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Branded</a:t>
            </a:r>
            <a:r>
              <a:rPr sz="180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plaques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0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550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endParaRPr sz="1800">
              <a:latin typeface="Times New Roman"/>
              <a:cs typeface="Times New Roman"/>
            </a:endParaRPr>
          </a:p>
          <a:p>
            <a:pPr marL="271145" marR="776605">
              <a:lnSpc>
                <a:spcPct val="115399"/>
              </a:lnSpc>
              <a:spcBef>
                <a:spcPts val="950"/>
              </a:spcBef>
            </a:pP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Permanent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metal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plaques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every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unit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visibility footprint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anchored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real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infrastructure.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982449" y="3133719"/>
            <a:ext cx="5257800" cy="3048000"/>
            <a:chOff x="11982449" y="3133719"/>
            <a:chExt cx="5257800" cy="3048000"/>
          </a:xfrm>
        </p:grpSpPr>
        <p:sp>
          <p:nvSpPr>
            <p:cNvPr id="18" name="object 18"/>
            <p:cNvSpPr/>
            <p:nvPr/>
          </p:nvSpPr>
          <p:spPr>
            <a:xfrm>
              <a:off x="1198244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322174" y="3473449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253999"/>
                  </a:moveTo>
                  <a:lnTo>
                    <a:pt x="0" y="0"/>
                  </a:lnTo>
                </a:path>
                <a:path w="254000" h="254000">
                  <a:moveTo>
                    <a:pt x="0" y="253999"/>
                  </a:moveTo>
                  <a:lnTo>
                    <a:pt x="253999" y="253999"/>
                  </a:lnTo>
                </a:path>
                <a:path w="254000" h="254000">
                  <a:moveTo>
                    <a:pt x="47624" y="190499"/>
                  </a:moveTo>
                  <a:lnTo>
                    <a:pt x="111124" y="111124"/>
                  </a:lnTo>
                  <a:lnTo>
                    <a:pt x="158749" y="158749"/>
                  </a:lnTo>
                  <a:lnTo>
                    <a:pt x="238124" y="4762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987211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03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 marL="271145" marR="1179195">
              <a:lnSpc>
                <a:spcPct val="100699"/>
              </a:lnSpc>
              <a:spcBef>
                <a:spcPts val="275"/>
              </a:spcBef>
            </a:pP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Quarterly</a:t>
            </a:r>
            <a:r>
              <a:rPr sz="180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progress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reports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photo </a:t>
            </a:r>
            <a:r>
              <a:rPr sz="1800" spc="45" dirty="0">
                <a:solidFill>
                  <a:srgbClr val="16171F"/>
                </a:solidFill>
                <a:latin typeface="Times New Roman"/>
                <a:cs typeface="Times New Roman"/>
              </a:rPr>
              <a:t>evidence</a:t>
            </a:r>
            <a:endParaRPr sz="1800">
              <a:latin typeface="Times New Roman"/>
              <a:cs typeface="Times New Roman"/>
            </a:endParaRPr>
          </a:p>
          <a:p>
            <a:pPr marL="271145" marR="876300">
              <a:lnSpc>
                <a:spcPct val="115399"/>
              </a:lnSpc>
              <a:spcBef>
                <a:spcPts val="950"/>
              </a:spcBef>
            </a:pP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Distribution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records,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install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logs,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institution-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wise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data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0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formatted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for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85" dirty="0">
                <a:solidFill>
                  <a:srgbClr val="3B3C43"/>
                </a:solidFill>
                <a:latin typeface="Arial"/>
                <a:cs typeface="Arial"/>
              </a:rPr>
              <a:t>CSR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committee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review.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47749" y="6391269"/>
            <a:ext cx="5257800" cy="3038475"/>
            <a:chOff x="1047749" y="6391269"/>
            <a:chExt cx="5257800" cy="3038475"/>
          </a:xfrm>
        </p:grpSpPr>
        <p:sp>
          <p:nvSpPr>
            <p:cNvPr id="22" name="object 22"/>
            <p:cNvSpPr/>
            <p:nvPr/>
          </p:nvSpPr>
          <p:spPr>
            <a:xfrm>
              <a:off x="104774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71599" y="67151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49" y="142874"/>
                  </a:moveTo>
                  <a:lnTo>
                    <a:pt x="279599" y="184349"/>
                  </a:lnTo>
                  <a:lnTo>
                    <a:pt x="261671" y="222252"/>
                  </a:lnTo>
                  <a:lnTo>
                    <a:pt x="233514" y="253320"/>
                  </a:lnTo>
                  <a:lnTo>
                    <a:pt x="197550" y="274874"/>
                  </a:lnTo>
                  <a:lnTo>
                    <a:pt x="156879" y="285063"/>
                  </a:ln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1" y="227992"/>
                  </a:lnTo>
                  <a:lnTo>
                    <a:pt x="8348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7"/>
                  </a:lnTo>
                  <a:lnTo>
                    <a:pt x="57757" y="28121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7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close/>
                </a:path>
                <a:path w="285750" h="285750">
                  <a:moveTo>
                    <a:pt x="0" y="142874"/>
                  </a:moveTo>
                  <a:lnTo>
                    <a:pt x="285749" y="142874"/>
                  </a:lnTo>
                </a:path>
                <a:path w="285750" h="285750">
                  <a:moveTo>
                    <a:pt x="142874" y="0"/>
                  </a:moveTo>
                  <a:lnTo>
                    <a:pt x="165101" y="31736"/>
                  </a:lnTo>
                  <a:lnTo>
                    <a:pt x="181477" y="66851"/>
                  </a:lnTo>
                  <a:lnTo>
                    <a:pt x="191507" y="104276"/>
                  </a:lnTo>
                  <a:lnTo>
                    <a:pt x="194884" y="142875"/>
                  </a:lnTo>
                  <a:lnTo>
                    <a:pt x="194673" y="152579"/>
                  </a:lnTo>
                  <a:lnTo>
                    <a:pt x="189613" y="190994"/>
                  </a:lnTo>
                  <a:lnTo>
                    <a:pt x="177959" y="227945"/>
                  </a:lnTo>
                  <a:lnTo>
                    <a:pt x="160065" y="262311"/>
                  </a:lnTo>
                  <a:lnTo>
                    <a:pt x="148952" y="278180"/>
                  </a:lnTo>
                  <a:lnTo>
                    <a:pt x="142874" y="285749"/>
                  </a:lnTo>
                </a:path>
                <a:path w="285750" h="285750">
                  <a:moveTo>
                    <a:pt x="142874" y="0"/>
                  </a:moveTo>
                  <a:lnTo>
                    <a:pt x="120648" y="31736"/>
                  </a:lnTo>
                  <a:lnTo>
                    <a:pt x="104272" y="66851"/>
                  </a:lnTo>
                  <a:lnTo>
                    <a:pt x="94242" y="104276"/>
                  </a:lnTo>
                  <a:lnTo>
                    <a:pt x="90865" y="142875"/>
                  </a:lnTo>
                  <a:lnTo>
                    <a:pt x="91076" y="152579"/>
                  </a:lnTo>
                  <a:lnTo>
                    <a:pt x="96136" y="190994"/>
                  </a:lnTo>
                  <a:lnTo>
                    <a:pt x="107790" y="227945"/>
                  </a:lnTo>
                  <a:lnTo>
                    <a:pt x="125684" y="262311"/>
                  </a:lnTo>
                  <a:lnTo>
                    <a:pt x="136797" y="278180"/>
                  </a:lnTo>
                  <a:lnTo>
                    <a:pt x="142874" y="285749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52512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04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Annual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impact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report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-135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field-visit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16171F"/>
                </a:solidFill>
                <a:latin typeface="Times New Roman"/>
                <a:cs typeface="Times New Roman"/>
              </a:rPr>
              <a:t>access</a:t>
            </a:r>
            <a:endParaRPr sz="1800">
              <a:latin typeface="Times New Roman"/>
              <a:cs typeface="Times New Roman"/>
            </a:endParaRPr>
          </a:p>
          <a:p>
            <a:pPr marL="271145" marR="861060">
              <a:lnSpc>
                <a:spcPct val="115399"/>
              </a:lnSpc>
              <a:spcBef>
                <a:spcPts val="875"/>
              </a:spcBef>
            </a:pP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documentation,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sample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visits,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third-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party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verification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request.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15099" y="6391269"/>
            <a:ext cx="5257800" cy="3038475"/>
            <a:chOff x="6515099" y="6391269"/>
            <a:chExt cx="5257800" cy="3038475"/>
          </a:xfrm>
        </p:grpSpPr>
        <p:sp>
          <p:nvSpPr>
            <p:cNvPr id="26" name="object 26"/>
            <p:cNvSpPr/>
            <p:nvPr/>
          </p:nvSpPr>
          <p:spPr>
            <a:xfrm>
              <a:off x="651509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54824" y="6699249"/>
              <a:ext cx="254000" cy="317500"/>
            </a:xfrm>
            <a:custGeom>
              <a:avLst/>
              <a:gdLst/>
              <a:ahLst/>
              <a:cxnLst/>
              <a:rect l="l" t="t" r="r" b="b"/>
              <a:pathLst>
                <a:path w="254000" h="317500">
                  <a:moveTo>
                    <a:pt x="126999" y="0"/>
                  </a:moveTo>
                  <a:lnTo>
                    <a:pt x="253999" y="63499"/>
                  </a:lnTo>
                  <a:lnTo>
                    <a:pt x="253999" y="158749"/>
                  </a:lnTo>
                  <a:lnTo>
                    <a:pt x="247649" y="204215"/>
                  </a:lnTo>
                  <a:lnTo>
                    <a:pt x="229869" y="244347"/>
                  </a:lnTo>
                  <a:lnTo>
                    <a:pt x="202564" y="277621"/>
                  </a:lnTo>
                  <a:lnTo>
                    <a:pt x="167639" y="302513"/>
                  </a:lnTo>
                  <a:lnTo>
                    <a:pt x="126999" y="317499"/>
                  </a:lnTo>
                  <a:lnTo>
                    <a:pt x="86359" y="302513"/>
                  </a:lnTo>
                  <a:lnTo>
                    <a:pt x="51434" y="277621"/>
                  </a:lnTo>
                  <a:lnTo>
                    <a:pt x="24129" y="244347"/>
                  </a:lnTo>
                  <a:lnTo>
                    <a:pt x="6349" y="204215"/>
                  </a:lnTo>
                  <a:lnTo>
                    <a:pt x="0" y="158749"/>
                  </a:lnTo>
                  <a:lnTo>
                    <a:pt x="0" y="63499"/>
                  </a:lnTo>
                  <a:lnTo>
                    <a:pt x="126999" y="0"/>
                  </a:lnTo>
                  <a:close/>
                </a:path>
                <a:path w="254000" h="317500">
                  <a:moveTo>
                    <a:pt x="79374" y="158749"/>
                  </a:moveTo>
                  <a:lnTo>
                    <a:pt x="111124" y="190499"/>
                  </a:lnTo>
                  <a:lnTo>
                    <a:pt x="174624" y="126999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19861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05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55" dirty="0">
                <a:solidFill>
                  <a:srgbClr val="16171F"/>
                </a:solidFill>
                <a:latin typeface="Times New Roman"/>
                <a:cs typeface="Times New Roman"/>
              </a:rPr>
              <a:t>Full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Schedule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VII</a:t>
            </a:r>
            <a:r>
              <a:rPr sz="180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certification</a:t>
            </a:r>
            <a:endParaRPr sz="1800">
              <a:latin typeface="Times New Roman"/>
              <a:cs typeface="Times New Roman"/>
            </a:endParaRPr>
          </a:p>
          <a:p>
            <a:pPr marL="271145" marR="291465">
              <a:lnSpc>
                <a:spcPct val="115399"/>
              </a:lnSpc>
              <a:spcBef>
                <a:spcPts val="875"/>
              </a:spcBef>
            </a:pP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Utilisation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certificates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expenditure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data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for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Companies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Act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2013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Schedule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VII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(Clauses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i,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ii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iii).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982449" y="6391269"/>
            <a:ext cx="5257800" cy="3038475"/>
            <a:chOff x="11982449" y="6391269"/>
            <a:chExt cx="5257800" cy="3038475"/>
          </a:xfrm>
        </p:grpSpPr>
        <p:sp>
          <p:nvSpPr>
            <p:cNvPr id="30" name="object 30"/>
            <p:cNvSpPr/>
            <p:nvPr/>
          </p:nvSpPr>
          <p:spPr>
            <a:xfrm>
              <a:off x="1198244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306299" y="6730999"/>
              <a:ext cx="285750" cy="269875"/>
            </a:xfrm>
            <a:custGeom>
              <a:avLst/>
              <a:gdLst/>
              <a:ahLst/>
              <a:cxnLst/>
              <a:rect l="l" t="t" r="r" b="b"/>
              <a:pathLst>
                <a:path w="285750" h="269875">
                  <a:moveTo>
                    <a:pt x="0" y="269874"/>
                  </a:moveTo>
                  <a:lnTo>
                    <a:pt x="285749" y="269874"/>
                  </a:lnTo>
                </a:path>
                <a:path w="285750" h="269875">
                  <a:moveTo>
                    <a:pt x="31749" y="269874"/>
                  </a:moveTo>
                  <a:lnTo>
                    <a:pt x="31749" y="95249"/>
                  </a:lnTo>
                  <a:lnTo>
                    <a:pt x="142874" y="0"/>
                  </a:lnTo>
                  <a:lnTo>
                    <a:pt x="253999" y="95249"/>
                  </a:lnTo>
                  <a:lnTo>
                    <a:pt x="253999" y="269874"/>
                  </a:lnTo>
                </a:path>
                <a:path w="285750" h="269875">
                  <a:moveTo>
                    <a:pt x="95249" y="269874"/>
                  </a:moveTo>
                  <a:lnTo>
                    <a:pt x="95249" y="158749"/>
                  </a:lnTo>
                  <a:lnTo>
                    <a:pt x="190499" y="158749"/>
                  </a:lnTo>
                  <a:lnTo>
                    <a:pt x="190499" y="26987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987211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06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Government-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endorsed</a:t>
            </a:r>
            <a:r>
              <a:rPr sz="180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delivery</a:t>
            </a:r>
            <a:r>
              <a:rPr sz="180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chain</a:t>
            </a:r>
            <a:endParaRPr sz="1800">
              <a:latin typeface="Times New Roman"/>
              <a:cs typeface="Times New Roman"/>
            </a:endParaRPr>
          </a:p>
          <a:p>
            <a:pPr marL="271145" marR="1113790">
              <a:lnSpc>
                <a:spcPct val="115399"/>
              </a:lnSpc>
              <a:spcBef>
                <a:spcPts val="875"/>
              </a:spcBef>
            </a:pP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under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signed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MoC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MJPTBCWREIS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full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cooperation,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named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focal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persons,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audit-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ready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records.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221803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091689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A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250" dirty="0">
                <a:solidFill>
                  <a:srgbClr val="FCF8EF"/>
                </a:solidFill>
                <a:latin typeface="Times New Roman"/>
                <a:cs typeface="Times New Roman"/>
              </a:rPr>
              <a:t>Partner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with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us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FCF8EF"/>
                </a:solidFill>
                <a:latin typeface="Times New Roman"/>
                <a:cs typeface="Times New Roman"/>
              </a:rPr>
              <a:t>—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FCF8EF"/>
                </a:solidFill>
                <a:latin typeface="Times New Roman"/>
                <a:cs typeface="Times New Roman"/>
              </a:rPr>
              <a:t>to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i="1" spc="-35" dirty="0">
                <a:solidFill>
                  <a:srgbClr val="B89056"/>
                </a:solidFill>
                <a:latin typeface="Times New Roman"/>
                <a:cs typeface="Times New Roman"/>
              </a:rPr>
              <a:t>1,23,000</a:t>
            </a:r>
            <a:r>
              <a:rPr sz="4800" i="1" spc="-215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90" dirty="0">
                <a:solidFill>
                  <a:srgbClr val="B89056"/>
                </a:solidFill>
                <a:latin typeface="Times New Roman"/>
                <a:cs typeface="Times New Roman"/>
              </a:rPr>
              <a:t>girls</a:t>
            </a:r>
            <a:r>
              <a:rPr sz="4800" i="1" spc="-165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spc="130" dirty="0">
                <a:solidFill>
                  <a:srgbClr val="FCF8EF"/>
                </a:solidFill>
                <a:latin typeface="Times New Roman"/>
                <a:cs typeface="Times New Roman"/>
              </a:rPr>
              <a:t>across </a:t>
            </a:r>
            <a:r>
              <a:rPr sz="4800" dirty="0">
                <a:solidFill>
                  <a:srgbClr val="FCF8EF"/>
                </a:solidFill>
                <a:latin typeface="Times New Roman"/>
                <a:cs typeface="Times New Roman"/>
              </a:rPr>
              <a:t>275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FCF8EF"/>
                </a:solidFill>
                <a:latin typeface="Times New Roman"/>
                <a:cs typeface="Times New Roman"/>
              </a:rPr>
              <a:t>campuses,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starting</a:t>
            </a:r>
            <a:r>
              <a:rPr sz="4800" spc="-17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29" dirty="0">
                <a:solidFill>
                  <a:srgbClr val="FCF8EF"/>
                </a:solidFill>
                <a:latin typeface="Times New Roman"/>
                <a:cs typeface="Times New Roman"/>
              </a:rPr>
              <a:t>this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FCF8EF"/>
                </a:solidFill>
                <a:latin typeface="Times New Roman"/>
                <a:cs typeface="Times New Roman"/>
              </a:rPr>
              <a:t>academic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-10" dirty="0">
                <a:solidFill>
                  <a:srgbClr val="FCF8EF"/>
                </a:solidFill>
                <a:latin typeface="Times New Roman"/>
                <a:cs typeface="Times New Roman"/>
              </a:rPr>
              <a:t>year.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50" y="3006725"/>
            <a:ext cx="24022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094" algn="l"/>
                <a:tab pos="1215390" algn="l"/>
              </a:tabLst>
            </a:pP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	T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	P</a:t>
            </a:r>
            <a:r>
              <a:rPr sz="1050" spc="-409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999" y="3028943"/>
            <a:ext cx="7324724" cy="2800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01236" y="3024181"/>
            <a:ext cx="7334250" cy="2809875"/>
          </a:xfrm>
          <a:prstGeom prst="rect">
            <a:avLst/>
          </a:prstGeom>
          <a:ln w="9524">
            <a:solidFill>
              <a:srgbClr val="654F4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950">
              <a:latin typeface="Times New Roman"/>
              <a:cs typeface="Times New Roman"/>
            </a:endParaRPr>
          </a:p>
          <a:p>
            <a:pPr marL="381000">
              <a:lnSpc>
                <a:spcPts val="894"/>
              </a:lnSpc>
              <a:tabLst>
                <a:tab pos="787400" algn="l"/>
              </a:tabLst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6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	A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endParaRPr sz="950">
              <a:latin typeface="Courier New"/>
              <a:cs typeface="Courier New"/>
            </a:endParaRPr>
          </a:p>
          <a:p>
            <a:pPr marL="381000">
              <a:lnSpc>
                <a:spcPts val="9655"/>
              </a:lnSpc>
            </a:pPr>
            <a:r>
              <a:rPr sz="8250" spc="-70" dirty="0">
                <a:solidFill>
                  <a:srgbClr val="FCF8EF"/>
                </a:solidFill>
                <a:latin typeface="Times New Roman"/>
                <a:cs typeface="Times New Roman"/>
              </a:rPr>
              <a:t>₹8.04</a:t>
            </a:r>
            <a:r>
              <a:rPr sz="8250" spc="-14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3700" spc="120" dirty="0">
                <a:solidFill>
                  <a:srgbClr val="C0B4AC"/>
                </a:solidFill>
                <a:latin typeface="Times New Roman"/>
                <a:cs typeface="Times New Roman"/>
              </a:rPr>
              <a:t>Cr</a:t>
            </a:r>
            <a:endParaRPr sz="3700">
              <a:latin typeface="Times New Roman"/>
              <a:cs typeface="Times New Roman"/>
            </a:endParaRPr>
          </a:p>
          <a:p>
            <a:pPr marL="381000" marR="525780">
              <a:lnSpc>
                <a:spcPct val="116399"/>
              </a:lnSpc>
              <a:spcBef>
                <a:spcPts val="1190"/>
              </a:spcBef>
            </a:pPr>
            <a:r>
              <a:rPr sz="1450" spc="-75" dirty="0">
                <a:solidFill>
                  <a:srgbClr val="D6CBC2"/>
                </a:solidFill>
                <a:latin typeface="Arial"/>
                <a:cs typeface="Arial"/>
              </a:rPr>
              <a:t>For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one </a:t>
            </a:r>
            <a:r>
              <a:rPr sz="1450" dirty="0">
                <a:solidFill>
                  <a:srgbClr val="D6CBC2"/>
                </a:solidFill>
                <a:latin typeface="Arial"/>
                <a:cs typeface="Arial"/>
              </a:rPr>
              <a:t>full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academic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year </a:t>
            </a:r>
            <a:r>
              <a:rPr sz="1450" spc="-20" dirty="0">
                <a:solidFill>
                  <a:srgbClr val="D6CBC2"/>
                </a:solidFill>
                <a:latin typeface="Arial"/>
                <a:cs typeface="Arial"/>
              </a:rPr>
              <a:t>of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D6CBC2"/>
                </a:solidFill>
                <a:latin typeface="Arial"/>
                <a:cs typeface="Arial"/>
              </a:rPr>
              <a:t>statewide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D6CBC2"/>
                </a:solidFill>
                <a:latin typeface="Arial"/>
                <a:cs typeface="Arial"/>
              </a:rPr>
              <a:t>delivery.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D6CBC2"/>
                </a:solidFill>
                <a:latin typeface="Arial"/>
                <a:cs typeface="Arial"/>
              </a:rPr>
              <a:t>Full,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D6CBC2"/>
                </a:solidFill>
                <a:latin typeface="Arial"/>
                <a:cs typeface="Arial"/>
              </a:rPr>
              <a:t>partial,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D6CBC2"/>
                </a:solidFill>
                <a:latin typeface="Arial"/>
                <a:cs typeface="Arial"/>
              </a:rPr>
              <a:t>or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D6CBC2"/>
                </a:solidFill>
                <a:latin typeface="Arial"/>
                <a:cs typeface="Arial"/>
              </a:rPr>
              <a:t>component-specific </a:t>
            </a:r>
            <a:r>
              <a:rPr sz="1450" spc="-30" dirty="0">
                <a:solidFill>
                  <a:srgbClr val="D6CBC2"/>
                </a:solidFill>
                <a:latin typeface="Arial"/>
                <a:cs typeface="Arial"/>
              </a:rPr>
              <a:t>commitments</a:t>
            </a:r>
            <a:r>
              <a:rPr sz="1450" spc="-1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D6CBC2"/>
                </a:solidFill>
                <a:latin typeface="Arial"/>
                <a:cs typeface="Arial"/>
              </a:rPr>
              <a:t>welcomed.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9607" y="6054724"/>
            <a:ext cx="29432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6865" algn="l"/>
                <a:tab pos="926465" algn="l"/>
                <a:tab pos="1433830" algn="l"/>
                <a:tab pos="1840230" algn="l"/>
              </a:tabLst>
            </a:pP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S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C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P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D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W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N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T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P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A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T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N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spc="-350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S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I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P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1236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₹1.38</a:t>
            </a:r>
            <a:r>
              <a:rPr sz="1650" spc="-4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35" dirty="0">
                <a:solidFill>
                  <a:srgbClr val="ABA29B"/>
                </a:solidFill>
                <a:latin typeface="Times New Roman"/>
                <a:cs typeface="Times New Roman"/>
              </a:rPr>
              <a:t>Cr</a:t>
            </a:r>
            <a:endParaRPr sz="105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L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L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5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0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87261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₹68.75</a:t>
            </a:r>
            <a:r>
              <a:rPr sz="1650" spc="-3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ABA29B"/>
                </a:solidFill>
                <a:latin typeface="Times New Roman"/>
                <a:cs typeface="Times New Roman"/>
              </a:rPr>
              <a:t>L</a:t>
            </a:r>
            <a:endParaRPr sz="1050">
              <a:latin typeface="Times New Roman"/>
              <a:cs typeface="Times New Roman"/>
            </a:endParaRPr>
          </a:p>
          <a:p>
            <a:pPr marL="173355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W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D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39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W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73285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₹2.92</a:t>
            </a:r>
            <a:r>
              <a:rPr sz="1650" spc="-4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ABA29B"/>
                </a:solidFill>
                <a:latin typeface="Times New Roman"/>
                <a:cs typeface="Times New Roman"/>
              </a:rPr>
              <a:t>L</a:t>
            </a:r>
            <a:endParaRPr sz="105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P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1</a:t>
            </a:r>
            <a:r>
              <a:rPr sz="800" spc="37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896474" y="8534393"/>
            <a:ext cx="7343775" cy="895350"/>
            <a:chOff x="9896474" y="8534393"/>
            <a:chExt cx="7343775" cy="895350"/>
          </a:xfrm>
        </p:grpSpPr>
        <p:sp>
          <p:nvSpPr>
            <p:cNvPr id="13" name="object 13"/>
            <p:cNvSpPr/>
            <p:nvPr/>
          </p:nvSpPr>
          <p:spPr>
            <a:xfrm>
              <a:off x="9896474" y="8534393"/>
              <a:ext cx="7343775" cy="895350"/>
            </a:xfrm>
            <a:custGeom>
              <a:avLst/>
              <a:gdLst/>
              <a:ahLst/>
              <a:cxnLst/>
              <a:rect l="l" t="t" r="r" b="b"/>
              <a:pathLst>
                <a:path w="7343775" h="895350">
                  <a:moveTo>
                    <a:pt x="7343774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7343774" y="0"/>
                  </a:lnTo>
                  <a:lnTo>
                    <a:pt x="7343774" y="895349"/>
                  </a:lnTo>
                  <a:close/>
                </a:path>
              </a:pathLst>
            </a:custGeom>
            <a:solidFill>
              <a:srgbClr val="2F22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01236" y="8539156"/>
              <a:ext cx="7334250" cy="885825"/>
            </a:xfrm>
            <a:custGeom>
              <a:avLst/>
              <a:gdLst/>
              <a:ahLst/>
              <a:cxnLst/>
              <a:rect l="l" t="t" r="r" b="b"/>
              <a:pathLst>
                <a:path w="7334250" h="885825">
                  <a:moveTo>
                    <a:pt x="0" y="0"/>
                  </a:moveTo>
                  <a:lnTo>
                    <a:pt x="7334249" y="0"/>
                  </a:lnTo>
                  <a:lnTo>
                    <a:pt x="7334249" y="885824"/>
                  </a:lnTo>
                  <a:lnTo>
                    <a:pt x="0" y="885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243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30432" y="8710390"/>
            <a:ext cx="3694429" cy="4654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X</a:t>
            </a:r>
            <a:r>
              <a:rPr sz="800" spc="-30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800" spc="39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800" spc="-30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9"/>
              </a:spcBef>
            </a:pPr>
            <a:r>
              <a:rPr sz="1500" spc="50" dirty="0">
                <a:solidFill>
                  <a:srgbClr val="FCF8EF"/>
                </a:solidFill>
                <a:latin typeface="Times New Roman"/>
                <a:cs typeface="Times New Roman"/>
              </a:rPr>
              <a:t>Sign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105" dirty="0">
                <a:solidFill>
                  <a:srgbClr val="FCF8EF"/>
                </a:solidFill>
                <a:latin typeface="Times New Roman"/>
                <a:cs typeface="Times New Roman"/>
              </a:rPr>
              <a:t>the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FCF8EF"/>
                </a:solidFill>
                <a:latin typeface="Times New Roman"/>
                <a:cs typeface="Times New Roman"/>
              </a:rPr>
              <a:t>MoU.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105" dirty="0">
                <a:solidFill>
                  <a:srgbClr val="FCF8EF"/>
                </a:solidFill>
                <a:latin typeface="Times New Roman"/>
                <a:cs typeface="Times New Roman"/>
              </a:rPr>
              <a:t>the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FCF8EF"/>
                </a:solidFill>
                <a:latin typeface="Times New Roman"/>
                <a:cs typeface="Times New Roman"/>
              </a:rPr>
              <a:t>first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FCF8EF"/>
                </a:solidFill>
                <a:latin typeface="Times New Roman"/>
                <a:cs typeface="Times New Roman"/>
              </a:rPr>
              <a:t>girls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CF8EF"/>
                </a:solidFill>
                <a:latin typeface="Times New Roman"/>
                <a:cs typeface="Times New Roman"/>
              </a:rPr>
              <a:t>by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FCF8EF"/>
                </a:solidFill>
                <a:latin typeface="Times New Roman"/>
                <a:cs typeface="Times New Roman"/>
              </a:rPr>
              <a:t>June.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369768" y="9039212"/>
            <a:ext cx="1632585" cy="9525"/>
          </a:xfrm>
          <a:custGeom>
            <a:avLst/>
            <a:gdLst/>
            <a:ahLst/>
            <a:cxnLst/>
            <a:rect l="l" t="t" r="r" b="b"/>
            <a:pathLst>
              <a:path w="1632584" h="9525">
                <a:moveTo>
                  <a:pt x="16675" y="0"/>
                </a:moveTo>
                <a:lnTo>
                  <a:pt x="0" y="0"/>
                </a:lnTo>
                <a:lnTo>
                  <a:pt x="0" y="9525"/>
                </a:lnTo>
                <a:lnTo>
                  <a:pt x="16675" y="9525"/>
                </a:lnTo>
                <a:lnTo>
                  <a:pt x="16675" y="0"/>
                </a:lnTo>
                <a:close/>
              </a:path>
              <a:path w="1632584" h="9525">
                <a:moveTo>
                  <a:pt x="1632343" y="0"/>
                </a:moveTo>
                <a:lnTo>
                  <a:pt x="1599526" y="0"/>
                </a:lnTo>
                <a:lnTo>
                  <a:pt x="1599526" y="9525"/>
                </a:lnTo>
                <a:lnTo>
                  <a:pt x="1632343" y="9525"/>
                </a:lnTo>
                <a:lnTo>
                  <a:pt x="1632343" y="0"/>
                </a:lnTo>
                <a:close/>
              </a:path>
            </a:pathLst>
          </a:custGeom>
          <a:solidFill>
            <a:srgbClr val="000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369778" y="8883650"/>
            <a:ext cx="1629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100" dirty="0">
                <a:solidFill>
                  <a:srgbClr val="0000ED"/>
                </a:solidFill>
                <a:latin typeface="Courier New"/>
                <a:cs typeface="Courier New"/>
                <a:hlinkClick r:id="rId3"/>
              </a:rPr>
              <a:t>[</a:t>
            </a:r>
            <a:r>
              <a:rPr sz="1050" u="sng" spc="10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email</a:t>
            </a:r>
            <a:r>
              <a:rPr sz="1050" u="sng" spc="275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 </a:t>
            </a:r>
            <a:r>
              <a:rPr sz="1050" u="sng" spc="10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protected</a:t>
            </a:r>
            <a:r>
              <a:rPr sz="1050" u="none" spc="100" dirty="0">
                <a:solidFill>
                  <a:srgbClr val="0000ED"/>
                </a:solidFill>
                <a:latin typeface="Courier New"/>
                <a:cs typeface="Courier New"/>
                <a:hlinkClick r:id="rId3"/>
              </a:rPr>
              <a:t>]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68934" y="406400"/>
            <a:ext cx="2256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200785" algn="l"/>
                <a:tab pos="1557655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6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3250" y="3492500"/>
            <a:ext cx="495871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solidFill>
                  <a:srgbClr val="FCF8EF"/>
                </a:solidFill>
                <a:latin typeface="Times New Roman"/>
                <a:cs typeface="Times New Roman"/>
              </a:rPr>
              <a:t>Partnership</a:t>
            </a:r>
            <a:r>
              <a:rPr sz="18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CF8EF"/>
                </a:solidFill>
                <a:latin typeface="Times New Roman"/>
                <a:cs typeface="Times New Roman"/>
              </a:rPr>
              <a:t>conversation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110" dirty="0">
                <a:solidFill>
                  <a:srgbClr val="C0B4AC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45-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minute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review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your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185" dirty="0">
                <a:solidFill>
                  <a:srgbClr val="C0B4AC"/>
                </a:solidFill>
                <a:latin typeface="Arial"/>
                <a:cs typeface="Arial"/>
              </a:rPr>
              <a:t>CSR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committee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C0B4AC"/>
                </a:solidFill>
                <a:latin typeface="Arial"/>
                <a:cs typeface="Arial"/>
              </a:rPr>
              <a:t>—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fit,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scale,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disbursement.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3250" y="4387850"/>
            <a:ext cx="610997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FCF8EF"/>
                </a:solidFill>
                <a:latin typeface="Times New Roman"/>
                <a:cs typeface="Times New Roman"/>
              </a:rPr>
              <a:t>Site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FCF8EF"/>
                </a:solidFill>
                <a:latin typeface="Times New Roman"/>
                <a:cs typeface="Times New Roman"/>
              </a:rPr>
              <a:t>visit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130" dirty="0">
                <a:solidFill>
                  <a:srgbClr val="FCF8EF"/>
                </a:solidFill>
                <a:latin typeface="Times New Roman"/>
                <a:cs typeface="Times New Roman"/>
              </a:rPr>
              <a:t>&amp;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FCF8EF"/>
                </a:solidFill>
                <a:latin typeface="Times New Roman"/>
                <a:cs typeface="Times New Roman"/>
              </a:rPr>
              <a:t>pilot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CF8EF"/>
                </a:solidFill>
                <a:latin typeface="Times New Roman"/>
                <a:cs typeface="Times New Roman"/>
              </a:rPr>
              <a:t>review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Optional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visit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to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C0B4AC"/>
                </a:solidFill>
                <a:latin typeface="Arial"/>
                <a:cs typeface="Arial"/>
              </a:rPr>
              <a:t>Warangal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pilot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C0B4AC"/>
                </a:solidFill>
                <a:latin typeface="Arial"/>
                <a:cs typeface="Arial"/>
              </a:rPr>
              <a:t>—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observe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C0B4AC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session,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inspect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C0B4AC"/>
                </a:solidFill>
                <a:latin typeface="Arial"/>
                <a:cs typeface="Arial"/>
              </a:rPr>
              <a:t>an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install,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meet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wardens.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3250" y="5283199"/>
            <a:ext cx="401129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solidFill>
                  <a:srgbClr val="FCF8EF"/>
                </a:solidFill>
                <a:latin typeface="Times New Roman"/>
                <a:cs typeface="Times New Roman"/>
              </a:rPr>
              <a:t>MoU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130" dirty="0">
                <a:solidFill>
                  <a:srgbClr val="FCF8EF"/>
                </a:solidFill>
                <a:latin typeface="Times New Roman"/>
                <a:cs typeface="Times New Roman"/>
              </a:rPr>
              <a:t>&amp;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FCF8EF"/>
                </a:solidFill>
                <a:latin typeface="Times New Roman"/>
                <a:cs typeface="Times New Roman"/>
              </a:rPr>
              <a:t>milestone-linked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FCF8EF"/>
                </a:solidFill>
                <a:latin typeface="Times New Roman"/>
                <a:cs typeface="Times New Roman"/>
              </a:rPr>
              <a:t>disbursement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75" dirty="0">
                <a:solidFill>
                  <a:srgbClr val="C0B4AC"/>
                </a:solidFill>
                <a:latin typeface="Arial"/>
                <a:cs typeface="Arial"/>
              </a:rPr>
              <a:t>Sign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C0B4AC"/>
                </a:solidFill>
                <a:latin typeface="Arial"/>
                <a:cs typeface="Arial"/>
              </a:rPr>
              <a:t>MoU;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launch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with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C0B4AC"/>
                </a:solidFill>
                <a:latin typeface="Arial"/>
                <a:cs typeface="Arial"/>
              </a:rPr>
              <a:t>April–</a:t>
            </a:r>
            <a:r>
              <a:rPr sz="1300" spc="-90" dirty="0">
                <a:solidFill>
                  <a:srgbClr val="C0B4AC"/>
                </a:solidFill>
                <a:latin typeface="Arial"/>
                <a:cs typeface="Arial"/>
              </a:rPr>
              <a:t>May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planning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C0B4AC"/>
                </a:solidFill>
                <a:latin typeface="Arial"/>
                <a:cs typeface="Arial"/>
              </a:rPr>
              <a:t>phase.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73250" y="6178549"/>
            <a:ext cx="562292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FCF8EF"/>
                </a:solidFill>
                <a:latin typeface="Times New Roman"/>
                <a:cs typeface="Times New Roman"/>
              </a:rPr>
              <a:t>First</a:t>
            </a:r>
            <a:r>
              <a:rPr sz="1800" spc="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CF8EF"/>
                </a:solidFill>
                <a:latin typeface="Times New Roman"/>
                <a:cs typeface="Times New Roman"/>
              </a:rPr>
              <a:t>—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CF8EF"/>
                </a:solidFill>
                <a:latin typeface="Times New Roman"/>
                <a:cs typeface="Times New Roman"/>
              </a:rPr>
              <a:t>June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Times New Roman"/>
                <a:cs typeface="Times New Roman"/>
              </a:rPr>
              <a:t>2026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First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C0B4AC"/>
                </a:solidFill>
                <a:latin typeface="Arial"/>
                <a:cs typeface="Arial"/>
              </a:rPr>
              <a:t>girls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receive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kits,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training,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and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C0B4AC"/>
                </a:solidFill>
                <a:latin typeface="Arial"/>
                <a:cs typeface="Arial"/>
              </a:rPr>
              <a:t>access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to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safe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disposal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at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academic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year-</a:t>
            </a:r>
            <a:r>
              <a:rPr sz="1300" spc="-10" dirty="0">
                <a:solidFill>
                  <a:srgbClr val="C0B4AC"/>
                </a:solidFill>
                <a:latin typeface="Arial"/>
                <a:cs typeface="Arial"/>
              </a:rPr>
              <a:t>start.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47749" y="3400418"/>
            <a:ext cx="571500" cy="3257550"/>
            <a:chOff x="1047749" y="3400418"/>
            <a:chExt cx="571500" cy="3257550"/>
          </a:xfrm>
        </p:grpSpPr>
        <p:sp>
          <p:nvSpPr>
            <p:cNvPr id="27" name="object 27"/>
            <p:cNvSpPr/>
            <p:nvPr/>
          </p:nvSpPr>
          <p:spPr>
            <a:xfrm>
              <a:off x="1333499" y="3552818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9524" y="3105149"/>
                  </a:moveTo>
                  <a:lnTo>
                    <a:pt x="0" y="31051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3105149"/>
                  </a:lnTo>
                  <a:close/>
                </a:path>
              </a:pathLst>
            </a:custGeom>
            <a:solidFill>
              <a:srgbClr val="52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7749" y="3400418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388"/>
                  </a:lnTo>
                  <a:lnTo>
                    <a:pt x="202801" y="559203"/>
                  </a:lnTo>
                  <a:lnTo>
                    <a:pt x="163575" y="544041"/>
                  </a:lnTo>
                  <a:lnTo>
                    <a:pt x="126995" y="523298"/>
                  </a:lnTo>
                  <a:lnTo>
                    <a:pt x="93851" y="497455"/>
                  </a:lnTo>
                  <a:lnTo>
                    <a:pt x="64862" y="467004"/>
                  </a:lnTo>
                  <a:lnTo>
                    <a:pt x="40653" y="432629"/>
                  </a:lnTo>
                  <a:lnTo>
                    <a:pt x="21751" y="395064"/>
                  </a:lnTo>
                  <a:lnTo>
                    <a:pt x="8563" y="355169"/>
                  </a:lnTo>
                  <a:lnTo>
                    <a:pt x="1376" y="313748"/>
                  </a:lnTo>
                  <a:lnTo>
                    <a:pt x="0" y="285749"/>
                  </a:lnTo>
                  <a:lnTo>
                    <a:pt x="343" y="271727"/>
                  </a:lnTo>
                  <a:lnTo>
                    <a:pt x="5490" y="229995"/>
                  </a:lnTo>
                  <a:lnTo>
                    <a:pt x="16703" y="189476"/>
                  </a:lnTo>
                  <a:lnTo>
                    <a:pt x="33740" y="151023"/>
                  </a:lnTo>
                  <a:lnTo>
                    <a:pt x="56233" y="115514"/>
                  </a:lnTo>
                  <a:lnTo>
                    <a:pt x="83694" y="83679"/>
                  </a:lnTo>
                  <a:lnTo>
                    <a:pt x="115528" y="56217"/>
                  </a:lnTo>
                  <a:lnTo>
                    <a:pt x="151048" y="33728"/>
                  </a:lnTo>
                  <a:lnTo>
                    <a:pt x="189483" y="16705"/>
                  </a:lnTo>
                  <a:lnTo>
                    <a:pt x="230002" y="5488"/>
                  </a:lnTo>
                  <a:lnTo>
                    <a:pt x="271728" y="363"/>
                  </a:lnTo>
                  <a:lnTo>
                    <a:pt x="285749" y="0"/>
                  </a:lnTo>
                  <a:lnTo>
                    <a:pt x="299771" y="363"/>
                  </a:lnTo>
                  <a:lnTo>
                    <a:pt x="341497" y="5488"/>
                  </a:lnTo>
                  <a:lnTo>
                    <a:pt x="382016" y="16705"/>
                  </a:lnTo>
                  <a:lnTo>
                    <a:pt x="420451" y="33728"/>
                  </a:lnTo>
                  <a:lnTo>
                    <a:pt x="455971" y="56226"/>
                  </a:lnTo>
                  <a:lnTo>
                    <a:pt x="487805" y="83679"/>
                  </a:lnTo>
                  <a:lnTo>
                    <a:pt x="515266" y="115511"/>
                  </a:lnTo>
                  <a:lnTo>
                    <a:pt x="537758" y="151023"/>
                  </a:lnTo>
                  <a:lnTo>
                    <a:pt x="554796" y="189479"/>
                  </a:lnTo>
                  <a:lnTo>
                    <a:pt x="566009" y="229995"/>
                  </a:lnTo>
                  <a:lnTo>
                    <a:pt x="571156" y="271727"/>
                  </a:lnTo>
                  <a:lnTo>
                    <a:pt x="571499" y="285749"/>
                  </a:lnTo>
                  <a:lnTo>
                    <a:pt x="571156" y="299770"/>
                  </a:lnTo>
                  <a:lnTo>
                    <a:pt x="566009" y="341486"/>
                  </a:lnTo>
                  <a:lnTo>
                    <a:pt x="554796" y="381992"/>
                  </a:lnTo>
                  <a:lnTo>
                    <a:pt x="537759" y="420421"/>
                  </a:lnTo>
                  <a:lnTo>
                    <a:pt x="515266" y="455948"/>
                  </a:lnTo>
                  <a:lnTo>
                    <a:pt x="487805" y="487783"/>
                  </a:lnTo>
                  <a:lnTo>
                    <a:pt x="455971" y="515233"/>
                  </a:lnTo>
                  <a:lnTo>
                    <a:pt x="420451" y="537752"/>
                  </a:lnTo>
                  <a:lnTo>
                    <a:pt x="382016" y="554789"/>
                  </a:lnTo>
                  <a:lnTo>
                    <a:pt x="341497" y="565993"/>
                  </a:lnTo>
                  <a:lnTo>
                    <a:pt x="299771" y="571153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03225" y="3511550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21716"/>
                </a:solidFill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47749" y="4295768"/>
            <a:ext cx="609600" cy="609600"/>
            <a:chOff x="1047749" y="4295768"/>
            <a:chExt cx="609600" cy="609600"/>
          </a:xfrm>
        </p:grpSpPr>
        <p:sp>
          <p:nvSpPr>
            <p:cNvPr id="31" name="object 31"/>
            <p:cNvSpPr/>
            <p:nvPr/>
          </p:nvSpPr>
          <p:spPr>
            <a:xfrm>
              <a:off x="1057274" y="43052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61"/>
                  </a:lnTo>
                  <a:lnTo>
                    <a:pt x="209561" y="577843"/>
                  </a:lnTo>
                  <a:lnTo>
                    <a:pt x="169028" y="562186"/>
                  </a:lnTo>
                  <a:lnTo>
                    <a:pt x="131228" y="540766"/>
                  </a:lnTo>
                  <a:lnTo>
                    <a:pt x="96980" y="514045"/>
                  </a:lnTo>
                  <a:lnTo>
                    <a:pt x="67024" y="482575"/>
                  </a:lnTo>
                  <a:lnTo>
                    <a:pt x="42008" y="447070"/>
                  </a:lnTo>
                  <a:lnTo>
                    <a:pt x="22476" y="408253"/>
                  </a:lnTo>
                  <a:lnTo>
                    <a:pt x="8848" y="367017"/>
                  </a:lnTo>
                  <a:lnTo>
                    <a:pt x="1421" y="324222"/>
                  </a:lnTo>
                  <a:lnTo>
                    <a:pt x="0" y="295274"/>
                  </a:lnTo>
                  <a:lnTo>
                    <a:pt x="355" y="280780"/>
                  </a:lnTo>
                  <a:lnTo>
                    <a:pt x="5673" y="237641"/>
                  </a:lnTo>
                  <a:lnTo>
                    <a:pt x="17260" y="195792"/>
                  </a:lnTo>
                  <a:lnTo>
                    <a:pt x="34865" y="156083"/>
                  </a:lnTo>
                  <a:lnTo>
                    <a:pt x="58107" y="119362"/>
                  </a:lnTo>
                  <a:lnTo>
                    <a:pt x="86484" y="86468"/>
                  </a:lnTo>
                  <a:lnTo>
                    <a:pt x="119379" y="58098"/>
                  </a:lnTo>
                  <a:lnTo>
                    <a:pt x="156083" y="34844"/>
                  </a:lnTo>
                  <a:lnTo>
                    <a:pt x="195799" y="17252"/>
                  </a:lnTo>
                  <a:lnTo>
                    <a:pt x="237669" y="5655"/>
                  </a:lnTo>
                  <a:lnTo>
                    <a:pt x="280786" y="367"/>
                  </a:lnTo>
                  <a:lnTo>
                    <a:pt x="295274" y="0"/>
                  </a:lnTo>
                  <a:lnTo>
                    <a:pt x="309763" y="367"/>
                  </a:lnTo>
                  <a:lnTo>
                    <a:pt x="352880" y="5655"/>
                  </a:lnTo>
                  <a:lnTo>
                    <a:pt x="394750" y="17252"/>
                  </a:lnTo>
                  <a:lnTo>
                    <a:pt x="434466" y="34863"/>
                  </a:lnTo>
                  <a:lnTo>
                    <a:pt x="471170" y="58098"/>
                  </a:lnTo>
                  <a:lnTo>
                    <a:pt x="504065" y="86468"/>
                  </a:lnTo>
                  <a:lnTo>
                    <a:pt x="532442" y="119362"/>
                  </a:lnTo>
                  <a:lnTo>
                    <a:pt x="555684" y="156083"/>
                  </a:lnTo>
                  <a:lnTo>
                    <a:pt x="573289" y="195795"/>
                  </a:lnTo>
                  <a:lnTo>
                    <a:pt x="584876" y="237660"/>
                  </a:lnTo>
                  <a:lnTo>
                    <a:pt x="590194" y="280780"/>
                  </a:lnTo>
                  <a:lnTo>
                    <a:pt x="590549" y="295274"/>
                  </a:lnTo>
                  <a:lnTo>
                    <a:pt x="590194" y="309769"/>
                  </a:lnTo>
                  <a:lnTo>
                    <a:pt x="584876" y="352871"/>
                  </a:lnTo>
                  <a:lnTo>
                    <a:pt x="573289" y="394736"/>
                  </a:lnTo>
                  <a:lnTo>
                    <a:pt x="555684" y="434447"/>
                  </a:lnTo>
                  <a:lnTo>
                    <a:pt x="532442" y="471145"/>
                  </a:lnTo>
                  <a:lnTo>
                    <a:pt x="504065" y="504043"/>
                  </a:lnTo>
                  <a:lnTo>
                    <a:pt x="471170" y="532421"/>
                  </a:lnTo>
                  <a:lnTo>
                    <a:pt x="434466" y="555686"/>
                  </a:lnTo>
                  <a:lnTo>
                    <a:pt x="394750" y="573273"/>
                  </a:lnTo>
                  <a:lnTo>
                    <a:pt x="352880" y="584875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57274" y="43052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95"/>
                  </a:lnTo>
                  <a:lnTo>
                    <a:pt x="577835" y="380980"/>
                  </a:lnTo>
                  <a:lnTo>
                    <a:pt x="562200" y="421511"/>
                  </a:lnTo>
                  <a:lnTo>
                    <a:pt x="540786" y="459284"/>
                  </a:lnTo>
                  <a:lnTo>
                    <a:pt x="514059" y="493560"/>
                  </a:lnTo>
                  <a:lnTo>
                    <a:pt x="482595" y="523502"/>
                  </a:lnTo>
                  <a:lnTo>
                    <a:pt x="447076" y="548533"/>
                  </a:lnTo>
                  <a:lnTo>
                    <a:pt x="408271" y="568039"/>
                  </a:lnTo>
                  <a:lnTo>
                    <a:pt x="367020" y="581699"/>
                  </a:lnTo>
                  <a:lnTo>
                    <a:pt x="324217" y="589136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208"/>
                  </a:lnTo>
                  <a:lnTo>
                    <a:pt x="202650" y="575650"/>
                  </a:lnTo>
                  <a:lnTo>
                    <a:pt x="162517" y="559014"/>
                  </a:lnTo>
                  <a:lnTo>
                    <a:pt x="125251" y="536664"/>
                  </a:lnTo>
                  <a:lnTo>
                    <a:pt x="91672" y="509111"/>
                  </a:lnTo>
                  <a:lnTo>
                    <a:pt x="62494" y="476924"/>
                  </a:lnTo>
                  <a:lnTo>
                    <a:pt x="38360" y="440806"/>
                  </a:lnTo>
                  <a:lnTo>
                    <a:pt x="19784" y="401525"/>
                  </a:lnTo>
                  <a:lnTo>
                    <a:pt x="7174" y="359966"/>
                  </a:lnTo>
                  <a:lnTo>
                    <a:pt x="799" y="317001"/>
                  </a:lnTo>
                  <a:lnTo>
                    <a:pt x="0" y="295274"/>
                  </a:lnTo>
                  <a:lnTo>
                    <a:pt x="88" y="288023"/>
                  </a:lnTo>
                  <a:lnTo>
                    <a:pt x="4346" y="244781"/>
                  </a:lnTo>
                  <a:lnTo>
                    <a:pt x="14903" y="202643"/>
                  </a:lnTo>
                  <a:lnTo>
                    <a:pt x="31527" y="162512"/>
                  </a:lnTo>
                  <a:lnTo>
                    <a:pt x="53863" y="125227"/>
                  </a:lnTo>
                  <a:lnTo>
                    <a:pt x="81421" y="91662"/>
                  </a:lnTo>
                  <a:lnTo>
                    <a:pt x="113614" y="62486"/>
                  </a:lnTo>
                  <a:lnTo>
                    <a:pt x="149732" y="38339"/>
                  </a:lnTo>
                  <a:lnTo>
                    <a:pt x="189008" y="19772"/>
                  </a:lnTo>
                  <a:lnTo>
                    <a:pt x="230577" y="7163"/>
                  </a:lnTo>
                  <a:lnTo>
                    <a:pt x="273555" y="811"/>
                  </a:lnTo>
                  <a:lnTo>
                    <a:pt x="295274" y="0"/>
                  </a:lnTo>
                  <a:lnTo>
                    <a:pt x="302523" y="98"/>
                  </a:lnTo>
                  <a:lnTo>
                    <a:pt x="345753" y="4336"/>
                  </a:lnTo>
                  <a:lnTo>
                    <a:pt x="387899" y="14896"/>
                  </a:lnTo>
                  <a:lnTo>
                    <a:pt x="428031" y="31514"/>
                  </a:lnTo>
                  <a:lnTo>
                    <a:pt x="465298" y="53850"/>
                  </a:lnTo>
                  <a:lnTo>
                    <a:pt x="498877" y="81411"/>
                  </a:lnTo>
                  <a:lnTo>
                    <a:pt x="528055" y="113598"/>
                  </a:lnTo>
                  <a:lnTo>
                    <a:pt x="552188" y="149724"/>
                  </a:lnTo>
                  <a:lnTo>
                    <a:pt x="570765" y="188998"/>
                  </a:lnTo>
                  <a:lnTo>
                    <a:pt x="583374" y="230576"/>
                  </a:lnTo>
                  <a:lnTo>
                    <a:pt x="589750" y="27354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22275" y="442594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47749" y="5191118"/>
            <a:ext cx="609600" cy="609600"/>
            <a:chOff x="1047749" y="5191118"/>
            <a:chExt cx="609600" cy="609600"/>
          </a:xfrm>
        </p:grpSpPr>
        <p:sp>
          <p:nvSpPr>
            <p:cNvPr id="35" name="object 35"/>
            <p:cNvSpPr/>
            <p:nvPr/>
          </p:nvSpPr>
          <p:spPr>
            <a:xfrm>
              <a:off x="1057274" y="520064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61"/>
                  </a:lnTo>
                  <a:lnTo>
                    <a:pt x="209561" y="577824"/>
                  </a:lnTo>
                  <a:lnTo>
                    <a:pt x="169028" y="562183"/>
                  </a:lnTo>
                  <a:lnTo>
                    <a:pt x="131228" y="540762"/>
                  </a:lnTo>
                  <a:lnTo>
                    <a:pt x="96980" y="514049"/>
                  </a:lnTo>
                  <a:lnTo>
                    <a:pt x="67024" y="482593"/>
                  </a:lnTo>
                  <a:lnTo>
                    <a:pt x="42008" y="447066"/>
                  </a:lnTo>
                  <a:lnTo>
                    <a:pt x="22476" y="408250"/>
                  </a:lnTo>
                  <a:lnTo>
                    <a:pt x="8848" y="367016"/>
                  </a:lnTo>
                  <a:lnTo>
                    <a:pt x="1421" y="324202"/>
                  </a:lnTo>
                  <a:lnTo>
                    <a:pt x="0" y="295274"/>
                  </a:lnTo>
                  <a:lnTo>
                    <a:pt x="355" y="280780"/>
                  </a:lnTo>
                  <a:lnTo>
                    <a:pt x="5673" y="237660"/>
                  </a:lnTo>
                  <a:lnTo>
                    <a:pt x="17260" y="195792"/>
                  </a:lnTo>
                  <a:lnTo>
                    <a:pt x="34865" y="156083"/>
                  </a:lnTo>
                  <a:lnTo>
                    <a:pt x="58107" y="119383"/>
                  </a:lnTo>
                  <a:lnTo>
                    <a:pt x="86484" y="86487"/>
                  </a:lnTo>
                  <a:lnTo>
                    <a:pt x="119379" y="58117"/>
                  </a:lnTo>
                  <a:lnTo>
                    <a:pt x="156083" y="34863"/>
                  </a:lnTo>
                  <a:lnTo>
                    <a:pt x="195799" y="17264"/>
                  </a:lnTo>
                  <a:lnTo>
                    <a:pt x="237669" y="5674"/>
                  </a:lnTo>
                  <a:lnTo>
                    <a:pt x="280786" y="367"/>
                  </a:lnTo>
                  <a:lnTo>
                    <a:pt x="295274" y="0"/>
                  </a:lnTo>
                  <a:lnTo>
                    <a:pt x="309763" y="367"/>
                  </a:lnTo>
                  <a:lnTo>
                    <a:pt x="352880" y="5674"/>
                  </a:lnTo>
                  <a:lnTo>
                    <a:pt x="394750" y="17264"/>
                  </a:lnTo>
                  <a:lnTo>
                    <a:pt x="434466" y="34863"/>
                  </a:lnTo>
                  <a:lnTo>
                    <a:pt x="471170" y="58117"/>
                  </a:lnTo>
                  <a:lnTo>
                    <a:pt x="504065" y="86487"/>
                  </a:lnTo>
                  <a:lnTo>
                    <a:pt x="532442" y="119383"/>
                  </a:lnTo>
                  <a:lnTo>
                    <a:pt x="555684" y="156083"/>
                  </a:lnTo>
                  <a:lnTo>
                    <a:pt x="573289" y="195795"/>
                  </a:lnTo>
                  <a:lnTo>
                    <a:pt x="584876" y="237660"/>
                  </a:lnTo>
                  <a:lnTo>
                    <a:pt x="590194" y="280780"/>
                  </a:lnTo>
                  <a:lnTo>
                    <a:pt x="590549" y="295274"/>
                  </a:lnTo>
                  <a:lnTo>
                    <a:pt x="590194" y="309760"/>
                  </a:lnTo>
                  <a:lnTo>
                    <a:pt x="584876" y="352872"/>
                  </a:lnTo>
                  <a:lnTo>
                    <a:pt x="573289" y="394737"/>
                  </a:lnTo>
                  <a:lnTo>
                    <a:pt x="555684" y="434463"/>
                  </a:lnTo>
                  <a:lnTo>
                    <a:pt x="532442" y="471170"/>
                  </a:lnTo>
                  <a:lnTo>
                    <a:pt x="504065" y="504062"/>
                  </a:lnTo>
                  <a:lnTo>
                    <a:pt x="471170" y="532421"/>
                  </a:lnTo>
                  <a:lnTo>
                    <a:pt x="434466" y="555669"/>
                  </a:lnTo>
                  <a:lnTo>
                    <a:pt x="394750" y="573275"/>
                  </a:lnTo>
                  <a:lnTo>
                    <a:pt x="352880" y="584854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57274" y="520064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87"/>
                  </a:lnTo>
                  <a:lnTo>
                    <a:pt x="577835" y="380980"/>
                  </a:lnTo>
                  <a:lnTo>
                    <a:pt x="562200" y="421514"/>
                  </a:lnTo>
                  <a:lnTo>
                    <a:pt x="540786" y="459304"/>
                  </a:lnTo>
                  <a:lnTo>
                    <a:pt x="514059" y="493556"/>
                  </a:lnTo>
                  <a:lnTo>
                    <a:pt x="482595" y="523522"/>
                  </a:lnTo>
                  <a:lnTo>
                    <a:pt x="447076" y="548523"/>
                  </a:lnTo>
                  <a:lnTo>
                    <a:pt x="408271" y="568061"/>
                  </a:lnTo>
                  <a:lnTo>
                    <a:pt x="367020" y="581689"/>
                  </a:lnTo>
                  <a:lnTo>
                    <a:pt x="324217" y="589140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201"/>
                  </a:lnTo>
                  <a:lnTo>
                    <a:pt x="202650" y="575633"/>
                  </a:lnTo>
                  <a:lnTo>
                    <a:pt x="162517" y="559005"/>
                  </a:lnTo>
                  <a:lnTo>
                    <a:pt x="125251" y="536662"/>
                  </a:lnTo>
                  <a:lnTo>
                    <a:pt x="91672" y="509120"/>
                  </a:lnTo>
                  <a:lnTo>
                    <a:pt x="62494" y="476940"/>
                  </a:lnTo>
                  <a:lnTo>
                    <a:pt x="38360" y="440811"/>
                  </a:lnTo>
                  <a:lnTo>
                    <a:pt x="19784" y="401525"/>
                  </a:lnTo>
                  <a:lnTo>
                    <a:pt x="7174" y="359966"/>
                  </a:lnTo>
                  <a:lnTo>
                    <a:pt x="799" y="316984"/>
                  </a:lnTo>
                  <a:lnTo>
                    <a:pt x="0" y="295274"/>
                  </a:lnTo>
                  <a:lnTo>
                    <a:pt x="88" y="288023"/>
                  </a:lnTo>
                  <a:lnTo>
                    <a:pt x="4346" y="244789"/>
                  </a:lnTo>
                  <a:lnTo>
                    <a:pt x="14903" y="202643"/>
                  </a:lnTo>
                  <a:lnTo>
                    <a:pt x="31527" y="162512"/>
                  </a:lnTo>
                  <a:lnTo>
                    <a:pt x="53863" y="125253"/>
                  </a:lnTo>
                  <a:lnTo>
                    <a:pt x="81421" y="91671"/>
                  </a:lnTo>
                  <a:lnTo>
                    <a:pt x="113614" y="62504"/>
                  </a:lnTo>
                  <a:lnTo>
                    <a:pt x="149732" y="38358"/>
                  </a:lnTo>
                  <a:lnTo>
                    <a:pt x="189008" y="19783"/>
                  </a:lnTo>
                  <a:lnTo>
                    <a:pt x="230577" y="7181"/>
                  </a:lnTo>
                  <a:lnTo>
                    <a:pt x="273555" y="811"/>
                  </a:lnTo>
                  <a:lnTo>
                    <a:pt x="295274" y="0"/>
                  </a:lnTo>
                  <a:lnTo>
                    <a:pt x="302523" y="98"/>
                  </a:lnTo>
                  <a:lnTo>
                    <a:pt x="345753" y="4351"/>
                  </a:lnTo>
                  <a:lnTo>
                    <a:pt x="387899" y="14912"/>
                  </a:lnTo>
                  <a:lnTo>
                    <a:pt x="428031" y="31524"/>
                  </a:lnTo>
                  <a:lnTo>
                    <a:pt x="465298" y="53869"/>
                  </a:lnTo>
                  <a:lnTo>
                    <a:pt x="498877" y="81419"/>
                  </a:lnTo>
                  <a:lnTo>
                    <a:pt x="528055" y="113617"/>
                  </a:lnTo>
                  <a:lnTo>
                    <a:pt x="552188" y="149727"/>
                  </a:lnTo>
                  <a:lnTo>
                    <a:pt x="570765" y="188998"/>
                  </a:lnTo>
                  <a:lnTo>
                    <a:pt x="583374" y="230568"/>
                  </a:lnTo>
                  <a:lnTo>
                    <a:pt x="589750" y="27354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22275" y="532129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03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47749" y="6086468"/>
            <a:ext cx="609600" cy="609600"/>
            <a:chOff x="1047749" y="6086468"/>
            <a:chExt cx="609600" cy="609600"/>
          </a:xfrm>
        </p:grpSpPr>
        <p:sp>
          <p:nvSpPr>
            <p:cNvPr id="39" name="object 39"/>
            <p:cNvSpPr/>
            <p:nvPr/>
          </p:nvSpPr>
          <p:spPr>
            <a:xfrm>
              <a:off x="1057274" y="60959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40"/>
                  </a:lnTo>
                  <a:lnTo>
                    <a:pt x="209561" y="577805"/>
                  </a:lnTo>
                  <a:lnTo>
                    <a:pt x="169028" y="562183"/>
                  </a:lnTo>
                  <a:lnTo>
                    <a:pt x="131228" y="540781"/>
                  </a:lnTo>
                  <a:lnTo>
                    <a:pt x="96980" y="514049"/>
                  </a:lnTo>
                  <a:lnTo>
                    <a:pt x="67024" y="482593"/>
                  </a:lnTo>
                  <a:lnTo>
                    <a:pt x="42008" y="447066"/>
                  </a:lnTo>
                  <a:lnTo>
                    <a:pt x="22476" y="408250"/>
                  </a:lnTo>
                  <a:lnTo>
                    <a:pt x="8848" y="367013"/>
                  </a:lnTo>
                  <a:lnTo>
                    <a:pt x="1421" y="324202"/>
                  </a:lnTo>
                  <a:lnTo>
                    <a:pt x="0" y="295274"/>
                  </a:lnTo>
                  <a:lnTo>
                    <a:pt x="355" y="280796"/>
                  </a:lnTo>
                  <a:lnTo>
                    <a:pt x="5673" y="237658"/>
                  </a:lnTo>
                  <a:lnTo>
                    <a:pt x="17260" y="195791"/>
                  </a:lnTo>
                  <a:lnTo>
                    <a:pt x="34865" y="156086"/>
                  </a:lnTo>
                  <a:lnTo>
                    <a:pt x="58107" y="119364"/>
                  </a:lnTo>
                  <a:lnTo>
                    <a:pt x="86484" y="86467"/>
                  </a:lnTo>
                  <a:lnTo>
                    <a:pt x="119379" y="58119"/>
                  </a:lnTo>
                  <a:lnTo>
                    <a:pt x="156083" y="34880"/>
                  </a:lnTo>
                  <a:lnTo>
                    <a:pt x="195799" y="17255"/>
                  </a:lnTo>
                  <a:lnTo>
                    <a:pt x="237669" y="5657"/>
                  </a:lnTo>
                  <a:lnTo>
                    <a:pt x="280786" y="360"/>
                  </a:lnTo>
                  <a:lnTo>
                    <a:pt x="295274" y="0"/>
                  </a:lnTo>
                  <a:lnTo>
                    <a:pt x="309763" y="360"/>
                  </a:lnTo>
                  <a:lnTo>
                    <a:pt x="352880" y="5657"/>
                  </a:lnTo>
                  <a:lnTo>
                    <a:pt x="394750" y="17255"/>
                  </a:lnTo>
                  <a:lnTo>
                    <a:pt x="434466" y="34880"/>
                  </a:lnTo>
                  <a:lnTo>
                    <a:pt x="471170" y="58119"/>
                  </a:lnTo>
                  <a:lnTo>
                    <a:pt x="504065" y="86467"/>
                  </a:lnTo>
                  <a:lnTo>
                    <a:pt x="532442" y="119364"/>
                  </a:lnTo>
                  <a:lnTo>
                    <a:pt x="555684" y="156086"/>
                  </a:lnTo>
                  <a:lnTo>
                    <a:pt x="573289" y="195793"/>
                  </a:lnTo>
                  <a:lnTo>
                    <a:pt x="584876" y="237658"/>
                  </a:lnTo>
                  <a:lnTo>
                    <a:pt x="590194" y="280796"/>
                  </a:lnTo>
                  <a:lnTo>
                    <a:pt x="590549" y="295274"/>
                  </a:lnTo>
                  <a:lnTo>
                    <a:pt x="590194" y="309752"/>
                  </a:lnTo>
                  <a:lnTo>
                    <a:pt x="584876" y="352853"/>
                  </a:lnTo>
                  <a:lnTo>
                    <a:pt x="573289" y="394730"/>
                  </a:lnTo>
                  <a:lnTo>
                    <a:pt x="555684" y="434463"/>
                  </a:lnTo>
                  <a:lnTo>
                    <a:pt x="532442" y="471163"/>
                  </a:lnTo>
                  <a:lnTo>
                    <a:pt x="504065" y="504062"/>
                  </a:lnTo>
                  <a:lnTo>
                    <a:pt x="471170" y="532437"/>
                  </a:lnTo>
                  <a:lnTo>
                    <a:pt x="434466" y="555688"/>
                  </a:lnTo>
                  <a:lnTo>
                    <a:pt x="394750" y="573275"/>
                  </a:lnTo>
                  <a:lnTo>
                    <a:pt x="352880" y="584854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57274" y="60959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85"/>
                  </a:lnTo>
                  <a:lnTo>
                    <a:pt x="577835" y="380980"/>
                  </a:lnTo>
                  <a:lnTo>
                    <a:pt x="562200" y="421514"/>
                  </a:lnTo>
                  <a:lnTo>
                    <a:pt x="540786" y="459304"/>
                  </a:lnTo>
                  <a:lnTo>
                    <a:pt x="514059" y="493556"/>
                  </a:lnTo>
                  <a:lnTo>
                    <a:pt x="482595" y="523522"/>
                  </a:lnTo>
                  <a:lnTo>
                    <a:pt x="447076" y="548542"/>
                  </a:lnTo>
                  <a:lnTo>
                    <a:pt x="408271" y="568061"/>
                  </a:lnTo>
                  <a:lnTo>
                    <a:pt x="367020" y="581689"/>
                  </a:lnTo>
                  <a:lnTo>
                    <a:pt x="324217" y="589140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182"/>
                  </a:lnTo>
                  <a:lnTo>
                    <a:pt x="202650" y="575625"/>
                  </a:lnTo>
                  <a:lnTo>
                    <a:pt x="162517" y="559005"/>
                  </a:lnTo>
                  <a:lnTo>
                    <a:pt x="125251" y="536681"/>
                  </a:lnTo>
                  <a:lnTo>
                    <a:pt x="91672" y="509120"/>
                  </a:lnTo>
                  <a:lnTo>
                    <a:pt x="62494" y="476932"/>
                  </a:lnTo>
                  <a:lnTo>
                    <a:pt x="38360" y="440811"/>
                  </a:lnTo>
                  <a:lnTo>
                    <a:pt x="19784" y="401517"/>
                  </a:lnTo>
                  <a:lnTo>
                    <a:pt x="7174" y="359958"/>
                  </a:lnTo>
                  <a:lnTo>
                    <a:pt x="799" y="316982"/>
                  </a:lnTo>
                  <a:lnTo>
                    <a:pt x="0" y="295274"/>
                  </a:lnTo>
                  <a:lnTo>
                    <a:pt x="88" y="288033"/>
                  </a:lnTo>
                  <a:lnTo>
                    <a:pt x="4346" y="244787"/>
                  </a:lnTo>
                  <a:lnTo>
                    <a:pt x="14903" y="202641"/>
                  </a:lnTo>
                  <a:lnTo>
                    <a:pt x="31527" y="162511"/>
                  </a:lnTo>
                  <a:lnTo>
                    <a:pt x="53863" y="125234"/>
                  </a:lnTo>
                  <a:lnTo>
                    <a:pt x="81421" y="91662"/>
                  </a:lnTo>
                  <a:lnTo>
                    <a:pt x="113614" y="62506"/>
                  </a:lnTo>
                  <a:lnTo>
                    <a:pt x="149732" y="38377"/>
                  </a:lnTo>
                  <a:lnTo>
                    <a:pt x="189008" y="19780"/>
                  </a:lnTo>
                  <a:lnTo>
                    <a:pt x="230577" y="7155"/>
                  </a:lnTo>
                  <a:lnTo>
                    <a:pt x="273555" y="807"/>
                  </a:lnTo>
                  <a:lnTo>
                    <a:pt x="295274" y="0"/>
                  </a:lnTo>
                  <a:lnTo>
                    <a:pt x="302523" y="90"/>
                  </a:lnTo>
                  <a:lnTo>
                    <a:pt x="345753" y="4335"/>
                  </a:lnTo>
                  <a:lnTo>
                    <a:pt x="387899" y="14897"/>
                  </a:lnTo>
                  <a:lnTo>
                    <a:pt x="428031" y="31541"/>
                  </a:lnTo>
                  <a:lnTo>
                    <a:pt x="465298" y="53871"/>
                  </a:lnTo>
                  <a:lnTo>
                    <a:pt x="498877" y="81410"/>
                  </a:lnTo>
                  <a:lnTo>
                    <a:pt x="528055" y="113598"/>
                  </a:lnTo>
                  <a:lnTo>
                    <a:pt x="552188" y="149727"/>
                  </a:lnTo>
                  <a:lnTo>
                    <a:pt x="570765" y="188997"/>
                  </a:lnTo>
                  <a:lnTo>
                    <a:pt x="583374" y="230567"/>
                  </a:lnTo>
                  <a:lnTo>
                    <a:pt x="589750" y="27356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22275" y="621664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35050" y="939800"/>
            <a:ext cx="9588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Y</a:t>
            </a:r>
            <a:r>
              <a:rPr sz="1050" spc="-43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80730" y="939800"/>
            <a:ext cx="7454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  <a:tab pos="54546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1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ts val="7740"/>
              </a:lnSpc>
              <a:spcBef>
                <a:spcPts val="100"/>
              </a:spcBef>
            </a:pPr>
            <a:r>
              <a:rPr spc="-210" dirty="0"/>
              <a:t>No</a:t>
            </a:r>
            <a:r>
              <a:rPr spc="-280" dirty="0"/>
              <a:t> </a:t>
            </a:r>
            <a:r>
              <a:rPr spc="-70" dirty="0"/>
              <a:t>girl</a:t>
            </a:r>
            <a:r>
              <a:rPr spc="-315" dirty="0"/>
              <a:t> </a:t>
            </a:r>
            <a:r>
              <a:rPr spc="-245" dirty="0"/>
              <a:t>should</a:t>
            </a:r>
            <a:r>
              <a:rPr spc="-280" dirty="0"/>
              <a:t> </a:t>
            </a:r>
            <a:r>
              <a:rPr spc="-120" dirty="0"/>
              <a:t>miss</a:t>
            </a:r>
            <a:r>
              <a:rPr spc="-290" dirty="0"/>
              <a:t> </a:t>
            </a:r>
            <a:r>
              <a:rPr spc="-10" dirty="0"/>
              <a:t>school</a:t>
            </a:r>
          </a:p>
          <a:p>
            <a:pPr marL="17145" algn="ctr">
              <a:lnSpc>
                <a:spcPts val="7740"/>
              </a:lnSpc>
            </a:pPr>
            <a:r>
              <a:rPr i="1" spc="-195" dirty="0">
                <a:solidFill>
                  <a:srgbClr val="77292E"/>
                </a:solidFill>
                <a:latin typeface="Times New Roman"/>
                <a:cs typeface="Times New Roman"/>
              </a:rPr>
              <a:t>because</a:t>
            </a:r>
            <a:r>
              <a:rPr i="1" spc="-3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55" dirty="0">
                <a:solidFill>
                  <a:srgbClr val="77292E"/>
                </a:solidFill>
                <a:latin typeface="Times New Roman"/>
                <a:cs typeface="Times New Roman"/>
              </a:rPr>
              <a:t>of</a:t>
            </a:r>
            <a:r>
              <a:rPr i="1" spc="-34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-204" dirty="0">
                <a:solidFill>
                  <a:srgbClr val="77292E"/>
                </a:solidFill>
                <a:latin typeface="Times New Roman"/>
                <a:cs typeface="Times New Roman"/>
              </a:rPr>
              <a:t>her</a:t>
            </a:r>
            <a:r>
              <a:rPr i="1" spc="-3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period.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89189" y="3597275"/>
            <a:ext cx="9509760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100"/>
              </a:spcBef>
            </a:pPr>
            <a:r>
              <a:rPr sz="22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No</a:t>
            </a:r>
            <a:r>
              <a:rPr sz="2250" spc="-12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campus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should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lack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a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safe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95" dirty="0">
                <a:solidFill>
                  <a:srgbClr val="3B3C43"/>
                </a:solidFill>
                <a:latin typeface="Palatino Linotype"/>
                <a:cs typeface="Palatino Linotype"/>
              </a:rPr>
              <a:t>way</a:t>
            </a:r>
            <a:r>
              <a:rPr sz="2250" spc="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to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dispose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of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menstrual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waste.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Your </a:t>
            </a:r>
            <a:r>
              <a:rPr sz="2250" spc="-25" dirty="0">
                <a:solidFill>
                  <a:srgbClr val="3B3C43"/>
                </a:solidFill>
                <a:latin typeface="Palatino Linotype"/>
                <a:cs typeface="Palatino Linotype"/>
              </a:rPr>
              <a:t>CSR partnership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makes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both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possible</a:t>
            </a:r>
            <a:r>
              <a:rPr sz="2250" spc="-6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—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for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1,23,000</a:t>
            </a:r>
            <a:r>
              <a:rPr sz="2250" spc="-6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girls,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across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275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institutions,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starting</a:t>
            </a:r>
            <a:r>
              <a:rPr sz="22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this</a:t>
            </a:r>
            <a:r>
              <a:rPr sz="2250" spc="-7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academic</a:t>
            </a:r>
            <a:r>
              <a:rPr sz="2250" spc="-7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year.</a:t>
            </a:r>
            <a:endParaRPr sz="225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67274" y="5553068"/>
            <a:ext cx="8553450" cy="2609850"/>
            <a:chOff x="4867274" y="5553068"/>
            <a:chExt cx="8553450" cy="2609850"/>
          </a:xfrm>
        </p:grpSpPr>
        <p:sp>
          <p:nvSpPr>
            <p:cNvPr id="8" name="object 8"/>
            <p:cNvSpPr/>
            <p:nvPr/>
          </p:nvSpPr>
          <p:spPr>
            <a:xfrm>
              <a:off x="4867274" y="5553068"/>
              <a:ext cx="8553450" cy="2609850"/>
            </a:xfrm>
            <a:custGeom>
              <a:avLst/>
              <a:gdLst/>
              <a:ahLst/>
              <a:cxnLst/>
              <a:rect l="l" t="t" r="r" b="b"/>
              <a:pathLst>
                <a:path w="8553450" h="2609850">
                  <a:moveTo>
                    <a:pt x="8553449" y="2609849"/>
                  </a:moveTo>
                  <a:lnTo>
                    <a:pt x="0" y="2609849"/>
                  </a:lnTo>
                  <a:lnTo>
                    <a:pt x="0" y="0"/>
                  </a:lnTo>
                  <a:lnTo>
                    <a:pt x="8553449" y="0"/>
                  </a:lnTo>
                  <a:lnTo>
                    <a:pt x="8553449" y="26098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2037" y="5557830"/>
              <a:ext cx="8543925" cy="2600325"/>
            </a:xfrm>
            <a:custGeom>
              <a:avLst/>
              <a:gdLst/>
              <a:ahLst/>
              <a:cxnLst/>
              <a:rect l="l" t="t" r="r" b="b"/>
              <a:pathLst>
                <a:path w="8543925" h="2600325">
                  <a:moveTo>
                    <a:pt x="0" y="0"/>
                  </a:moveTo>
                  <a:lnTo>
                    <a:pt x="8543924" y="0"/>
                  </a:lnTo>
                  <a:lnTo>
                    <a:pt x="8543924" y="2600324"/>
                  </a:lnTo>
                  <a:lnTo>
                    <a:pt x="0" y="26003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Give For Socie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0224" y="5905499"/>
              <a:ext cx="1238249" cy="1238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09901" y="7234967"/>
            <a:ext cx="1622425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800">
              <a:latin typeface="Courier New"/>
              <a:cs typeface="Courier New"/>
            </a:endParaRPr>
          </a:p>
          <a:p>
            <a:pPr marL="10160" algn="ctr">
              <a:lnSpc>
                <a:spcPct val="100000"/>
              </a:lnSpc>
              <a:spcBef>
                <a:spcPts val="290"/>
              </a:spcBef>
            </a:pPr>
            <a:r>
              <a:rPr sz="150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35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5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96174" y="5905499"/>
            <a:ext cx="5381625" cy="1571625"/>
            <a:chOff x="7496174" y="5905499"/>
            <a:chExt cx="5381625" cy="1571625"/>
          </a:xfrm>
        </p:grpSpPr>
        <p:sp>
          <p:nvSpPr>
            <p:cNvPr id="13" name="object 13"/>
            <p:cNvSpPr/>
            <p:nvPr/>
          </p:nvSpPr>
          <p:spPr>
            <a:xfrm>
              <a:off x="7496174" y="6238868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9524" y="1238249"/>
                  </a:moveTo>
                  <a:lnTo>
                    <a:pt x="0" y="1238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238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Sthree Swabhima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8674" y="5905499"/>
              <a:ext cx="1238250" cy="1238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629899" y="6238868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9524" y="1238249"/>
                  </a:moveTo>
                  <a:lnTo>
                    <a:pt x="0" y="1238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238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6624" y="6000749"/>
              <a:ext cx="1781174" cy="1047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966323" y="7234967"/>
            <a:ext cx="2200910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5715" algn="ctr">
              <a:lnSpc>
                <a:spcPct val="100000"/>
              </a:lnSpc>
              <a:spcBef>
                <a:spcPts val="290"/>
              </a:spcBef>
            </a:pP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r>
              <a:rPr sz="15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16171F"/>
                </a:solidFill>
                <a:latin typeface="Times New Roman"/>
                <a:cs typeface="Times New Roman"/>
              </a:rPr>
              <a:t>Swabhiman</a:t>
            </a:r>
            <a:endParaRPr sz="15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800" spc="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14198" y="7234967"/>
            <a:ext cx="1536700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  <a:p>
            <a:pPr marL="10160" algn="ctr">
              <a:lnSpc>
                <a:spcPct val="100000"/>
              </a:lnSpc>
              <a:spcBef>
                <a:spcPts val="290"/>
              </a:spcBef>
            </a:pPr>
            <a:r>
              <a:rPr sz="1500" spc="45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5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32176" y="8762978"/>
            <a:ext cx="41275" cy="9525"/>
          </a:xfrm>
          <a:custGeom>
            <a:avLst/>
            <a:gdLst/>
            <a:ahLst/>
            <a:cxnLst/>
            <a:rect l="l" t="t" r="r" b="b"/>
            <a:pathLst>
              <a:path w="41275" h="9525">
                <a:moveTo>
                  <a:pt x="40680" y="9524"/>
                </a:moveTo>
                <a:lnTo>
                  <a:pt x="0" y="9524"/>
                </a:lnTo>
                <a:lnTo>
                  <a:pt x="0" y="0"/>
                </a:lnTo>
                <a:lnTo>
                  <a:pt x="40680" y="0"/>
                </a:lnTo>
                <a:lnTo>
                  <a:pt x="40680" y="9524"/>
                </a:lnTo>
                <a:close/>
              </a:path>
            </a:pathLst>
          </a:custGeom>
          <a:solidFill>
            <a:srgbClr val="000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91930" y="8446971"/>
            <a:ext cx="2301627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lang="en-US" sz="1200" dirty="0">
                <a:solidFill>
                  <a:srgbClr val="0000ED"/>
                </a:solidFill>
                <a:latin typeface="Courier New"/>
                <a:cs typeface="Courier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contact@give4soiety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.org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+91 94407 27071</a:t>
            </a:r>
            <a:endParaRPr sz="1200" dirty="0">
              <a:solidFill>
                <a:schemeClr val="tx1">
                  <a:lumMod val="50000"/>
                  <a:lumOff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93557" y="8607425"/>
            <a:ext cx="105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30988" y="8607425"/>
            <a:ext cx="20821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endParaRPr sz="105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44707" y="8607425"/>
            <a:ext cx="105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82138" y="8607425"/>
            <a:ext cx="22898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L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47749" y="9039218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5050" y="9255125"/>
            <a:ext cx="43884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Segoe UI Symbol"/>
                <a:cs typeface="Segoe UI Symbol"/>
              </a:rPr>
              <a:t>★</a:t>
            </a:r>
            <a:r>
              <a:rPr sz="950" spc="235" dirty="0">
                <a:solidFill>
                  <a:srgbClr val="67686E"/>
                </a:solidFill>
                <a:latin typeface="Segoe UI Symbol"/>
                <a:cs typeface="Segoe UI Symbol"/>
              </a:rPr>
              <a:t> 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'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4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967939" y="9255125"/>
            <a:ext cx="42602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4879</Words>
  <Application>Microsoft Office PowerPoint</Application>
  <PresentationFormat>Custom</PresentationFormat>
  <Paragraphs>861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Courier New</vt:lpstr>
      <vt:lpstr>Palatino Linotype</vt:lpstr>
      <vt:lpstr>Segoe UI Symbol</vt:lpstr>
      <vt:lpstr>Source Sans 3</vt:lpstr>
      <vt:lpstr>Tahoma</vt:lpstr>
      <vt:lpstr>Times New Roman</vt:lpstr>
      <vt:lpstr>Office Theme</vt:lpstr>
      <vt:lpstr>PowerPoint Presentation</vt:lpstr>
      <vt:lpstr>PowerPoint Presentation</vt:lpstr>
      <vt:lpstr>For a girl in a rural residential school, her period costs her four school days every month.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 girl should miss school because of her period.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Sthree Swabhiman — CSR Partnership Proposal</dc:title>
  <dc:creator>Satya Narayana Rapelly (INFOSYS LIMITED)</dc:creator>
  <cp:lastModifiedBy>Satya Narayana Rapelly (INFOSYS LIMITED)</cp:lastModifiedBy>
  <cp:revision>7</cp:revision>
  <dcterms:created xsi:type="dcterms:W3CDTF">2026-05-15T00:57:10Z</dcterms:created>
  <dcterms:modified xsi:type="dcterms:W3CDTF">2026-05-15T04:57:16Z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Mozilla/5.0 (Windows NT 10.0; Win64; x64) AppleWebKit/537.36 (KHTML, like Gecko) Chrome/148.0.0.0 Safari/537.36 Edg/148.0.0.0</vt:lpwstr>
  </property>
  <property fmtid="{D5CDD505-2E9C-101B-9397-08002B2CF9AE}" pid="4" name="LastSaved">
    <vt:filetime>2026-05-15T00:00:00Z</vt:filetime>
  </property>
  <property fmtid="{D5CDD505-2E9C-101B-9397-08002B2CF9AE}" pid="5" name="Producer">
    <vt:lpwstr>Skia/PDF m148</vt:lpwstr>
  </property>
</Properties>
</file>