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8.jpg" ContentType="image/jpeg"/>
  <Override PartName="/ppt/media/image3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3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rgbClr val="16171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16171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16171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16171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8F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749" y="1085844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8F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92656" y="1196975"/>
            <a:ext cx="9902686" cy="1991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rgbClr val="16171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.jp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jp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jpg"/><Relationship Id="rId4" Type="http://schemas.openxmlformats.org/officeDocument/2006/relationships/image" Target="../media/image3.jp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file:///\\localhost\C:\cdn-cgi\l\email-protection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ontact@give4soiety.org" TargetMode="Externa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8F5E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 descr="Give For Societ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762000"/>
            <a:ext cx="800099" cy="8000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68500" y="873125"/>
            <a:ext cx="2576195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chemeClr val="tx1"/>
                </a:solidFill>
                <a:latin typeface="Times New Roman"/>
                <a:cs typeface="Times New Roman"/>
              </a:rPr>
              <a:t>Give</a:t>
            </a:r>
            <a:r>
              <a:rPr sz="2100" b="1"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100" b="1" spc="80" dirty="0">
                <a:solidFill>
                  <a:schemeClr val="tx1"/>
                </a:solidFill>
                <a:latin typeface="Times New Roman"/>
                <a:cs typeface="Times New Roman"/>
              </a:rPr>
              <a:t>For</a:t>
            </a:r>
            <a:r>
              <a:rPr sz="2100" b="1"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1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Society</a:t>
            </a:r>
            <a:endParaRPr sz="2100" b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950" spc="4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/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endParaRPr sz="95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67110" y="861694"/>
            <a:ext cx="2559685" cy="4746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675">
              <a:lnSpc>
                <a:spcPct val="148800"/>
              </a:lnSpc>
              <a:spcBef>
                <a:spcPts val="100"/>
              </a:spcBef>
              <a:tabLst>
                <a:tab pos="438784" algn="l"/>
                <a:tab pos="1292860" algn="l"/>
                <a:tab pos="1718945" algn="l"/>
                <a:tab pos="1826260" algn="l"/>
              </a:tabLst>
            </a:pP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C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S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	P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T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N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S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H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I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P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P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O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P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O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S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L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C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D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M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I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C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Y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	2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0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2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6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–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2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7</a:t>
            </a:r>
            <a:endParaRPr sz="105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47749" y="3276599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35050" y="3140075"/>
            <a:ext cx="8794750" cy="526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6915">
              <a:lnSpc>
                <a:spcPts val="1850"/>
              </a:lnSpc>
              <a:spcBef>
                <a:spcPts val="100"/>
              </a:spcBef>
              <a:tabLst>
                <a:tab pos="2435225" algn="l"/>
                <a:tab pos="3810000" algn="l"/>
                <a:tab pos="4153535" algn="l"/>
                <a:tab pos="5528310" algn="l"/>
              </a:tabLst>
            </a:pP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M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S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R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U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spc="-50" dirty="0">
                <a:solidFill>
                  <a:srgbClr val="C00000"/>
                </a:solidFill>
                <a:latin typeface="Courier New"/>
                <a:cs typeface="Courier New"/>
              </a:rPr>
              <a:t>L</a:t>
            </a:r>
            <a:r>
              <a:rPr lang="en-US" b="1" spc="-5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H</a:t>
            </a:r>
            <a:r>
              <a:rPr b="1" spc="-6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Y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G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spc="-50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lang="en-US" b="1" dirty="0">
                <a:solidFill>
                  <a:srgbClr val="C00000"/>
                </a:solidFill>
                <a:latin typeface="Courier New"/>
                <a:cs typeface="Courier New"/>
              </a:rPr>
              <a:t>	 </a:t>
            </a:r>
            <a:r>
              <a:rPr b="1" spc="-50" dirty="0">
                <a:solidFill>
                  <a:srgbClr val="C00000"/>
                </a:solidFill>
                <a:latin typeface="Courier New"/>
                <a:cs typeface="Courier New"/>
              </a:rPr>
              <a:t>&amp;</a:t>
            </a:r>
            <a:r>
              <a:rPr lang="en-US" b="1" dirty="0">
                <a:solidFill>
                  <a:srgbClr val="C00000"/>
                </a:solidFill>
                <a:latin typeface="Courier New"/>
                <a:cs typeface="Courier New"/>
              </a:rPr>
              <a:t>	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D</a:t>
            </a:r>
            <a:r>
              <a:rPr b="1" spc="-6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G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spc="-50" dirty="0">
                <a:solidFill>
                  <a:srgbClr val="C00000"/>
                </a:solidFill>
                <a:latin typeface="Courier New"/>
                <a:cs typeface="Courier New"/>
              </a:rPr>
              <a:t>Y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	I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C00000"/>
                </a:solidFill>
                <a:latin typeface="Courier New"/>
                <a:cs typeface="Courier New"/>
              </a:rPr>
              <a:t>V</a:t>
            </a:r>
            <a:r>
              <a:rPr b="1" spc="-6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b="1" spc="-50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endParaRPr b="1" dirty="0">
              <a:solidFill>
                <a:srgbClr val="C00000"/>
              </a:solidFill>
              <a:latin typeface="Courier New"/>
              <a:cs typeface="Courier New"/>
            </a:endParaRPr>
          </a:p>
          <a:p>
            <a:pPr marL="12700">
              <a:lnSpc>
                <a:spcPts val="13205"/>
              </a:lnSpc>
            </a:pPr>
            <a:r>
              <a:rPr sz="12600" spc="360" dirty="0">
                <a:solidFill>
                  <a:srgbClr val="16171F"/>
                </a:solidFill>
                <a:latin typeface="Times New Roman"/>
                <a:cs typeface="Times New Roman"/>
              </a:rPr>
              <a:t>Sthree</a:t>
            </a:r>
            <a:endParaRPr sz="12600" dirty="0">
              <a:latin typeface="Times New Roman"/>
              <a:cs typeface="Times New Roman"/>
            </a:endParaRPr>
          </a:p>
          <a:p>
            <a:pPr marL="12700">
              <a:lnSpc>
                <a:spcPts val="13335"/>
              </a:lnSpc>
            </a:pPr>
            <a:r>
              <a:rPr sz="12600" i="1" spc="-105" dirty="0">
                <a:solidFill>
                  <a:srgbClr val="77292E"/>
                </a:solidFill>
                <a:latin typeface="Times New Roman"/>
                <a:cs typeface="Times New Roman"/>
              </a:rPr>
              <a:t>Swabhiman</a:t>
            </a:r>
            <a:endParaRPr sz="12600" dirty="0">
              <a:latin typeface="Times New Roman"/>
              <a:cs typeface="Times New Roman"/>
            </a:endParaRPr>
          </a:p>
          <a:p>
            <a:pPr marL="12700" marR="5080">
              <a:lnSpc>
                <a:spcPct val="107800"/>
              </a:lnSpc>
              <a:spcBef>
                <a:spcPts val="2790"/>
              </a:spcBef>
            </a:pPr>
            <a:r>
              <a:rPr sz="2550" spc="-45" dirty="0">
                <a:solidFill>
                  <a:srgbClr val="3B3C43"/>
                </a:solidFill>
                <a:latin typeface="Palatino Linotype"/>
                <a:cs typeface="Palatino Linotype"/>
              </a:rPr>
              <a:t>Dignity,</a:t>
            </a:r>
            <a:r>
              <a:rPr sz="2550" spc="-8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spc="-55" dirty="0">
                <a:solidFill>
                  <a:srgbClr val="3B3C43"/>
                </a:solidFill>
                <a:latin typeface="Palatino Linotype"/>
                <a:cs typeface="Palatino Linotype"/>
              </a:rPr>
              <a:t>awareness,</a:t>
            </a:r>
            <a:r>
              <a:rPr sz="2550" spc="-8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and</a:t>
            </a:r>
            <a:r>
              <a:rPr sz="2550" spc="-8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dirty="0">
                <a:solidFill>
                  <a:srgbClr val="3B3C43"/>
                </a:solidFill>
                <a:latin typeface="Palatino Linotype"/>
                <a:cs typeface="Palatino Linotype"/>
              </a:rPr>
              <a:t>safe</a:t>
            </a:r>
            <a:r>
              <a:rPr sz="2550" spc="-8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spc="-20" dirty="0">
                <a:solidFill>
                  <a:srgbClr val="3B3C43"/>
                </a:solidFill>
                <a:latin typeface="Palatino Linotype"/>
                <a:cs typeface="Palatino Linotype"/>
              </a:rPr>
              <a:t>infrastructure</a:t>
            </a:r>
            <a:r>
              <a:rPr sz="2550" spc="-8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dirty="0">
                <a:solidFill>
                  <a:srgbClr val="3B3C43"/>
                </a:solidFill>
                <a:latin typeface="Palatino Linotype"/>
                <a:cs typeface="Palatino Linotype"/>
              </a:rPr>
              <a:t>for</a:t>
            </a:r>
            <a:r>
              <a:rPr sz="2550" spc="-8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spc="-10" dirty="0">
                <a:solidFill>
                  <a:srgbClr val="16171F"/>
                </a:solidFill>
                <a:latin typeface="Times New Roman"/>
                <a:cs typeface="Times New Roman"/>
              </a:rPr>
              <a:t>1,23,000 </a:t>
            </a:r>
            <a:r>
              <a:rPr sz="2550" spc="125" dirty="0">
                <a:solidFill>
                  <a:srgbClr val="16171F"/>
                </a:solidFill>
                <a:latin typeface="Times New Roman"/>
                <a:cs typeface="Times New Roman"/>
              </a:rPr>
              <a:t>adolescent</a:t>
            </a:r>
            <a:r>
              <a:rPr sz="2550" spc="-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550" spc="105" dirty="0">
                <a:solidFill>
                  <a:srgbClr val="16171F"/>
                </a:solidFill>
                <a:latin typeface="Times New Roman"/>
                <a:cs typeface="Times New Roman"/>
              </a:rPr>
              <a:t>girls</a:t>
            </a:r>
            <a:r>
              <a:rPr sz="2550" spc="-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3B3C43"/>
                </a:solidFill>
                <a:latin typeface="Palatino Linotype"/>
                <a:cs typeface="Palatino Linotype"/>
              </a:rPr>
              <a:t>across</a:t>
            </a:r>
            <a:r>
              <a:rPr sz="2550" spc="-4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dirty="0">
                <a:solidFill>
                  <a:srgbClr val="3B3C43"/>
                </a:solidFill>
                <a:latin typeface="Palatino Linotype"/>
                <a:cs typeface="Palatino Linotype"/>
              </a:rPr>
              <a:t>275</a:t>
            </a:r>
            <a:r>
              <a:rPr sz="2550" spc="-4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spc="-50" dirty="0">
                <a:solidFill>
                  <a:srgbClr val="3B3C43"/>
                </a:solidFill>
                <a:latin typeface="Palatino Linotype"/>
                <a:cs typeface="Palatino Linotype"/>
              </a:rPr>
              <a:t>government</a:t>
            </a:r>
            <a:r>
              <a:rPr sz="2550" spc="-3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spc="-10" dirty="0">
                <a:solidFill>
                  <a:srgbClr val="3B3C43"/>
                </a:solidFill>
                <a:latin typeface="Palatino Linotype"/>
                <a:cs typeface="Palatino Linotype"/>
              </a:rPr>
              <a:t>residential </a:t>
            </a:r>
            <a:r>
              <a:rPr sz="2550" dirty="0">
                <a:solidFill>
                  <a:srgbClr val="3B3C43"/>
                </a:solidFill>
                <a:latin typeface="Palatino Linotype"/>
                <a:cs typeface="Palatino Linotype"/>
              </a:rPr>
              <a:t>institutions</a:t>
            </a:r>
            <a:r>
              <a:rPr sz="2550" spc="-2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dirty="0">
                <a:solidFill>
                  <a:srgbClr val="3B3C43"/>
                </a:solidFill>
                <a:latin typeface="Palatino Linotype"/>
                <a:cs typeface="Palatino Linotype"/>
              </a:rPr>
              <a:t>in</a:t>
            </a:r>
            <a:r>
              <a:rPr sz="2550" spc="-1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550" spc="-10" dirty="0">
                <a:solidFill>
                  <a:srgbClr val="3B3C43"/>
                </a:solidFill>
                <a:latin typeface="Palatino Linotype"/>
                <a:cs typeface="Palatino Linotype"/>
              </a:rPr>
              <a:t>Telangana.</a:t>
            </a:r>
            <a:endParaRPr sz="2550" dirty="0">
              <a:latin typeface="Palatino Linotype"/>
              <a:cs typeface="Palatino Linotype"/>
            </a:endParaRPr>
          </a:p>
        </p:txBody>
      </p:sp>
      <p:pic>
        <p:nvPicPr>
          <p:cNvPr id="8" name="object 8" descr="Sthree Swabhiman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10949" y="2838450"/>
            <a:ext cx="4571999" cy="4571999"/>
          </a:xfrm>
          <a:prstGeom prst="rect">
            <a:avLst/>
          </a:prstGeom>
          <a:effectLst/>
        </p:spPr>
      </p:pic>
      <p:grpSp>
        <p:nvGrpSpPr>
          <p:cNvPr id="9" name="object 9"/>
          <p:cNvGrpSpPr/>
          <p:nvPr/>
        </p:nvGrpSpPr>
        <p:grpSpPr>
          <a:xfrm>
            <a:off x="11830049" y="7753349"/>
            <a:ext cx="3743325" cy="971550"/>
            <a:chOff x="11830049" y="7753349"/>
            <a:chExt cx="3743325" cy="971550"/>
          </a:xfrm>
        </p:grpSpPr>
        <p:sp>
          <p:nvSpPr>
            <p:cNvPr id="10" name="object 10"/>
            <p:cNvSpPr/>
            <p:nvPr/>
          </p:nvSpPr>
          <p:spPr>
            <a:xfrm>
              <a:off x="11830049" y="7753349"/>
              <a:ext cx="3743325" cy="971550"/>
            </a:xfrm>
            <a:custGeom>
              <a:avLst/>
              <a:gdLst/>
              <a:ahLst/>
              <a:cxnLst/>
              <a:rect l="l" t="t" r="r" b="b"/>
              <a:pathLst>
                <a:path w="3743325" h="971550">
                  <a:moveTo>
                    <a:pt x="3743324" y="971549"/>
                  </a:moveTo>
                  <a:lnTo>
                    <a:pt x="0" y="971549"/>
                  </a:lnTo>
                  <a:lnTo>
                    <a:pt x="0" y="0"/>
                  </a:lnTo>
                  <a:lnTo>
                    <a:pt x="3743324" y="0"/>
                  </a:lnTo>
                  <a:lnTo>
                    <a:pt x="3743324" y="97154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MJPTBCWREIS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06274" y="7934324"/>
              <a:ext cx="1038224" cy="6095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1834811" y="7758111"/>
            <a:ext cx="3733800" cy="1143903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0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1577340">
              <a:lnSpc>
                <a:spcPct val="150000"/>
              </a:lnSpc>
            </a:pP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sz="900" b="1" spc="35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P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R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R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S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H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P</a:t>
            </a:r>
            <a:r>
              <a:rPr sz="900" b="1" spc="35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W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sz="900" b="1" spc="-3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900" b="1" spc="-50" dirty="0">
                <a:solidFill>
                  <a:srgbClr val="C00000"/>
                </a:solidFill>
                <a:latin typeface="Courier New"/>
                <a:cs typeface="Courier New"/>
              </a:rPr>
              <a:t>H</a:t>
            </a:r>
            <a:endParaRPr sz="900" b="1" dirty="0">
              <a:solidFill>
                <a:srgbClr val="C00000"/>
              </a:solidFill>
              <a:latin typeface="Courier New"/>
              <a:cs typeface="Courier New"/>
            </a:endParaRPr>
          </a:p>
          <a:p>
            <a:pPr marL="1577340">
              <a:lnSpc>
                <a:spcPct val="150000"/>
              </a:lnSpc>
            </a:pPr>
            <a:r>
              <a:rPr sz="1650" b="1" spc="50" dirty="0">
                <a:solidFill>
                  <a:srgbClr val="16171F"/>
                </a:solidFill>
                <a:latin typeface="Times New Roman"/>
                <a:cs typeface="Times New Roman"/>
              </a:rPr>
              <a:t>MJPTBCWREIS</a:t>
            </a:r>
            <a:endParaRPr sz="1650" b="1" dirty="0">
              <a:latin typeface="Times New Roman"/>
              <a:cs typeface="Times New Roman"/>
            </a:endParaRPr>
          </a:p>
          <a:p>
            <a:pPr marL="1577340">
              <a:lnSpc>
                <a:spcPct val="150000"/>
              </a:lnSpc>
              <a:spcBef>
                <a:spcPts val="145"/>
              </a:spcBef>
            </a:pP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G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O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V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R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M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sz="800" b="1" spc="38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O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F</a:t>
            </a:r>
            <a:r>
              <a:rPr sz="800" b="1" spc="38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L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G</a:t>
            </a:r>
            <a:r>
              <a:rPr sz="800" b="1" spc="-3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C00000"/>
                </a:solidFill>
                <a:latin typeface="Courier New"/>
                <a:cs typeface="Courier New"/>
              </a:rPr>
              <a:t>N</a:t>
            </a:r>
            <a:r>
              <a:rPr sz="800" b="1" spc="-3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800" b="1" spc="-50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endParaRPr lang="en-US" sz="800" b="1" spc="-50" dirty="0">
              <a:solidFill>
                <a:srgbClr val="C00000"/>
              </a:solidFill>
              <a:latin typeface="Courier New"/>
              <a:cs typeface="Courier New"/>
            </a:endParaRPr>
          </a:p>
          <a:p>
            <a:pPr marL="1577340">
              <a:lnSpc>
                <a:spcPct val="100000"/>
              </a:lnSpc>
              <a:spcBef>
                <a:spcPts val="145"/>
              </a:spcBef>
            </a:pPr>
            <a:endParaRPr sz="800" dirty="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47749" y="9410699"/>
            <a:ext cx="16192500" cy="9525"/>
          </a:xfrm>
          <a:custGeom>
            <a:avLst/>
            <a:gdLst/>
            <a:ahLst/>
            <a:cxnLst/>
            <a:rect l="l" t="t" r="r" b="b"/>
            <a:pathLst>
              <a:path w="16192500" h="9525">
                <a:moveTo>
                  <a:pt x="16192498" y="9524"/>
                </a:moveTo>
                <a:lnTo>
                  <a:pt x="0" y="9524"/>
                </a:lnTo>
                <a:lnTo>
                  <a:pt x="0" y="0"/>
                </a:lnTo>
                <a:lnTo>
                  <a:pt x="16192498" y="0"/>
                </a:lnTo>
                <a:lnTo>
                  <a:pt x="16192498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35050" y="9626600"/>
            <a:ext cx="472376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6540" algn="l"/>
                <a:tab pos="1323340" algn="l"/>
                <a:tab pos="2496820" algn="l"/>
                <a:tab pos="3670300" algn="l"/>
                <a:tab pos="4310380" algn="l"/>
              </a:tabLst>
            </a:pPr>
            <a:r>
              <a:rPr sz="1050" b="1" spc="-50" dirty="0">
                <a:solidFill>
                  <a:schemeClr val="tx1"/>
                </a:solidFill>
                <a:latin typeface="Segoe UI Symbol"/>
                <a:cs typeface="Segoe UI Symbol"/>
              </a:rPr>
              <a:t>★</a:t>
            </a:r>
            <a:r>
              <a:rPr sz="1050" b="1" dirty="0">
                <a:solidFill>
                  <a:schemeClr val="tx1"/>
                </a:solidFill>
                <a:latin typeface="Segoe UI Symbol"/>
                <a:cs typeface="Segoe UI Symbol"/>
              </a:rPr>
              <a:t>	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T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L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N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G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N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G</a:t>
            </a:r>
            <a:r>
              <a:rPr sz="1050" b="1" spc="-434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O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V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N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O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'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S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X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C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L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L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N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C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E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W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A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D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	2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0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chemeClr val="tx1"/>
                </a:solidFill>
                <a:latin typeface="Courier New"/>
                <a:cs typeface="Courier New"/>
              </a:rPr>
              <a:t>2</a:t>
            </a:r>
            <a:r>
              <a:rPr sz="1050" b="1" spc="-425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sz="1050" b="1" spc="-50" dirty="0">
                <a:solidFill>
                  <a:schemeClr val="tx1"/>
                </a:solidFill>
                <a:latin typeface="Courier New"/>
                <a:cs typeface="Courier New"/>
              </a:rPr>
              <a:t>5</a:t>
            </a:r>
            <a:endParaRPr sz="105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14130" y="9626600"/>
            <a:ext cx="2120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endParaRPr sz="105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11344"/>
            <a:ext cx="9763125" cy="24333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2435225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X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V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S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Y</a:t>
            </a:r>
            <a:endParaRPr sz="1650" dirty="0">
              <a:latin typeface="Courier New"/>
              <a:cs typeface="Courier New"/>
            </a:endParaRPr>
          </a:p>
          <a:p>
            <a:pPr marL="12700" marR="5080" algn="just">
              <a:lnSpc>
                <a:spcPts val="5030"/>
              </a:lnSpc>
              <a:spcBef>
                <a:spcPts val="1645"/>
              </a:spcBef>
            </a:pPr>
            <a:r>
              <a:rPr sz="4800" spc="135" dirty="0">
                <a:solidFill>
                  <a:srgbClr val="16171F"/>
                </a:solidFill>
                <a:latin typeface="Times New Roman"/>
                <a:cs typeface="Times New Roman"/>
              </a:rPr>
              <a:t>A</a:t>
            </a:r>
            <a:r>
              <a:rPr sz="4800" spc="-1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0" dirty="0">
                <a:solidFill>
                  <a:srgbClr val="16171F"/>
                </a:solidFill>
                <a:latin typeface="Times New Roman"/>
                <a:cs typeface="Times New Roman"/>
              </a:rPr>
              <a:t>government-</a:t>
            </a:r>
            <a:r>
              <a:rPr sz="4800" spc="235" dirty="0">
                <a:solidFill>
                  <a:srgbClr val="16171F"/>
                </a:solidFill>
                <a:latin typeface="Times New Roman"/>
                <a:cs typeface="Times New Roman"/>
              </a:rPr>
              <a:t>partnered</a:t>
            </a:r>
            <a:r>
              <a:rPr sz="4800" spc="-1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04" dirty="0">
                <a:solidFill>
                  <a:srgbClr val="16171F"/>
                </a:solidFill>
                <a:latin typeface="Times New Roman"/>
                <a:cs typeface="Times New Roman"/>
              </a:rPr>
              <a:t>programme </a:t>
            </a:r>
            <a:r>
              <a:rPr sz="4800" spc="240" dirty="0">
                <a:solidFill>
                  <a:srgbClr val="16171F"/>
                </a:solidFill>
                <a:latin typeface="Times New Roman"/>
                <a:cs typeface="Times New Roman"/>
              </a:rPr>
              <a:t>to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54" dirty="0">
                <a:solidFill>
                  <a:srgbClr val="16171F"/>
                </a:solidFill>
                <a:latin typeface="Times New Roman"/>
                <a:cs typeface="Times New Roman"/>
              </a:rPr>
              <a:t>end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95" dirty="0">
                <a:solidFill>
                  <a:srgbClr val="16171F"/>
                </a:solidFill>
                <a:latin typeface="Times New Roman"/>
                <a:cs typeface="Times New Roman"/>
              </a:rPr>
              <a:t>period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i="1" spc="-50" dirty="0">
                <a:solidFill>
                  <a:srgbClr val="77292E"/>
                </a:solidFill>
                <a:latin typeface="Times New Roman"/>
                <a:cs typeface="Times New Roman"/>
              </a:rPr>
              <a:t>absenteeism,</a:t>
            </a:r>
            <a:r>
              <a:rPr sz="4800" i="1" spc="-204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spc="-60" dirty="0">
                <a:solidFill>
                  <a:srgbClr val="77292E"/>
                </a:solidFill>
                <a:latin typeface="Times New Roman"/>
                <a:cs typeface="Times New Roman"/>
              </a:rPr>
              <a:t>shame,</a:t>
            </a:r>
            <a:r>
              <a:rPr sz="4800" i="1" spc="-200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spc="-25" dirty="0">
                <a:solidFill>
                  <a:srgbClr val="77292E"/>
                </a:solidFill>
                <a:latin typeface="Times New Roman"/>
                <a:cs typeface="Times New Roman"/>
              </a:rPr>
              <a:t>and </a:t>
            </a:r>
            <a:r>
              <a:rPr sz="4800" i="1" spc="-10" dirty="0">
                <a:solidFill>
                  <a:srgbClr val="77292E"/>
                </a:solidFill>
                <a:latin typeface="Times New Roman"/>
                <a:cs typeface="Times New Roman"/>
              </a:rPr>
              <a:t>unsafe</a:t>
            </a:r>
            <a:r>
              <a:rPr sz="4800" i="1" spc="-245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spc="-80" dirty="0">
                <a:solidFill>
                  <a:srgbClr val="77292E"/>
                </a:solidFill>
                <a:latin typeface="Times New Roman"/>
                <a:cs typeface="Times New Roman"/>
              </a:rPr>
              <a:t>disposal</a:t>
            </a:r>
            <a:r>
              <a:rPr sz="4800" i="1" spc="-195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spc="140" dirty="0">
                <a:solidFill>
                  <a:srgbClr val="16171F"/>
                </a:solidFill>
                <a:latin typeface="Times New Roman"/>
                <a:cs typeface="Times New Roman"/>
              </a:rPr>
              <a:t>across</a:t>
            </a:r>
            <a:r>
              <a:rPr sz="4800" spc="-19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275</a:t>
            </a:r>
            <a:r>
              <a:rPr sz="4800" spc="-19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35" dirty="0">
                <a:solidFill>
                  <a:srgbClr val="16171F"/>
                </a:solidFill>
                <a:latin typeface="Times New Roman"/>
                <a:cs typeface="Times New Roman"/>
              </a:rPr>
              <a:t>campuses.</a:t>
            </a:r>
            <a:endParaRPr sz="4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5050" y="3735435"/>
            <a:ext cx="8534400" cy="18483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95"/>
              </a:spcBef>
            </a:pP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Sthree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Swabhiman</a:t>
            </a: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Menstrual</a:t>
            </a: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14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Hygiene</a:t>
            </a:r>
            <a:r>
              <a:rPr sz="2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initiative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2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05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adolescent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girls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MJPTBCWREIS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residential</a:t>
            </a: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schools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junior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colleges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 </a:t>
            </a:r>
            <a:r>
              <a:rPr sz="2050" spc="-12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Telangana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combining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awareness,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sanitary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napkin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3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starter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kits, </a:t>
            </a:r>
            <a:r>
              <a:rPr sz="2050" spc="-6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permanent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incinerator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infrastructure,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5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Trainers.</a:t>
            </a:r>
            <a:endParaRPr sz="205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2926" y="5649739"/>
            <a:ext cx="8433435" cy="1375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95"/>
              </a:spcBef>
            </a:pPr>
            <a:r>
              <a:rPr sz="2050" spc="-12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endorsed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4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Memorandum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7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2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50" spc="-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Secretary,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8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MJPTBCWREIS,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4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pilot</a:t>
            </a:r>
            <a:r>
              <a:rPr sz="2050" spc="-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launched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2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50" spc="-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Warangal </a:t>
            </a:r>
            <a:r>
              <a:rPr sz="2050" spc="-9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reached</a:t>
            </a:r>
            <a:r>
              <a:rPr sz="2050" spc="-8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1,200+</a:t>
            </a:r>
            <a:r>
              <a:rPr sz="2050" spc="-8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students.</a:t>
            </a:r>
            <a:endParaRPr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7749" y="8020049"/>
            <a:ext cx="8515350" cy="9525"/>
          </a:xfrm>
          <a:custGeom>
            <a:avLst/>
            <a:gdLst/>
            <a:ahLst/>
            <a:cxnLst/>
            <a:rect l="l" t="t" r="r" b="b"/>
            <a:pathLst>
              <a:path w="8515350" h="9525">
                <a:moveTo>
                  <a:pt x="8515349" y="9524"/>
                </a:moveTo>
                <a:lnTo>
                  <a:pt x="0" y="9524"/>
                </a:lnTo>
                <a:lnTo>
                  <a:pt x="0" y="0"/>
                </a:lnTo>
                <a:lnTo>
                  <a:pt x="8515349" y="0"/>
                </a:lnTo>
                <a:lnTo>
                  <a:pt x="8515349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35050" y="7742554"/>
            <a:ext cx="2585085" cy="1692275"/>
          </a:xfrm>
          <a:prstGeom prst="rect">
            <a:avLst/>
          </a:prstGeom>
        </p:spPr>
        <p:txBody>
          <a:bodyPr vert="horz" wrap="square" lIns="0" tIns="344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10"/>
              </a:spcBef>
            </a:pPr>
            <a:r>
              <a:rPr sz="7200" spc="-140" dirty="0">
                <a:solidFill>
                  <a:srgbClr val="16171F"/>
                </a:solidFill>
                <a:latin typeface="Times New Roman"/>
                <a:cs typeface="Times New Roman"/>
              </a:rPr>
              <a:t>₹8.0</a:t>
            </a:r>
            <a:r>
              <a:rPr sz="7200" spc="459" dirty="0">
                <a:solidFill>
                  <a:srgbClr val="16171F"/>
                </a:solidFill>
                <a:latin typeface="Times New Roman"/>
                <a:cs typeface="Times New Roman"/>
              </a:rPr>
              <a:t>4</a:t>
            </a:r>
            <a:r>
              <a:rPr sz="3200" spc="5" dirty="0">
                <a:solidFill>
                  <a:srgbClr val="67686E"/>
                </a:solidFill>
                <a:latin typeface="Palatino Linotype"/>
                <a:cs typeface="Palatino Linotype"/>
              </a:rPr>
              <a:t>Cr</a:t>
            </a:r>
            <a:endParaRPr sz="3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  <a:tabLst>
                <a:tab pos="725805" algn="l"/>
                <a:tab pos="1676400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K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7198" y="7742554"/>
            <a:ext cx="1781175" cy="1692275"/>
          </a:xfrm>
          <a:prstGeom prst="rect">
            <a:avLst/>
          </a:prstGeom>
        </p:spPr>
        <p:txBody>
          <a:bodyPr vert="horz" wrap="square" lIns="0" tIns="344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10"/>
              </a:spcBef>
            </a:pPr>
            <a:r>
              <a:rPr sz="7200" spc="70" dirty="0">
                <a:solidFill>
                  <a:srgbClr val="16171F"/>
                </a:solidFill>
                <a:latin typeface="Times New Roman"/>
                <a:cs typeface="Times New Roman"/>
              </a:rPr>
              <a:t>1</a:t>
            </a:r>
            <a:r>
              <a:rPr sz="7200" spc="-29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7200" spc="70" dirty="0">
                <a:solidFill>
                  <a:srgbClr val="16171F"/>
                </a:solidFill>
                <a:latin typeface="Times New Roman"/>
                <a:cs typeface="Times New Roman"/>
              </a:rPr>
              <a:t>yr</a:t>
            </a:r>
            <a:endParaRPr sz="7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  <a:tabLst>
                <a:tab pos="120078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63207" y="7742554"/>
            <a:ext cx="1899920" cy="1692275"/>
          </a:xfrm>
          <a:prstGeom prst="rect">
            <a:avLst/>
          </a:prstGeom>
        </p:spPr>
        <p:txBody>
          <a:bodyPr vert="horz" wrap="square" lIns="0" tIns="344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10"/>
              </a:spcBef>
            </a:pPr>
            <a:r>
              <a:rPr sz="7200" spc="70" dirty="0">
                <a:solidFill>
                  <a:srgbClr val="16171F"/>
                </a:solidFill>
                <a:latin typeface="Times New Roman"/>
                <a:cs typeface="Times New Roman"/>
              </a:rPr>
              <a:t>3</a:t>
            </a:r>
            <a:r>
              <a:rPr sz="7200" spc="-29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7200" spc="70" dirty="0">
                <a:solidFill>
                  <a:srgbClr val="16171F"/>
                </a:solidFill>
                <a:latin typeface="Times New Roman"/>
                <a:cs typeface="Times New Roman"/>
              </a:rPr>
              <a:t>yr</a:t>
            </a:r>
            <a:endParaRPr sz="7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  <a:tabLst>
                <a:tab pos="36893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-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420349" y="3781424"/>
            <a:ext cx="6819900" cy="9525"/>
          </a:xfrm>
          <a:custGeom>
            <a:avLst/>
            <a:gdLst/>
            <a:ahLst/>
            <a:cxnLst/>
            <a:rect l="l" t="t" r="r" b="b"/>
            <a:pathLst>
              <a:path w="6819900" h="9525">
                <a:moveTo>
                  <a:pt x="6819899" y="9524"/>
                </a:moveTo>
                <a:lnTo>
                  <a:pt x="0" y="9524"/>
                </a:lnTo>
                <a:lnTo>
                  <a:pt x="0" y="0"/>
                </a:lnTo>
                <a:lnTo>
                  <a:pt x="6819899" y="0"/>
                </a:lnTo>
                <a:lnTo>
                  <a:pt x="6819899" y="9524"/>
                </a:lnTo>
                <a:close/>
              </a:path>
            </a:pathLst>
          </a:custGeom>
          <a:solidFill>
            <a:srgbClr val="1617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20349" y="5191124"/>
            <a:ext cx="6819900" cy="9525"/>
          </a:xfrm>
          <a:custGeom>
            <a:avLst/>
            <a:gdLst/>
            <a:ahLst/>
            <a:cxnLst/>
            <a:rect l="l" t="t" r="r" b="b"/>
            <a:pathLst>
              <a:path w="6819900" h="9525">
                <a:moveTo>
                  <a:pt x="6819899" y="9524"/>
                </a:moveTo>
                <a:lnTo>
                  <a:pt x="0" y="9524"/>
                </a:lnTo>
                <a:lnTo>
                  <a:pt x="0" y="0"/>
                </a:lnTo>
                <a:lnTo>
                  <a:pt x="6819899" y="0"/>
                </a:lnTo>
                <a:lnTo>
                  <a:pt x="6819899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411816" y="4387850"/>
            <a:ext cx="13373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860569" y="4387850"/>
            <a:ext cx="66865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14228" y="4302125"/>
            <a:ext cx="183896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Give</a:t>
            </a:r>
            <a:r>
              <a:rPr sz="1950" spc="10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5" dirty="0">
                <a:solidFill>
                  <a:srgbClr val="16171F"/>
                </a:solidFill>
                <a:latin typeface="Times New Roman"/>
                <a:cs typeface="Times New Roman"/>
              </a:rPr>
              <a:t>For</a:t>
            </a:r>
            <a:r>
              <a:rPr sz="1950" spc="10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50" dirty="0">
                <a:solidFill>
                  <a:srgbClr val="16171F"/>
                </a:solidFill>
                <a:latin typeface="Times New Roman"/>
                <a:cs typeface="Times New Roman"/>
              </a:rPr>
              <a:t>Society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420349" y="6600824"/>
            <a:ext cx="6819900" cy="9525"/>
          </a:xfrm>
          <a:custGeom>
            <a:avLst/>
            <a:gdLst/>
            <a:ahLst/>
            <a:cxnLst/>
            <a:rect l="l" t="t" r="r" b="b"/>
            <a:pathLst>
              <a:path w="6819900" h="9525">
                <a:moveTo>
                  <a:pt x="6819899" y="9524"/>
                </a:moveTo>
                <a:lnTo>
                  <a:pt x="0" y="9524"/>
                </a:lnTo>
                <a:lnTo>
                  <a:pt x="0" y="0"/>
                </a:lnTo>
                <a:lnTo>
                  <a:pt x="6819899" y="0"/>
                </a:lnTo>
                <a:lnTo>
                  <a:pt x="6819899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411816" y="5797549"/>
            <a:ext cx="144843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80720" algn="l"/>
              </a:tabLst>
            </a:pP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	P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09465" y="5711824"/>
            <a:ext cx="18434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60" dirty="0">
                <a:solidFill>
                  <a:srgbClr val="16171F"/>
                </a:solidFill>
                <a:latin typeface="Times New Roman"/>
                <a:cs typeface="Times New Roman"/>
              </a:rPr>
              <a:t>MJPTBCWREIS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420349" y="8010524"/>
            <a:ext cx="6819900" cy="9525"/>
          </a:xfrm>
          <a:custGeom>
            <a:avLst/>
            <a:gdLst/>
            <a:ahLst/>
            <a:cxnLst/>
            <a:rect l="l" t="t" r="r" b="b"/>
            <a:pathLst>
              <a:path w="6819900" h="9525">
                <a:moveTo>
                  <a:pt x="6819899" y="9524"/>
                </a:moveTo>
                <a:lnTo>
                  <a:pt x="0" y="9524"/>
                </a:lnTo>
                <a:lnTo>
                  <a:pt x="0" y="0"/>
                </a:lnTo>
                <a:lnTo>
                  <a:pt x="6819899" y="0"/>
                </a:lnTo>
                <a:lnTo>
                  <a:pt x="6819899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411816" y="7207250"/>
            <a:ext cx="13373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583023" y="7121525"/>
            <a:ext cx="267017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275</a:t>
            </a:r>
            <a:r>
              <a:rPr sz="1950" spc="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5" dirty="0">
                <a:solidFill>
                  <a:srgbClr val="16171F"/>
                </a:solidFill>
                <a:latin typeface="Times New Roman"/>
                <a:cs typeface="Times New Roman"/>
              </a:rPr>
              <a:t>girls-</a:t>
            </a:r>
            <a:r>
              <a:rPr sz="1950" spc="60" dirty="0">
                <a:solidFill>
                  <a:srgbClr val="16171F"/>
                </a:solidFill>
                <a:latin typeface="Times New Roman"/>
                <a:cs typeface="Times New Roman"/>
              </a:rPr>
              <a:t>only</a:t>
            </a:r>
            <a:r>
              <a:rPr sz="1950" spc="4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95" dirty="0">
                <a:solidFill>
                  <a:srgbClr val="16171F"/>
                </a:solidFill>
                <a:latin typeface="Times New Roman"/>
                <a:cs typeface="Times New Roman"/>
              </a:rPr>
              <a:t>campuses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420349" y="9420224"/>
            <a:ext cx="6819900" cy="9525"/>
          </a:xfrm>
          <a:custGeom>
            <a:avLst/>
            <a:gdLst/>
            <a:ahLst/>
            <a:cxnLst/>
            <a:rect l="l" t="t" r="r" b="b"/>
            <a:pathLst>
              <a:path w="6819900" h="9525">
                <a:moveTo>
                  <a:pt x="6819899" y="9524"/>
                </a:moveTo>
                <a:lnTo>
                  <a:pt x="0" y="9524"/>
                </a:lnTo>
                <a:lnTo>
                  <a:pt x="0" y="0"/>
                </a:lnTo>
                <a:lnTo>
                  <a:pt x="6819899" y="0"/>
                </a:lnTo>
                <a:lnTo>
                  <a:pt x="6819899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1816" y="8616950"/>
            <a:ext cx="55689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1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100" spc="-4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646423" y="8531225"/>
            <a:ext cx="260667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~1,23,000</a:t>
            </a:r>
            <a:r>
              <a:rPr sz="1950" spc="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5" dirty="0">
                <a:solidFill>
                  <a:srgbClr val="16171F"/>
                </a:solidFill>
                <a:latin typeface="Times New Roman"/>
                <a:cs typeface="Times New Roman"/>
              </a:rPr>
              <a:t>girls</a:t>
            </a:r>
            <a:r>
              <a:rPr sz="1950" spc="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16171F"/>
                </a:solidFill>
                <a:latin typeface="Times New Roman"/>
                <a:cs typeface="Times New Roman"/>
              </a:rPr>
              <a:t>annually</a:t>
            </a:r>
            <a:endParaRPr sz="1950">
              <a:latin typeface="Times New Roman"/>
              <a:cs typeface="Times New Roman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24"/>
            <a:ext cx="95250" cy="95248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612342" y="406400"/>
            <a:ext cx="2613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79514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X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21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705849" cy="102869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753599" y="1085849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B89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448428" y="949325"/>
            <a:ext cx="1869439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9770" algn="l"/>
              </a:tabLst>
            </a:pP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	P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B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M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743578" y="1282700"/>
            <a:ext cx="6791822" cy="4391843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 marR="5080">
              <a:lnSpc>
                <a:spcPct val="87600"/>
              </a:lnSpc>
              <a:spcBef>
                <a:spcPts val="1035"/>
              </a:spcBef>
            </a:pPr>
            <a:r>
              <a:rPr sz="6300" spc="225" dirty="0">
                <a:solidFill>
                  <a:srgbClr val="FCF8EF"/>
                </a:solidFill>
                <a:latin typeface="Times New Roman"/>
                <a:cs typeface="Times New Roman"/>
              </a:rPr>
              <a:t>For</a:t>
            </a:r>
            <a:r>
              <a:rPr sz="6300" spc="-229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305" dirty="0">
                <a:solidFill>
                  <a:srgbClr val="FCF8EF"/>
                </a:solidFill>
                <a:latin typeface="Times New Roman"/>
                <a:cs typeface="Times New Roman"/>
              </a:rPr>
              <a:t>a</a:t>
            </a:r>
            <a:r>
              <a:rPr sz="6300" spc="-22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190" dirty="0">
                <a:solidFill>
                  <a:srgbClr val="FCF8EF"/>
                </a:solidFill>
                <a:latin typeface="Times New Roman"/>
                <a:cs typeface="Times New Roman"/>
              </a:rPr>
              <a:t>girl</a:t>
            </a:r>
            <a:r>
              <a:rPr sz="6300" spc="-22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345" dirty="0">
                <a:solidFill>
                  <a:srgbClr val="FCF8EF"/>
                </a:solidFill>
                <a:latin typeface="Times New Roman"/>
                <a:cs typeface="Times New Roman"/>
              </a:rPr>
              <a:t>in</a:t>
            </a:r>
            <a:r>
              <a:rPr sz="6300" spc="-22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305" dirty="0">
                <a:solidFill>
                  <a:srgbClr val="FCF8EF"/>
                </a:solidFill>
                <a:latin typeface="Times New Roman"/>
                <a:cs typeface="Times New Roman"/>
              </a:rPr>
              <a:t>a</a:t>
            </a:r>
            <a:r>
              <a:rPr sz="6300" spc="-22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250" dirty="0">
                <a:solidFill>
                  <a:srgbClr val="FCF8EF"/>
                </a:solidFill>
                <a:latin typeface="Times New Roman"/>
                <a:cs typeface="Times New Roman"/>
              </a:rPr>
              <a:t>rural </a:t>
            </a:r>
            <a:r>
              <a:rPr sz="6300" spc="225" dirty="0">
                <a:solidFill>
                  <a:srgbClr val="FCF8EF"/>
                </a:solidFill>
                <a:latin typeface="Times New Roman"/>
                <a:cs typeface="Times New Roman"/>
              </a:rPr>
              <a:t>residential</a:t>
            </a:r>
            <a:r>
              <a:rPr sz="6300" spc="-229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140" dirty="0">
                <a:solidFill>
                  <a:srgbClr val="FCF8EF"/>
                </a:solidFill>
                <a:latin typeface="Times New Roman"/>
                <a:cs typeface="Times New Roman"/>
              </a:rPr>
              <a:t>school, </a:t>
            </a:r>
            <a:r>
              <a:rPr sz="6300" spc="340" dirty="0">
                <a:solidFill>
                  <a:srgbClr val="FCF8EF"/>
                </a:solidFill>
                <a:latin typeface="Times New Roman"/>
                <a:cs typeface="Times New Roman"/>
              </a:rPr>
              <a:t>her</a:t>
            </a:r>
            <a:r>
              <a:rPr sz="6300" spc="-2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254" dirty="0">
                <a:solidFill>
                  <a:srgbClr val="FCF8EF"/>
                </a:solidFill>
                <a:latin typeface="Times New Roman"/>
                <a:cs typeface="Times New Roman"/>
              </a:rPr>
              <a:t>period</a:t>
            </a:r>
            <a:r>
              <a:rPr sz="6300" spc="-2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6300" spc="190" dirty="0">
                <a:solidFill>
                  <a:srgbClr val="FCF8EF"/>
                </a:solidFill>
                <a:latin typeface="Times New Roman"/>
                <a:cs typeface="Times New Roman"/>
              </a:rPr>
              <a:t>costs </a:t>
            </a:r>
            <a:r>
              <a:rPr sz="6300" spc="340" dirty="0">
                <a:solidFill>
                  <a:srgbClr val="FCF8EF"/>
                </a:solidFill>
                <a:latin typeface="Times New Roman"/>
                <a:cs typeface="Times New Roman"/>
              </a:rPr>
              <a:t>her</a:t>
            </a:r>
            <a:r>
              <a:rPr sz="6300" spc="-27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lang="en-US" sz="6300" i="1" dirty="0">
                <a:solidFill>
                  <a:srgbClr val="B89056"/>
                </a:solidFill>
                <a:latin typeface="Times New Roman"/>
                <a:cs typeface="Times New Roman"/>
              </a:rPr>
              <a:t>four</a:t>
            </a:r>
            <a:r>
              <a:rPr sz="6300" i="1" spc="-310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6300" i="1" spc="-10" dirty="0">
                <a:solidFill>
                  <a:srgbClr val="B89056"/>
                </a:solidFill>
                <a:latin typeface="Times New Roman"/>
                <a:cs typeface="Times New Roman"/>
              </a:rPr>
              <a:t>school</a:t>
            </a:r>
            <a:endParaRPr sz="6300" dirty="0">
              <a:latin typeface="Times New Roman"/>
              <a:cs typeface="Times New Roman"/>
            </a:endParaRPr>
          </a:p>
          <a:p>
            <a:pPr marL="12700">
              <a:lnSpc>
                <a:spcPts val="6600"/>
              </a:lnSpc>
            </a:pPr>
            <a:r>
              <a:rPr sz="6300" i="1" spc="-110" dirty="0">
                <a:solidFill>
                  <a:srgbClr val="B89056"/>
                </a:solidFill>
                <a:latin typeface="Times New Roman"/>
                <a:cs typeface="Times New Roman"/>
              </a:rPr>
              <a:t>days</a:t>
            </a:r>
            <a:r>
              <a:rPr sz="6300" i="1" spc="-260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6300" i="1" spc="-155" dirty="0">
                <a:solidFill>
                  <a:srgbClr val="B89056"/>
                </a:solidFill>
                <a:latin typeface="Times New Roman"/>
                <a:cs typeface="Times New Roman"/>
              </a:rPr>
              <a:t>every</a:t>
            </a:r>
            <a:r>
              <a:rPr sz="6300" i="1" spc="-260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6300" i="1" spc="65" dirty="0">
                <a:solidFill>
                  <a:srgbClr val="B89056"/>
                </a:solidFill>
                <a:latin typeface="Times New Roman"/>
                <a:cs typeface="Times New Roman"/>
              </a:rPr>
              <a:t>month</a:t>
            </a:r>
            <a:r>
              <a:rPr sz="6300" spc="65" dirty="0">
                <a:solidFill>
                  <a:srgbClr val="FCF8EF"/>
                </a:solidFill>
                <a:latin typeface="Times New Roman"/>
                <a:cs typeface="Times New Roman"/>
              </a:rPr>
              <a:t>.</a:t>
            </a:r>
            <a:endParaRPr sz="63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43578" y="6169024"/>
            <a:ext cx="7233284" cy="15589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75"/>
              </a:spcBef>
            </a:pPr>
            <a:r>
              <a:rPr sz="2250" spc="-20" dirty="0">
                <a:solidFill>
                  <a:srgbClr val="CDC1B8"/>
                </a:solidFill>
                <a:latin typeface="Palatino Linotype"/>
                <a:cs typeface="Palatino Linotype"/>
              </a:rPr>
              <a:t>Across</a:t>
            </a:r>
            <a:r>
              <a:rPr sz="2250" spc="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MJPTBCWREIS</a:t>
            </a:r>
            <a:r>
              <a:rPr sz="2250" spc="1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40" dirty="0">
                <a:solidFill>
                  <a:srgbClr val="CDC1B8"/>
                </a:solidFill>
                <a:latin typeface="Palatino Linotype"/>
                <a:cs typeface="Palatino Linotype"/>
              </a:rPr>
              <a:t>campuses,</a:t>
            </a:r>
            <a:r>
              <a:rPr sz="2250" spc="1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25" dirty="0">
                <a:solidFill>
                  <a:srgbClr val="CDC1B8"/>
                </a:solidFill>
                <a:latin typeface="Palatino Linotype"/>
                <a:cs typeface="Palatino Linotype"/>
              </a:rPr>
              <a:t>menstruation</a:t>
            </a:r>
            <a:r>
              <a:rPr sz="2250" spc="1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CDC1B8"/>
                </a:solidFill>
                <a:latin typeface="Palatino Linotype"/>
                <a:cs typeface="Palatino Linotype"/>
              </a:rPr>
              <a:t>collides </a:t>
            </a:r>
            <a:r>
              <a:rPr sz="2250" spc="-35" dirty="0">
                <a:solidFill>
                  <a:srgbClr val="CDC1B8"/>
                </a:solidFill>
                <a:latin typeface="Palatino Linotype"/>
                <a:cs typeface="Palatino Linotype"/>
              </a:rPr>
              <a:t>with</a:t>
            </a:r>
            <a:r>
              <a:rPr sz="2250" spc="-6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three</a:t>
            </a:r>
            <a:r>
              <a:rPr sz="2250" spc="-6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CDC1B8"/>
                </a:solidFill>
                <a:latin typeface="Palatino Linotype"/>
                <a:cs typeface="Palatino Linotype"/>
              </a:rPr>
              <a:t>failures</a:t>
            </a:r>
            <a:r>
              <a:rPr sz="2250" spc="-6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at</a:t>
            </a:r>
            <a:r>
              <a:rPr sz="2250" spc="-6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once:</a:t>
            </a:r>
            <a:r>
              <a:rPr sz="2250" spc="-6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no</a:t>
            </a:r>
            <a:r>
              <a:rPr sz="2250" spc="-6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45" dirty="0">
                <a:solidFill>
                  <a:srgbClr val="CDC1B8"/>
                </a:solidFill>
                <a:latin typeface="Palatino Linotype"/>
                <a:cs typeface="Palatino Linotype"/>
              </a:rPr>
              <a:t>awareness,</a:t>
            </a:r>
            <a:r>
              <a:rPr sz="2250" spc="-6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no</a:t>
            </a:r>
            <a:r>
              <a:rPr sz="2250" spc="-6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CDC1B8"/>
                </a:solidFill>
                <a:latin typeface="Palatino Linotype"/>
                <a:cs typeface="Palatino Linotype"/>
              </a:rPr>
              <a:t>reliable </a:t>
            </a:r>
            <a:r>
              <a:rPr sz="2250" spc="-40" dirty="0">
                <a:solidFill>
                  <a:srgbClr val="CDC1B8"/>
                </a:solidFill>
                <a:latin typeface="Palatino Linotype"/>
                <a:cs typeface="Palatino Linotype"/>
              </a:rPr>
              <a:t>products,</a:t>
            </a:r>
            <a:r>
              <a:rPr sz="2250" spc="-5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and </a:t>
            </a:r>
            <a:r>
              <a:rPr sz="2250" spc="-40" dirty="0">
                <a:solidFill>
                  <a:srgbClr val="CDC1B8"/>
                </a:solidFill>
                <a:latin typeface="Palatino Linotype"/>
                <a:cs typeface="Palatino Linotype"/>
              </a:rPr>
              <a:t>nowhere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safe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to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20" dirty="0">
                <a:solidFill>
                  <a:srgbClr val="CDC1B8"/>
                </a:solidFill>
                <a:latin typeface="Palatino Linotype"/>
                <a:cs typeface="Palatino Linotype"/>
              </a:rPr>
              <a:t>dispose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of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45" dirty="0">
                <a:solidFill>
                  <a:srgbClr val="CDC1B8"/>
                </a:solidFill>
                <a:latin typeface="Palatino Linotype"/>
                <a:cs typeface="Palatino Linotype"/>
              </a:rPr>
              <a:t>waste.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The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CDC1B8"/>
                </a:solidFill>
                <a:latin typeface="Palatino Linotype"/>
                <a:cs typeface="Palatino Linotype"/>
              </a:rPr>
              <a:t>result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is</a:t>
            </a:r>
            <a:r>
              <a:rPr sz="2250" spc="-25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CDC1B8"/>
                </a:solidFill>
                <a:latin typeface="Palatino Linotype"/>
                <a:cs typeface="Palatino Linotype"/>
              </a:rPr>
              <a:t>silence,</a:t>
            </a:r>
            <a:r>
              <a:rPr sz="2250" spc="-2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25" dirty="0">
                <a:solidFill>
                  <a:srgbClr val="CDC1B8"/>
                </a:solidFill>
                <a:latin typeface="Palatino Linotype"/>
                <a:cs typeface="Palatino Linotype"/>
              </a:rPr>
              <a:t>shame,</a:t>
            </a:r>
            <a:r>
              <a:rPr sz="2250" spc="-2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50" dirty="0">
                <a:solidFill>
                  <a:srgbClr val="CDC1B8"/>
                </a:solidFill>
                <a:latin typeface="Palatino Linotype"/>
                <a:cs typeface="Palatino Linotype"/>
              </a:rPr>
              <a:t>and</a:t>
            </a:r>
            <a:r>
              <a:rPr sz="2250" spc="-20" dirty="0">
                <a:solidFill>
                  <a:srgbClr val="CDC1B8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CDC1B8"/>
                </a:solidFill>
                <a:latin typeface="Palatino Linotype"/>
                <a:cs typeface="Palatino Linotype"/>
              </a:rPr>
              <a:t>absence.</a:t>
            </a:r>
            <a:endParaRPr sz="2250" dirty="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53599" y="8972548"/>
            <a:ext cx="7486650" cy="9525"/>
          </a:xfrm>
          <a:custGeom>
            <a:avLst/>
            <a:gdLst/>
            <a:ahLst/>
            <a:cxnLst/>
            <a:rect l="l" t="t" r="r" b="b"/>
            <a:pathLst>
              <a:path w="7486650" h="9525">
                <a:moveTo>
                  <a:pt x="7486649" y="9524"/>
                </a:moveTo>
                <a:lnTo>
                  <a:pt x="0" y="9524"/>
                </a:lnTo>
                <a:lnTo>
                  <a:pt x="0" y="0"/>
                </a:lnTo>
                <a:lnTo>
                  <a:pt x="7486649" y="0"/>
                </a:lnTo>
                <a:lnTo>
                  <a:pt x="7486649" y="9524"/>
                </a:lnTo>
                <a:close/>
              </a:path>
            </a:pathLst>
          </a:custGeom>
          <a:solidFill>
            <a:srgbClr val="5243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43578" y="9245600"/>
            <a:ext cx="47237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6540" algn="l"/>
                <a:tab pos="1323340" algn="l"/>
                <a:tab pos="2496820" algn="l"/>
                <a:tab pos="3670300" algn="l"/>
                <a:tab pos="4310380" algn="l"/>
              </a:tabLst>
            </a:pPr>
            <a:r>
              <a:rPr sz="1050" spc="-50" dirty="0">
                <a:solidFill>
                  <a:srgbClr val="968D86"/>
                </a:solidFill>
                <a:latin typeface="Segoe UI Symbol"/>
                <a:cs typeface="Segoe UI Symbol"/>
              </a:rPr>
              <a:t>★</a:t>
            </a:r>
            <a:r>
              <a:rPr sz="1050" dirty="0">
                <a:solidFill>
                  <a:srgbClr val="968D86"/>
                </a:solidFill>
                <a:latin typeface="Segoe UI Symbol"/>
                <a:cs typeface="Segoe UI Symbol"/>
              </a:rPr>
              <a:t>	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G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A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	G</a:t>
            </a:r>
            <a:r>
              <a:rPr sz="1050" spc="-434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V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'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S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	E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X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E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	A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W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D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	2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0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2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5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7240" y="9236075"/>
            <a:ext cx="22390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8825" algn="l"/>
                <a:tab pos="1825625" algn="l"/>
                <a:tab pos="2038985" algn="l"/>
              </a:tabLst>
            </a:pP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S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H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E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	S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W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B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H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M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N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·</a:t>
            </a:r>
            <a:r>
              <a:rPr sz="1050" dirty="0">
                <a:solidFill>
                  <a:srgbClr val="968D86"/>
                </a:solidFill>
                <a:latin typeface="Courier New"/>
                <a:cs typeface="Courier New"/>
              </a:rPr>
              <a:t>	0</a:t>
            </a:r>
            <a:r>
              <a:rPr sz="1050" spc="-425" dirty="0">
                <a:solidFill>
                  <a:srgbClr val="968D8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968D86"/>
                </a:solidFill>
                <a:latin typeface="Courier New"/>
                <a:cs typeface="Courier New"/>
              </a:rPr>
              <a:t>3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325526" y="406400"/>
            <a:ext cx="1899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082040" algn="l"/>
              </a:tabLst>
            </a:pP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B5ABA4"/>
                </a:solidFill>
                <a:latin typeface="Courier New"/>
                <a:cs typeface="Courier New"/>
              </a:rPr>
              <a:t>3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H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R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B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L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M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11344"/>
            <a:ext cx="9862820" cy="11569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576070" algn="l"/>
                <a:tab pos="3294379" algn="l"/>
                <a:tab pos="3810000" algn="l"/>
                <a:tab pos="5012690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F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R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O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F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P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P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V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Y</a:t>
            </a:r>
            <a:endParaRPr sz="1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4800" spc="26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05" dirty="0">
                <a:solidFill>
                  <a:srgbClr val="16171F"/>
                </a:solidFill>
                <a:latin typeface="Times New Roman"/>
                <a:cs typeface="Times New Roman"/>
              </a:rPr>
              <a:t>scale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80" dirty="0">
                <a:solidFill>
                  <a:srgbClr val="16171F"/>
                </a:solidFill>
                <a:latin typeface="Times New Roman"/>
                <a:cs typeface="Times New Roman"/>
              </a:rPr>
              <a:t>of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8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10" dirty="0">
                <a:solidFill>
                  <a:srgbClr val="16171F"/>
                </a:solidFill>
                <a:latin typeface="Times New Roman"/>
                <a:cs typeface="Times New Roman"/>
              </a:rPr>
              <a:t>gap,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60" dirty="0">
                <a:solidFill>
                  <a:srgbClr val="16171F"/>
                </a:solidFill>
                <a:latin typeface="Times New Roman"/>
                <a:cs typeface="Times New Roman"/>
              </a:rPr>
              <a:t>in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55" dirty="0">
                <a:solidFill>
                  <a:srgbClr val="16171F"/>
                </a:solidFill>
                <a:latin typeface="Times New Roman"/>
                <a:cs typeface="Times New Roman"/>
              </a:rPr>
              <a:t>four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80" dirty="0">
                <a:solidFill>
                  <a:srgbClr val="16171F"/>
                </a:solidFill>
                <a:latin typeface="Times New Roman"/>
                <a:cs typeface="Times New Roman"/>
              </a:rPr>
              <a:t>numbers.</a:t>
            </a:r>
            <a:endParaRPr sz="48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774100"/>
              </p:ext>
            </p:extLst>
          </p:nvPr>
        </p:nvGraphicFramePr>
        <p:xfrm>
          <a:off x="1047749" y="2495548"/>
          <a:ext cx="16189958" cy="6352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7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7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2035">
                <a:tc>
                  <a:txBody>
                    <a:bodyPr/>
                    <a:lstStyle/>
                    <a:p>
                      <a:pPr marL="304800">
                        <a:lnSpc>
                          <a:spcPts val="17965"/>
                        </a:lnSpc>
                      </a:pPr>
                      <a:r>
                        <a:rPr sz="15000" spc="-525" dirty="0">
                          <a:solidFill>
                            <a:srgbClr val="77292E"/>
                          </a:solidFill>
                          <a:latin typeface="Times New Roman"/>
                          <a:cs typeface="Times New Roman"/>
                        </a:rPr>
                        <a:t>4–</a:t>
                      </a:r>
                      <a:r>
                        <a:rPr sz="15000" spc="100" dirty="0">
                          <a:solidFill>
                            <a:srgbClr val="77292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3CCC6"/>
                      </a:solidFill>
                      <a:prstDash val="solid"/>
                    </a:lnR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ts val="17965"/>
                        </a:lnSpc>
                      </a:pPr>
                      <a:r>
                        <a:rPr sz="15000" spc="-710" dirty="0">
                          <a:solidFill>
                            <a:srgbClr val="77292E"/>
                          </a:solidFill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7500" spc="-120" dirty="0">
                          <a:solidFill>
                            <a:srgbClr val="77292E"/>
                          </a:solidFill>
                          <a:latin typeface="Times New Roman"/>
                          <a:cs typeface="Times New Roman"/>
                        </a:rPr>
                        <a:t>%</a:t>
                      </a:r>
                      <a:endParaRPr sz="7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ts val="17965"/>
                        </a:lnSpc>
                      </a:pPr>
                      <a:r>
                        <a:rPr sz="15000" spc="100" dirty="0">
                          <a:solidFill>
                            <a:srgbClr val="77292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ts val="17965"/>
                        </a:lnSpc>
                      </a:pPr>
                      <a:r>
                        <a:rPr sz="15000" spc="-740" dirty="0">
                          <a:solidFill>
                            <a:srgbClr val="77292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7500" spc="-150" dirty="0">
                          <a:solidFill>
                            <a:srgbClr val="77292E"/>
                          </a:solidFill>
                          <a:latin typeface="Times New Roman"/>
                          <a:cs typeface="Times New Roman"/>
                        </a:rPr>
                        <a:t>×</a:t>
                      </a:r>
                      <a:endParaRPr sz="7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0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304800">
                        <a:lnSpc>
                          <a:spcPct val="100000"/>
                        </a:lnSpc>
                        <a:tabLst>
                          <a:tab pos="1050925" algn="l"/>
                          <a:tab pos="1584325" algn="l"/>
                        </a:tabLst>
                      </a:pP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H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D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L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  <a:p>
                      <a:pPr marL="304800" marR="443865">
                        <a:lnSpc>
                          <a:spcPct val="111100"/>
                        </a:lnSpc>
                        <a:spcBef>
                          <a:spcPts val="750"/>
                        </a:spcBef>
                      </a:pPr>
                      <a:r>
                        <a:rPr sz="1800" spc="-8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Days</a:t>
                      </a:r>
                      <a:r>
                        <a:rPr sz="1800" spc="-1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</a:t>
                      </a:r>
                      <a:r>
                        <a:rPr sz="1800" spc="-1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girl</a:t>
                      </a:r>
                      <a:r>
                        <a:rPr sz="1800" spc="-1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sz="1800" spc="-1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7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1800" spc="-1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residential </a:t>
                      </a:r>
                      <a:r>
                        <a:rPr sz="1800" spc="-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institution</a:t>
                      </a:r>
                      <a:r>
                        <a:rPr sz="1800" spc="-1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3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misses</a:t>
                      </a:r>
                      <a:r>
                        <a:rPr sz="1800" spc="-1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7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</a:t>
                      </a:r>
                      <a:r>
                        <a:rPr sz="1800" spc="-1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7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  <a:r>
                        <a:rPr sz="1800" spc="-1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due 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sz="1800" spc="-16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menstruation.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9525">
                      <a:solidFill>
                        <a:srgbClr val="D3CCC6"/>
                      </a:solidFill>
                      <a:prstDash val="solid"/>
                    </a:lnR>
                    <a:lnB w="9525">
                      <a:solidFill>
                        <a:srgbClr val="1617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309245">
                        <a:lnSpc>
                          <a:spcPct val="100000"/>
                        </a:lnSpc>
                        <a:tabLst>
                          <a:tab pos="1056005" algn="l"/>
                        </a:tabLst>
                      </a:pP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A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V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  <a:p>
                      <a:pPr marL="309245" marR="382270">
                        <a:lnSpc>
                          <a:spcPct val="111100"/>
                        </a:lnSpc>
                        <a:spcBef>
                          <a:spcPts val="750"/>
                        </a:spcBef>
                      </a:pPr>
                      <a:r>
                        <a:rPr sz="1800" spc="-8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girls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cloth,</a:t>
                      </a:r>
                      <a:r>
                        <a:rPr sz="1800" spc="-1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 </a:t>
                      </a:r>
                      <a:r>
                        <a:rPr sz="1800" spc="-6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6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sanitary</a:t>
                      </a:r>
                      <a:r>
                        <a:rPr sz="1800" spc="-1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protection.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B w="9525">
                      <a:solidFill>
                        <a:srgbClr val="1617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309245">
                        <a:lnSpc>
                          <a:spcPct val="100000"/>
                        </a:lnSpc>
                        <a:tabLst>
                          <a:tab pos="842644" algn="l"/>
                          <a:tab pos="1802764" algn="l"/>
                        </a:tabLst>
                      </a:pP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D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  <a:p>
                      <a:pPr marL="309245" marR="769620" algn="l">
                        <a:lnSpc>
                          <a:spcPct val="111100"/>
                        </a:lnSpc>
                        <a:spcBef>
                          <a:spcPts val="750"/>
                        </a:spcBef>
                      </a:pPr>
                      <a:r>
                        <a:rPr sz="1800" spc="-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</a:t>
                      </a:r>
                      <a:r>
                        <a:rPr sz="1800" spc="-114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MJPTBCWREIS</a:t>
                      </a:r>
                      <a:r>
                        <a:rPr sz="1800" spc="-1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campuses </a:t>
                      </a:r>
                      <a:r>
                        <a:rPr sz="1800" spc="-8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have</a:t>
                      </a:r>
                      <a:r>
                        <a:rPr sz="1800" spc="-1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7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r>
                        <a:rPr sz="1800" spc="-1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incinerator</a:t>
                      </a:r>
                      <a:r>
                        <a:rPr sz="1800" spc="-13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36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r>
                        <a:rPr sz="1800" spc="-1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6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</a:t>
                      </a:r>
                      <a:r>
                        <a:rPr sz="1800" spc="-1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 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openly</a:t>
                      </a:r>
                      <a:r>
                        <a:rPr sz="1800" spc="-1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burned</a:t>
                      </a:r>
                      <a:r>
                        <a:rPr sz="1800" spc="-1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6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r>
                        <a:rPr sz="1800" spc="-1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buried.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B w="9525">
                      <a:solidFill>
                        <a:srgbClr val="1617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309245" algn="just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050" spc="409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050" spc="-42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  <a:p>
                      <a:pPr marL="309245" marR="516890" algn="just">
                        <a:lnSpc>
                          <a:spcPct val="111100"/>
                        </a:lnSpc>
                        <a:spcBef>
                          <a:spcPts val="750"/>
                        </a:spcBef>
                      </a:pPr>
                      <a:r>
                        <a:rPr sz="1800" spc="-13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800" spc="-1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8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5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800" spc="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menstrual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hygiene </a:t>
                      </a:r>
                      <a:r>
                        <a:rPr sz="1800" spc="-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sessions</a:t>
                      </a:r>
                      <a:r>
                        <a:rPr sz="1800" spc="-6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7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girls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6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receive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sz="1800" spc="-3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their </a:t>
                      </a:r>
                      <a:r>
                        <a:rPr sz="1800" spc="-45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entire</a:t>
                      </a:r>
                      <a:r>
                        <a:rPr sz="1800" spc="-14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solidFill>
                            <a:srgbClr val="3B3C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schooling.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B w="9525">
                      <a:solidFill>
                        <a:srgbClr val="1617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35050" y="9071889"/>
            <a:ext cx="867219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i="1" spc="-145" dirty="0">
                <a:solidFill>
                  <a:srgbClr val="67686E"/>
                </a:solidFill>
                <a:latin typeface="Arial"/>
                <a:cs typeface="Arial"/>
              </a:rPr>
              <a:t>Source:</a:t>
            </a:r>
            <a:r>
              <a:rPr sz="2050" i="1" spc="-95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150" dirty="0">
                <a:solidFill>
                  <a:srgbClr val="67686E"/>
                </a:solidFill>
                <a:latin typeface="Arial"/>
                <a:cs typeface="Arial"/>
              </a:rPr>
              <a:t>Programme</a:t>
            </a:r>
            <a:r>
              <a:rPr sz="2050" i="1" spc="-90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110" dirty="0">
                <a:solidFill>
                  <a:srgbClr val="67686E"/>
                </a:solidFill>
                <a:latin typeface="Arial"/>
                <a:cs typeface="Arial"/>
              </a:rPr>
              <a:t>baseline</a:t>
            </a:r>
            <a:r>
              <a:rPr sz="2050" i="1" spc="-95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135" dirty="0">
                <a:solidFill>
                  <a:srgbClr val="67686E"/>
                </a:solidFill>
                <a:latin typeface="Arial"/>
                <a:cs typeface="Arial"/>
              </a:rPr>
              <a:t>survey,</a:t>
            </a:r>
            <a:r>
              <a:rPr sz="2050" i="1" spc="-95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250" dirty="0">
                <a:solidFill>
                  <a:srgbClr val="67686E"/>
                </a:solidFill>
                <a:latin typeface="Arial"/>
                <a:cs typeface="Arial"/>
              </a:rPr>
              <a:t>MJPTBCWREIS</a:t>
            </a:r>
            <a:r>
              <a:rPr sz="2050" i="1" spc="-95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45" dirty="0">
                <a:solidFill>
                  <a:srgbClr val="67686E"/>
                </a:solidFill>
                <a:latin typeface="Arial"/>
                <a:cs typeface="Arial"/>
              </a:rPr>
              <a:t>pilot,</a:t>
            </a:r>
            <a:r>
              <a:rPr sz="2050" i="1" spc="-95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160" dirty="0">
                <a:solidFill>
                  <a:srgbClr val="67686E"/>
                </a:solidFill>
                <a:latin typeface="Arial"/>
                <a:cs typeface="Arial"/>
              </a:rPr>
              <a:t>Warangal</a:t>
            </a:r>
            <a:r>
              <a:rPr sz="2050" i="1" spc="-90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100" dirty="0">
                <a:solidFill>
                  <a:srgbClr val="67686E"/>
                </a:solidFill>
                <a:latin typeface="Arial"/>
                <a:cs typeface="Arial"/>
              </a:rPr>
              <a:t>Dist.,</a:t>
            </a:r>
            <a:r>
              <a:rPr sz="2050" i="1" spc="-95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180" dirty="0">
                <a:solidFill>
                  <a:srgbClr val="67686E"/>
                </a:solidFill>
                <a:latin typeface="Arial"/>
                <a:cs typeface="Arial"/>
              </a:rPr>
              <a:t>Nov</a:t>
            </a:r>
            <a:r>
              <a:rPr sz="2050" i="1" spc="-95" dirty="0">
                <a:solidFill>
                  <a:srgbClr val="67686E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67686E"/>
                </a:solidFill>
                <a:latin typeface="Arial"/>
                <a:cs typeface="Arial"/>
              </a:rPr>
              <a:t>2025.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23"/>
            <a:ext cx="95250" cy="952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68934" y="406400"/>
            <a:ext cx="2256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082040" algn="l"/>
                <a:tab pos="1438910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4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7749" y="1085848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5050" y="911344"/>
            <a:ext cx="13879194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404620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135" dirty="0">
                <a:solidFill>
                  <a:srgbClr val="16171F"/>
                </a:solidFill>
                <a:latin typeface="Times New Roman"/>
                <a:cs typeface="Times New Roman"/>
              </a:rPr>
              <a:t>A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20" dirty="0">
                <a:solidFill>
                  <a:srgbClr val="16171F"/>
                </a:solidFill>
                <a:latin typeface="Times New Roman"/>
                <a:cs typeface="Times New Roman"/>
              </a:rPr>
              <a:t>four-</a:t>
            </a:r>
            <a:r>
              <a:rPr sz="4800" spc="260" dirty="0">
                <a:solidFill>
                  <a:srgbClr val="16171F"/>
                </a:solidFill>
                <a:latin typeface="Times New Roman"/>
                <a:cs typeface="Times New Roman"/>
              </a:rPr>
              <a:t>part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85" dirty="0">
                <a:solidFill>
                  <a:srgbClr val="16171F"/>
                </a:solidFill>
                <a:latin typeface="Times New Roman"/>
                <a:cs typeface="Times New Roman"/>
              </a:rPr>
              <a:t>programme,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14" dirty="0">
                <a:solidFill>
                  <a:srgbClr val="16171F"/>
                </a:solidFill>
                <a:latin typeface="Times New Roman"/>
                <a:cs typeface="Times New Roman"/>
              </a:rPr>
              <a:t>delivered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90" dirty="0">
                <a:solidFill>
                  <a:srgbClr val="16171F"/>
                </a:solidFill>
                <a:latin typeface="Times New Roman"/>
                <a:cs typeface="Times New Roman"/>
              </a:rPr>
              <a:t>annually,</a:t>
            </a:r>
            <a:r>
              <a:rPr sz="4800" spc="-1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5" dirty="0">
                <a:solidFill>
                  <a:srgbClr val="16171F"/>
                </a:solidFill>
                <a:latin typeface="Times New Roman"/>
                <a:cs typeface="Times New Roman"/>
              </a:rPr>
              <a:t>designed </a:t>
            </a:r>
            <a:r>
              <a:rPr sz="4800" spc="240" dirty="0">
                <a:solidFill>
                  <a:srgbClr val="16171F"/>
                </a:solidFill>
                <a:latin typeface="Times New Roman"/>
                <a:cs typeface="Times New Roman"/>
              </a:rPr>
              <a:t>to</a:t>
            </a:r>
            <a:r>
              <a:rPr sz="4800" spc="-1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i="1" spc="-80" dirty="0">
                <a:solidFill>
                  <a:srgbClr val="77292E"/>
                </a:solidFill>
                <a:latin typeface="Times New Roman"/>
                <a:cs typeface="Times New Roman"/>
              </a:rPr>
              <a:t>graduate</a:t>
            </a:r>
            <a:r>
              <a:rPr sz="4800" i="1" spc="-185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spc="65" dirty="0">
                <a:solidFill>
                  <a:srgbClr val="77292E"/>
                </a:solidFill>
                <a:latin typeface="Times New Roman"/>
                <a:cs typeface="Times New Roman"/>
              </a:rPr>
              <a:t>to</a:t>
            </a:r>
            <a:r>
              <a:rPr sz="4800" i="1" spc="-190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dirty="0">
                <a:solidFill>
                  <a:srgbClr val="77292E"/>
                </a:solidFill>
                <a:latin typeface="Times New Roman"/>
                <a:cs typeface="Times New Roman"/>
              </a:rPr>
              <a:t>institutional</a:t>
            </a:r>
            <a:r>
              <a:rPr sz="4800" i="1" spc="-185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spc="-105" dirty="0">
                <a:solidFill>
                  <a:srgbClr val="77292E"/>
                </a:solidFill>
                <a:latin typeface="Times New Roman"/>
                <a:cs typeface="Times New Roman"/>
              </a:rPr>
              <a:t>self-</a:t>
            </a:r>
            <a:r>
              <a:rPr sz="4800" i="1" spc="-100" dirty="0">
                <a:solidFill>
                  <a:srgbClr val="77292E"/>
                </a:solidFill>
                <a:latin typeface="Times New Roman"/>
                <a:cs typeface="Times New Roman"/>
              </a:rPr>
              <a:t>reliance</a:t>
            </a:r>
            <a:r>
              <a:rPr sz="4800" i="1" spc="-140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spc="50" dirty="0">
                <a:solidFill>
                  <a:srgbClr val="16171F"/>
                </a:solidFill>
                <a:latin typeface="Times New Roman"/>
                <a:cs typeface="Times New Roman"/>
              </a:rPr>
              <a:t>by</a:t>
            </a:r>
            <a:r>
              <a:rPr sz="4800" spc="-1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50" dirty="0">
                <a:solidFill>
                  <a:srgbClr val="16171F"/>
                </a:solidFill>
                <a:latin typeface="Times New Roman"/>
                <a:cs typeface="Times New Roman"/>
              </a:rPr>
              <a:t>Year</a:t>
            </a:r>
            <a:r>
              <a:rPr sz="4800" spc="-1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-25" dirty="0">
                <a:solidFill>
                  <a:srgbClr val="16171F"/>
                </a:solidFill>
                <a:latin typeface="Times New Roman"/>
                <a:cs typeface="Times New Roman"/>
              </a:rPr>
              <a:t>3.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47749" y="3133723"/>
            <a:ext cx="3848100" cy="6296025"/>
            <a:chOff x="1047749" y="3133723"/>
            <a:chExt cx="3848100" cy="6296025"/>
          </a:xfrm>
        </p:grpSpPr>
        <p:sp>
          <p:nvSpPr>
            <p:cNvPr id="6" name="object 6"/>
            <p:cNvSpPr/>
            <p:nvPr/>
          </p:nvSpPr>
          <p:spPr>
            <a:xfrm>
              <a:off x="1047749" y="3133723"/>
              <a:ext cx="3848100" cy="6296025"/>
            </a:xfrm>
            <a:custGeom>
              <a:avLst/>
              <a:gdLst/>
              <a:ahLst/>
              <a:cxnLst/>
              <a:rect l="l" t="t" r="r" b="b"/>
              <a:pathLst>
                <a:path w="3848100" h="6296025">
                  <a:moveTo>
                    <a:pt x="3848099" y="6296024"/>
                  </a:moveTo>
                  <a:lnTo>
                    <a:pt x="0" y="6296024"/>
                  </a:lnTo>
                  <a:lnTo>
                    <a:pt x="0" y="0"/>
                  </a:lnTo>
                  <a:lnTo>
                    <a:pt x="3848099" y="0"/>
                  </a:lnTo>
                  <a:lnTo>
                    <a:pt x="3848099" y="62960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23974" y="8848722"/>
              <a:ext cx="3295650" cy="9525"/>
            </a:xfrm>
            <a:custGeom>
              <a:avLst/>
              <a:gdLst/>
              <a:ahLst/>
              <a:cxnLst/>
              <a:rect l="l" t="t" r="r" b="b"/>
              <a:pathLst>
                <a:path w="3295650" h="9525">
                  <a:moveTo>
                    <a:pt x="32956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295649" y="0"/>
                  </a:lnTo>
                  <a:lnTo>
                    <a:pt x="3295649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2512" y="3138485"/>
            <a:ext cx="3838575" cy="62865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3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tabLst>
                <a:tab pos="1017905" algn="l"/>
                <a:tab pos="1337945" algn="l"/>
                <a:tab pos="1551305" algn="l"/>
              </a:tabLst>
            </a:pP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0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1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1050" dirty="0">
              <a:latin typeface="Courier New"/>
              <a:cs typeface="Courier New"/>
            </a:endParaRPr>
          </a:p>
          <a:p>
            <a:pPr marL="271145" marR="286385">
              <a:lnSpc>
                <a:spcPct val="95800"/>
              </a:lnSpc>
              <a:spcBef>
                <a:spcPts val="950"/>
              </a:spcBef>
            </a:pPr>
            <a:r>
              <a:rPr sz="2250" spc="105" dirty="0">
                <a:solidFill>
                  <a:srgbClr val="16171F"/>
                </a:solidFill>
                <a:latin typeface="Times New Roman"/>
                <a:cs typeface="Times New Roman"/>
              </a:rPr>
              <a:t>Structured</a:t>
            </a:r>
            <a:r>
              <a:rPr sz="2250" spc="-3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155" dirty="0">
                <a:solidFill>
                  <a:srgbClr val="16171F"/>
                </a:solidFill>
                <a:latin typeface="Times New Roman"/>
                <a:cs typeface="Times New Roman"/>
              </a:rPr>
              <a:t>MHM</a:t>
            </a:r>
            <a:r>
              <a:rPr sz="2250" spc="-3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70" dirty="0">
                <a:solidFill>
                  <a:srgbClr val="16171F"/>
                </a:solidFill>
                <a:latin typeface="Times New Roman"/>
                <a:cs typeface="Times New Roman"/>
              </a:rPr>
              <a:t>sessions </a:t>
            </a:r>
            <a:r>
              <a:rPr sz="2250" spc="130" dirty="0">
                <a:solidFill>
                  <a:srgbClr val="16171F"/>
                </a:solidFill>
                <a:latin typeface="Times New Roman"/>
                <a:cs typeface="Times New Roman"/>
              </a:rPr>
              <a:t>in</a:t>
            </a:r>
            <a:r>
              <a:rPr sz="2250" dirty="0">
                <a:solidFill>
                  <a:srgbClr val="16171F"/>
                </a:solidFill>
                <a:latin typeface="Times New Roman"/>
                <a:cs typeface="Times New Roman"/>
              </a:rPr>
              <a:t> every</a:t>
            </a:r>
            <a:r>
              <a:rPr sz="2250" spc="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105" dirty="0">
                <a:solidFill>
                  <a:srgbClr val="16171F"/>
                </a:solidFill>
                <a:latin typeface="Times New Roman"/>
                <a:cs typeface="Times New Roman"/>
              </a:rPr>
              <a:t>institution,</a:t>
            </a:r>
            <a:r>
              <a:rPr sz="2250" spc="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-20" dirty="0">
                <a:solidFill>
                  <a:srgbClr val="16171F"/>
                </a:solidFill>
                <a:latin typeface="Times New Roman"/>
                <a:cs typeface="Times New Roman"/>
              </a:rPr>
              <a:t>every </a:t>
            </a:r>
            <a:r>
              <a:rPr sz="2250" spc="-10" dirty="0">
                <a:solidFill>
                  <a:srgbClr val="16171F"/>
                </a:solidFill>
                <a:latin typeface="Times New Roman"/>
                <a:cs typeface="Times New Roman"/>
              </a:rPr>
              <a:t>year.</a:t>
            </a:r>
            <a:endParaRPr sz="2250" dirty="0">
              <a:latin typeface="Times New Roman"/>
              <a:cs typeface="Times New Roman"/>
            </a:endParaRPr>
          </a:p>
          <a:p>
            <a:pPr marL="271145" marR="481965">
              <a:lnSpc>
                <a:spcPct val="116399"/>
              </a:lnSpc>
              <a:spcBef>
                <a:spcPts val="1040"/>
              </a:spcBef>
            </a:pP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One-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day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45" dirty="0">
                <a:solidFill>
                  <a:srgbClr val="3B3C43"/>
                </a:solidFill>
                <a:latin typeface="Arial"/>
                <a:cs typeface="Arial"/>
              </a:rPr>
              <a:t>workshops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on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0" dirty="0">
                <a:solidFill>
                  <a:srgbClr val="3B3C43"/>
                </a:solidFill>
                <a:latin typeface="Arial"/>
                <a:cs typeface="Arial"/>
              </a:rPr>
              <a:t>menstrual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cycle, 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hygiene,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myth-</a:t>
            </a:r>
            <a:r>
              <a:rPr sz="1450" spc="-35" dirty="0">
                <a:solidFill>
                  <a:srgbClr val="3B3C43"/>
                </a:solidFill>
                <a:latin typeface="Arial"/>
                <a:cs typeface="Arial"/>
              </a:rPr>
              <a:t>busting,</a:t>
            </a:r>
            <a:r>
              <a:rPr sz="145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emotional </a:t>
            </a:r>
            <a:r>
              <a:rPr sz="1450" dirty="0">
                <a:solidFill>
                  <a:srgbClr val="3B3C43"/>
                </a:solidFill>
                <a:latin typeface="Arial"/>
                <a:cs typeface="Arial"/>
              </a:rPr>
              <a:t>well-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being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409" dirty="0">
                <a:solidFill>
                  <a:srgbClr val="3B3C43"/>
                </a:solidFill>
                <a:latin typeface="Arial"/>
                <a:cs typeface="Arial"/>
              </a:rPr>
              <a:t>—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5" dirty="0">
                <a:solidFill>
                  <a:srgbClr val="3B3C43"/>
                </a:solidFill>
                <a:latin typeface="Arial"/>
                <a:cs typeface="Arial"/>
              </a:rPr>
              <a:t>delivered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20" dirty="0">
                <a:solidFill>
                  <a:srgbClr val="3B3C43"/>
                </a:solidFill>
                <a:latin typeface="Arial"/>
                <a:cs typeface="Arial"/>
              </a:rPr>
              <a:t>in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Telugu.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350" dirty="0">
              <a:latin typeface="Arial"/>
              <a:cs typeface="Arial"/>
            </a:endParaRPr>
          </a:p>
          <a:p>
            <a:pPr marL="271145">
              <a:lnSpc>
                <a:spcPct val="100000"/>
              </a:lnSpc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/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6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950" dirty="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62549" y="3133723"/>
            <a:ext cx="3848100" cy="6296025"/>
            <a:chOff x="5162549" y="3133723"/>
            <a:chExt cx="3848100" cy="6296025"/>
          </a:xfrm>
        </p:grpSpPr>
        <p:sp>
          <p:nvSpPr>
            <p:cNvPr id="10" name="object 10"/>
            <p:cNvSpPr/>
            <p:nvPr/>
          </p:nvSpPr>
          <p:spPr>
            <a:xfrm>
              <a:off x="5162549" y="3133723"/>
              <a:ext cx="3848100" cy="6296025"/>
            </a:xfrm>
            <a:custGeom>
              <a:avLst/>
              <a:gdLst/>
              <a:ahLst/>
              <a:cxnLst/>
              <a:rect l="l" t="t" r="r" b="b"/>
              <a:pathLst>
                <a:path w="3848100" h="6296025">
                  <a:moveTo>
                    <a:pt x="3848099" y="6296024"/>
                  </a:moveTo>
                  <a:lnTo>
                    <a:pt x="0" y="6296024"/>
                  </a:lnTo>
                  <a:lnTo>
                    <a:pt x="0" y="0"/>
                  </a:lnTo>
                  <a:lnTo>
                    <a:pt x="3848099" y="0"/>
                  </a:lnTo>
                  <a:lnTo>
                    <a:pt x="3848099" y="62960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38774" y="8848722"/>
              <a:ext cx="3295650" cy="9525"/>
            </a:xfrm>
            <a:custGeom>
              <a:avLst/>
              <a:gdLst/>
              <a:ahLst/>
              <a:cxnLst/>
              <a:rect l="l" t="t" r="r" b="b"/>
              <a:pathLst>
                <a:path w="3295650" h="9525">
                  <a:moveTo>
                    <a:pt x="32956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295649" y="0"/>
                  </a:lnTo>
                  <a:lnTo>
                    <a:pt x="3295649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67312" y="3138485"/>
            <a:ext cx="3838575" cy="62865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30"/>
              </a:spcBef>
            </a:pPr>
            <a:endParaRPr sz="105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tabLst>
                <a:tab pos="1017905" algn="l"/>
                <a:tab pos="1337945" algn="l"/>
                <a:tab pos="1551305" algn="l"/>
              </a:tabLst>
            </a:pP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0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2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1050">
              <a:latin typeface="Courier New"/>
              <a:cs typeface="Courier New"/>
            </a:endParaRPr>
          </a:p>
          <a:p>
            <a:pPr marL="271145" marR="494030">
              <a:lnSpc>
                <a:spcPct val="95800"/>
              </a:lnSpc>
              <a:spcBef>
                <a:spcPts val="950"/>
              </a:spcBef>
            </a:pPr>
            <a:r>
              <a:rPr sz="2250" spc="100" dirty="0">
                <a:solidFill>
                  <a:srgbClr val="16171F"/>
                </a:solidFill>
                <a:latin typeface="Times New Roman"/>
                <a:cs typeface="Times New Roman"/>
              </a:rPr>
              <a:t>Starter</a:t>
            </a:r>
            <a:r>
              <a:rPr sz="2250" spc="-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100" dirty="0">
                <a:solidFill>
                  <a:srgbClr val="16171F"/>
                </a:solidFill>
                <a:latin typeface="Times New Roman"/>
                <a:cs typeface="Times New Roman"/>
              </a:rPr>
              <a:t>kits</a:t>
            </a:r>
            <a:r>
              <a:rPr sz="2250" spc="-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85" dirty="0">
                <a:solidFill>
                  <a:srgbClr val="16171F"/>
                </a:solidFill>
                <a:latin typeface="Times New Roman"/>
                <a:cs typeface="Times New Roman"/>
              </a:rPr>
              <a:t>placed</a:t>
            </a:r>
            <a:r>
              <a:rPr sz="2250" spc="-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130" dirty="0">
                <a:solidFill>
                  <a:srgbClr val="16171F"/>
                </a:solidFill>
                <a:latin typeface="Times New Roman"/>
                <a:cs typeface="Times New Roman"/>
              </a:rPr>
              <a:t>in</a:t>
            </a:r>
            <a:r>
              <a:rPr sz="2250" spc="-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114" dirty="0">
                <a:solidFill>
                  <a:srgbClr val="16171F"/>
                </a:solidFill>
                <a:latin typeface="Times New Roman"/>
                <a:cs typeface="Times New Roman"/>
              </a:rPr>
              <a:t>the </a:t>
            </a:r>
            <a:r>
              <a:rPr sz="2250" spc="125" dirty="0">
                <a:solidFill>
                  <a:srgbClr val="16171F"/>
                </a:solidFill>
                <a:latin typeface="Times New Roman"/>
                <a:cs typeface="Times New Roman"/>
              </a:rPr>
              <a:t>hands</a:t>
            </a:r>
            <a:r>
              <a:rPr sz="2250" spc="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16171F"/>
                </a:solidFill>
                <a:latin typeface="Times New Roman"/>
                <a:cs typeface="Times New Roman"/>
              </a:rPr>
              <a:t>of every </a:t>
            </a:r>
            <a:r>
              <a:rPr sz="2250" spc="40" dirty="0">
                <a:solidFill>
                  <a:srgbClr val="16171F"/>
                </a:solidFill>
                <a:latin typeface="Times New Roman"/>
                <a:cs typeface="Times New Roman"/>
              </a:rPr>
              <a:t>newly-</a:t>
            </a:r>
            <a:r>
              <a:rPr sz="2250" spc="85" dirty="0">
                <a:solidFill>
                  <a:srgbClr val="16171F"/>
                </a:solidFill>
                <a:latin typeface="Times New Roman"/>
                <a:cs typeface="Times New Roman"/>
              </a:rPr>
              <a:t>enrolled</a:t>
            </a:r>
            <a:r>
              <a:rPr sz="225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40" dirty="0">
                <a:solidFill>
                  <a:srgbClr val="16171F"/>
                </a:solidFill>
                <a:latin typeface="Times New Roman"/>
                <a:cs typeface="Times New Roman"/>
              </a:rPr>
              <a:t>girl.</a:t>
            </a:r>
            <a:endParaRPr sz="2250">
              <a:latin typeface="Times New Roman"/>
              <a:cs typeface="Times New Roman"/>
            </a:endParaRPr>
          </a:p>
          <a:p>
            <a:pPr marL="271145" marR="513080">
              <a:lnSpc>
                <a:spcPct val="116399"/>
              </a:lnSpc>
              <a:spcBef>
                <a:spcPts val="1040"/>
              </a:spcBef>
            </a:pPr>
            <a:r>
              <a:rPr sz="1450" dirty="0">
                <a:solidFill>
                  <a:srgbClr val="3B3C43"/>
                </a:solidFill>
                <a:latin typeface="Arial"/>
                <a:cs typeface="Arial"/>
              </a:rPr>
              <a:t>12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5" dirty="0">
                <a:solidFill>
                  <a:srgbClr val="3B3C43"/>
                </a:solidFill>
                <a:latin typeface="Arial"/>
                <a:cs typeface="Arial"/>
              </a:rPr>
              <a:t>sanitary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40" dirty="0">
                <a:solidFill>
                  <a:srgbClr val="3B3C43"/>
                </a:solidFill>
                <a:latin typeface="Arial"/>
                <a:cs typeface="Arial"/>
              </a:rPr>
              <a:t>napkin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packs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0" dirty="0">
                <a:solidFill>
                  <a:srgbClr val="3B3C43"/>
                </a:solidFill>
                <a:latin typeface="Arial"/>
                <a:cs typeface="Arial"/>
              </a:rPr>
              <a:t>per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20" dirty="0">
                <a:solidFill>
                  <a:srgbClr val="3B3C43"/>
                </a:solidFill>
                <a:latin typeface="Arial"/>
                <a:cs typeface="Arial"/>
              </a:rPr>
              <a:t>girl,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3B3C43"/>
                </a:solidFill>
                <a:latin typeface="Arial"/>
                <a:cs typeface="Arial"/>
              </a:rPr>
              <a:t>with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30" dirty="0">
                <a:solidFill>
                  <a:srgbClr val="3B3C43"/>
                </a:solidFill>
                <a:latin typeface="Arial"/>
                <a:cs typeface="Arial"/>
              </a:rPr>
              <a:t>a </a:t>
            </a:r>
            <a:r>
              <a:rPr sz="1450" spc="-45" dirty="0">
                <a:solidFill>
                  <a:srgbClr val="3B3C43"/>
                </a:solidFill>
                <a:latin typeface="Arial"/>
                <a:cs typeface="Arial"/>
              </a:rPr>
              <a:t>user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guide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5" dirty="0">
                <a:solidFill>
                  <a:srgbClr val="3B3C43"/>
                </a:solidFill>
                <a:latin typeface="Arial"/>
                <a:cs typeface="Arial"/>
              </a:rPr>
              <a:t>demonstration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on </a:t>
            </a:r>
            <a:r>
              <a:rPr sz="1450" spc="-20" dirty="0">
                <a:solidFill>
                  <a:srgbClr val="3B3C43"/>
                </a:solidFill>
                <a:latin typeface="Arial"/>
                <a:cs typeface="Arial"/>
              </a:rPr>
              <a:t>safe </a:t>
            </a:r>
            <a:r>
              <a:rPr sz="1450" spc="-40" dirty="0">
                <a:solidFill>
                  <a:srgbClr val="3B3C43"/>
                </a:solidFill>
                <a:latin typeface="Arial"/>
                <a:cs typeface="Arial"/>
              </a:rPr>
              <a:t>disposal</a:t>
            </a:r>
            <a:r>
              <a:rPr sz="145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practice.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350">
              <a:latin typeface="Arial"/>
              <a:cs typeface="Arial"/>
            </a:endParaRPr>
          </a:p>
          <a:p>
            <a:pPr marL="271145">
              <a:lnSpc>
                <a:spcPct val="100000"/>
              </a:lnSpc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8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8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K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/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277349" y="3133723"/>
            <a:ext cx="3848100" cy="6296025"/>
            <a:chOff x="9277349" y="3133723"/>
            <a:chExt cx="3848100" cy="6296025"/>
          </a:xfrm>
        </p:grpSpPr>
        <p:sp>
          <p:nvSpPr>
            <p:cNvPr id="14" name="object 14"/>
            <p:cNvSpPr/>
            <p:nvPr/>
          </p:nvSpPr>
          <p:spPr>
            <a:xfrm>
              <a:off x="9277349" y="3133723"/>
              <a:ext cx="3848100" cy="6296025"/>
            </a:xfrm>
            <a:custGeom>
              <a:avLst/>
              <a:gdLst/>
              <a:ahLst/>
              <a:cxnLst/>
              <a:rect l="l" t="t" r="r" b="b"/>
              <a:pathLst>
                <a:path w="3848100" h="6296025">
                  <a:moveTo>
                    <a:pt x="3848099" y="6296024"/>
                  </a:moveTo>
                  <a:lnTo>
                    <a:pt x="0" y="6296024"/>
                  </a:lnTo>
                  <a:lnTo>
                    <a:pt x="0" y="0"/>
                  </a:lnTo>
                  <a:lnTo>
                    <a:pt x="3848099" y="0"/>
                  </a:lnTo>
                  <a:lnTo>
                    <a:pt x="3848099" y="62960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53574" y="8848722"/>
              <a:ext cx="3295650" cy="9525"/>
            </a:xfrm>
            <a:custGeom>
              <a:avLst/>
              <a:gdLst/>
              <a:ahLst/>
              <a:cxnLst/>
              <a:rect l="l" t="t" r="r" b="b"/>
              <a:pathLst>
                <a:path w="3295650" h="9525">
                  <a:moveTo>
                    <a:pt x="32956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295649" y="0"/>
                  </a:lnTo>
                  <a:lnTo>
                    <a:pt x="3295649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282111" y="3138485"/>
            <a:ext cx="3838575" cy="62865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30"/>
              </a:spcBef>
            </a:pPr>
            <a:endParaRPr sz="105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tabLst>
                <a:tab pos="1017905" algn="l"/>
                <a:tab pos="1337945" algn="l"/>
                <a:tab pos="1551305" algn="l"/>
              </a:tabLst>
            </a:pP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0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3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	I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F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endParaRPr sz="1050">
              <a:latin typeface="Courier New"/>
              <a:cs typeface="Courier New"/>
            </a:endParaRPr>
          </a:p>
          <a:p>
            <a:pPr marL="271145" marR="604520">
              <a:lnSpc>
                <a:spcPct val="95800"/>
              </a:lnSpc>
              <a:spcBef>
                <a:spcPts val="950"/>
              </a:spcBef>
            </a:pPr>
            <a:r>
              <a:rPr sz="2250" spc="130" dirty="0">
                <a:solidFill>
                  <a:srgbClr val="16171F"/>
                </a:solidFill>
                <a:latin typeface="Times New Roman"/>
                <a:cs typeface="Times New Roman"/>
              </a:rPr>
              <a:t>Permanent</a:t>
            </a:r>
            <a:r>
              <a:rPr sz="2250" spc="-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70" dirty="0">
                <a:solidFill>
                  <a:srgbClr val="16171F"/>
                </a:solidFill>
                <a:latin typeface="Times New Roman"/>
                <a:cs typeface="Times New Roman"/>
              </a:rPr>
              <a:t>eco-</a:t>
            </a:r>
            <a:r>
              <a:rPr sz="2250" spc="55" dirty="0">
                <a:solidFill>
                  <a:srgbClr val="16171F"/>
                </a:solidFill>
                <a:latin typeface="Times New Roman"/>
                <a:cs typeface="Times New Roman"/>
              </a:rPr>
              <a:t>friendly </a:t>
            </a:r>
            <a:r>
              <a:rPr sz="2250" spc="105" dirty="0">
                <a:solidFill>
                  <a:srgbClr val="16171F"/>
                </a:solidFill>
                <a:latin typeface="Times New Roman"/>
                <a:cs typeface="Times New Roman"/>
              </a:rPr>
              <a:t>incinerators</a:t>
            </a:r>
            <a:r>
              <a:rPr sz="225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130" dirty="0">
                <a:solidFill>
                  <a:srgbClr val="16171F"/>
                </a:solidFill>
                <a:latin typeface="Times New Roman"/>
                <a:cs typeface="Times New Roman"/>
              </a:rPr>
              <a:t>on</a:t>
            </a:r>
            <a:r>
              <a:rPr sz="225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-20" dirty="0">
                <a:solidFill>
                  <a:srgbClr val="16171F"/>
                </a:solidFill>
                <a:latin typeface="Times New Roman"/>
                <a:cs typeface="Times New Roman"/>
              </a:rPr>
              <a:t>every </a:t>
            </a:r>
            <a:r>
              <a:rPr sz="2250" spc="75" dirty="0">
                <a:solidFill>
                  <a:srgbClr val="16171F"/>
                </a:solidFill>
                <a:latin typeface="Times New Roman"/>
                <a:cs typeface="Times New Roman"/>
              </a:rPr>
              <a:t>campus.</a:t>
            </a:r>
            <a:endParaRPr sz="2250">
              <a:latin typeface="Times New Roman"/>
              <a:cs typeface="Times New Roman"/>
            </a:endParaRPr>
          </a:p>
          <a:p>
            <a:pPr marL="271145" marR="323850">
              <a:lnSpc>
                <a:spcPct val="116399"/>
              </a:lnSpc>
              <a:spcBef>
                <a:spcPts val="1040"/>
              </a:spcBef>
            </a:pPr>
            <a:r>
              <a:rPr sz="1450" spc="-85" dirty="0">
                <a:solidFill>
                  <a:srgbClr val="3B3C43"/>
                </a:solidFill>
                <a:latin typeface="Arial"/>
                <a:cs typeface="Arial"/>
              </a:rPr>
              <a:t>Two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20" dirty="0">
                <a:solidFill>
                  <a:srgbClr val="3B3C43"/>
                </a:solidFill>
                <a:latin typeface="Arial"/>
                <a:cs typeface="Arial"/>
              </a:rPr>
              <a:t>units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0" dirty="0">
                <a:solidFill>
                  <a:srgbClr val="3B3C43"/>
                </a:solidFill>
                <a:latin typeface="Arial"/>
                <a:cs typeface="Arial"/>
              </a:rPr>
              <a:t>per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institution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409" dirty="0">
                <a:solidFill>
                  <a:srgbClr val="3B3C43"/>
                </a:solidFill>
                <a:latin typeface="Arial"/>
                <a:cs typeface="Arial"/>
              </a:rPr>
              <a:t>—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95" dirty="0">
                <a:solidFill>
                  <a:srgbClr val="3B3C43"/>
                </a:solidFill>
                <a:latin typeface="Arial"/>
                <a:cs typeface="Arial"/>
              </a:rPr>
              <a:t>a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0" dirty="0">
                <a:solidFill>
                  <a:srgbClr val="3B3C43"/>
                </a:solidFill>
                <a:latin typeface="Arial"/>
                <a:cs typeface="Arial"/>
              </a:rPr>
              <a:t>one-</a:t>
            </a:r>
            <a:r>
              <a:rPr sz="1450" spc="-20" dirty="0">
                <a:solidFill>
                  <a:srgbClr val="3B3C43"/>
                </a:solidFill>
                <a:latin typeface="Arial"/>
                <a:cs typeface="Arial"/>
              </a:rPr>
              <a:t>time </a:t>
            </a:r>
            <a:r>
              <a:rPr sz="1450" spc="-25" dirty="0">
                <a:solidFill>
                  <a:srgbClr val="3B3C43"/>
                </a:solidFill>
                <a:latin typeface="Arial"/>
                <a:cs typeface="Arial"/>
              </a:rPr>
              <a:t>capital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5" dirty="0">
                <a:solidFill>
                  <a:srgbClr val="3B3C43"/>
                </a:solidFill>
                <a:latin typeface="Arial"/>
                <a:cs typeface="Arial"/>
              </a:rPr>
              <a:t>investment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3B3C43"/>
                </a:solidFill>
                <a:latin typeface="Arial"/>
                <a:cs typeface="Arial"/>
              </a:rPr>
              <a:t>with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95" dirty="0">
                <a:solidFill>
                  <a:srgbClr val="3B3C43"/>
                </a:solidFill>
                <a:latin typeface="Arial"/>
                <a:cs typeface="Arial"/>
              </a:rPr>
              <a:t>a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20" dirty="0">
                <a:solidFill>
                  <a:srgbClr val="3B3C43"/>
                </a:solidFill>
                <a:latin typeface="Arial"/>
                <a:cs typeface="Arial"/>
              </a:rPr>
              <a:t>10+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year 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service </a:t>
            </a:r>
            <a:r>
              <a:rPr sz="1450" dirty="0">
                <a:solidFill>
                  <a:srgbClr val="3B3C43"/>
                </a:solidFill>
                <a:latin typeface="Arial"/>
                <a:cs typeface="Arial"/>
              </a:rPr>
              <a:t>life</a:t>
            </a:r>
            <a:r>
              <a:rPr sz="145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45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20" dirty="0">
                <a:solidFill>
                  <a:srgbClr val="3B3C43"/>
                </a:solidFill>
                <a:latin typeface="Arial"/>
                <a:cs typeface="Arial"/>
              </a:rPr>
              <a:t>on-site</a:t>
            </a:r>
            <a:r>
              <a:rPr sz="145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training.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350">
              <a:latin typeface="Arial"/>
              <a:cs typeface="Arial"/>
            </a:endParaRPr>
          </a:p>
          <a:p>
            <a:pPr marL="271145">
              <a:lnSpc>
                <a:spcPct val="100000"/>
              </a:lnSpc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950" spc="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392148" y="3133723"/>
            <a:ext cx="3848100" cy="6296025"/>
            <a:chOff x="13392148" y="3133723"/>
            <a:chExt cx="3848100" cy="6296025"/>
          </a:xfrm>
        </p:grpSpPr>
        <p:sp>
          <p:nvSpPr>
            <p:cNvPr id="18" name="object 18"/>
            <p:cNvSpPr/>
            <p:nvPr/>
          </p:nvSpPr>
          <p:spPr>
            <a:xfrm>
              <a:off x="13392148" y="3133723"/>
              <a:ext cx="3848100" cy="6296025"/>
            </a:xfrm>
            <a:custGeom>
              <a:avLst/>
              <a:gdLst/>
              <a:ahLst/>
              <a:cxnLst/>
              <a:rect l="l" t="t" r="r" b="b"/>
              <a:pathLst>
                <a:path w="3848100" h="6296025">
                  <a:moveTo>
                    <a:pt x="3848099" y="6296024"/>
                  </a:moveTo>
                  <a:lnTo>
                    <a:pt x="0" y="6296024"/>
                  </a:lnTo>
                  <a:lnTo>
                    <a:pt x="0" y="0"/>
                  </a:lnTo>
                  <a:lnTo>
                    <a:pt x="3848099" y="0"/>
                  </a:lnTo>
                  <a:lnTo>
                    <a:pt x="3848099" y="62960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668373" y="8848722"/>
              <a:ext cx="3295650" cy="9525"/>
            </a:xfrm>
            <a:custGeom>
              <a:avLst/>
              <a:gdLst/>
              <a:ahLst/>
              <a:cxnLst/>
              <a:rect l="l" t="t" r="r" b="b"/>
              <a:pathLst>
                <a:path w="3295650" h="9525">
                  <a:moveTo>
                    <a:pt x="32956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295649" y="0"/>
                  </a:lnTo>
                  <a:lnTo>
                    <a:pt x="3295649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396910" y="3138485"/>
            <a:ext cx="3838575" cy="62865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30"/>
              </a:spcBef>
            </a:pPr>
            <a:endParaRPr sz="1050">
              <a:latin typeface="Times New Roman"/>
              <a:cs typeface="Times New Roman"/>
            </a:endParaRPr>
          </a:p>
          <a:p>
            <a:pPr marL="271145" algn="just">
              <a:lnSpc>
                <a:spcPct val="100000"/>
              </a:lnSpc>
            </a:pP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050" spc="409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4</a:t>
            </a:r>
            <a:r>
              <a:rPr sz="1050" spc="409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1050" spc="409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77292E"/>
                </a:solidFill>
                <a:latin typeface="Courier New"/>
                <a:cs typeface="Courier New"/>
              </a:rPr>
              <a:t>Y</a:t>
            </a:r>
            <a:endParaRPr sz="1050">
              <a:latin typeface="Courier New"/>
              <a:cs typeface="Courier New"/>
            </a:endParaRPr>
          </a:p>
          <a:p>
            <a:pPr marL="271145" marR="584835" algn="just">
              <a:lnSpc>
                <a:spcPct val="95800"/>
              </a:lnSpc>
              <a:spcBef>
                <a:spcPts val="950"/>
              </a:spcBef>
            </a:pPr>
            <a:r>
              <a:rPr sz="2250" spc="105" dirty="0">
                <a:solidFill>
                  <a:srgbClr val="16171F"/>
                </a:solidFill>
                <a:latin typeface="Times New Roman"/>
                <a:cs typeface="Times New Roman"/>
              </a:rPr>
              <a:t>Training</a:t>
            </a:r>
            <a:r>
              <a:rPr sz="2250" dirty="0">
                <a:solidFill>
                  <a:srgbClr val="16171F"/>
                </a:solidFill>
                <a:latin typeface="Times New Roman"/>
                <a:cs typeface="Times New Roman"/>
              </a:rPr>
              <a:t> of</a:t>
            </a:r>
            <a:r>
              <a:rPr sz="2250" spc="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85" dirty="0">
                <a:solidFill>
                  <a:srgbClr val="16171F"/>
                </a:solidFill>
                <a:latin typeface="Times New Roman"/>
                <a:cs typeface="Times New Roman"/>
              </a:rPr>
              <a:t>Trainers,</a:t>
            </a:r>
            <a:r>
              <a:rPr sz="22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55" dirty="0">
                <a:solidFill>
                  <a:srgbClr val="16171F"/>
                </a:solidFill>
                <a:latin typeface="Times New Roman"/>
                <a:cs typeface="Times New Roman"/>
              </a:rPr>
              <a:t>so </a:t>
            </a:r>
            <a:r>
              <a:rPr sz="2250" spc="14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2250" spc="-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114" dirty="0">
                <a:solidFill>
                  <a:srgbClr val="16171F"/>
                </a:solidFill>
                <a:latin typeface="Times New Roman"/>
                <a:cs typeface="Times New Roman"/>
              </a:rPr>
              <a:t>programme</a:t>
            </a:r>
            <a:r>
              <a:rPr sz="2250" spc="-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50" dirty="0">
                <a:solidFill>
                  <a:srgbClr val="16171F"/>
                </a:solidFill>
                <a:latin typeface="Times New Roman"/>
                <a:cs typeface="Times New Roman"/>
              </a:rPr>
              <a:t>outlives </a:t>
            </a:r>
            <a:r>
              <a:rPr sz="2250" spc="110" dirty="0">
                <a:solidFill>
                  <a:srgbClr val="16171F"/>
                </a:solidFill>
                <a:latin typeface="Times New Roman"/>
                <a:cs typeface="Times New Roman"/>
              </a:rPr>
              <a:t>our</a:t>
            </a:r>
            <a:r>
              <a:rPr sz="2250" spc="-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2250" spc="70" dirty="0">
                <a:solidFill>
                  <a:srgbClr val="16171F"/>
                </a:solidFill>
                <a:latin typeface="Times New Roman"/>
                <a:cs typeface="Times New Roman"/>
              </a:rPr>
              <a:t>presence.</a:t>
            </a:r>
            <a:endParaRPr sz="2250">
              <a:latin typeface="Times New Roman"/>
              <a:cs typeface="Times New Roman"/>
            </a:endParaRPr>
          </a:p>
          <a:p>
            <a:pPr marL="271145" marR="288290">
              <a:lnSpc>
                <a:spcPct val="116399"/>
              </a:lnSpc>
              <a:spcBef>
                <a:spcPts val="1040"/>
              </a:spcBef>
            </a:pPr>
            <a:r>
              <a:rPr sz="1450" spc="-85" dirty="0">
                <a:solidFill>
                  <a:srgbClr val="3B3C43"/>
                </a:solidFill>
                <a:latin typeface="Arial"/>
                <a:cs typeface="Arial"/>
              </a:rPr>
              <a:t>Lady</a:t>
            </a:r>
            <a:r>
              <a:rPr sz="1450" spc="-7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wardens,</a:t>
            </a:r>
            <a:r>
              <a:rPr sz="1450" spc="-7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science</a:t>
            </a:r>
            <a:r>
              <a:rPr sz="1450" spc="-7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45" dirty="0">
                <a:solidFill>
                  <a:srgbClr val="3B3C43"/>
                </a:solidFill>
                <a:latin typeface="Arial"/>
                <a:cs typeface="Arial"/>
              </a:rPr>
              <a:t>teachers,</a:t>
            </a:r>
            <a:r>
              <a:rPr sz="1450" spc="-7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60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450" spc="-7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40" dirty="0">
                <a:solidFill>
                  <a:srgbClr val="3B3C43"/>
                </a:solidFill>
                <a:latin typeface="Arial"/>
                <a:cs typeface="Arial"/>
              </a:rPr>
              <a:t>peer-</a:t>
            </a:r>
            <a:r>
              <a:rPr sz="1450" spc="-25" dirty="0">
                <a:solidFill>
                  <a:srgbClr val="3B3C43"/>
                </a:solidFill>
                <a:latin typeface="Arial"/>
                <a:cs typeface="Arial"/>
              </a:rPr>
              <a:t>mentor</a:t>
            </a:r>
            <a:r>
              <a:rPr sz="145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30" dirty="0">
                <a:solidFill>
                  <a:srgbClr val="3B3C43"/>
                </a:solidFill>
                <a:latin typeface="Arial"/>
                <a:cs typeface="Arial"/>
              </a:rPr>
              <a:t>students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3B3C43"/>
                </a:solidFill>
                <a:latin typeface="Arial"/>
                <a:cs typeface="Arial"/>
              </a:rPr>
              <a:t>are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certified</a:t>
            </a:r>
            <a:r>
              <a:rPr sz="145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3B3C43"/>
                </a:solidFill>
                <a:latin typeface="Arial"/>
                <a:cs typeface="Arial"/>
              </a:rPr>
              <a:t>to</a:t>
            </a:r>
            <a:r>
              <a:rPr sz="145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deliver </a:t>
            </a:r>
            <a:r>
              <a:rPr sz="1450" spc="-25" dirty="0">
                <a:solidFill>
                  <a:srgbClr val="3B3C43"/>
                </a:solidFill>
                <a:latin typeface="Arial"/>
                <a:cs typeface="Arial"/>
              </a:rPr>
              <a:t>content</a:t>
            </a:r>
            <a:r>
              <a:rPr sz="145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3B3C43"/>
                </a:solidFill>
                <a:latin typeface="Arial"/>
                <a:cs typeface="Arial"/>
              </a:rPr>
              <a:t>independently.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350">
              <a:latin typeface="Arial"/>
              <a:cs typeface="Arial"/>
            </a:endParaRPr>
          </a:p>
          <a:p>
            <a:pPr marL="271145">
              <a:lnSpc>
                <a:spcPct val="100000"/>
              </a:lnSpc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8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+</a:t>
            </a:r>
            <a:r>
              <a:rPr sz="950" spc="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23"/>
            <a:ext cx="95250" cy="9524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206612" y="406400"/>
            <a:ext cx="2019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082040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11344"/>
            <a:ext cx="7586345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576070" algn="l"/>
                <a:tab pos="2435225" algn="l"/>
                <a:tab pos="3294379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G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V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1650" dirty="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175" dirty="0">
                <a:solidFill>
                  <a:srgbClr val="16171F"/>
                </a:solidFill>
                <a:latin typeface="Times New Roman"/>
                <a:cs typeface="Times New Roman"/>
              </a:rPr>
              <a:t>Four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0" dirty="0">
                <a:solidFill>
                  <a:srgbClr val="16171F"/>
                </a:solidFill>
                <a:latin typeface="Times New Roman"/>
                <a:cs typeface="Times New Roman"/>
              </a:rPr>
              <a:t>interventions,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05" dirty="0">
                <a:solidFill>
                  <a:srgbClr val="16171F"/>
                </a:solidFill>
                <a:latin typeface="Times New Roman"/>
                <a:cs typeface="Times New Roman"/>
              </a:rPr>
              <a:t>delivered </a:t>
            </a:r>
            <a:r>
              <a:rPr sz="4800" spc="210" dirty="0">
                <a:solidFill>
                  <a:srgbClr val="16171F"/>
                </a:solidFill>
                <a:latin typeface="Times New Roman"/>
                <a:cs typeface="Times New Roman"/>
              </a:rPr>
              <a:t>together</a:t>
            </a:r>
            <a:r>
              <a:rPr sz="4800" spc="-1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65" dirty="0">
                <a:solidFill>
                  <a:srgbClr val="16171F"/>
                </a:solidFill>
                <a:latin typeface="Times New Roman"/>
                <a:cs typeface="Times New Roman"/>
              </a:rPr>
              <a:t>on</a:t>
            </a:r>
            <a:r>
              <a:rPr sz="4800" spc="-10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every</a:t>
            </a:r>
            <a:r>
              <a:rPr sz="4800" spc="-10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45" dirty="0">
                <a:solidFill>
                  <a:srgbClr val="16171F"/>
                </a:solidFill>
                <a:latin typeface="Times New Roman"/>
                <a:cs typeface="Times New Roman"/>
              </a:rPr>
              <a:t>campus.</a:t>
            </a:r>
            <a:endParaRPr sz="48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7737" y="3133722"/>
            <a:ext cx="3895737" cy="7153277"/>
            <a:chOff x="1047737" y="3133722"/>
            <a:chExt cx="3895737" cy="7153277"/>
          </a:xfrm>
        </p:grpSpPr>
        <p:sp>
          <p:nvSpPr>
            <p:cNvPr id="4" name="object 4"/>
            <p:cNvSpPr/>
            <p:nvPr/>
          </p:nvSpPr>
          <p:spPr>
            <a:xfrm>
              <a:off x="1047749" y="3133722"/>
              <a:ext cx="3895725" cy="7153275"/>
            </a:xfrm>
            <a:custGeom>
              <a:avLst/>
              <a:gdLst/>
              <a:ahLst/>
              <a:cxnLst/>
              <a:rect l="l" t="t" r="r" b="b"/>
              <a:pathLst>
                <a:path w="3895725" h="7153275">
                  <a:moveTo>
                    <a:pt x="3895724" y="7153274"/>
                  </a:moveTo>
                  <a:lnTo>
                    <a:pt x="0" y="7153274"/>
                  </a:lnTo>
                  <a:lnTo>
                    <a:pt x="0" y="0"/>
                  </a:lnTo>
                  <a:lnTo>
                    <a:pt x="3895724" y="0"/>
                  </a:lnTo>
                  <a:lnTo>
                    <a:pt x="3895724" y="71532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7737" y="3133724"/>
              <a:ext cx="3895725" cy="7153275"/>
            </a:xfrm>
            <a:custGeom>
              <a:avLst/>
              <a:gdLst/>
              <a:ahLst/>
              <a:cxnLst/>
              <a:rect l="l" t="t" r="r" b="b"/>
              <a:pathLst>
                <a:path w="3895725" h="7153275">
                  <a:moveTo>
                    <a:pt x="3895725" y="0"/>
                  </a:moveTo>
                  <a:lnTo>
                    <a:pt x="3886200" y="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0" y="7153275"/>
                  </a:lnTo>
                  <a:lnTo>
                    <a:pt x="9525" y="7153275"/>
                  </a:lnTo>
                  <a:lnTo>
                    <a:pt x="9525" y="9525"/>
                  </a:lnTo>
                  <a:lnTo>
                    <a:pt x="3886200" y="9525"/>
                  </a:lnTo>
                  <a:lnTo>
                    <a:pt x="3886200" y="7153275"/>
                  </a:lnTo>
                  <a:lnTo>
                    <a:pt x="3895725" y="7153275"/>
                  </a:lnTo>
                  <a:lnTo>
                    <a:pt x="3895725" y="9525"/>
                  </a:lnTo>
                  <a:lnTo>
                    <a:pt x="3895725" y="0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57274" y="3162301"/>
              <a:ext cx="3876674" cy="456120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57274" y="8162607"/>
            <a:ext cx="3876675" cy="168528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475"/>
              </a:spcBef>
            </a:pP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1</a:t>
            </a:r>
            <a:r>
              <a:rPr sz="950" spc="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50" spc="42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950">
              <a:latin typeface="Courier New"/>
              <a:cs typeface="Courier New"/>
            </a:endParaRPr>
          </a:p>
          <a:p>
            <a:pPr marL="209550" marR="592455">
              <a:lnSpc>
                <a:spcPts val="2180"/>
              </a:lnSpc>
              <a:spcBef>
                <a:spcPts val="915"/>
              </a:spcBef>
            </a:pPr>
            <a:r>
              <a:rPr sz="1950" spc="110" dirty="0">
                <a:solidFill>
                  <a:srgbClr val="16171F"/>
                </a:solidFill>
                <a:latin typeface="Times New Roman"/>
                <a:cs typeface="Times New Roman"/>
              </a:rPr>
              <a:t>One-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day</a:t>
            </a:r>
            <a:r>
              <a:rPr sz="1950" spc="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135" dirty="0">
                <a:solidFill>
                  <a:srgbClr val="16171F"/>
                </a:solidFill>
                <a:latin typeface="Times New Roman"/>
                <a:cs typeface="Times New Roman"/>
              </a:rPr>
              <a:t>MHM</a:t>
            </a:r>
            <a:r>
              <a:rPr sz="1950" spc="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0" dirty="0">
                <a:solidFill>
                  <a:srgbClr val="16171F"/>
                </a:solidFill>
                <a:latin typeface="Times New Roman"/>
                <a:cs typeface="Times New Roman"/>
              </a:rPr>
              <a:t>workshop</a:t>
            </a:r>
            <a:r>
              <a:rPr sz="1950" spc="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90" dirty="0">
                <a:solidFill>
                  <a:srgbClr val="16171F"/>
                </a:solidFill>
                <a:latin typeface="Times New Roman"/>
                <a:cs typeface="Times New Roman"/>
              </a:rPr>
              <a:t>in 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every</a:t>
            </a:r>
            <a:r>
              <a:rPr sz="1950" spc="9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0" dirty="0">
                <a:solidFill>
                  <a:srgbClr val="16171F"/>
                </a:solidFill>
                <a:latin typeface="Times New Roman"/>
                <a:cs typeface="Times New Roman"/>
              </a:rPr>
              <a:t>institution.</a:t>
            </a:r>
            <a:endParaRPr sz="1950">
              <a:latin typeface="Times New Roman"/>
              <a:cs typeface="Times New Roman"/>
            </a:endParaRPr>
          </a:p>
          <a:p>
            <a:pPr marL="209550" marR="222250">
              <a:lnSpc>
                <a:spcPct val="115399"/>
              </a:lnSpc>
              <a:spcBef>
                <a:spcPts val="869"/>
              </a:spcBef>
            </a:pP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Menstrual</a:t>
            </a:r>
            <a:r>
              <a:rPr sz="1300" spc="-1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cycle,</a:t>
            </a:r>
            <a:r>
              <a:rPr sz="1300" spc="-1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hygiene,</a:t>
            </a:r>
            <a:r>
              <a:rPr sz="1300" spc="-1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myth-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busting,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emotional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well-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being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&amp;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incinerator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use.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3B3C43"/>
                </a:solidFill>
                <a:latin typeface="Arial"/>
                <a:cs typeface="Arial"/>
              </a:rPr>
              <a:t>Telugu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flipbooks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+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facilitator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script.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53012" y="3133722"/>
            <a:ext cx="3886212" cy="7153277"/>
            <a:chOff x="5153012" y="3133722"/>
            <a:chExt cx="3886212" cy="7153277"/>
          </a:xfrm>
        </p:grpSpPr>
        <p:sp>
          <p:nvSpPr>
            <p:cNvPr id="9" name="object 9"/>
            <p:cNvSpPr/>
            <p:nvPr/>
          </p:nvSpPr>
          <p:spPr>
            <a:xfrm>
              <a:off x="5153024" y="3133722"/>
              <a:ext cx="3886200" cy="7153275"/>
            </a:xfrm>
            <a:custGeom>
              <a:avLst/>
              <a:gdLst/>
              <a:ahLst/>
              <a:cxnLst/>
              <a:rect l="l" t="t" r="r" b="b"/>
              <a:pathLst>
                <a:path w="3886200" h="7153275">
                  <a:moveTo>
                    <a:pt x="3886199" y="7153274"/>
                  </a:moveTo>
                  <a:lnTo>
                    <a:pt x="0" y="7153274"/>
                  </a:lnTo>
                  <a:lnTo>
                    <a:pt x="0" y="0"/>
                  </a:lnTo>
                  <a:lnTo>
                    <a:pt x="3886199" y="0"/>
                  </a:lnTo>
                  <a:lnTo>
                    <a:pt x="3886199" y="71532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53012" y="3133724"/>
              <a:ext cx="3886200" cy="7153275"/>
            </a:xfrm>
            <a:custGeom>
              <a:avLst/>
              <a:gdLst/>
              <a:ahLst/>
              <a:cxnLst/>
              <a:rect l="l" t="t" r="r" b="b"/>
              <a:pathLst>
                <a:path w="3886200" h="7153275">
                  <a:moveTo>
                    <a:pt x="3886200" y="0"/>
                  </a:moveTo>
                  <a:lnTo>
                    <a:pt x="3876675" y="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0" y="7153275"/>
                  </a:lnTo>
                  <a:lnTo>
                    <a:pt x="9525" y="7153275"/>
                  </a:lnTo>
                  <a:lnTo>
                    <a:pt x="9525" y="9525"/>
                  </a:lnTo>
                  <a:lnTo>
                    <a:pt x="3876675" y="9525"/>
                  </a:lnTo>
                  <a:lnTo>
                    <a:pt x="3876675" y="7153275"/>
                  </a:lnTo>
                  <a:lnTo>
                    <a:pt x="3886200" y="7153275"/>
                  </a:lnTo>
                  <a:lnTo>
                    <a:pt x="3886200" y="9525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2549" y="3162300"/>
              <a:ext cx="3867149" cy="457307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162549" y="8162607"/>
            <a:ext cx="3867150" cy="168528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475"/>
              </a:spcBef>
            </a:pP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2</a:t>
            </a:r>
            <a:r>
              <a:rPr sz="950" spc="42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50" spc="42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950">
              <a:latin typeface="Courier New"/>
              <a:cs typeface="Courier New"/>
            </a:endParaRPr>
          </a:p>
          <a:p>
            <a:pPr marL="204470" marR="429259">
              <a:lnSpc>
                <a:spcPts val="2180"/>
              </a:lnSpc>
              <a:spcBef>
                <a:spcPts val="915"/>
              </a:spcBef>
            </a:pPr>
            <a:r>
              <a:rPr sz="1950" spc="65" dirty="0">
                <a:solidFill>
                  <a:srgbClr val="16171F"/>
                </a:solidFill>
                <a:latin typeface="Times New Roman"/>
                <a:cs typeface="Times New Roman"/>
              </a:rPr>
              <a:t>Sanitary</a:t>
            </a:r>
            <a:r>
              <a:rPr sz="195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105" dirty="0">
                <a:solidFill>
                  <a:srgbClr val="16171F"/>
                </a:solidFill>
                <a:latin typeface="Times New Roman"/>
                <a:cs typeface="Times New Roman"/>
              </a:rPr>
              <a:t>napkin</a:t>
            </a:r>
            <a:r>
              <a:rPr sz="195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100" dirty="0">
                <a:solidFill>
                  <a:srgbClr val="16171F"/>
                </a:solidFill>
                <a:latin typeface="Times New Roman"/>
                <a:cs typeface="Times New Roman"/>
              </a:rPr>
              <a:t>starter</a:t>
            </a:r>
            <a:r>
              <a:rPr sz="195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5" dirty="0">
                <a:solidFill>
                  <a:srgbClr val="16171F"/>
                </a:solidFill>
                <a:latin typeface="Times New Roman"/>
                <a:cs typeface="Times New Roman"/>
              </a:rPr>
              <a:t>kits</a:t>
            </a:r>
            <a:r>
              <a:rPr sz="195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0" dirty="0">
                <a:solidFill>
                  <a:srgbClr val="16171F"/>
                </a:solidFill>
                <a:latin typeface="Times New Roman"/>
                <a:cs typeface="Times New Roman"/>
              </a:rPr>
              <a:t>in 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every</a:t>
            </a:r>
            <a:r>
              <a:rPr sz="1950" spc="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16171F"/>
                </a:solidFill>
                <a:latin typeface="Times New Roman"/>
                <a:cs typeface="Times New Roman"/>
              </a:rPr>
              <a:t>girl's</a:t>
            </a:r>
            <a:r>
              <a:rPr sz="1950" spc="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16171F"/>
                </a:solidFill>
                <a:latin typeface="Times New Roman"/>
                <a:cs typeface="Times New Roman"/>
              </a:rPr>
              <a:t>hands.</a:t>
            </a:r>
            <a:endParaRPr sz="1950">
              <a:latin typeface="Times New Roman"/>
              <a:cs typeface="Times New Roman"/>
            </a:endParaRPr>
          </a:p>
          <a:p>
            <a:pPr marL="204470" marR="434975">
              <a:lnSpc>
                <a:spcPct val="115399"/>
              </a:lnSpc>
              <a:spcBef>
                <a:spcPts val="869"/>
              </a:spcBef>
            </a:pP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12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packs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per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newly-enrolled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girl,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with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3B3C43"/>
                </a:solidFill>
                <a:latin typeface="Arial"/>
                <a:cs typeface="Arial"/>
              </a:rPr>
              <a:t>a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printed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user guide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live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demonstration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on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safe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disposal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practice.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248762" y="3133722"/>
            <a:ext cx="3895737" cy="7153277"/>
            <a:chOff x="9248762" y="3133722"/>
            <a:chExt cx="3895737" cy="7153277"/>
          </a:xfrm>
        </p:grpSpPr>
        <p:sp>
          <p:nvSpPr>
            <p:cNvPr id="14" name="object 14"/>
            <p:cNvSpPr/>
            <p:nvPr/>
          </p:nvSpPr>
          <p:spPr>
            <a:xfrm>
              <a:off x="9248774" y="3133722"/>
              <a:ext cx="3895725" cy="7153275"/>
            </a:xfrm>
            <a:custGeom>
              <a:avLst/>
              <a:gdLst/>
              <a:ahLst/>
              <a:cxnLst/>
              <a:rect l="l" t="t" r="r" b="b"/>
              <a:pathLst>
                <a:path w="3895725" h="7153275">
                  <a:moveTo>
                    <a:pt x="3895724" y="7153274"/>
                  </a:moveTo>
                  <a:lnTo>
                    <a:pt x="0" y="7153274"/>
                  </a:lnTo>
                  <a:lnTo>
                    <a:pt x="0" y="0"/>
                  </a:lnTo>
                  <a:lnTo>
                    <a:pt x="3895724" y="0"/>
                  </a:lnTo>
                  <a:lnTo>
                    <a:pt x="3895724" y="71532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48762" y="3133724"/>
              <a:ext cx="3895725" cy="7153275"/>
            </a:xfrm>
            <a:custGeom>
              <a:avLst/>
              <a:gdLst/>
              <a:ahLst/>
              <a:cxnLst/>
              <a:rect l="l" t="t" r="r" b="b"/>
              <a:pathLst>
                <a:path w="3895725" h="7153275">
                  <a:moveTo>
                    <a:pt x="3895725" y="0"/>
                  </a:moveTo>
                  <a:lnTo>
                    <a:pt x="3886200" y="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0" y="7153275"/>
                  </a:lnTo>
                  <a:lnTo>
                    <a:pt x="9525" y="7153275"/>
                  </a:lnTo>
                  <a:lnTo>
                    <a:pt x="9525" y="9525"/>
                  </a:lnTo>
                  <a:lnTo>
                    <a:pt x="3886200" y="9525"/>
                  </a:lnTo>
                  <a:lnTo>
                    <a:pt x="3886200" y="7153275"/>
                  </a:lnTo>
                  <a:lnTo>
                    <a:pt x="3895725" y="7153275"/>
                  </a:lnTo>
                  <a:lnTo>
                    <a:pt x="3895725" y="9525"/>
                  </a:lnTo>
                  <a:lnTo>
                    <a:pt x="3895725" y="0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8299" y="3143249"/>
              <a:ext cx="3876674" cy="459212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258299" y="8162607"/>
            <a:ext cx="3876675" cy="168528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475"/>
              </a:spcBef>
            </a:pP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3</a:t>
            </a:r>
            <a:r>
              <a:rPr sz="950" spc="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50" spc="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F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  <a:p>
            <a:pPr marL="209550" marR="431165">
              <a:lnSpc>
                <a:spcPts val="2180"/>
              </a:lnSpc>
              <a:spcBef>
                <a:spcPts val="915"/>
              </a:spcBef>
            </a:pPr>
            <a:r>
              <a:rPr sz="1950" spc="114" dirty="0">
                <a:solidFill>
                  <a:srgbClr val="16171F"/>
                </a:solidFill>
                <a:latin typeface="Times New Roman"/>
                <a:cs typeface="Times New Roman"/>
              </a:rPr>
              <a:t>Permanent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60" dirty="0">
                <a:solidFill>
                  <a:srgbClr val="16171F"/>
                </a:solidFill>
                <a:latin typeface="Times New Roman"/>
                <a:cs typeface="Times New Roman"/>
              </a:rPr>
              <a:t>eco-</a:t>
            </a:r>
            <a:r>
              <a:rPr sz="1950" spc="50" dirty="0">
                <a:solidFill>
                  <a:srgbClr val="16171F"/>
                </a:solidFill>
                <a:latin typeface="Times New Roman"/>
                <a:cs typeface="Times New Roman"/>
              </a:rPr>
              <a:t>friendly </a:t>
            </a:r>
            <a:r>
              <a:rPr sz="1950" spc="95" dirty="0">
                <a:solidFill>
                  <a:srgbClr val="16171F"/>
                </a:solidFill>
                <a:latin typeface="Times New Roman"/>
                <a:cs typeface="Times New Roman"/>
              </a:rPr>
              <a:t>incinerators</a:t>
            </a:r>
            <a:r>
              <a:rPr sz="1950" spc="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114" dirty="0">
                <a:solidFill>
                  <a:srgbClr val="16171F"/>
                </a:solidFill>
                <a:latin typeface="Times New Roman"/>
                <a:cs typeface="Times New Roman"/>
              </a:rPr>
              <a:t>on</a:t>
            </a:r>
            <a:r>
              <a:rPr sz="1950" spc="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every</a:t>
            </a:r>
            <a:r>
              <a:rPr sz="1950" spc="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65" dirty="0">
                <a:solidFill>
                  <a:srgbClr val="16171F"/>
                </a:solidFill>
                <a:latin typeface="Times New Roman"/>
                <a:cs typeface="Times New Roman"/>
              </a:rPr>
              <a:t>campus.</a:t>
            </a:r>
            <a:endParaRPr sz="1950">
              <a:latin typeface="Times New Roman"/>
              <a:cs typeface="Times New Roman"/>
            </a:endParaRPr>
          </a:p>
          <a:p>
            <a:pPr marL="209550" marR="377190">
              <a:lnSpc>
                <a:spcPct val="115399"/>
              </a:lnSpc>
              <a:spcBef>
                <a:spcPts val="869"/>
              </a:spcBef>
            </a:pPr>
            <a:r>
              <a:rPr sz="1300" spc="-85" dirty="0">
                <a:solidFill>
                  <a:srgbClr val="3B3C43"/>
                </a:solidFill>
                <a:latin typeface="Arial"/>
                <a:cs typeface="Arial"/>
              </a:rPr>
              <a:t>Two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units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per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institution.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One-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time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capital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investment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with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3B3C43"/>
                </a:solidFill>
                <a:latin typeface="Arial"/>
                <a:cs typeface="Arial"/>
              </a:rPr>
              <a:t>a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10+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year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service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life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first-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year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maintenance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contract.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354048" y="3133722"/>
            <a:ext cx="3886200" cy="7153275"/>
          </a:xfrm>
          <a:custGeom>
            <a:avLst/>
            <a:gdLst/>
            <a:ahLst/>
            <a:cxnLst/>
            <a:rect l="l" t="t" r="r" b="b"/>
            <a:pathLst>
              <a:path w="3886200" h="7153275">
                <a:moveTo>
                  <a:pt x="3886199" y="7153274"/>
                </a:moveTo>
                <a:lnTo>
                  <a:pt x="0" y="7153274"/>
                </a:lnTo>
                <a:lnTo>
                  <a:pt x="0" y="0"/>
                </a:lnTo>
                <a:lnTo>
                  <a:pt x="3886199" y="0"/>
                </a:lnTo>
                <a:lnTo>
                  <a:pt x="3886199" y="7153274"/>
                </a:lnTo>
                <a:close/>
              </a:path>
            </a:pathLst>
          </a:custGeom>
          <a:solidFill>
            <a:srgbClr val="FCF8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354037" y="3133724"/>
            <a:ext cx="3886200" cy="7153275"/>
          </a:xfrm>
          <a:custGeom>
            <a:avLst/>
            <a:gdLst/>
            <a:ahLst/>
            <a:cxnLst/>
            <a:rect l="l" t="t" r="r" b="b"/>
            <a:pathLst>
              <a:path w="3886200" h="7153275">
                <a:moveTo>
                  <a:pt x="3886200" y="0"/>
                </a:moveTo>
                <a:lnTo>
                  <a:pt x="3876675" y="0"/>
                </a:lnTo>
                <a:lnTo>
                  <a:pt x="9525" y="0"/>
                </a:lnTo>
                <a:lnTo>
                  <a:pt x="0" y="0"/>
                </a:lnTo>
                <a:lnTo>
                  <a:pt x="0" y="9525"/>
                </a:lnTo>
                <a:lnTo>
                  <a:pt x="0" y="7153275"/>
                </a:lnTo>
                <a:lnTo>
                  <a:pt x="9525" y="7153275"/>
                </a:lnTo>
                <a:lnTo>
                  <a:pt x="9525" y="9525"/>
                </a:lnTo>
                <a:lnTo>
                  <a:pt x="3876675" y="9525"/>
                </a:lnTo>
                <a:lnTo>
                  <a:pt x="3876675" y="7153275"/>
                </a:lnTo>
                <a:lnTo>
                  <a:pt x="3886200" y="7153275"/>
                </a:lnTo>
                <a:lnTo>
                  <a:pt x="3886200" y="9525"/>
                </a:lnTo>
                <a:lnTo>
                  <a:pt x="3886200" y="0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63574" y="3143249"/>
            <a:ext cx="3867149" cy="4580257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3363573" y="8162607"/>
            <a:ext cx="3867150" cy="168528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475"/>
              </a:spcBef>
            </a:pP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4</a:t>
            </a:r>
            <a:r>
              <a:rPr sz="950" spc="42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50" spc="42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50" spc="-38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50" spc="-37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77292E"/>
                </a:solidFill>
                <a:latin typeface="Courier New"/>
                <a:cs typeface="Courier New"/>
              </a:rPr>
              <a:t>Y</a:t>
            </a:r>
            <a:endParaRPr sz="950" dirty="0">
              <a:latin typeface="Courier New"/>
              <a:cs typeface="Courier New"/>
            </a:endParaRPr>
          </a:p>
          <a:p>
            <a:pPr marL="204470" marR="687070">
              <a:lnSpc>
                <a:spcPts val="2180"/>
              </a:lnSpc>
              <a:spcBef>
                <a:spcPts val="915"/>
              </a:spcBef>
            </a:pPr>
            <a:r>
              <a:rPr sz="1950" spc="90" dirty="0">
                <a:solidFill>
                  <a:srgbClr val="16171F"/>
                </a:solidFill>
                <a:latin typeface="Times New Roman"/>
                <a:cs typeface="Times New Roman"/>
              </a:rPr>
              <a:t>Training</a:t>
            </a:r>
            <a:r>
              <a:rPr sz="1950" spc="-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of</a:t>
            </a:r>
            <a:r>
              <a:rPr sz="1950" spc="-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16171F"/>
                </a:solidFill>
                <a:latin typeface="Times New Roman"/>
                <a:cs typeface="Times New Roman"/>
              </a:rPr>
              <a:t>Trainers,</a:t>
            </a:r>
            <a:r>
              <a:rPr sz="1950" spc="-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65" dirty="0">
                <a:solidFill>
                  <a:srgbClr val="16171F"/>
                </a:solidFill>
                <a:latin typeface="Times New Roman"/>
                <a:cs typeface="Times New Roman"/>
              </a:rPr>
              <a:t>so</a:t>
            </a:r>
            <a:r>
              <a:rPr sz="1950" spc="-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100" dirty="0">
                <a:solidFill>
                  <a:srgbClr val="16171F"/>
                </a:solidFill>
                <a:latin typeface="Times New Roman"/>
                <a:cs typeface="Times New Roman"/>
              </a:rPr>
              <a:t>the </a:t>
            </a:r>
            <a:r>
              <a:rPr sz="1950" spc="105" dirty="0">
                <a:solidFill>
                  <a:srgbClr val="16171F"/>
                </a:solidFill>
                <a:latin typeface="Times New Roman"/>
                <a:cs typeface="Times New Roman"/>
              </a:rPr>
              <a:t>programme</a:t>
            </a:r>
            <a:r>
              <a:rPr sz="195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55" dirty="0">
                <a:solidFill>
                  <a:srgbClr val="16171F"/>
                </a:solidFill>
                <a:latin typeface="Times New Roman"/>
                <a:cs typeface="Times New Roman"/>
              </a:rPr>
              <a:t>outlives</a:t>
            </a:r>
            <a:r>
              <a:rPr sz="195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-25" dirty="0">
                <a:solidFill>
                  <a:srgbClr val="16171F"/>
                </a:solidFill>
                <a:latin typeface="Times New Roman"/>
                <a:cs typeface="Times New Roman"/>
              </a:rPr>
              <a:t>us.</a:t>
            </a:r>
            <a:endParaRPr sz="1950" dirty="0">
              <a:latin typeface="Times New Roman"/>
              <a:cs typeface="Times New Roman"/>
            </a:endParaRPr>
          </a:p>
          <a:p>
            <a:pPr marL="204470" marR="289560">
              <a:lnSpc>
                <a:spcPct val="115399"/>
              </a:lnSpc>
              <a:spcBef>
                <a:spcPts val="869"/>
              </a:spcBef>
            </a:pPr>
            <a:r>
              <a:rPr sz="1300" spc="-75" dirty="0">
                <a:solidFill>
                  <a:srgbClr val="3B3C43"/>
                </a:solidFill>
                <a:latin typeface="Arial"/>
                <a:cs typeface="Arial"/>
              </a:rPr>
              <a:t>Lady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wardens,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science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teachers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senior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peer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mentors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are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25" dirty="0">
                <a:solidFill>
                  <a:srgbClr val="3B3C43"/>
                </a:solidFill>
                <a:latin typeface="Arial"/>
                <a:cs typeface="Arial"/>
              </a:rPr>
              <a:t>ToT-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certified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to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sustain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delivery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from </a:t>
            </a:r>
            <a:r>
              <a:rPr sz="1300" spc="-95" dirty="0">
                <a:solidFill>
                  <a:srgbClr val="3B3C43"/>
                </a:solidFill>
                <a:latin typeface="Arial"/>
                <a:cs typeface="Arial"/>
              </a:rPr>
              <a:t>Year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2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onwards.</a:t>
            </a:r>
            <a:endParaRPr sz="1300" dirty="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7749" y="466723"/>
            <a:ext cx="95250" cy="9524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255750" y="406400"/>
            <a:ext cx="2969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79514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6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1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11344"/>
            <a:ext cx="9594215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404620" algn="l"/>
                <a:tab pos="1920239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W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R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175" dirty="0">
                <a:solidFill>
                  <a:srgbClr val="16171F"/>
                </a:solidFill>
                <a:latin typeface="Times New Roman"/>
                <a:cs typeface="Times New Roman"/>
              </a:rPr>
              <a:t>Targeting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8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20" dirty="0">
                <a:solidFill>
                  <a:srgbClr val="16171F"/>
                </a:solidFill>
                <a:latin typeface="Times New Roman"/>
                <a:cs typeface="Times New Roman"/>
              </a:rPr>
              <a:t>most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0" dirty="0">
                <a:solidFill>
                  <a:srgbClr val="16171F"/>
                </a:solidFill>
                <a:latin typeface="Times New Roman"/>
                <a:cs typeface="Times New Roman"/>
              </a:rPr>
              <a:t>underserved </a:t>
            </a:r>
            <a:r>
              <a:rPr sz="4800" spc="165" dirty="0">
                <a:solidFill>
                  <a:srgbClr val="16171F"/>
                </a:solidFill>
                <a:latin typeface="Times New Roman"/>
                <a:cs typeface="Times New Roman"/>
              </a:rPr>
              <a:t>adolescent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90" dirty="0">
                <a:solidFill>
                  <a:srgbClr val="16171F"/>
                </a:solidFill>
                <a:latin typeface="Times New Roman"/>
                <a:cs typeface="Times New Roman"/>
              </a:rPr>
              <a:t>demographic</a:t>
            </a:r>
            <a:r>
              <a:rPr sz="4800" spc="-16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60" dirty="0">
                <a:solidFill>
                  <a:srgbClr val="16171F"/>
                </a:solidFill>
                <a:latin typeface="Times New Roman"/>
                <a:cs typeface="Times New Roman"/>
              </a:rPr>
              <a:t>in</a:t>
            </a:r>
            <a:r>
              <a:rPr sz="4800" spc="-16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8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40" dirty="0">
                <a:solidFill>
                  <a:srgbClr val="16171F"/>
                </a:solidFill>
                <a:latin typeface="Times New Roman"/>
                <a:cs typeface="Times New Roman"/>
              </a:rPr>
              <a:t>state.</a:t>
            </a:r>
            <a:endParaRPr sz="48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7749" y="3133722"/>
          <a:ext cx="8569958" cy="2769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5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030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7200" spc="-25" dirty="0">
                          <a:solidFill>
                            <a:srgbClr val="16171F"/>
                          </a:solidFill>
                          <a:latin typeface="Times New Roman"/>
                          <a:cs typeface="Times New Roman"/>
                        </a:rPr>
                        <a:t>275</a:t>
                      </a:r>
                      <a:endParaRPr sz="7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R w="9525">
                      <a:solidFill>
                        <a:srgbClr val="D3CCC6"/>
                      </a:solidFill>
                      <a:prstDash val="solid"/>
                    </a:lnR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7200" spc="-90" dirty="0">
                          <a:solidFill>
                            <a:srgbClr val="16171F"/>
                          </a:solidFill>
                          <a:latin typeface="Times New Roman"/>
                          <a:cs typeface="Times New Roman"/>
                        </a:rPr>
                        <a:t>1.2</a:t>
                      </a:r>
                      <a:r>
                        <a:rPr sz="7200" spc="509" dirty="0">
                          <a:solidFill>
                            <a:srgbClr val="1617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3200" spc="55" dirty="0">
                          <a:solidFill>
                            <a:srgbClr val="67686E"/>
                          </a:solidFill>
                          <a:latin typeface="Palatino Linotype"/>
                          <a:cs typeface="Palatino Linotype"/>
                        </a:rPr>
                        <a:t>L</a:t>
                      </a:r>
                      <a:endParaRPr sz="3200">
                        <a:latin typeface="Palatino Linotype"/>
                        <a:cs typeface="Palatino Linotype"/>
                      </a:endParaRPr>
                    </a:p>
                    <a:p>
                      <a:pPr marL="229870">
                        <a:lnSpc>
                          <a:spcPct val="100000"/>
                        </a:lnSpc>
                        <a:spcBef>
                          <a:spcPts val="509"/>
                        </a:spcBef>
                        <a:tabLst>
                          <a:tab pos="942975" algn="l"/>
                          <a:tab pos="1180465" algn="l"/>
                        </a:tabLst>
                      </a:pP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2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2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2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7200" spc="-125" dirty="0">
                          <a:solidFill>
                            <a:srgbClr val="16171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7200" spc="475" dirty="0">
                          <a:solidFill>
                            <a:srgbClr val="16171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3200" spc="20" dirty="0">
                          <a:solidFill>
                            <a:srgbClr val="67686E"/>
                          </a:solidFill>
                          <a:latin typeface="Palatino Linotype"/>
                          <a:cs typeface="Palatino Linotype"/>
                        </a:rPr>
                        <a:t>K</a:t>
                      </a:r>
                      <a:endParaRPr sz="3200">
                        <a:latin typeface="Palatino Linotype"/>
                        <a:cs typeface="Palatino Linotype"/>
                      </a:endParaRPr>
                    </a:p>
                    <a:p>
                      <a:pPr marL="230504">
                        <a:lnSpc>
                          <a:spcPct val="100000"/>
                        </a:lnSpc>
                        <a:spcBef>
                          <a:spcPts val="509"/>
                        </a:spcBef>
                        <a:tabLst>
                          <a:tab pos="705485" algn="l"/>
                        </a:tabLst>
                      </a:pP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K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2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6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7200" spc="-25" dirty="0">
                          <a:solidFill>
                            <a:srgbClr val="16171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7200">
                        <a:latin typeface="Times New Roman"/>
                        <a:cs typeface="Times New Roman"/>
                      </a:endParaRPr>
                    </a:p>
                    <a:p>
                      <a:pPr marL="2362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200" spc="-50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200" spc="-5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3CCC6"/>
                      </a:solidFill>
                      <a:prstDash val="solid"/>
                    </a:lnL>
                    <a:lnT w="9525">
                      <a:solidFill>
                        <a:srgbClr val="1617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9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146</a:t>
                      </a:r>
                      <a:r>
                        <a:rPr sz="1950" spc="-10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7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schools</a:t>
                      </a:r>
                      <a:r>
                        <a:rPr sz="1950" spc="-10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&amp;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R w="9525">
                      <a:solidFill>
                        <a:srgbClr val="D3CCC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950" spc="-12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Classes</a:t>
                      </a:r>
                      <a:r>
                        <a:rPr sz="19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7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VI–</a:t>
                      </a:r>
                      <a:r>
                        <a:rPr sz="19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XII</a:t>
                      </a:r>
                      <a:r>
                        <a:rPr sz="19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+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950" spc="-7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Newly</a:t>
                      </a:r>
                      <a:r>
                        <a:rPr sz="1950" spc="-9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enrolled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9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sz="1950" spc="-1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erstwhile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9525">
                      <a:solidFill>
                        <a:srgbClr val="D3CCC6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265">
                <a:tc>
                  <a:txBody>
                    <a:bodyPr/>
                    <a:lstStyle/>
                    <a:p>
                      <a:pPr>
                        <a:lnSpc>
                          <a:spcPts val="2250"/>
                        </a:lnSpc>
                      </a:pPr>
                      <a:r>
                        <a:rPr sz="19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129</a:t>
                      </a:r>
                      <a:r>
                        <a:rPr sz="1950" spc="-1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6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jr.</a:t>
                      </a:r>
                      <a:r>
                        <a:rPr sz="1950" spc="-12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colleges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D3CCC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ts val="2250"/>
                        </a:lnSpc>
                      </a:pPr>
                      <a:r>
                        <a:rPr sz="19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Intermediate</a:t>
                      </a:r>
                      <a:r>
                        <a:rPr sz="1950" spc="-9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17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950" spc="-9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&amp;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ts val="2250"/>
                        </a:lnSpc>
                      </a:pPr>
                      <a:r>
                        <a:rPr sz="1950" spc="-9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each</a:t>
                      </a:r>
                      <a:r>
                        <a:rPr sz="1950" spc="-114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ts val="2250"/>
                        </a:lnSpc>
                      </a:pPr>
                      <a:r>
                        <a:rPr sz="1950" spc="-2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districts</a:t>
                      </a:r>
                      <a:r>
                        <a:rPr sz="1950" spc="-7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of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3CCC6"/>
                      </a:solidFill>
                      <a:prstDash val="solid"/>
                    </a:lnR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ts val="2250"/>
                        </a:lnSpc>
                      </a:pPr>
                      <a:r>
                        <a:rPr sz="1950" spc="14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II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R w="9525">
                      <a:solidFill>
                        <a:srgbClr val="D3CCC6"/>
                      </a:solidFill>
                      <a:prstDash val="solid"/>
                    </a:lnR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ts val="2250"/>
                        </a:lnSpc>
                      </a:pPr>
                      <a:r>
                        <a:rPr sz="19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Telangana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3CCC6"/>
                      </a:solidFill>
                      <a:prstDash val="solid"/>
                    </a:lnL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35050" y="6207124"/>
            <a:ext cx="22390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C</a:t>
            </a:r>
            <a:r>
              <a:rPr sz="1050" spc="-434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47749" y="6524621"/>
            <a:ext cx="8572500" cy="209550"/>
            <a:chOff x="1047749" y="6524621"/>
            <a:chExt cx="8572500" cy="209550"/>
          </a:xfrm>
        </p:grpSpPr>
        <p:sp>
          <p:nvSpPr>
            <p:cNvPr id="6" name="object 6"/>
            <p:cNvSpPr/>
            <p:nvPr/>
          </p:nvSpPr>
          <p:spPr>
            <a:xfrm>
              <a:off x="1047749" y="6524621"/>
              <a:ext cx="3257550" cy="209550"/>
            </a:xfrm>
            <a:custGeom>
              <a:avLst/>
              <a:gdLst/>
              <a:ahLst/>
              <a:cxnLst/>
              <a:rect l="l" t="t" r="r" b="b"/>
              <a:pathLst>
                <a:path w="3257550" h="209550">
                  <a:moveTo>
                    <a:pt x="3257549" y="209549"/>
                  </a:moveTo>
                  <a:lnTo>
                    <a:pt x="0" y="209549"/>
                  </a:lnTo>
                  <a:lnTo>
                    <a:pt x="0" y="0"/>
                  </a:lnTo>
                  <a:lnTo>
                    <a:pt x="3257549" y="0"/>
                  </a:lnTo>
                  <a:lnTo>
                    <a:pt x="3257549" y="209549"/>
                  </a:lnTo>
                  <a:close/>
                </a:path>
              </a:pathLst>
            </a:custGeom>
            <a:solidFill>
              <a:srgbClr val="772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05299" y="6524621"/>
              <a:ext cx="2228850" cy="209550"/>
            </a:xfrm>
            <a:custGeom>
              <a:avLst/>
              <a:gdLst/>
              <a:ahLst/>
              <a:cxnLst/>
              <a:rect l="l" t="t" r="r" b="b"/>
              <a:pathLst>
                <a:path w="2228850" h="209550">
                  <a:moveTo>
                    <a:pt x="2228849" y="209549"/>
                  </a:moveTo>
                  <a:lnTo>
                    <a:pt x="0" y="209549"/>
                  </a:lnTo>
                  <a:lnTo>
                    <a:pt x="0" y="0"/>
                  </a:lnTo>
                  <a:lnTo>
                    <a:pt x="2228849" y="0"/>
                  </a:lnTo>
                  <a:lnTo>
                    <a:pt x="2228849" y="209549"/>
                  </a:lnTo>
                  <a:close/>
                </a:path>
              </a:pathLst>
            </a:custGeom>
            <a:solidFill>
              <a:srgbClr val="B890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34149" y="6524621"/>
              <a:ext cx="1885950" cy="209550"/>
            </a:xfrm>
            <a:custGeom>
              <a:avLst/>
              <a:gdLst/>
              <a:ahLst/>
              <a:cxnLst/>
              <a:rect l="l" t="t" r="r" b="b"/>
              <a:pathLst>
                <a:path w="1885950" h="209550">
                  <a:moveTo>
                    <a:pt x="1885949" y="209549"/>
                  </a:moveTo>
                  <a:lnTo>
                    <a:pt x="0" y="209549"/>
                  </a:lnTo>
                  <a:lnTo>
                    <a:pt x="0" y="0"/>
                  </a:lnTo>
                  <a:lnTo>
                    <a:pt x="1885949" y="0"/>
                  </a:lnTo>
                  <a:lnTo>
                    <a:pt x="1885949" y="209549"/>
                  </a:lnTo>
                  <a:close/>
                </a:path>
              </a:pathLst>
            </a:custGeom>
            <a:solidFill>
              <a:srgbClr val="B371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20099" y="6524621"/>
              <a:ext cx="1200150" cy="209550"/>
            </a:xfrm>
            <a:custGeom>
              <a:avLst/>
              <a:gdLst/>
              <a:ahLst/>
              <a:cxnLst/>
              <a:rect l="l" t="t" r="r" b="b"/>
              <a:pathLst>
                <a:path w="1200150" h="209550">
                  <a:moveTo>
                    <a:pt x="1200149" y="209549"/>
                  </a:moveTo>
                  <a:lnTo>
                    <a:pt x="0" y="209549"/>
                  </a:lnTo>
                  <a:lnTo>
                    <a:pt x="0" y="0"/>
                  </a:lnTo>
                  <a:lnTo>
                    <a:pt x="1200149" y="0"/>
                  </a:lnTo>
                  <a:lnTo>
                    <a:pt x="1200149" y="209549"/>
                  </a:lnTo>
                  <a:close/>
                </a:path>
              </a:pathLst>
            </a:custGeom>
            <a:solidFill>
              <a:srgbClr val="6768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047749" y="683894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49" y="95249"/>
                </a:moveTo>
                <a:lnTo>
                  <a:pt x="0" y="95249"/>
                </a:lnTo>
                <a:lnTo>
                  <a:pt x="0" y="0"/>
                </a:lnTo>
                <a:lnTo>
                  <a:pt x="95249" y="0"/>
                </a:lnTo>
                <a:lnTo>
                  <a:pt x="95249" y="952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06499" y="6797675"/>
            <a:ext cx="19431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00449" y="683894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49" y="95249"/>
                </a:moveTo>
                <a:lnTo>
                  <a:pt x="0" y="95249"/>
                </a:lnTo>
                <a:lnTo>
                  <a:pt x="0" y="0"/>
                </a:lnTo>
                <a:lnTo>
                  <a:pt x="95249" y="0"/>
                </a:lnTo>
                <a:lnTo>
                  <a:pt x="95249" y="95249"/>
                </a:lnTo>
                <a:close/>
              </a:path>
            </a:pathLst>
          </a:custGeom>
          <a:solidFill>
            <a:srgbClr val="B89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55925" y="6797675"/>
            <a:ext cx="19431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43624" y="683894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49" y="95249"/>
                </a:moveTo>
                <a:lnTo>
                  <a:pt x="0" y="95249"/>
                </a:lnTo>
                <a:lnTo>
                  <a:pt x="0" y="0"/>
                </a:lnTo>
                <a:lnTo>
                  <a:pt x="95249" y="0"/>
                </a:lnTo>
                <a:lnTo>
                  <a:pt x="95249" y="95249"/>
                </a:lnTo>
                <a:close/>
              </a:path>
            </a:pathLst>
          </a:custGeom>
          <a:solidFill>
            <a:srgbClr val="B371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05202" y="6797675"/>
            <a:ext cx="19431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696324" y="683894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49" y="95249"/>
                </a:moveTo>
                <a:lnTo>
                  <a:pt x="0" y="95249"/>
                </a:lnTo>
                <a:lnTo>
                  <a:pt x="0" y="0"/>
                </a:lnTo>
                <a:lnTo>
                  <a:pt x="95249" y="0"/>
                </a:lnTo>
                <a:lnTo>
                  <a:pt x="95249" y="95249"/>
                </a:lnTo>
                <a:close/>
              </a:path>
            </a:pathLst>
          </a:custGeom>
          <a:solidFill>
            <a:srgbClr val="6768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854628" y="6797675"/>
            <a:ext cx="7588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40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4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5050" y="7307309"/>
            <a:ext cx="8445500" cy="1054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95"/>
              </a:spcBef>
            </a:pPr>
            <a:r>
              <a:rPr sz="2050" spc="-12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2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girl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9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reached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4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residential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2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institution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4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8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BC,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3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SC, </a:t>
            </a:r>
            <a:r>
              <a:rPr sz="2050" spc="-23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ST,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3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minority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8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6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steepest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barriers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2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50" spc="-5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menstrual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health,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9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5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7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sz="2050" spc="-10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4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50" spc="-105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50" spc="-10" dirty="0">
                <a:solidFill>
                  <a:srgbClr val="3B3C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awareness.</a:t>
            </a:r>
            <a:endParaRPr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22"/>
            <a:ext cx="95250" cy="9524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206612" y="406400"/>
            <a:ext cx="2019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082040" algn="l"/>
                <a:tab pos="1438910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382249" y="3133725"/>
            <a:ext cx="6858000" cy="2009775"/>
            <a:chOff x="10382249" y="3133725"/>
            <a:chExt cx="6858000" cy="200977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82249" y="3133725"/>
              <a:ext cx="6857999" cy="20097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82249" y="4781547"/>
              <a:ext cx="6857999" cy="36194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0382249" y="4781547"/>
            <a:ext cx="6858000" cy="3619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</a:pP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M</a:t>
            </a:r>
            <a:r>
              <a:rPr sz="800" spc="-33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J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P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B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C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W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G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L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'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C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M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P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U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·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H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R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E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W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B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H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M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N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O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FCF8EF"/>
                </a:solidFill>
                <a:latin typeface="Courier New"/>
                <a:cs typeface="Courier New"/>
              </a:rPr>
              <a:t>N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382249" y="5276850"/>
            <a:ext cx="6858000" cy="2009775"/>
            <a:chOff x="10382249" y="5276850"/>
            <a:chExt cx="6858000" cy="2009775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82249" y="5276850"/>
              <a:ext cx="6857999" cy="200977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82249" y="6924672"/>
              <a:ext cx="6857999" cy="36194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0382249" y="6924671"/>
            <a:ext cx="6858000" cy="3619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</a:pP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K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D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B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U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N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·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C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L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36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V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–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X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382249" y="7419971"/>
            <a:ext cx="6858000" cy="2009775"/>
            <a:chOff x="10382249" y="7419971"/>
            <a:chExt cx="6858000" cy="2009775"/>
          </a:xfrm>
        </p:grpSpPr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82249" y="7419971"/>
              <a:ext cx="6858000" cy="200977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82249" y="9067796"/>
              <a:ext cx="6857999" cy="36194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0382249" y="9067796"/>
            <a:ext cx="6858000" cy="3619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</a:pP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C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M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M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U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Y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U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R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C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H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·</a:t>
            </a:r>
            <a:r>
              <a:rPr sz="800" spc="37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M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L</a:t>
            </a:r>
            <a:r>
              <a:rPr sz="800" spc="37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D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S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R</a:t>
            </a:r>
            <a:r>
              <a:rPr sz="800" spc="-320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CF8EF"/>
                </a:solidFill>
                <a:latin typeface="Courier New"/>
                <a:cs typeface="Courier New"/>
              </a:rPr>
              <a:t>C</a:t>
            </a:r>
            <a:r>
              <a:rPr sz="800" spc="-325" dirty="0">
                <a:solidFill>
                  <a:srgbClr val="FCF8EF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FCF8EF"/>
                </a:solidFill>
                <a:latin typeface="Courier New"/>
                <a:cs typeface="Courier New"/>
              </a:rPr>
              <a:t>T</a:t>
            </a:r>
            <a:endParaRPr sz="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11344"/>
            <a:ext cx="10474325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3294379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P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135" dirty="0">
                <a:solidFill>
                  <a:srgbClr val="16171F"/>
                </a:solidFill>
                <a:latin typeface="Times New Roman"/>
                <a:cs typeface="Times New Roman"/>
              </a:rPr>
              <a:t>A</a:t>
            </a:r>
            <a:r>
              <a:rPr sz="4800" spc="-1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five-</a:t>
            </a:r>
            <a:r>
              <a:rPr sz="4800" spc="204" dirty="0">
                <a:solidFill>
                  <a:srgbClr val="16171F"/>
                </a:solidFill>
                <a:latin typeface="Times New Roman"/>
                <a:cs typeface="Times New Roman"/>
              </a:rPr>
              <a:t>phase</a:t>
            </a:r>
            <a:r>
              <a:rPr sz="4800" spc="-1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16171F"/>
                </a:solidFill>
                <a:latin typeface="Times New Roman"/>
                <a:cs typeface="Times New Roman"/>
              </a:rPr>
              <a:t>annual</a:t>
            </a:r>
            <a:r>
              <a:rPr sz="4800" spc="-1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cycle,</a:t>
            </a:r>
            <a:r>
              <a:rPr sz="4800" spc="-1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16171F"/>
                </a:solidFill>
                <a:latin typeface="Times New Roman"/>
                <a:cs typeface="Times New Roman"/>
              </a:rPr>
              <a:t>anchored</a:t>
            </a:r>
            <a:r>
              <a:rPr sz="4800" spc="-10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15" dirty="0">
                <a:solidFill>
                  <a:srgbClr val="16171F"/>
                </a:solidFill>
                <a:latin typeface="Times New Roman"/>
                <a:cs typeface="Times New Roman"/>
              </a:rPr>
              <a:t>to </a:t>
            </a:r>
            <a:r>
              <a:rPr sz="4800" spc="28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05" dirty="0">
                <a:solidFill>
                  <a:srgbClr val="16171F"/>
                </a:solidFill>
                <a:latin typeface="Times New Roman"/>
                <a:cs typeface="Times New Roman"/>
              </a:rPr>
              <a:t>MJPTBCWREIS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0" dirty="0">
                <a:solidFill>
                  <a:srgbClr val="16171F"/>
                </a:solidFill>
                <a:latin typeface="Times New Roman"/>
                <a:cs typeface="Times New Roman"/>
              </a:rPr>
              <a:t>academic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05" dirty="0">
                <a:solidFill>
                  <a:srgbClr val="16171F"/>
                </a:solidFill>
                <a:latin typeface="Times New Roman"/>
                <a:cs typeface="Times New Roman"/>
              </a:rPr>
              <a:t>calendar.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5050" y="3121025"/>
            <a:ext cx="276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04999" y="3200397"/>
            <a:ext cx="3190875" cy="19050"/>
          </a:xfrm>
          <a:custGeom>
            <a:avLst/>
            <a:gdLst/>
            <a:ahLst/>
            <a:cxnLst/>
            <a:rect l="l" t="t" r="r" b="b"/>
            <a:pathLst>
              <a:path w="3190875" h="19050">
                <a:moveTo>
                  <a:pt x="3190874" y="19049"/>
                </a:moveTo>
                <a:lnTo>
                  <a:pt x="0" y="19049"/>
                </a:lnTo>
                <a:lnTo>
                  <a:pt x="0" y="0"/>
                </a:lnTo>
                <a:lnTo>
                  <a:pt x="3190874" y="0"/>
                </a:lnTo>
                <a:lnTo>
                  <a:pt x="3190874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1705" y="3121025"/>
            <a:ext cx="276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J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67374" y="3200397"/>
            <a:ext cx="3190875" cy="19050"/>
          </a:xfrm>
          <a:custGeom>
            <a:avLst/>
            <a:gdLst/>
            <a:ahLst/>
            <a:cxnLst/>
            <a:rect l="l" t="t" r="r" b="b"/>
            <a:pathLst>
              <a:path w="3190875" h="19050">
                <a:moveTo>
                  <a:pt x="3190874" y="19049"/>
                </a:moveTo>
                <a:lnTo>
                  <a:pt x="0" y="19049"/>
                </a:lnTo>
                <a:lnTo>
                  <a:pt x="0" y="0"/>
                </a:lnTo>
                <a:lnTo>
                  <a:pt x="3190874" y="0"/>
                </a:lnTo>
                <a:lnTo>
                  <a:pt x="3190874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994080" y="3121025"/>
            <a:ext cx="276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J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29749" y="3200397"/>
            <a:ext cx="3190875" cy="19050"/>
          </a:xfrm>
          <a:custGeom>
            <a:avLst/>
            <a:gdLst/>
            <a:ahLst/>
            <a:cxnLst/>
            <a:rect l="l" t="t" r="r" b="b"/>
            <a:pathLst>
              <a:path w="3190875" h="19050">
                <a:moveTo>
                  <a:pt x="3190874" y="19049"/>
                </a:moveTo>
                <a:lnTo>
                  <a:pt x="0" y="19049"/>
                </a:lnTo>
                <a:lnTo>
                  <a:pt x="0" y="0"/>
                </a:lnTo>
                <a:lnTo>
                  <a:pt x="3190874" y="0"/>
                </a:lnTo>
                <a:lnTo>
                  <a:pt x="3190874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56454" y="3121025"/>
            <a:ext cx="276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192123" y="3200397"/>
            <a:ext cx="3190875" cy="19050"/>
          </a:xfrm>
          <a:custGeom>
            <a:avLst/>
            <a:gdLst/>
            <a:ahLst/>
            <a:cxnLst/>
            <a:rect l="l" t="t" r="r" b="b"/>
            <a:pathLst>
              <a:path w="3190875" h="19050">
                <a:moveTo>
                  <a:pt x="3190874" y="19049"/>
                </a:moveTo>
                <a:lnTo>
                  <a:pt x="0" y="19049"/>
                </a:lnTo>
                <a:lnTo>
                  <a:pt x="0" y="0"/>
                </a:lnTo>
                <a:lnTo>
                  <a:pt x="3190874" y="0"/>
                </a:lnTo>
                <a:lnTo>
                  <a:pt x="3190874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6953110" y="3121025"/>
            <a:ext cx="276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Q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47749" y="3486146"/>
            <a:ext cx="3105150" cy="5543550"/>
            <a:chOff x="1047749" y="3486146"/>
            <a:chExt cx="3105150" cy="5543550"/>
          </a:xfrm>
        </p:grpSpPr>
        <p:sp>
          <p:nvSpPr>
            <p:cNvPr id="13" name="object 13"/>
            <p:cNvSpPr/>
            <p:nvPr/>
          </p:nvSpPr>
          <p:spPr>
            <a:xfrm>
              <a:off x="1047749" y="3486146"/>
              <a:ext cx="3105150" cy="5543550"/>
            </a:xfrm>
            <a:custGeom>
              <a:avLst/>
              <a:gdLst/>
              <a:ahLst/>
              <a:cxnLst/>
              <a:rect l="l" t="t" r="r" b="b"/>
              <a:pathLst>
                <a:path w="3105150" h="5543550">
                  <a:moveTo>
                    <a:pt x="3105149" y="5543549"/>
                  </a:moveTo>
                  <a:lnTo>
                    <a:pt x="0" y="5543549"/>
                  </a:lnTo>
                  <a:lnTo>
                    <a:pt x="0" y="0"/>
                  </a:lnTo>
                  <a:lnTo>
                    <a:pt x="3105149" y="0"/>
                  </a:lnTo>
                  <a:lnTo>
                    <a:pt x="3105149" y="554354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62074" y="3819524"/>
              <a:ext cx="266700" cy="323850"/>
            </a:xfrm>
            <a:custGeom>
              <a:avLst/>
              <a:gdLst/>
              <a:ahLst/>
              <a:cxnLst/>
              <a:rect l="l" t="t" r="r" b="b"/>
              <a:pathLst>
                <a:path w="266700" h="323850">
                  <a:moveTo>
                    <a:pt x="19050" y="0"/>
                  </a:moveTo>
                  <a:lnTo>
                    <a:pt x="247649" y="0"/>
                  </a:lnTo>
                  <a:lnTo>
                    <a:pt x="250176" y="0"/>
                  </a:lnTo>
                  <a:lnTo>
                    <a:pt x="252606" y="483"/>
                  </a:lnTo>
                  <a:lnTo>
                    <a:pt x="265249" y="11759"/>
                  </a:lnTo>
                  <a:lnTo>
                    <a:pt x="266216" y="14093"/>
                  </a:lnTo>
                  <a:lnTo>
                    <a:pt x="266699" y="16523"/>
                  </a:lnTo>
                  <a:lnTo>
                    <a:pt x="266699" y="19049"/>
                  </a:lnTo>
                  <a:lnTo>
                    <a:pt x="266699" y="304799"/>
                  </a:lnTo>
                  <a:lnTo>
                    <a:pt x="266699" y="307326"/>
                  </a:lnTo>
                  <a:lnTo>
                    <a:pt x="266216" y="309756"/>
                  </a:lnTo>
                  <a:lnTo>
                    <a:pt x="265249" y="312090"/>
                  </a:lnTo>
                  <a:lnTo>
                    <a:pt x="264283" y="314423"/>
                  </a:lnTo>
                  <a:lnTo>
                    <a:pt x="247649" y="323849"/>
                  </a:lnTo>
                  <a:lnTo>
                    <a:pt x="19050" y="323849"/>
                  </a:lnTo>
                  <a:lnTo>
                    <a:pt x="5579" y="318270"/>
                  </a:lnTo>
                  <a:lnTo>
                    <a:pt x="3793" y="316484"/>
                  </a:lnTo>
                  <a:lnTo>
                    <a:pt x="2416" y="314423"/>
                  </a:lnTo>
                  <a:lnTo>
                    <a:pt x="1450" y="312090"/>
                  </a:lnTo>
                  <a:lnTo>
                    <a:pt x="483" y="309756"/>
                  </a:lnTo>
                  <a:lnTo>
                    <a:pt x="0" y="307326"/>
                  </a:lnTo>
                  <a:lnTo>
                    <a:pt x="0" y="304799"/>
                  </a:lnTo>
                  <a:lnTo>
                    <a:pt x="0" y="19049"/>
                  </a:lnTo>
                  <a:lnTo>
                    <a:pt x="5579" y="5579"/>
                  </a:lnTo>
                  <a:lnTo>
                    <a:pt x="7365" y="3793"/>
                  </a:lnTo>
                  <a:lnTo>
                    <a:pt x="9425" y="2416"/>
                  </a:lnTo>
                  <a:lnTo>
                    <a:pt x="11759" y="1450"/>
                  </a:lnTo>
                  <a:lnTo>
                    <a:pt x="14093" y="483"/>
                  </a:lnTo>
                  <a:lnTo>
                    <a:pt x="16523" y="0"/>
                  </a:lnTo>
                  <a:lnTo>
                    <a:pt x="19050" y="0"/>
                  </a:lnTo>
                  <a:close/>
                </a:path>
                <a:path w="266700" h="323850">
                  <a:moveTo>
                    <a:pt x="57150" y="95249"/>
                  </a:moveTo>
                  <a:lnTo>
                    <a:pt x="209549" y="95249"/>
                  </a:lnTo>
                </a:path>
                <a:path w="266700" h="323850">
                  <a:moveTo>
                    <a:pt x="57150" y="152399"/>
                  </a:moveTo>
                  <a:lnTo>
                    <a:pt x="209549" y="152399"/>
                  </a:lnTo>
                </a:path>
                <a:path w="266700" h="323850">
                  <a:moveTo>
                    <a:pt x="57150" y="209549"/>
                  </a:moveTo>
                  <a:lnTo>
                    <a:pt x="152399" y="209549"/>
                  </a:lnTo>
                </a:path>
              </a:pathLst>
            </a:custGeom>
            <a:ln w="1523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71612" y="377666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0654" y="47624"/>
                  </a:lnTo>
                  <a:lnTo>
                    <a:pt x="17617" y="47020"/>
                  </a:lnTo>
                  <a:lnTo>
                    <a:pt x="0" y="26970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5" y="23812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772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71612" y="377666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23812"/>
                  </a:moveTo>
                  <a:lnTo>
                    <a:pt x="47624" y="26970"/>
                  </a:lnTo>
                  <a:lnTo>
                    <a:pt x="47020" y="30007"/>
                  </a:lnTo>
                  <a:lnTo>
                    <a:pt x="45812" y="32925"/>
                  </a:lnTo>
                  <a:lnTo>
                    <a:pt x="44603" y="35842"/>
                  </a:lnTo>
                  <a:lnTo>
                    <a:pt x="32925" y="45812"/>
                  </a:lnTo>
                  <a:lnTo>
                    <a:pt x="30007" y="47020"/>
                  </a:lnTo>
                  <a:lnTo>
                    <a:pt x="26970" y="47624"/>
                  </a:lnTo>
                  <a:lnTo>
                    <a:pt x="23812" y="47624"/>
                  </a:lnTo>
                  <a:lnTo>
                    <a:pt x="20654" y="47624"/>
                  </a:lnTo>
                  <a:lnTo>
                    <a:pt x="6974" y="40650"/>
                  </a:lnTo>
                  <a:lnTo>
                    <a:pt x="4741" y="38417"/>
                  </a:lnTo>
                  <a:lnTo>
                    <a:pt x="3021" y="35842"/>
                  </a:lnTo>
                  <a:lnTo>
                    <a:pt x="1812" y="32925"/>
                  </a:lnTo>
                  <a:lnTo>
                    <a:pt x="604" y="30007"/>
                  </a:lnTo>
                  <a:lnTo>
                    <a:pt x="0" y="2697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6974" y="6974"/>
                  </a:lnTo>
                  <a:lnTo>
                    <a:pt x="9207" y="4741"/>
                  </a:lnTo>
                  <a:lnTo>
                    <a:pt x="11782" y="3021"/>
                  </a:lnTo>
                  <a:lnTo>
                    <a:pt x="14699" y="1812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26970" y="0"/>
                  </a:lnTo>
                  <a:lnTo>
                    <a:pt x="30007" y="604"/>
                  </a:lnTo>
                  <a:lnTo>
                    <a:pt x="32925" y="1812"/>
                  </a:lnTo>
                  <a:lnTo>
                    <a:pt x="35842" y="3021"/>
                  </a:lnTo>
                  <a:lnTo>
                    <a:pt x="45812" y="14699"/>
                  </a:lnTo>
                  <a:lnTo>
                    <a:pt x="47020" y="17617"/>
                  </a:lnTo>
                  <a:lnTo>
                    <a:pt x="47624" y="20654"/>
                  </a:lnTo>
                  <a:lnTo>
                    <a:pt x="47625" y="23812"/>
                  </a:lnTo>
                  <a:close/>
                </a:path>
              </a:pathLst>
            </a:custGeom>
            <a:ln w="1523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66824" y="8448671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266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2666999" y="0"/>
                  </a:lnTo>
                  <a:lnTo>
                    <a:pt x="2666999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52512" y="3490909"/>
            <a:ext cx="3095625" cy="553402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imes New Roman"/>
              <a:cs typeface="Times New Roman"/>
            </a:endParaRPr>
          </a:p>
          <a:p>
            <a:pPr marL="213995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1</a:t>
            </a:r>
            <a:endParaRPr sz="900">
              <a:latin typeface="Courier New"/>
              <a:cs typeface="Courier New"/>
            </a:endParaRPr>
          </a:p>
          <a:p>
            <a:pPr marL="213995">
              <a:lnSpc>
                <a:spcPct val="100000"/>
              </a:lnSpc>
              <a:spcBef>
                <a:spcPts val="345"/>
              </a:spcBef>
            </a:pPr>
            <a:r>
              <a:rPr sz="1950" spc="95" dirty="0">
                <a:solidFill>
                  <a:srgbClr val="16171F"/>
                </a:solidFill>
                <a:latin typeface="Times New Roman"/>
                <a:cs typeface="Times New Roman"/>
              </a:rPr>
              <a:t>Planning</a:t>
            </a:r>
            <a:endParaRPr sz="1950">
              <a:latin typeface="Times New Roman"/>
              <a:cs typeface="Times New Roman"/>
            </a:endParaRPr>
          </a:p>
          <a:p>
            <a:pPr marL="213995" marR="478155">
              <a:lnSpc>
                <a:spcPct val="115399"/>
              </a:lnSpc>
              <a:spcBef>
                <a:spcPts val="1070"/>
              </a:spcBef>
            </a:pP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Institution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lists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finalised,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principals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coordinated,</a:t>
            </a:r>
            <a:r>
              <a:rPr sz="1300" spc="-1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site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assessments</a:t>
            </a:r>
            <a:r>
              <a:rPr sz="1300" spc="-1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for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incinerators</a:t>
            </a:r>
            <a:r>
              <a:rPr sz="1300" spc="1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completed.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1200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—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324349" y="3486146"/>
            <a:ext cx="3095625" cy="5543550"/>
            <a:chOff x="4324349" y="3486146"/>
            <a:chExt cx="3095625" cy="5543550"/>
          </a:xfrm>
        </p:grpSpPr>
        <p:sp>
          <p:nvSpPr>
            <p:cNvPr id="20" name="object 20"/>
            <p:cNvSpPr/>
            <p:nvPr/>
          </p:nvSpPr>
          <p:spPr>
            <a:xfrm>
              <a:off x="4324349" y="3486146"/>
              <a:ext cx="3095625" cy="5543550"/>
            </a:xfrm>
            <a:custGeom>
              <a:avLst/>
              <a:gdLst/>
              <a:ahLst/>
              <a:cxnLst/>
              <a:rect l="l" t="t" r="r" b="b"/>
              <a:pathLst>
                <a:path w="3095625" h="5543550">
                  <a:moveTo>
                    <a:pt x="3095624" y="5543549"/>
                  </a:moveTo>
                  <a:lnTo>
                    <a:pt x="0" y="5543549"/>
                  </a:lnTo>
                  <a:lnTo>
                    <a:pt x="0" y="0"/>
                  </a:lnTo>
                  <a:lnTo>
                    <a:pt x="3095624" y="0"/>
                  </a:lnTo>
                  <a:lnTo>
                    <a:pt x="3095624" y="554354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00574" y="380047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0"/>
                  </a:moveTo>
                  <a:lnTo>
                    <a:pt x="171449" y="57149"/>
                  </a:lnTo>
                </a:path>
                <a:path w="342900" h="342900">
                  <a:moveTo>
                    <a:pt x="171449" y="285749"/>
                  </a:moveTo>
                  <a:lnTo>
                    <a:pt x="171449" y="342899"/>
                  </a:lnTo>
                </a:path>
                <a:path w="342900" h="342900">
                  <a:moveTo>
                    <a:pt x="0" y="171449"/>
                  </a:moveTo>
                  <a:lnTo>
                    <a:pt x="57149" y="171449"/>
                  </a:lnTo>
                </a:path>
                <a:path w="342900" h="342900">
                  <a:moveTo>
                    <a:pt x="285749" y="171449"/>
                  </a:moveTo>
                  <a:lnTo>
                    <a:pt x="342899" y="171449"/>
                  </a:lnTo>
                </a:path>
              </a:pathLst>
            </a:custGeom>
            <a:ln w="1523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0579" y="3840479"/>
              <a:ext cx="262889" cy="26288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543424" y="8448671"/>
              <a:ext cx="2657475" cy="9525"/>
            </a:xfrm>
            <a:custGeom>
              <a:avLst/>
              <a:gdLst/>
              <a:ahLst/>
              <a:cxnLst/>
              <a:rect l="l" t="t" r="r" b="b"/>
              <a:pathLst>
                <a:path w="2657475" h="9525">
                  <a:moveTo>
                    <a:pt x="26574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2657474" y="0"/>
                  </a:lnTo>
                  <a:lnTo>
                    <a:pt x="2657474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329112" y="3490909"/>
            <a:ext cx="3086100" cy="553402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imes New Roman"/>
              <a:cs typeface="Times New Roman"/>
            </a:endParaRPr>
          </a:p>
          <a:p>
            <a:pPr marL="210185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2</a:t>
            </a:r>
            <a:endParaRPr sz="900">
              <a:latin typeface="Courier New"/>
              <a:cs typeface="Courier New"/>
            </a:endParaRPr>
          </a:p>
          <a:p>
            <a:pPr marL="210185" marR="1104900">
              <a:lnSpc>
                <a:spcPts val="2250"/>
              </a:lnSpc>
              <a:spcBef>
                <a:spcPts val="495"/>
              </a:spcBef>
            </a:pPr>
            <a:r>
              <a:rPr sz="1950" spc="95" dirty="0">
                <a:solidFill>
                  <a:srgbClr val="16171F"/>
                </a:solidFill>
                <a:latin typeface="Times New Roman"/>
                <a:cs typeface="Times New Roman"/>
              </a:rPr>
              <a:t>Infrastructure</a:t>
            </a:r>
            <a:r>
              <a:rPr sz="1950" spc="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-105" dirty="0">
                <a:solidFill>
                  <a:srgbClr val="16171F"/>
                </a:solidFill>
                <a:latin typeface="Times New Roman"/>
                <a:cs typeface="Times New Roman"/>
              </a:rPr>
              <a:t>&amp; </a:t>
            </a:r>
            <a:r>
              <a:rPr sz="1950" spc="60" dirty="0">
                <a:solidFill>
                  <a:srgbClr val="16171F"/>
                </a:solidFill>
                <a:latin typeface="Times New Roman"/>
                <a:cs typeface="Times New Roman"/>
              </a:rPr>
              <a:t>Capacity</a:t>
            </a:r>
            <a:endParaRPr sz="1950">
              <a:latin typeface="Times New Roman"/>
              <a:cs typeface="Times New Roman"/>
            </a:endParaRPr>
          </a:p>
          <a:p>
            <a:pPr marL="210185" marR="455930">
              <a:lnSpc>
                <a:spcPct val="115399"/>
              </a:lnSpc>
              <a:spcBef>
                <a:spcPts val="1010"/>
              </a:spcBef>
            </a:pP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550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incinerators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installed.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ToT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workshops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with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staff.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Peer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mentors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trained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on 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each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campus.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—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J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591424" y="3486146"/>
            <a:ext cx="3105150" cy="5543550"/>
            <a:chOff x="7591424" y="3486146"/>
            <a:chExt cx="3105150" cy="5543550"/>
          </a:xfrm>
        </p:grpSpPr>
        <p:sp>
          <p:nvSpPr>
            <p:cNvPr id="26" name="object 26"/>
            <p:cNvSpPr/>
            <p:nvPr/>
          </p:nvSpPr>
          <p:spPr>
            <a:xfrm>
              <a:off x="7591424" y="3486146"/>
              <a:ext cx="3105150" cy="5543550"/>
            </a:xfrm>
            <a:custGeom>
              <a:avLst/>
              <a:gdLst/>
              <a:ahLst/>
              <a:cxnLst/>
              <a:rect l="l" t="t" r="r" b="b"/>
              <a:pathLst>
                <a:path w="3105150" h="5543550">
                  <a:moveTo>
                    <a:pt x="3105149" y="5543549"/>
                  </a:moveTo>
                  <a:lnTo>
                    <a:pt x="0" y="5543549"/>
                  </a:lnTo>
                  <a:lnTo>
                    <a:pt x="0" y="0"/>
                  </a:lnTo>
                  <a:lnTo>
                    <a:pt x="3105149" y="0"/>
                  </a:lnTo>
                  <a:lnTo>
                    <a:pt x="3105149" y="554354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858124" y="3838574"/>
              <a:ext cx="257175" cy="266700"/>
            </a:xfrm>
            <a:custGeom>
              <a:avLst/>
              <a:gdLst/>
              <a:ahLst/>
              <a:cxnLst/>
              <a:rect l="l" t="t" r="r" b="b"/>
              <a:pathLst>
                <a:path w="257175" h="266700">
                  <a:moveTo>
                    <a:pt x="47625" y="76199"/>
                  </a:moveTo>
                  <a:lnTo>
                    <a:pt x="47625" y="190499"/>
                  </a:lnTo>
                  <a:lnTo>
                    <a:pt x="257174" y="266699"/>
                  </a:lnTo>
                  <a:lnTo>
                    <a:pt x="257174" y="0"/>
                  </a:lnTo>
                  <a:lnTo>
                    <a:pt x="47625" y="76199"/>
                  </a:lnTo>
                  <a:close/>
                </a:path>
                <a:path w="257175" h="266700">
                  <a:moveTo>
                    <a:pt x="47625" y="76199"/>
                  </a:moveTo>
                  <a:lnTo>
                    <a:pt x="19050" y="76199"/>
                  </a:lnTo>
                  <a:lnTo>
                    <a:pt x="16523" y="76199"/>
                  </a:lnTo>
                  <a:lnTo>
                    <a:pt x="14093" y="76683"/>
                  </a:lnTo>
                  <a:lnTo>
                    <a:pt x="11759" y="77650"/>
                  </a:lnTo>
                  <a:lnTo>
                    <a:pt x="9425" y="78616"/>
                  </a:lnTo>
                  <a:lnTo>
                    <a:pt x="7365" y="79993"/>
                  </a:lnTo>
                  <a:lnTo>
                    <a:pt x="0" y="95249"/>
                  </a:lnTo>
                  <a:lnTo>
                    <a:pt x="0" y="171449"/>
                  </a:lnTo>
                  <a:lnTo>
                    <a:pt x="0" y="173976"/>
                  </a:lnTo>
                  <a:lnTo>
                    <a:pt x="11759" y="189049"/>
                  </a:lnTo>
                  <a:lnTo>
                    <a:pt x="14093" y="190016"/>
                  </a:lnTo>
                  <a:lnTo>
                    <a:pt x="16523" y="190499"/>
                  </a:lnTo>
                  <a:lnTo>
                    <a:pt x="19050" y="190499"/>
                  </a:lnTo>
                  <a:lnTo>
                    <a:pt x="47625" y="190499"/>
                  </a:lnTo>
                </a:path>
              </a:pathLst>
            </a:custGeom>
            <a:ln w="1523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0303" y="3907154"/>
              <a:ext cx="67865" cy="12953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810499" y="8448671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266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2666999" y="0"/>
                  </a:lnTo>
                  <a:lnTo>
                    <a:pt x="2666999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596186" y="3490909"/>
            <a:ext cx="3095625" cy="553402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imes New Roman"/>
              <a:cs typeface="Times New Roman"/>
            </a:endParaRPr>
          </a:p>
          <a:p>
            <a:pPr marL="215900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3</a:t>
            </a:r>
            <a:endParaRPr sz="900">
              <a:latin typeface="Courier New"/>
              <a:cs typeface="Courier New"/>
            </a:endParaRPr>
          </a:p>
          <a:p>
            <a:pPr marL="215900" marR="1473835">
              <a:lnSpc>
                <a:spcPts val="2250"/>
              </a:lnSpc>
              <a:spcBef>
                <a:spcPts val="495"/>
              </a:spcBef>
            </a:pPr>
            <a:r>
              <a:rPr sz="1950" spc="60" dirty="0">
                <a:solidFill>
                  <a:srgbClr val="16171F"/>
                </a:solidFill>
                <a:latin typeface="Times New Roman"/>
                <a:cs typeface="Times New Roman"/>
              </a:rPr>
              <a:t>Awareness</a:t>
            </a:r>
            <a:r>
              <a:rPr sz="1950" spc="-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-130" dirty="0">
                <a:solidFill>
                  <a:srgbClr val="16171F"/>
                </a:solidFill>
                <a:latin typeface="Times New Roman"/>
                <a:cs typeface="Times New Roman"/>
              </a:rPr>
              <a:t>&amp; </a:t>
            </a:r>
            <a:r>
              <a:rPr sz="1950" spc="85" dirty="0">
                <a:solidFill>
                  <a:srgbClr val="16171F"/>
                </a:solidFill>
                <a:latin typeface="Times New Roman"/>
                <a:cs typeface="Times New Roman"/>
              </a:rPr>
              <a:t>Distribution</a:t>
            </a:r>
            <a:endParaRPr sz="1950">
              <a:latin typeface="Times New Roman"/>
              <a:cs typeface="Times New Roman"/>
            </a:endParaRPr>
          </a:p>
          <a:p>
            <a:pPr marL="215900" marR="389255">
              <a:lnSpc>
                <a:spcPct val="115399"/>
              </a:lnSpc>
              <a:spcBef>
                <a:spcPts val="1010"/>
              </a:spcBef>
            </a:pP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One-day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14" dirty="0">
                <a:solidFill>
                  <a:srgbClr val="3B3C43"/>
                </a:solidFill>
                <a:latin typeface="Arial"/>
                <a:cs typeface="Arial"/>
              </a:rPr>
              <a:t>MHM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workshop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per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institution.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Starter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kits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distributed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to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every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newly-enrolled</a:t>
            </a:r>
            <a:r>
              <a:rPr sz="1300" spc="-1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girl.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J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—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J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868024" y="3486146"/>
            <a:ext cx="3095625" cy="5543550"/>
            <a:chOff x="10868024" y="3486146"/>
            <a:chExt cx="3095625" cy="5543550"/>
          </a:xfrm>
        </p:grpSpPr>
        <p:sp>
          <p:nvSpPr>
            <p:cNvPr id="32" name="object 32"/>
            <p:cNvSpPr/>
            <p:nvPr/>
          </p:nvSpPr>
          <p:spPr>
            <a:xfrm>
              <a:off x="10868024" y="3486146"/>
              <a:ext cx="3095625" cy="5543550"/>
            </a:xfrm>
            <a:custGeom>
              <a:avLst/>
              <a:gdLst/>
              <a:ahLst/>
              <a:cxnLst/>
              <a:rect l="l" t="t" r="r" b="b"/>
              <a:pathLst>
                <a:path w="3095625" h="5543550">
                  <a:moveTo>
                    <a:pt x="3095624" y="5543549"/>
                  </a:moveTo>
                  <a:lnTo>
                    <a:pt x="0" y="5543549"/>
                  </a:lnTo>
                  <a:lnTo>
                    <a:pt x="0" y="0"/>
                  </a:lnTo>
                  <a:lnTo>
                    <a:pt x="3095624" y="0"/>
                  </a:lnTo>
                  <a:lnTo>
                    <a:pt x="3095624" y="554354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163216" y="3797205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4" h="305435">
                  <a:moveTo>
                    <a:pt x="304883" y="155669"/>
                  </a:moveTo>
                  <a:lnTo>
                    <a:pt x="300086" y="113969"/>
                  </a:lnTo>
                  <a:lnTo>
                    <a:pt x="289566" y="85850"/>
                  </a:lnTo>
                  <a:lnTo>
                    <a:pt x="286933" y="80436"/>
                  </a:lnTo>
                  <a:lnTo>
                    <a:pt x="283990" y="75197"/>
                  </a:lnTo>
                  <a:lnTo>
                    <a:pt x="280736" y="70133"/>
                  </a:lnTo>
                  <a:lnTo>
                    <a:pt x="277483" y="65068"/>
                  </a:lnTo>
                  <a:lnTo>
                    <a:pt x="273942" y="60213"/>
                  </a:lnTo>
                  <a:lnTo>
                    <a:pt x="270113" y="55568"/>
                  </a:lnTo>
                  <a:lnTo>
                    <a:pt x="266284" y="50923"/>
                  </a:lnTo>
                  <a:lnTo>
                    <a:pt x="262194" y="46521"/>
                  </a:lnTo>
                  <a:lnTo>
                    <a:pt x="257843" y="42360"/>
                  </a:lnTo>
                  <a:lnTo>
                    <a:pt x="253493" y="38200"/>
                  </a:lnTo>
                  <a:lnTo>
                    <a:pt x="218506" y="15001"/>
                  </a:lnTo>
                  <a:lnTo>
                    <a:pt x="196038" y="6451"/>
                  </a:lnTo>
                  <a:lnTo>
                    <a:pt x="190269" y="4732"/>
                  </a:lnTo>
                  <a:lnTo>
                    <a:pt x="184419" y="3360"/>
                  </a:lnTo>
                  <a:lnTo>
                    <a:pt x="178488" y="2334"/>
                  </a:lnTo>
                  <a:lnTo>
                    <a:pt x="172556" y="1308"/>
                  </a:lnTo>
                  <a:lnTo>
                    <a:pt x="166585" y="636"/>
                  </a:lnTo>
                  <a:lnTo>
                    <a:pt x="160573" y="318"/>
                  </a:lnTo>
                  <a:lnTo>
                    <a:pt x="154562" y="0"/>
                  </a:lnTo>
                  <a:lnTo>
                    <a:pt x="148553" y="37"/>
                  </a:lnTo>
                  <a:lnTo>
                    <a:pt x="142546" y="431"/>
                  </a:lnTo>
                  <a:lnTo>
                    <a:pt x="136540" y="825"/>
                  </a:lnTo>
                  <a:lnTo>
                    <a:pt x="130577" y="1572"/>
                  </a:lnTo>
                  <a:lnTo>
                    <a:pt x="124659" y="2672"/>
                  </a:lnTo>
                  <a:lnTo>
                    <a:pt x="118741" y="3772"/>
                  </a:lnTo>
                  <a:lnTo>
                    <a:pt x="112908" y="5218"/>
                  </a:lnTo>
                  <a:lnTo>
                    <a:pt x="107161" y="7010"/>
                  </a:lnTo>
                  <a:lnTo>
                    <a:pt x="101414" y="8801"/>
                  </a:lnTo>
                  <a:lnTo>
                    <a:pt x="95793" y="10926"/>
                  </a:lnTo>
                  <a:lnTo>
                    <a:pt x="90298" y="13383"/>
                  </a:lnTo>
                  <a:lnTo>
                    <a:pt x="84803" y="15841"/>
                  </a:lnTo>
                  <a:lnTo>
                    <a:pt x="79472" y="18614"/>
                  </a:lnTo>
                  <a:lnTo>
                    <a:pt x="74306" y="21703"/>
                  </a:lnTo>
                  <a:lnTo>
                    <a:pt x="69139" y="24792"/>
                  </a:lnTo>
                  <a:lnTo>
                    <a:pt x="64173" y="28176"/>
                  </a:lnTo>
                  <a:lnTo>
                    <a:pt x="59407" y="31854"/>
                  </a:lnTo>
                  <a:lnTo>
                    <a:pt x="54642" y="35531"/>
                  </a:lnTo>
                  <a:lnTo>
                    <a:pt x="50110" y="39477"/>
                  </a:lnTo>
                  <a:lnTo>
                    <a:pt x="45812" y="43692"/>
                  </a:lnTo>
                  <a:lnTo>
                    <a:pt x="41514" y="47907"/>
                  </a:lnTo>
                  <a:lnTo>
                    <a:pt x="37480" y="52360"/>
                  </a:lnTo>
                  <a:lnTo>
                    <a:pt x="33710" y="57053"/>
                  </a:lnTo>
                  <a:lnTo>
                    <a:pt x="29940" y="61746"/>
                  </a:lnTo>
                  <a:lnTo>
                    <a:pt x="26460" y="66645"/>
                  </a:lnTo>
                  <a:lnTo>
                    <a:pt x="23270" y="71750"/>
                  </a:lnTo>
                  <a:lnTo>
                    <a:pt x="20080" y="76855"/>
                  </a:lnTo>
                  <a:lnTo>
                    <a:pt x="4473" y="115825"/>
                  </a:lnTo>
                  <a:lnTo>
                    <a:pt x="666" y="139561"/>
                  </a:lnTo>
                  <a:lnTo>
                    <a:pt x="155" y="145559"/>
                  </a:lnTo>
                  <a:lnTo>
                    <a:pt x="4033" y="187359"/>
                  </a:lnTo>
                  <a:lnTo>
                    <a:pt x="5638" y="193161"/>
                  </a:lnTo>
                  <a:lnTo>
                    <a:pt x="7244" y="198962"/>
                  </a:lnTo>
                  <a:lnTo>
                    <a:pt x="9187" y="204649"/>
                  </a:lnTo>
                  <a:lnTo>
                    <a:pt x="11467" y="210220"/>
                  </a:lnTo>
                  <a:lnTo>
                    <a:pt x="13747" y="215791"/>
                  </a:lnTo>
                  <a:lnTo>
                    <a:pt x="16347" y="221208"/>
                  </a:lnTo>
                  <a:lnTo>
                    <a:pt x="19269" y="226471"/>
                  </a:lnTo>
                  <a:lnTo>
                    <a:pt x="22190" y="231735"/>
                  </a:lnTo>
                  <a:lnTo>
                    <a:pt x="40331" y="255657"/>
                  </a:lnTo>
                  <a:lnTo>
                    <a:pt x="44405" y="260088"/>
                  </a:lnTo>
                  <a:lnTo>
                    <a:pt x="48727" y="264263"/>
                  </a:lnTo>
                  <a:lnTo>
                    <a:pt x="53296" y="268182"/>
                  </a:lnTo>
                  <a:lnTo>
                    <a:pt x="57865" y="272101"/>
                  </a:lnTo>
                  <a:lnTo>
                    <a:pt x="62650" y="275737"/>
                  </a:lnTo>
                  <a:lnTo>
                    <a:pt x="67650" y="279089"/>
                  </a:lnTo>
                  <a:lnTo>
                    <a:pt x="72650" y="282441"/>
                  </a:lnTo>
                  <a:lnTo>
                    <a:pt x="99702" y="295461"/>
                  </a:lnTo>
                  <a:lnTo>
                    <a:pt x="105349" y="297547"/>
                  </a:lnTo>
                  <a:lnTo>
                    <a:pt x="111099" y="299292"/>
                  </a:lnTo>
                  <a:lnTo>
                    <a:pt x="116952" y="300697"/>
                  </a:lnTo>
                  <a:lnTo>
                    <a:pt x="122806" y="302102"/>
                  </a:lnTo>
                  <a:lnTo>
                    <a:pt x="128721" y="303156"/>
                  </a:lnTo>
                  <a:lnTo>
                    <a:pt x="134700" y="303860"/>
                  </a:lnTo>
                  <a:lnTo>
                    <a:pt x="140678" y="304563"/>
                  </a:lnTo>
                  <a:lnTo>
                    <a:pt x="146677" y="304912"/>
                  </a:lnTo>
                  <a:lnTo>
                    <a:pt x="152697" y="304904"/>
                  </a:lnTo>
                  <a:lnTo>
                    <a:pt x="158716" y="304897"/>
                  </a:lnTo>
                  <a:lnTo>
                    <a:pt x="188431" y="300612"/>
                  </a:lnTo>
                  <a:lnTo>
                    <a:pt x="194281" y="299193"/>
                  </a:lnTo>
                  <a:lnTo>
                    <a:pt x="200027" y="297434"/>
                  </a:lnTo>
                  <a:lnTo>
                    <a:pt x="205669" y="295335"/>
                  </a:lnTo>
                  <a:lnTo>
                    <a:pt x="211311" y="293235"/>
                  </a:lnTo>
                  <a:lnTo>
                    <a:pt x="237682" y="278887"/>
                  </a:lnTo>
                  <a:lnTo>
                    <a:pt x="242674" y="275523"/>
                  </a:lnTo>
                  <a:lnTo>
                    <a:pt x="272797" y="246283"/>
                  </a:lnTo>
                  <a:lnTo>
                    <a:pt x="276308" y="241394"/>
                  </a:lnTo>
                </a:path>
                <a:path w="305434" h="305435">
                  <a:moveTo>
                    <a:pt x="304883" y="41369"/>
                  </a:moveTo>
                  <a:lnTo>
                    <a:pt x="304883" y="155669"/>
                  </a:lnTo>
                  <a:lnTo>
                    <a:pt x="190583" y="155669"/>
                  </a:lnTo>
                </a:path>
              </a:pathLst>
            </a:custGeom>
            <a:ln w="1523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087099" y="8448671"/>
              <a:ext cx="2657475" cy="9525"/>
            </a:xfrm>
            <a:custGeom>
              <a:avLst/>
              <a:gdLst/>
              <a:ahLst/>
              <a:cxnLst/>
              <a:rect l="l" t="t" r="r" b="b"/>
              <a:pathLst>
                <a:path w="2657475" h="9525">
                  <a:moveTo>
                    <a:pt x="26574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2657474" y="0"/>
                  </a:lnTo>
                  <a:lnTo>
                    <a:pt x="2657474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872786" y="3490909"/>
            <a:ext cx="3086100" cy="553402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imes New Roman"/>
              <a:cs typeface="Times New Roman"/>
            </a:endParaRPr>
          </a:p>
          <a:p>
            <a:pPr marL="212090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4</a:t>
            </a:r>
            <a:endParaRPr sz="900">
              <a:latin typeface="Courier New"/>
              <a:cs typeface="Courier New"/>
            </a:endParaRPr>
          </a:p>
          <a:p>
            <a:pPr marL="212090" marR="1275715">
              <a:lnSpc>
                <a:spcPts val="2250"/>
              </a:lnSpc>
              <a:spcBef>
                <a:spcPts val="495"/>
              </a:spcBef>
            </a:pPr>
            <a:r>
              <a:rPr sz="1950" spc="100" dirty="0">
                <a:solidFill>
                  <a:srgbClr val="16171F"/>
                </a:solidFill>
                <a:latin typeface="Times New Roman"/>
                <a:cs typeface="Times New Roman"/>
              </a:rPr>
              <a:t>Institution-</a:t>
            </a:r>
            <a:r>
              <a:rPr sz="1950" spc="50" dirty="0">
                <a:solidFill>
                  <a:srgbClr val="16171F"/>
                </a:solidFill>
                <a:latin typeface="Times New Roman"/>
                <a:cs typeface="Times New Roman"/>
              </a:rPr>
              <a:t>led </a:t>
            </a:r>
            <a:r>
              <a:rPr sz="1950" spc="80" dirty="0">
                <a:solidFill>
                  <a:srgbClr val="16171F"/>
                </a:solidFill>
                <a:latin typeface="Times New Roman"/>
                <a:cs typeface="Times New Roman"/>
              </a:rPr>
              <a:t>Continuity</a:t>
            </a:r>
            <a:endParaRPr sz="1950">
              <a:latin typeface="Times New Roman"/>
              <a:cs typeface="Times New Roman"/>
            </a:endParaRPr>
          </a:p>
          <a:p>
            <a:pPr marL="212090" marR="378460">
              <a:lnSpc>
                <a:spcPct val="115399"/>
              </a:lnSpc>
              <a:spcBef>
                <a:spcPts val="1010"/>
              </a:spcBef>
            </a:pP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Trained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staff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peer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mentors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carry 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messaging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independently.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IEC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materials</a:t>
            </a:r>
            <a:r>
              <a:rPr sz="1300" spc="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displayed</a:t>
            </a:r>
            <a:r>
              <a:rPr sz="1300" spc="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campus-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wide.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Arial"/>
              <a:cs typeface="Arial"/>
            </a:endParaRPr>
          </a:p>
          <a:p>
            <a:pPr marL="21209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—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4135098" y="3486146"/>
            <a:ext cx="3105150" cy="5543550"/>
            <a:chOff x="14135098" y="3486146"/>
            <a:chExt cx="3105150" cy="5543550"/>
          </a:xfrm>
        </p:grpSpPr>
        <p:sp>
          <p:nvSpPr>
            <p:cNvPr id="37" name="object 37"/>
            <p:cNvSpPr/>
            <p:nvPr/>
          </p:nvSpPr>
          <p:spPr>
            <a:xfrm>
              <a:off x="14135098" y="3486146"/>
              <a:ext cx="3105150" cy="5543550"/>
            </a:xfrm>
            <a:custGeom>
              <a:avLst/>
              <a:gdLst/>
              <a:ahLst/>
              <a:cxnLst/>
              <a:rect l="l" t="t" r="r" b="b"/>
              <a:pathLst>
                <a:path w="3105150" h="5543550">
                  <a:moveTo>
                    <a:pt x="3105149" y="5543549"/>
                  </a:moveTo>
                  <a:lnTo>
                    <a:pt x="0" y="5543549"/>
                  </a:lnTo>
                  <a:lnTo>
                    <a:pt x="0" y="0"/>
                  </a:lnTo>
                  <a:lnTo>
                    <a:pt x="3105149" y="0"/>
                  </a:lnTo>
                  <a:lnTo>
                    <a:pt x="3105149" y="554354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430373" y="3819524"/>
              <a:ext cx="304800" cy="285750"/>
            </a:xfrm>
            <a:custGeom>
              <a:avLst/>
              <a:gdLst/>
              <a:ahLst/>
              <a:cxnLst/>
              <a:rect l="l" t="t" r="r" b="b"/>
              <a:pathLst>
                <a:path w="304800" h="285750">
                  <a:moveTo>
                    <a:pt x="0" y="285749"/>
                  </a:moveTo>
                  <a:lnTo>
                    <a:pt x="0" y="0"/>
                  </a:lnTo>
                </a:path>
                <a:path w="304800" h="285750">
                  <a:moveTo>
                    <a:pt x="0" y="285749"/>
                  </a:moveTo>
                  <a:lnTo>
                    <a:pt x="304799" y="285749"/>
                  </a:lnTo>
                </a:path>
              </a:pathLst>
            </a:custGeom>
            <a:ln w="1523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79903" y="3830954"/>
              <a:ext cx="262889" cy="20573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4354173" y="8448671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266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2666999" y="0"/>
                  </a:lnTo>
                  <a:lnTo>
                    <a:pt x="2666999" y="9524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4139860" y="3490909"/>
            <a:ext cx="3095625" cy="553402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imes New Roman"/>
              <a:cs typeface="Times New Roman"/>
            </a:endParaRPr>
          </a:p>
          <a:p>
            <a:pPr marL="217804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5</a:t>
            </a:r>
            <a:endParaRPr sz="900">
              <a:latin typeface="Courier New"/>
              <a:cs typeface="Courier New"/>
            </a:endParaRPr>
          </a:p>
          <a:p>
            <a:pPr marL="217804">
              <a:lnSpc>
                <a:spcPct val="100000"/>
              </a:lnSpc>
              <a:spcBef>
                <a:spcPts val="345"/>
              </a:spcBef>
            </a:pPr>
            <a:r>
              <a:rPr sz="1950" spc="95" dirty="0">
                <a:solidFill>
                  <a:srgbClr val="16171F"/>
                </a:solidFill>
                <a:latin typeface="Times New Roman"/>
                <a:cs typeface="Times New Roman"/>
              </a:rPr>
              <a:t>Monitoring</a:t>
            </a:r>
            <a:r>
              <a:rPr sz="1950" spc="-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-145" dirty="0">
                <a:solidFill>
                  <a:srgbClr val="16171F"/>
                </a:solidFill>
                <a:latin typeface="Times New Roman"/>
                <a:cs typeface="Times New Roman"/>
              </a:rPr>
              <a:t>&amp;</a:t>
            </a:r>
            <a:r>
              <a:rPr sz="1950" spc="-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16171F"/>
                </a:solidFill>
                <a:latin typeface="Times New Roman"/>
                <a:cs typeface="Times New Roman"/>
              </a:rPr>
              <a:t>Reporting</a:t>
            </a:r>
            <a:endParaRPr sz="1950">
              <a:latin typeface="Times New Roman"/>
              <a:cs typeface="Times New Roman"/>
            </a:endParaRPr>
          </a:p>
          <a:p>
            <a:pPr marL="217804" marR="435609" algn="just">
              <a:lnSpc>
                <a:spcPct val="115399"/>
              </a:lnSpc>
              <a:spcBef>
                <a:spcPts val="1070"/>
              </a:spcBef>
            </a:pP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Quarterly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warden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check-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ins,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district field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visits, incinerator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audits,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a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year-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end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impact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report.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1200">
              <a:latin typeface="Arial"/>
              <a:cs typeface="Arial"/>
            </a:endParaRPr>
          </a:p>
          <a:p>
            <a:pPr marL="217804" algn="just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Q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35050" y="9255125"/>
            <a:ext cx="101136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71145" algn="l"/>
              </a:tabLst>
            </a:pPr>
            <a:r>
              <a:rPr sz="950" spc="-50" dirty="0">
                <a:solidFill>
                  <a:srgbClr val="77292E"/>
                </a:solidFill>
                <a:latin typeface="Segoe UI Symbol"/>
                <a:cs typeface="Segoe UI Symbol"/>
              </a:rPr>
              <a:t>★</a:t>
            </a:r>
            <a:r>
              <a:rPr sz="950" dirty="0">
                <a:solidFill>
                  <a:srgbClr val="77292E"/>
                </a:solidFill>
                <a:latin typeface="Segoe UI Symbol"/>
                <a:cs typeface="Segoe UI Symbol"/>
              </a:rPr>
              <a:t>	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K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950" spc="3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9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45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endParaRPr sz="950">
              <a:latin typeface="Courier New"/>
              <a:cs typeface="Courier New"/>
            </a:endParaRPr>
          </a:p>
        </p:txBody>
      </p:sp>
      <p:pic>
        <p:nvPicPr>
          <p:cNvPr id="43" name="object 4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7749" y="466722"/>
            <a:ext cx="95250" cy="95245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374514" y="406400"/>
            <a:ext cx="2851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238950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8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11344"/>
            <a:ext cx="11827510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3294379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B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Y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M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-70" dirty="0">
                <a:solidFill>
                  <a:srgbClr val="16171F"/>
                </a:solidFill>
                <a:latin typeface="Times New Roman"/>
                <a:cs typeface="Times New Roman"/>
              </a:rPr>
              <a:t>By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50" dirty="0">
                <a:solidFill>
                  <a:srgbClr val="16171F"/>
                </a:solidFill>
                <a:latin typeface="Times New Roman"/>
                <a:cs typeface="Times New Roman"/>
              </a:rPr>
              <a:t>Year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3,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every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00" dirty="0">
                <a:solidFill>
                  <a:srgbClr val="16171F"/>
                </a:solidFill>
                <a:latin typeface="Times New Roman"/>
                <a:cs typeface="Times New Roman"/>
              </a:rPr>
              <a:t>campus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50" dirty="0">
                <a:solidFill>
                  <a:srgbClr val="16171F"/>
                </a:solidFill>
                <a:latin typeface="Times New Roman"/>
                <a:cs typeface="Times New Roman"/>
              </a:rPr>
              <a:t>runs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8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4800" spc="-15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04" dirty="0">
                <a:solidFill>
                  <a:srgbClr val="16171F"/>
                </a:solidFill>
                <a:latin typeface="Times New Roman"/>
                <a:cs typeface="Times New Roman"/>
              </a:rPr>
              <a:t>programme </a:t>
            </a:r>
            <a:r>
              <a:rPr sz="4800" spc="265" dirty="0">
                <a:solidFill>
                  <a:srgbClr val="16171F"/>
                </a:solidFill>
                <a:latin typeface="Times New Roman"/>
                <a:cs typeface="Times New Roman"/>
              </a:rPr>
              <a:t>on</a:t>
            </a:r>
            <a:r>
              <a:rPr sz="4800" spc="-1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00" dirty="0">
                <a:solidFill>
                  <a:srgbClr val="16171F"/>
                </a:solidFill>
                <a:latin typeface="Times New Roman"/>
                <a:cs typeface="Times New Roman"/>
              </a:rPr>
              <a:t>its</a:t>
            </a:r>
            <a:r>
              <a:rPr sz="4800" spc="-1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80" dirty="0">
                <a:solidFill>
                  <a:srgbClr val="16171F"/>
                </a:solidFill>
                <a:latin typeface="Times New Roman"/>
                <a:cs typeface="Times New Roman"/>
              </a:rPr>
              <a:t>own</a:t>
            </a:r>
            <a:r>
              <a:rPr sz="4800" spc="-1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—</a:t>
            </a:r>
            <a:r>
              <a:rPr sz="4800" spc="-1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i="1" dirty="0">
                <a:solidFill>
                  <a:srgbClr val="77292E"/>
                </a:solidFill>
                <a:latin typeface="Times New Roman"/>
                <a:cs typeface="Times New Roman"/>
              </a:rPr>
              <a:t>without</a:t>
            </a:r>
            <a:r>
              <a:rPr sz="4800" i="1" spc="-200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spc="185" dirty="0">
                <a:solidFill>
                  <a:srgbClr val="77292E"/>
                </a:solidFill>
                <a:latin typeface="Times New Roman"/>
                <a:cs typeface="Times New Roman"/>
              </a:rPr>
              <a:t>NGO</a:t>
            </a:r>
            <a:r>
              <a:rPr sz="4800" i="1" spc="-200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4800" i="1" spc="-10" dirty="0">
                <a:solidFill>
                  <a:srgbClr val="77292E"/>
                </a:solidFill>
                <a:latin typeface="Times New Roman"/>
                <a:cs typeface="Times New Roman"/>
              </a:rPr>
              <a:t>dependency</a:t>
            </a:r>
            <a:r>
              <a:rPr sz="4800" spc="-10" dirty="0">
                <a:solidFill>
                  <a:srgbClr val="16171F"/>
                </a:solidFill>
                <a:latin typeface="Times New Roman"/>
                <a:cs typeface="Times New Roman"/>
              </a:rPr>
              <a:t>.</a:t>
            </a:r>
            <a:endParaRPr sz="48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7749" y="3263503"/>
          <a:ext cx="7715249" cy="4326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8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4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1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258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B w="9525">
                      <a:solidFill>
                        <a:srgbClr val="1617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963930" algn="l"/>
                          <a:tab pos="1409700" algn="l"/>
                        </a:tabLst>
                      </a:pP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V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F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	S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100" spc="-4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B w="9525">
                      <a:solidFill>
                        <a:srgbClr val="1617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100" spc="-4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100" spc="-4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100" spc="-455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100" spc="-4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0" dirty="0">
                          <a:solidFill>
                            <a:srgbClr val="67686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B w="9525">
                      <a:solidFill>
                        <a:srgbClr val="1617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429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r>
                        <a:rPr sz="2700" b="1" spc="-50" dirty="0">
                          <a:solidFill>
                            <a:srgbClr val="77292E"/>
                          </a:solidFill>
                          <a:latin typeface="Source Sans 3"/>
                          <a:cs typeface="Source Sans 3"/>
                        </a:rPr>
                        <a:t>1</a:t>
                      </a:r>
                      <a:endParaRPr sz="2700">
                        <a:latin typeface="Source Sans 3"/>
                        <a:cs typeface="Source Sans 3"/>
                      </a:endParaRPr>
                    </a:p>
                  </a:txBody>
                  <a:tcPr marL="0" marR="0" marT="213995" marB="0">
                    <a:lnT w="9525">
                      <a:solidFill>
                        <a:srgbClr val="16171F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 marR="291465">
                        <a:lnSpc>
                          <a:spcPct val="102600"/>
                        </a:lnSpc>
                        <a:spcBef>
                          <a:spcPts val="1400"/>
                        </a:spcBef>
                      </a:pPr>
                      <a:r>
                        <a:rPr sz="1950" b="1" spc="-10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Full</a:t>
                      </a:r>
                      <a:r>
                        <a:rPr sz="1950" b="1" spc="-1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b="1" spc="-2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implementation. </a:t>
                      </a:r>
                      <a:r>
                        <a:rPr sz="1950" spc="-10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Sessions,</a:t>
                      </a:r>
                      <a:r>
                        <a:rPr sz="1950" spc="-8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kits,</a:t>
                      </a:r>
                      <a:r>
                        <a:rPr sz="1950" spc="-8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incinerators, </a:t>
                      </a:r>
                      <a:r>
                        <a:rPr sz="1950" spc="-2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ToT</a:t>
                      </a:r>
                      <a:r>
                        <a:rPr sz="1950" spc="-4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delivered</a:t>
                      </a:r>
                      <a:r>
                        <a:rPr sz="1950" spc="-3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end-</a:t>
                      </a:r>
                      <a:r>
                        <a:rPr sz="19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to-</a:t>
                      </a:r>
                      <a:r>
                        <a:rPr sz="19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end.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T w="9525">
                      <a:solidFill>
                        <a:srgbClr val="16171F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9085" marR="328295">
                        <a:lnSpc>
                          <a:spcPct val="102600"/>
                        </a:lnSpc>
                        <a:spcBef>
                          <a:spcPts val="1400"/>
                        </a:spcBef>
                      </a:pPr>
                      <a:r>
                        <a:rPr sz="1950" spc="-10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Observe,</a:t>
                      </a:r>
                      <a:r>
                        <a:rPr sz="1950" spc="-9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5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nominate</a:t>
                      </a:r>
                      <a:r>
                        <a:rPr sz="1950" spc="-9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focal </a:t>
                      </a:r>
                      <a:r>
                        <a:rPr sz="1950" spc="-7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persons,</a:t>
                      </a:r>
                      <a:r>
                        <a:rPr sz="1950" spc="-9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host</a:t>
                      </a:r>
                      <a:r>
                        <a:rPr sz="1950" spc="-8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facilitation.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T w="9525">
                      <a:solidFill>
                        <a:srgbClr val="16171F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909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r>
                        <a:rPr sz="2700" b="1" spc="-50" dirty="0">
                          <a:solidFill>
                            <a:srgbClr val="77292E"/>
                          </a:solidFill>
                          <a:latin typeface="Source Sans 3"/>
                          <a:cs typeface="Source Sans 3"/>
                        </a:rPr>
                        <a:t>2</a:t>
                      </a:r>
                      <a:endParaRPr sz="2700">
                        <a:latin typeface="Source Sans 3"/>
                        <a:cs typeface="Source Sans 3"/>
                      </a:endParaRPr>
                    </a:p>
                  </a:txBody>
                  <a:tcPr marL="0" marR="0" marT="21399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 marR="352425">
                        <a:lnSpc>
                          <a:spcPct val="102600"/>
                        </a:lnSpc>
                        <a:spcBef>
                          <a:spcPts val="1400"/>
                        </a:spcBef>
                      </a:pPr>
                      <a:r>
                        <a:rPr sz="1950" b="1" spc="-65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Partial</a:t>
                      </a:r>
                      <a:r>
                        <a:rPr sz="1950" b="1" spc="-85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b="1" spc="-105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support.</a:t>
                      </a:r>
                      <a:r>
                        <a:rPr sz="1950" b="1" spc="-8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Joint </a:t>
                      </a:r>
                      <a:r>
                        <a:rPr sz="1950" spc="-9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sessions</a:t>
                      </a:r>
                      <a:r>
                        <a:rPr sz="1950" spc="-7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3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co-</a:t>
                      </a:r>
                      <a:r>
                        <a:rPr sz="19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delivered</a:t>
                      </a:r>
                      <a:r>
                        <a:rPr sz="1950" spc="-7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with </a:t>
                      </a:r>
                      <a:r>
                        <a:rPr sz="19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institution</a:t>
                      </a:r>
                      <a:r>
                        <a:rPr sz="1950" spc="-10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staff.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9085" marR="521970">
                        <a:lnSpc>
                          <a:spcPct val="102600"/>
                        </a:lnSpc>
                        <a:spcBef>
                          <a:spcPts val="1400"/>
                        </a:spcBef>
                      </a:pPr>
                      <a:r>
                        <a:rPr sz="1950" spc="-1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Lead</a:t>
                      </a:r>
                      <a:r>
                        <a:rPr sz="1950" spc="-10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delivery</a:t>
                      </a:r>
                      <a:r>
                        <a:rPr sz="1950" spc="-10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sz="1950" spc="-10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NGO </a:t>
                      </a:r>
                      <a:r>
                        <a:rPr sz="1950" spc="-8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guidance;</a:t>
                      </a:r>
                      <a:r>
                        <a:rPr sz="19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manage incinerators independently.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093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r>
                        <a:rPr sz="2700" b="1" spc="-50" dirty="0">
                          <a:solidFill>
                            <a:srgbClr val="77292E"/>
                          </a:solidFill>
                          <a:latin typeface="Source Sans 3"/>
                          <a:cs typeface="Source Sans 3"/>
                        </a:rPr>
                        <a:t>3</a:t>
                      </a:r>
                      <a:endParaRPr sz="2700">
                        <a:latin typeface="Source Sans 3"/>
                        <a:cs typeface="Source Sans 3"/>
                      </a:endParaRPr>
                    </a:p>
                  </a:txBody>
                  <a:tcPr marL="0" marR="0" marT="21399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07034" marR="645160">
                        <a:lnSpc>
                          <a:spcPct val="102600"/>
                        </a:lnSpc>
                        <a:spcBef>
                          <a:spcPts val="1290"/>
                        </a:spcBef>
                      </a:pPr>
                      <a:r>
                        <a:rPr sz="1950" b="1" spc="-13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Remote</a:t>
                      </a:r>
                      <a:r>
                        <a:rPr sz="1950" b="1" spc="-10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b="1" spc="-12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only.</a:t>
                      </a:r>
                      <a:r>
                        <a:rPr sz="1950" b="1" spc="-10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8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Refresher </a:t>
                      </a:r>
                      <a:r>
                        <a:rPr sz="1950" spc="-4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content</a:t>
                      </a:r>
                      <a:r>
                        <a:rPr sz="1950" spc="-9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8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950" spc="-9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technical helpline.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63830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9085" marR="421005">
                        <a:lnSpc>
                          <a:spcPct val="102600"/>
                        </a:lnSpc>
                        <a:spcBef>
                          <a:spcPts val="1290"/>
                        </a:spcBef>
                      </a:pPr>
                      <a:r>
                        <a:rPr sz="1950" spc="-13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Run</a:t>
                      </a:r>
                      <a:r>
                        <a:rPr sz="1950" spc="-9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7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programme</a:t>
                      </a:r>
                      <a:r>
                        <a:rPr sz="1950" spc="-9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fully </a:t>
                      </a:r>
                      <a:r>
                        <a:rPr sz="19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independently;</a:t>
                      </a:r>
                      <a:r>
                        <a:rPr sz="19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maintain </a:t>
                      </a:r>
                      <a:r>
                        <a:rPr sz="19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infrastructure.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63830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512299" y="4770427"/>
            <a:ext cx="7308215" cy="1577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5580">
              <a:lnSpc>
                <a:spcPct val="111400"/>
              </a:lnSpc>
              <a:spcBef>
                <a:spcPts val="95"/>
              </a:spcBef>
            </a:pPr>
            <a:r>
              <a:rPr sz="2300" spc="-110" dirty="0">
                <a:solidFill>
                  <a:srgbClr val="3B3C43"/>
                </a:solidFill>
                <a:latin typeface="Tahoma"/>
                <a:cs typeface="Tahoma"/>
              </a:rPr>
              <a:t>The</a:t>
            </a:r>
            <a:r>
              <a:rPr sz="2300" spc="-18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75" dirty="0">
                <a:solidFill>
                  <a:srgbClr val="3B3C43"/>
                </a:solidFill>
                <a:latin typeface="Tahoma"/>
                <a:cs typeface="Tahoma"/>
              </a:rPr>
              <a:t>investment</a:t>
            </a:r>
            <a:r>
              <a:rPr sz="2300" spc="-18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30" dirty="0">
                <a:solidFill>
                  <a:srgbClr val="3B3C43"/>
                </a:solidFill>
                <a:latin typeface="Tahoma"/>
                <a:cs typeface="Tahoma"/>
              </a:rPr>
              <a:t>lasts</a:t>
            </a:r>
            <a:r>
              <a:rPr sz="2300" spc="-18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90" dirty="0">
                <a:solidFill>
                  <a:srgbClr val="3B3C43"/>
                </a:solidFill>
                <a:latin typeface="Tahoma"/>
                <a:cs typeface="Tahoma"/>
              </a:rPr>
              <a:t>beyond</a:t>
            </a:r>
            <a:r>
              <a:rPr sz="2300" spc="-18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70" dirty="0">
                <a:solidFill>
                  <a:srgbClr val="3B3C43"/>
                </a:solidFill>
                <a:latin typeface="Tahoma"/>
                <a:cs typeface="Tahoma"/>
              </a:rPr>
              <a:t>the</a:t>
            </a:r>
            <a:r>
              <a:rPr sz="2300" spc="-18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90" dirty="0">
                <a:solidFill>
                  <a:srgbClr val="3B3C43"/>
                </a:solidFill>
                <a:latin typeface="Tahoma"/>
                <a:cs typeface="Tahoma"/>
              </a:rPr>
              <a:t>funding</a:t>
            </a:r>
            <a:r>
              <a:rPr sz="2300" spc="-18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135" dirty="0">
                <a:solidFill>
                  <a:srgbClr val="3B3C43"/>
                </a:solidFill>
                <a:latin typeface="Tahoma"/>
                <a:cs typeface="Tahoma"/>
              </a:rPr>
              <a:t>year.</a:t>
            </a:r>
            <a:r>
              <a:rPr sz="2300" spc="-18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b="1" spc="-85" dirty="0">
                <a:solidFill>
                  <a:srgbClr val="16171F"/>
                </a:solidFill>
                <a:latin typeface="Arial"/>
                <a:cs typeface="Arial"/>
              </a:rPr>
              <a:t>Incinerators </a:t>
            </a:r>
            <a:r>
              <a:rPr sz="2300" b="1" spc="-145" dirty="0">
                <a:solidFill>
                  <a:srgbClr val="16171F"/>
                </a:solidFill>
                <a:latin typeface="Arial"/>
                <a:cs typeface="Arial"/>
              </a:rPr>
              <a:t>have</a:t>
            </a:r>
            <a:r>
              <a:rPr sz="2300" b="1" spc="-120" dirty="0">
                <a:solidFill>
                  <a:srgbClr val="16171F"/>
                </a:solidFill>
                <a:latin typeface="Arial"/>
                <a:cs typeface="Arial"/>
              </a:rPr>
              <a:t> </a:t>
            </a:r>
            <a:r>
              <a:rPr sz="2300" b="1" spc="-95" dirty="0">
                <a:solidFill>
                  <a:srgbClr val="16171F"/>
                </a:solidFill>
                <a:latin typeface="Arial"/>
                <a:cs typeface="Arial"/>
              </a:rPr>
              <a:t>a</a:t>
            </a:r>
            <a:r>
              <a:rPr sz="2300" b="1" spc="-120" dirty="0">
                <a:solidFill>
                  <a:srgbClr val="16171F"/>
                </a:solidFill>
                <a:latin typeface="Arial"/>
                <a:cs typeface="Arial"/>
              </a:rPr>
              <a:t> </a:t>
            </a:r>
            <a:r>
              <a:rPr sz="2300" b="1" spc="-50" dirty="0">
                <a:solidFill>
                  <a:srgbClr val="16171F"/>
                </a:solidFill>
                <a:latin typeface="Arial"/>
                <a:cs typeface="Arial"/>
              </a:rPr>
              <a:t>10+</a:t>
            </a:r>
            <a:r>
              <a:rPr sz="2300" b="1" spc="-114" dirty="0">
                <a:solidFill>
                  <a:srgbClr val="16171F"/>
                </a:solidFill>
                <a:latin typeface="Arial"/>
                <a:cs typeface="Arial"/>
              </a:rPr>
              <a:t> </a:t>
            </a:r>
            <a:r>
              <a:rPr sz="2300" b="1" spc="-105" dirty="0">
                <a:solidFill>
                  <a:srgbClr val="16171F"/>
                </a:solidFill>
                <a:latin typeface="Arial"/>
                <a:cs typeface="Arial"/>
              </a:rPr>
              <a:t>year</a:t>
            </a:r>
            <a:r>
              <a:rPr sz="2300" b="1" spc="-120" dirty="0">
                <a:solidFill>
                  <a:srgbClr val="16171F"/>
                </a:solidFill>
                <a:latin typeface="Arial"/>
                <a:cs typeface="Arial"/>
              </a:rPr>
              <a:t> </a:t>
            </a:r>
            <a:r>
              <a:rPr sz="2300" b="1" spc="-130" dirty="0">
                <a:solidFill>
                  <a:srgbClr val="16171F"/>
                </a:solidFill>
                <a:latin typeface="Arial"/>
                <a:cs typeface="Arial"/>
              </a:rPr>
              <a:t>service</a:t>
            </a:r>
            <a:r>
              <a:rPr sz="2300" b="1" spc="-114" dirty="0">
                <a:solidFill>
                  <a:srgbClr val="16171F"/>
                </a:solidFill>
                <a:latin typeface="Arial"/>
                <a:cs typeface="Arial"/>
              </a:rPr>
              <a:t> </a:t>
            </a:r>
            <a:r>
              <a:rPr sz="2300" b="1" spc="-45" dirty="0">
                <a:solidFill>
                  <a:srgbClr val="16171F"/>
                </a:solidFill>
                <a:latin typeface="Arial"/>
                <a:cs typeface="Arial"/>
              </a:rPr>
              <a:t>life.</a:t>
            </a:r>
            <a:r>
              <a:rPr sz="2300" b="1" spc="-120" dirty="0">
                <a:solidFill>
                  <a:srgbClr val="16171F"/>
                </a:solidFill>
                <a:latin typeface="Arial"/>
                <a:cs typeface="Arial"/>
              </a:rPr>
              <a:t> </a:t>
            </a:r>
            <a:r>
              <a:rPr sz="2300" spc="-65" dirty="0">
                <a:solidFill>
                  <a:srgbClr val="3B3C43"/>
                </a:solidFill>
                <a:latin typeface="Tahoma"/>
                <a:cs typeface="Tahoma"/>
              </a:rPr>
              <a:t>IEC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55" dirty="0">
                <a:solidFill>
                  <a:srgbClr val="3B3C43"/>
                </a:solidFill>
                <a:latin typeface="Tahoma"/>
                <a:cs typeface="Tahoma"/>
              </a:rPr>
              <a:t>materials</a:t>
            </a:r>
            <a:r>
              <a:rPr sz="2300" spc="-20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85" dirty="0">
                <a:solidFill>
                  <a:srgbClr val="3B3C43"/>
                </a:solidFill>
                <a:latin typeface="Tahoma"/>
                <a:cs typeface="Tahoma"/>
              </a:rPr>
              <a:t>are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3B3C43"/>
                </a:solidFill>
                <a:latin typeface="Tahoma"/>
                <a:cs typeface="Tahoma"/>
              </a:rPr>
              <a:t>reusable.</a:t>
            </a:r>
            <a:endParaRPr sz="2300">
              <a:latin typeface="Tahoma"/>
              <a:cs typeface="Tahoma"/>
            </a:endParaRPr>
          </a:p>
          <a:p>
            <a:pPr marL="12700" marR="5080">
              <a:lnSpc>
                <a:spcPts val="3080"/>
              </a:lnSpc>
              <a:spcBef>
                <a:spcPts val="20"/>
              </a:spcBef>
            </a:pPr>
            <a:r>
              <a:rPr sz="2300" spc="-95" dirty="0">
                <a:solidFill>
                  <a:srgbClr val="3B3C43"/>
                </a:solidFill>
                <a:latin typeface="Tahoma"/>
                <a:cs typeface="Tahoma"/>
              </a:rPr>
              <a:t>Trained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55" dirty="0">
                <a:solidFill>
                  <a:srgbClr val="3B3C43"/>
                </a:solidFill>
                <a:latin typeface="Tahoma"/>
                <a:cs typeface="Tahoma"/>
              </a:rPr>
              <a:t>staff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70" dirty="0">
                <a:solidFill>
                  <a:srgbClr val="3B3C43"/>
                </a:solidFill>
                <a:latin typeface="Tahoma"/>
                <a:cs typeface="Tahoma"/>
              </a:rPr>
              <a:t>stay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95" dirty="0">
                <a:solidFill>
                  <a:srgbClr val="3B3C43"/>
                </a:solidFill>
                <a:latin typeface="Tahoma"/>
                <a:cs typeface="Tahoma"/>
              </a:rPr>
              <a:t>on</a:t>
            </a:r>
            <a:r>
              <a:rPr sz="2300" spc="-19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85" dirty="0">
                <a:solidFill>
                  <a:srgbClr val="3B3C43"/>
                </a:solidFill>
                <a:latin typeface="Tahoma"/>
                <a:cs typeface="Tahoma"/>
              </a:rPr>
              <a:t>campus.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70" dirty="0">
                <a:solidFill>
                  <a:srgbClr val="3B3C43"/>
                </a:solidFill>
                <a:latin typeface="Tahoma"/>
                <a:cs typeface="Tahoma"/>
              </a:rPr>
              <a:t>Peer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70" dirty="0">
                <a:solidFill>
                  <a:srgbClr val="3B3C43"/>
                </a:solidFill>
                <a:latin typeface="Tahoma"/>
                <a:cs typeface="Tahoma"/>
              </a:rPr>
              <a:t>mentors</a:t>
            </a:r>
            <a:r>
              <a:rPr sz="2300" spc="-19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85" dirty="0">
                <a:solidFill>
                  <a:srgbClr val="3B3C43"/>
                </a:solidFill>
                <a:latin typeface="Tahoma"/>
                <a:cs typeface="Tahoma"/>
              </a:rPr>
              <a:t>graduate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60" dirty="0">
                <a:solidFill>
                  <a:srgbClr val="3B3C43"/>
                </a:solidFill>
                <a:latin typeface="Tahoma"/>
                <a:cs typeface="Tahoma"/>
              </a:rPr>
              <a:t>into</a:t>
            </a:r>
            <a:r>
              <a:rPr sz="2300" spc="-19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60" dirty="0">
                <a:solidFill>
                  <a:srgbClr val="3B3C43"/>
                </a:solidFill>
                <a:latin typeface="Tahoma"/>
                <a:cs typeface="Tahoma"/>
              </a:rPr>
              <a:t>the </a:t>
            </a:r>
            <a:r>
              <a:rPr sz="2300" spc="-85" dirty="0">
                <a:solidFill>
                  <a:srgbClr val="3B3C43"/>
                </a:solidFill>
                <a:latin typeface="Tahoma"/>
                <a:cs typeface="Tahoma"/>
              </a:rPr>
              <a:t>next</a:t>
            </a:r>
            <a:r>
              <a:rPr sz="2300" spc="-19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3B3C43"/>
                </a:solidFill>
                <a:latin typeface="Tahoma"/>
                <a:cs typeface="Tahoma"/>
              </a:rPr>
              <a:t>cohort.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12299" y="6711950"/>
            <a:ext cx="990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77292E"/>
                </a:solidFill>
                <a:latin typeface="Consolas"/>
                <a:cs typeface="Consolas"/>
              </a:rPr>
              <a:t>→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26649" y="6614585"/>
            <a:ext cx="5402580" cy="302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00" spc="-55" dirty="0">
                <a:solidFill>
                  <a:srgbClr val="3B3C43"/>
                </a:solidFill>
                <a:latin typeface="Tahoma"/>
                <a:cs typeface="Tahoma"/>
              </a:rPr>
              <a:t>No</a:t>
            </a:r>
            <a:r>
              <a:rPr sz="1800" spc="-13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3B3C43"/>
                </a:solidFill>
                <a:latin typeface="Tahoma"/>
                <a:cs typeface="Tahoma"/>
              </a:rPr>
              <a:t>recurring</a:t>
            </a:r>
            <a:r>
              <a:rPr sz="1800" spc="-13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3B3C43"/>
                </a:solidFill>
                <a:latin typeface="Tahoma"/>
                <a:cs typeface="Tahoma"/>
              </a:rPr>
              <a:t>product</a:t>
            </a:r>
            <a:r>
              <a:rPr sz="1800" spc="-13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3B3C43"/>
                </a:solidFill>
                <a:latin typeface="Tahoma"/>
                <a:cs typeface="Tahoma"/>
              </a:rPr>
              <a:t>procurement</a:t>
            </a:r>
            <a:r>
              <a:rPr sz="1800" spc="-13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3B3C43"/>
                </a:solidFill>
                <a:latin typeface="Tahoma"/>
                <a:cs typeface="Tahoma"/>
              </a:rPr>
              <a:t>after</a:t>
            </a:r>
            <a:r>
              <a:rPr sz="1800" spc="-13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3B3C43"/>
                </a:solidFill>
                <a:latin typeface="Tahoma"/>
                <a:cs typeface="Tahoma"/>
              </a:rPr>
              <a:t>Year</a:t>
            </a:r>
            <a:r>
              <a:rPr sz="1800" spc="-13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B3C43"/>
                </a:solidFill>
                <a:latin typeface="Tahoma"/>
                <a:cs typeface="Tahoma"/>
              </a:rPr>
              <a:t>1</a:t>
            </a:r>
            <a:r>
              <a:rPr sz="1800" spc="-13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3B3C43"/>
                </a:solidFill>
                <a:latin typeface="Tahoma"/>
                <a:cs typeface="Tahoma"/>
              </a:rPr>
              <a:t>starter</a:t>
            </a:r>
            <a:r>
              <a:rPr sz="1800" spc="-13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3B3C43"/>
                </a:solidFill>
                <a:latin typeface="Tahoma"/>
                <a:cs typeface="Tahoma"/>
              </a:rPr>
              <a:t>kit.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12299" y="7121525"/>
            <a:ext cx="990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77292E"/>
                </a:solidFill>
                <a:latin typeface="Consolas"/>
                <a:cs typeface="Consolas"/>
              </a:rPr>
              <a:t>→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26649" y="7024160"/>
            <a:ext cx="6204585" cy="302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00" spc="-30" dirty="0">
                <a:solidFill>
                  <a:srgbClr val="3B3C43"/>
                </a:solidFill>
                <a:latin typeface="Tahoma"/>
                <a:cs typeface="Tahoma"/>
              </a:rPr>
              <a:t>Self-</a:t>
            </a:r>
            <a:r>
              <a:rPr sz="1800" spc="-60" dirty="0">
                <a:solidFill>
                  <a:srgbClr val="3B3C43"/>
                </a:solidFill>
                <a:latin typeface="Tahoma"/>
                <a:cs typeface="Tahoma"/>
              </a:rPr>
              <a:t>financing</a:t>
            </a:r>
            <a:r>
              <a:rPr sz="1800" spc="-11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3B3C43"/>
                </a:solidFill>
                <a:latin typeface="Tahoma"/>
                <a:cs typeface="Tahoma"/>
              </a:rPr>
              <a:t>pipeline</a:t>
            </a:r>
            <a:r>
              <a:rPr sz="1800" spc="-10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3B3C43"/>
                </a:solidFill>
                <a:latin typeface="Tahoma"/>
                <a:cs typeface="Tahoma"/>
              </a:rPr>
              <a:t>routed</a:t>
            </a:r>
            <a:r>
              <a:rPr sz="1800" spc="-11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3B3C43"/>
                </a:solidFill>
                <a:latin typeface="Tahoma"/>
                <a:cs typeface="Tahoma"/>
              </a:rPr>
              <a:t>through</a:t>
            </a:r>
            <a:r>
              <a:rPr sz="1800" spc="-10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3B3C43"/>
                </a:solidFill>
                <a:latin typeface="Tahoma"/>
                <a:cs typeface="Tahoma"/>
              </a:rPr>
              <a:t>MJPTBCWREIS</a:t>
            </a:r>
            <a:r>
              <a:rPr sz="1800" spc="-10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3B3C43"/>
                </a:solidFill>
                <a:latin typeface="Tahoma"/>
                <a:cs typeface="Tahoma"/>
              </a:rPr>
              <a:t>allocations.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12299" y="7531100"/>
            <a:ext cx="990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77292E"/>
                </a:solidFill>
                <a:latin typeface="Consolas"/>
                <a:cs typeface="Consolas"/>
              </a:rPr>
              <a:t>→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26649" y="7433735"/>
            <a:ext cx="5986780" cy="302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00" spc="-75" dirty="0">
                <a:solidFill>
                  <a:srgbClr val="3B3C43"/>
                </a:solidFill>
                <a:latin typeface="Tahoma"/>
                <a:cs typeface="Tahoma"/>
              </a:rPr>
              <a:t>Programme</a:t>
            </a:r>
            <a:r>
              <a:rPr sz="1800" spc="-12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3B3C43"/>
                </a:solidFill>
                <a:latin typeface="Tahoma"/>
                <a:cs typeface="Tahoma"/>
              </a:rPr>
              <a:t>survives</a:t>
            </a:r>
            <a:r>
              <a:rPr sz="1800" spc="-12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3B3C43"/>
                </a:solidFill>
                <a:latin typeface="Tahoma"/>
                <a:cs typeface="Tahoma"/>
              </a:rPr>
              <a:t>staff</a:t>
            </a:r>
            <a:r>
              <a:rPr sz="1800" spc="-12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3B3C43"/>
                </a:solidFill>
                <a:latin typeface="Tahoma"/>
                <a:cs typeface="Tahoma"/>
              </a:rPr>
              <a:t>transfers</a:t>
            </a:r>
            <a:r>
              <a:rPr sz="1800" spc="-12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3B3C43"/>
                </a:solidFill>
                <a:latin typeface="Tahoma"/>
                <a:cs typeface="Tahoma"/>
              </a:rPr>
              <a:t>via</a:t>
            </a:r>
            <a:r>
              <a:rPr sz="1800" spc="-120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3B3C43"/>
                </a:solidFill>
                <a:latin typeface="Tahoma"/>
                <a:cs typeface="Tahoma"/>
              </a:rPr>
              <a:t>documented</a:t>
            </a:r>
            <a:r>
              <a:rPr sz="1800" spc="-125" dirty="0">
                <a:solidFill>
                  <a:srgbClr val="3B3C43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3B3C43"/>
                </a:solidFill>
                <a:latin typeface="Tahoma"/>
                <a:cs typeface="Tahoma"/>
              </a:rPr>
              <a:t>curriculum.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21"/>
            <a:ext cx="95250" cy="9524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255750" y="406400"/>
            <a:ext cx="2969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238950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9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11344"/>
            <a:ext cx="13136244" cy="11569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920239" algn="l"/>
                <a:tab pos="2263775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&amp;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K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16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4800" spc="245" dirty="0">
                <a:solidFill>
                  <a:srgbClr val="16171F"/>
                </a:solidFill>
                <a:latin typeface="Times New Roman"/>
                <a:cs typeface="Times New Roman"/>
              </a:rPr>
              <a:t>What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10" dirty="0">
                <a:solidFill>
                  <a:srgbClr val="16171F"/>
                </a:solidFill>
                <a:latin typeface="Times New Roman"/>
                <a:cs typeface="Times New Roman"/>
              </a:rPr>
              <a:t>we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5" dirty="0">
                <a:solidFill>
                  <a:srgbClr val="16171F"/>
                </a:solidFill>
                <a:latin typeface="Times New Roman"/>
                <a:cs typeface="Times New Roman"/>
              </a:rPr>
              <a:t>measure,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65" dirty="0">
                <a:solidFill>
                  <a:srgbClr val="16171F"/>
                </a:solidFill>
                <a:latin typeface="Times New Roman"/>
                <a:cs typeface="Times New Roman"/>
              </a:rPr>
              <a:t>and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15" dirty="0">
                <a:solidFill>
                  <a:srgbClr val="16171F"/>
                </a:solidFill>
                <a:latin typeface="Times New Roman"/>
                <a:cs typeface="Times New Roman"/>
              </a:rPr>
              <a:t>what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10" dirty="0">
                <a:solidFill>
                  <a:srgbClr val="16171F"/>
                </a:solidFill>
                <a:latin typeface="Times New Roman"/>
                <a:cs typeface="Times New Roman"/>
              </a:rPr>
              <a:t>we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16171F"/>
                </a:solidFill>
                <a:latin typeface="Times New Roman"/>
                <a:cs typeface="Times New Roman"/>
              </a:rPr>
              <a:t>commit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40" dirty="0">
                <a:solidFill>
                  <a:srgbClr val="16171F"/>
                </a:solidFill>
                <a:latin typeface="Times New Roman"/>
                <a:cs typeface="Times New Roman"/>
              </a:rPr>
              <a:t>to</a:t>
            </a:r>
            <a:r>
              <a:rPr sz="4800" spc="-1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35" dirty="0">
                <a:solidFill>
                  <a:srgbClr val="16171F"/>
                </a:solidFill>
                <a:latin typeface="Times New Roman"/>
                <a:cs typeface="Times New Roman"/>
              </a:rPr>
              <a:t>deliver.</a:t>
            </a:r>
            <a:endParaRPr sz="48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7749" y="2495546"/>
            <a:ext cx="2590800" cy="1457325"/>
            <a:chOff x="1047749" y="2495546"/>
            <a:chExt cx="2590800" cy="1457325"/>
          </a:xfrm>
        </p:grpSpPr>
        <p:sp>
          <p:nvSpPr>
            <p:cNvPr id="4" name="object 4"/>
            <p:cNvSpPr/>
            <p:nvPr/>
          </p:nvSpPr>
          <p:spPr>
            <a:xfrm>
              <a:off x="1047749" y="2495546"/>
              <a:ext cx="2590800" cy="1457325"/>
            </a:xfrm>
            <a:custGeom>
              <a:avLst/>
              <a:gdLst/>
              <a:ahLst/>
              <a:cxnLst/>
              <a:rect l="l" t="t" r="r" b="b"/>
              <a:pathLst>
                <a:path w="2590800" h="1457325">
                  <a:moveTo>
                    <a:pt x="2590799" y="1457324"/>
                  </a:moveTo>
                  <a:lnTo>
                    <a:pt x="0" y="1457324"/>
                  </a:lnTo>
                  <a:lnTo>
                    <a:pt x="0" y="0"/>
                  </a:lnTo>
                  <a:lnTo>
                    <a:pt x="2590799" y="0"/>
                  </a:lnTo>
                  <a:lnTo>
                    <a:pt x="2590799" y="14573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62062" y="2747962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200024"/>
                  </a:moveTo>
                  <a:lnTo>
                    <a:pt x="0" y="66674"/>
                  </a:lnTo>
                  <a:lnTo>
                    <a:pt x="100012" y="0"/>
                  </a:lnTo>
                  <a:lnTo>
                    <a:pt x="200024" y="66674"/>
                  </a:lnTo>
                  <a:lnTo>
                    <a:pt x="200024" y="200024"/>
                  </a:lnTo>
                </a:path>
                <a:path w="200025" h="200025">
                  <a:moveTo>
                    <a:pt x="66674" y="200024"/>
                  </a:moveTo>
                  <a:lnTo>
                    <a:pt x="66674" y="133349"/>
                  </a:lnTo>
                  <a:lnTo>
                    <a:pt x="133349" y="133349"/>
                  </a:lnTo>
                  <a:lnTo>
                    <a:pt x="133349" y="200024"/>
                  </a:lnTo>
                </a:path>
              </a:pathLst>
            </a:custGeom>
            <a:ln w="1777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52512" y="2500308"/>
            <a:ext cx="2581275" cy="14478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461645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3635"/>
              </a:spcBef>
            </a:pPr>
            <a:r>
              <a:rPr sz="3600" spc="-25" dirty="0">
                <a:solidFill>
                  <a:srgbClr val="16171F"/>
                </a:solidFill>
                <a:latin typeface="Times New Roman"/>
                <a:cs typeface="Times New Roman"/>
              </a:rPr>
              <a:t>275</a:t>
            </a:r>
            <a:endParaRPr sz="3600" dirty="0">
              <a:latin typeface="Times New Roman"/>
              <a:cs typeface="Times New Roman"/>
            </a:endParaRPr>
          </a:p>
          <a:p>
            <a:pPr marL="175895">
              <a:lnSpc>
                <a:spcPct val="100000"/>
              </a:lnSpc>
              <a:spcBef>
                <a:spcPts val="63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endParaRPr sz="900" dirty="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771899" y="2495546"/>
            <a:ext cx="2581275" cy="1457325"/>
            <a:chOff x="3771899" y="2495546"/>
            <a:chExt cx="2581275" cy="1457325"/>
          </a:xfrm>
        </p:grpSpPr>
        <p:sp>
          <p:nvSpPr>
            <p:cNvPr id="8" name="object 8"/>
            <p:cNvSpPr/>
            <p:nvPr/>
          </p:nvSpPr>
          <p:spPr>
            <a:xfrm>
              <a:off x="3771899" y="2495546"/>
              <a:ext cx="2581275" cy="1457325"/>
            </a:xfrm>
            <a:custGeom>
              <a:avLst/>
              <a:gdLst/>
              <a:ahLst/>
              <a:cxnLst/>
              <a:rect l="l" t="t" r="r" b="b"/>
              <a:pathLst>
                <a:path w="2581275" h="1457325">
                  <a:moveTo>
                    <a:pt x="2581274" y="1457324"/>
                  </a:moveTo>
                  <a:lnTo>
                    <a:pt x="0" y="1457324"/>
                  </a:lnTo>
                  <a:lnTo>
                    <a:pt x="0" y="0"/>
                  </a:lnTo>
                  <a:lnTo>
                    <a:pt x="2581274" y="0"/>
                  </a:lnTo>
                  <a:lnTo>
                    <a:pt x="2581274" y="14573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86212" y="2764631"/>
              <a:ext cx="211454" cy="183515"/>
            </a:xfrm>
            <a:custGeom>
              <a:avLst/>
              <a:gdLst/>
              <a:ahLst/>
              <a:cxnLst/>
              <a:rect l="l" t="t" r="r" b="b"/>
              <a:pathLst>
                <a:path w="211454" h="183514">
                  <a:moveTo>
                    <a:pt x="105568" y="38893"/>
                  </a:moveTo>
                  <a:lnTo>
                    <a:pt x="105568" y="44051"/>
                  </a:lnTo>
                  <a:lnTo>
                    <a:pt x="104581" y="49012"/>
                  </a:lnTo>
                  <a:lnTo>
                    <a:pt x="102608" y="53777"/>
                  </a:lnTo>
                  <a:lnTo>
                    <a:pt x="100634" y="58542"/>
                  </a:lnTo>
                  <a:lnTo>
                    <a:pt x="81558" y="74826"/>
                  </a:lnTo>
                  <a:lnTo>
                    <a:pt x="76793" y="76800"/>
                  </a:lnTo>
                  <a:lnTo>
                    <a:pt x="71832" y="77787"/>
                  </a:lnTo>
                  <a:lnTo>
                    <a:pt x="66674" y="77787"/>
                  </a:lnTo>
                  <a:lnTo>
                    <a:pt x="61517" y="77787"/>
                  </a:lnTo>
                  <a:lnTo>
                    <a:pt x="56556" y="76800"/>
                  </a:lnTo>
                  <a:lnTo>
                    <a:pt x="51790" y="74826"/>
                  </a:lnTo>
                  <a:lnTo>
                    <a:pt x="47025" y="72853"/>
                  </a:lnTo>
                  <a:lnTo>
                    <a:pt x="30741" y="53777"/>
                  </a:lnTo>
                  <a:lnTo>
                    <a:pt x="28768" y="49012"/>
                  </a:lnTo>
                  <a:lnTo>
                    <a:pt x="27781" y="44051"/>
                  </a:lnTo>
                  <a:lnTo>
                    <a:pt x="27781" y="38893"/>
                  </a:lnTo>
                  <a:lnTo>
                    <a:pt x="27781" y="33736"/>
                  </a:lnTo>
                  <a:lnTo>
                    <a:pt x="28768" y="28774"/>
                  </a:lnTo>
                  <a:lnTo>
                    <a:pt x="30741" y="24009"/>
                  </a:lnTo>
                  <a:lnTo>
                    <a:pt x="32715" y="19244"/>
                  </a:lnTo>
                  <a:lnTo>
                    <a:pt x="35525" y="15038"/>
                  </a:lnTo>
                  <a:lnTo>
                    <a:pt x="39172" y="11391"/>
                  </a:lnTo>
                  <a:lnTo>
                    <a:pt x="42819" y="7744"/>
                  </a:lnTo>
                  <a:lnTo>
                    <a:pt x="47025" y="4934"/>
                  </a:lnTo>
                  <a:lnTo>
                    <a:pt x="51790" y="2960"/>
                  </a:lnTo>
                  <a:lnTo>
                    <a:pt x="56556" y="986"/>
                  </a:lnTo>
                  <a:lnTo>
                    <a:pt x="61517" y="0"/>
                  </a:lnTo>
                  <a:lnTo>
                    <a:pt x="66674" y="0"/>
                  </a:lnTo>
                  <a:lnTo>
                    <a:pt x="71832" y="0"/>
                  </a:lnTo>
                  <a:lnTo>
                    <a:pt x="76793" y="986"/>
                  </a:lnTo>
                  <a:lnTo>
                    <a:pt x="81558" y="2960"/>
                  </a:lnTo>
                  <a:lnTo>
                    <a:pt x="86323" y="4934"/>
                  </a:lnTo>
                  <a:lnTo>
                    <a:pt x="105568" y="33736"/>
                  </a:lnTo>
                  <a:lnTo>
                    <a:pt x="105568" y="38893"/>
                  </a:lnTo>
                  <a:close/>
                </a:path>
                <a:path w="211454" h="183514">
                  <a:moveTo>
                    <a:pt x="0" y="183356"/>
                  </a:moveTo>
                  <a:lnTo>
                    <a:pt x="4948" y="158874"/>
                  </a:lnTo>
                  <a:lnTo>
                    <a:pt x="18752" y="137517"/>
                  </a:lnTo>
                  <a:lnTo>
                    <a:pt x="39848" y="122411"/>
                  </a:lnTo>
                  <a:lnTo>
                    <a:pt x="66674" y="116681"/>
                  </a:lnTo>
                  <a:lnTo>
                    <a:pt x="93501" y="122411"/>
                  </a:lnTo>
                  <a:lnTo>
                    <a:pt x="114597" y="137517"/>
                  </a:lnTo>
                  <a:lnTo>
                    <a:pt x="128401" y="158874"/>
                  </a:lnTo>
                  <a:lnTo>
                    <a:pt x="133349" y="183356"/>
                  </a:lnTo>
                </a:path>
                <a:path w="211454" h="183514">
                  <a:moveTo>
                    <a:pt x="183356" y="50006"/>
                  </a:moveTo>
                  <a:lnTo>
                    <a:pt x="155574" y="77787"/>
                  </a:lnTo>
                  <a:lnTo>
                    <a:pt x="151890" y="77787"/>
                  </a:lnTo>
                  <a:lnTo>
                    <a:pt x="129908" y="60637"/>
                  </a:lnTo>
                  <a:lnTo>
                    <a:pt x="128498" y="57234"/>
                  </a:lnTo>
                  <a:lnTo>
                    <a:pt x="127793" y="53690"/>
                  </a:lnTo>
                  <a:lnTo>
                    <a:pt x="127793" y="50006"/>
                  </a:lnTo>
                  <a:lnTo>
                    <a:pt x="127793" y="46322"/>
                  </a:lnTo>
                  <a:lnTo>
                    <a:pt x="135930" y="30361"/>
                  </a:lnTo>
                  <a:lnTo>
                    <a:pt x="138535" y="27756"/>
                  </a:lnTo>
                  <a:lnTo>
                    <a:pt x="141539" y="25749"/>
                  </a:lnTo>
                  <a:lnTo>
                    <a:pt x="144943" y="24339"/>
                  </a:lnTo>
                  <a:lnTo>
                    <a:pt x="148347" y="22929"/>
                  </a:lnTo>
                  <a:lnTo>
                    <a:pt x="151890" y="22224"/>
                  </a:lnTo>
                  <a:lnTo>
                    <a:pt x="155574" y="22224"/>
                  </a:lnTo>
                  <a:lnTo>
                    <a:pt x="159258" y="22224"/>
                  </a:lnTo>
                  <a:lnTo>
                    <a:pt x="183356" y="46322"/>
                  </a:lnTo>
                  <a:lnTo>
                    <a:pt x="183356" y="50006"/>
                  </a:lnTo>
                  <a:close/>
                </a:path>
                <a:path w="211454" h="183514">
                  <a:moveTo>
                    <a:pt x="122237" y="183356"/>
                  </a:moveTo>
                  <a:lnTo>
                    <a:pt x="125276" y="167034"/>
                  </a:lnTo>
                  <a:lnTo>
                    <a:pt x="134044" y="152796"/>
                  </a:lnTo>
                  <a:lnTo>
                    <a:pt x="148021" y="142726"/>
                  </a:lnTo>
                  <a:lnTo>
                    <a:pt x="166687" y="138906"/>
                  </a:lnTo>
                  <a:lnTo>
                    <a:pt x="185353" y="142726"/>
                  </a:lnTo>
                  <a:lnTo>
                    <a:pt x="199330" y="152796"/>
                  </a:lnTo>
                  <a:lnTo>
                    <a:pt x="208098" y="167034"/>
                  </a:lnTo>
                  <a:lnTo>
                    <a:pt x="211137" y="183356"/>
                  </a:lnTo>
                </a:path>
              </a:pathLst>
            </a:custGeom>
            <a:ln w="1777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776662" y="2500308"/>
            <a:ext cx="2571750" cy="14478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461645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3635"/>
              </a:spcBef>
            </a:pPr>
            <a:r>
              <a:rPr sz="3600" spc="-10" dirty="0">
                <a:solidFill>
                  <a:srgbClr val="16171F"/>
                </a:solidFill>
                <a:latin typeface="Times New Roman"/>
                <a:cs typeface="Times New Roman"/>
              </a:rPr>
              <a:t>1.23</a:t>
            </a:r>
            <a:r>
              <a:rPr sz="1650" spc="-10" dirty="0">
                <a:solidFill>
                  <a:srgbClr val="67686E"/>
                </a:solidFill>
                <a:latin typeface="Times New Roman"/>
                <a:cs typeface="Times New Roman"/>
              </a:rPr>
              <a:t>L</a:t>
            </a:r>
            <a:endParaRPr sz="1650">
              <a:latin typeface="Times New Roman"/>
              <a:cs typeface="Times New Roman"/>
            </a:endParaRPr>
          </a:p>
          <a:p>
            <a:pPr marL="172720">
              <a:lnSpc>
                <a:spcPct val="100000"/>
              </a:lnSpc>
              <a:spcBef>
                <a:spcPts val="63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86524" y="2495546"/>
            <a:ext cx="2590800" cy="1457325"/>
            <a:chOff x="6486524" y="2495546"/>
            <a:chExt cx="2590800" cy="1457325"/>
          </a:xfrm>
        </p:grpSpPr>
        <p:sp>
          <p:nvSpPr>
            <p:cNvPr id="12" name="object 12"/>
            <p:cNvSpPr/>
            <p:nvPr/>
          </p:nvSpPr>
          <p:spPr>
            <a:xfrm>
              <a:off x="6486524" y="2495546"/>
              <a:ext cx="2590800" cy="1457325"/>
            </a:xfrm>
            <a:custGeom>
              <a:avLst/>
              <a:gdLst/>
              <a:ahLst/>
              <a:cxnLst/>
              <a:rect l="l" t="t" r="r" b="b"/>
              <a:pathLst>
                <a:path w="2590800" h="1457325">
                  <a:moveTo>
                    <a:pt x="2590799" y="1457324"/>
                  </a:moveTo>
                  <a:lnTo>
                    <a:pt x="0" y="1457324"/>
                  </a:lnTo>
                  <a:lnTo>
                    <a:pt x="0" y="0"/>
                  </a:lnTo>
                  <a:lnTo>
                    <a:pt x="2590799" y="0"/>
                  </a:lnTo>
                  <a:lnTo>
                    <a:pt x="2590799" y="14573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14172" y="2727959"/>
              <a:ext cx="173354" cy="21780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491287" y="2500308"/>
            <a:ext cx="2581275" cy="14478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46164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3635"/>
              </a:spcBef>
            </a:pPr>
            <a:r>
              <a:rPr sz="3600" spc="-25" dirty="0">
                <a:solidFill>
                  <a:srgbClr val="16171F"/>
                </a:solidFill>
                <a:latin typeface="Times New Roman"/>
                <a:cs typeface="Times New Roman"/>
              </a:rPr>
              <a:t>88</a:t>
            </a:r>
            <a:r>
              <a:rPr sz="1650" spc="-25" dirty="0">
                <a:solidFill>
                  <a:srgbClr val="67686E"/>
                </a:solidFill>
                <a:latin typeface="Times New Roman"/>
                <a:cs typeface="Times New Roman"/>
              </a:rPr>
              <a:t>K</a:t>
            </a:r>
            <a:endParaRPr sz="1650">
              <a:latin typeface="Times New Roman"/>
              <a:cs typeface="Times New Roman"/>
            </a:endParaRPr>
          </a:p>
          <a:p>
            <a:pPr marL="179070">
              <a:lnSpc>
                <a:spcPct val="100000"/>
              </a:lnSpc>
              <a:spcBef>
                <a:spcPts val="63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K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210674" y="2495546"/>
            <a:ext cx="2590800" cy="1457325"/>
            <a:chOff x="9210674" y="2495546"/>
            <a:chExt cx="2590800" cy="1457325"/>
          </a:xfrm>
        </p:grpSpPr>
        <p:sp>
          <p:nvSpPr>
            <p:cNvPr id="16" name="object 16"/>
            <p:cNvSpPr/>
            <p:nvPr/>
          </p:nvSpPr>
          <p:spPr>
            <a:xfrm>
              <a:off x="9210674" y="2495546"/>
              <a:ext cx="2590800" cy="1457325"/>
            </a:xfrm>
            <a:custGeom>
              <a:avLst/>
              <a:gdLst/>
              <a:ahLst/>
              <a:cxnLst/>
              <a:rect l="l" t="t" r="r" b="b"/>
              <a:pathLst>
                <a:path w="2590800" h="1457325">
                  <a:moveTo>
                    <a:pt x="2590799" y="1457324"/>
                  </a:moveTo>
                  <a:lnTo>
                    <a:pt x="0" y="1457324"/>
                  </a:lnTo>
                  <a:lnTo>
                    <a:pt x="0" y="0"/>
                  </a:lnTo>
                  <a:lnTo>
                    <a:pt x="2590799" y="0"/>
                  </a:lnTo>
                  <a:lnTo>
                    <a:pt x="2590799" y="14573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424987" y="2770187"/>
              <a:ext cx="200025" cy="155575"/>
            </a:xfrm>
            <a:custGeom>
              <a:avLst/>
              <a:gdLst/>
              <a:ahLst/>
              <a:cxnLst/>
              <a:rect l="l" t="t" r="r" b="b"/>
              <a:pathLst>
                <a:path w="200025" h="155575">
                  <a:moveTo>
                    <a:pt x="0" y="77787"/>
                  </a:moveTo>
                  <a:lnTo>
                    <a:pt x="44449" y="77787"/>
                  </a:lnTo>
                  <a:lnTo>
                    <a:pt x="77787" y="0"/>
                  </a:lnTo>
                  <a:lnTo>
                    <a:pt x="122237" y="155574"/>
                  </a:lnTo>
                  <a:lnTo>
                    <a:pt x="155574" y="77787"/>
                  </a:lnTo>
                  <a:lnTo>
                    <a:pt x="200024" y="77787"/>
                  </a:lnTo>
                </a:path>
              </a:pathLst>
            </a:custGeom>
            <a:ln w="1777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215436" y="2500308"/>
            <a:ext cx="2581275" cy="14478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461645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3635"/>
              </a:spcBef>
            </a:pPr>
            <a:r>
              <a:rPr sz="3600" spc="-25" dirty="0">
                <a:solidFill>
                  <a:srgbClr val="16171F"/>
                </a:solidFill>
                <a:latin typeface="Times New Roman"/>
                <a:cs typeface="Times New Roman"/>
              </a:rPr>
              <a:t>275</a:t>
            </a:r>
            <a:endParaRPr sz="3600">
              <a:latin typeface="Times New Roman"/>
              <a:cs typeface="Times New Roman"/>
            </a:endParaRPr>
          </a:p>
          <a:p>
            <a:pPr marL="175895">
              <a:lnSpc>
                <a:spcPct val="100000"/>
              </a:lnSpc>
              <a:spcBef>
                <a:spcPts val="63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934824" y="2495546"/>
            <a:ext cx="2581275" cy="1457325"/>
            <a:chOff x="11934824" y="2495546"/>
            <a:chExt cx="2581275" cy="1457325"/>
          </a:xfrm>
        </p:grpSpPr>
        <p:sp>
          <p:nvSpPr>
            <p:cNvPr id="20" name="object 20"/>
            <p:cNvSpPr/>
            <p:nvPr/>
          </p:nvSpPr>
          <p:spPr>
            <a:xfrm>
              <a:off x="11934824" y="2495546"/>
              <a:ext cx="2581275" cy="1457325"/>
            </a:xfrm>
            <a:custGeom>
              <a:avLst/>
              <a:gdLst/>
              <a:ahLst/>
              <a:cxnLst/>
              <a:rect l="l" t="t" r="r" b="b"/>
              <a:pathLst>
                <a:path w="2581275" h="1457325">
                  <a:moveTo>
                    <a:pt x="2581274" y="1457324"/>
                  </a:moveTo>
                  <a:lnTo>
                    <a:pt x="0" y="1457324"/>
                  </a:lnTo>
                  <a:lnTo>
                    <a:pt x="0" y="0"/>
                  </a:lnTo>
                  <a:lnTo>
                    <a:pt x="2581274" y="0"/>
                  </a:lnTo>
                  <a:lnTo>
                    <a:pt x="2581274" y="14573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73584" y="2736849"/>
              <a:ext cx="151129" cy="23113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1939586" y="2500308"/>
            <a:ext cx="2571750" cy="14478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461645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3635"/>
              </a:spcBef>
            </a:pPr>
            <a:r>
              <a:rPr sz="3600" spc="-25" dirty="0">
                <a:solidFill>
                  <a:srgbClr val="16171F"/>
                </a:solidFill>
                <a:latin typeface="Times New Roman"/>
                <a:cs typeface="Times New Roman"/>
              </a:rPr>
              <a:t>550</a:t>
            </a:r>
            <a:endParaRPr sz="3600">
              <a:latin typeface="Times New Roman"/>
              <a:cs typeface="Times New Roman"/>
            </a:endParaRPr>
          </a:p>
          <a:p>
            <a:pPr marL="172720">
              <a:lnSpc>
                <a:spcPct val="100000"/>
              </a:lnSpc>
              <a:spcBef>
                <a:spcPts val="63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649448" y="2495546"/>
            <a:ext cx="2590800" cy="1457325"/>
            <a:chOff x="14649448" y="2495546"/>
            <a:chExt cx="2590800" cy="1457325"/>
          </a:xfrm>
        </p:grpSpPr>
        <p:sp>
          <p:nvSpPr>
            <p:cNvPr id="24" name="object 24"/>
            <p:cNvSpPr/>
            <p:nvPr/>
          </p:nvSpPr>
          <p:spPr>
            <a:xfrm>
              <a:off x="14649448" y="2495546"/>
              <a:ext cx="2590800" cy="1457325"/>
            </a:xfrm>
            <a:custGeom>
              <a:avLst/>
              <a:gdLst/>
              <a:ahLst/>
              <a:cxnLst/>
              <a:rect l="l" t="t" r="r" b="b"/>
              <a:pathLst>
                <a:path w="2590800" h="1457325">
                  <a:moveTo>
                    <a:pt x="2590799" y="1457324"/>
                  </a:moveTo>
                  <a:lnTo>
                    <a:pt x="0" y="1457324"/>
                  </a:lnTo>
                  <a:lnTo>
                    <a:pt x="0" y="0"/>
                  </a:lnTo>
                  <a:lnTo>
                    <a:pt x="2590799" y="0"/>
                  </a:lnTo>
                  <a:lnTo>
                    <a:pt x="2590799" y="145732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77096" y="2727959"/>
              <a:ext cx="206692" cy="228917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4654210" y="2500308"/>
            <a:ext cx="2581275" cy="144780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46164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3635"/>
              </a:spcBef>
            </a:pPr>
            <a:r>
              <a:rPr sz="3600" spc="-20" dirty="0">
                <a:solidFill>
                  <a:srgbClr val="16171F"/>
                </a:solidFill>
                <a:latin typeface="Times New Roman"/>
                <a:cs typeface="Times New Roman"/>
              </a:rPr>
              <a:t>825+</a:t>
            </a:r>
            <a:endParaRPr sz="3600">
              <a:latin typeface="Times New Roman"/>
              <a:cs typeface="Times New Roman"/>
            </a:endParaRPr>
          </a:p>
          <a:p>
            <a:pPr marL="179070">
              <a:lnSpc>
                <a:spcPct val="100000"/>
              </a:lnSpc>
              <a:spcBef>
                <a:spcPts val="63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47749" y="4219571"/>
            <a:ext cx="5219700" cy="5210175"/>
            <a:chOff x="1047749" y="4219571"/>
            <a:chExt cx="5219700" cy="5210175"/>
          </a:xfrm>
        </p:grpSpPr>
        <p:sp>
          <p:nvSpPr>
            <p:cNvPr id="28" name="object 28"/>
            <p:cNvSpPr/>
            <p:nvPr/>
          </p:nvSpPr>
          <p:spPr>
            <a:xfrm>
              <a:off x="1047749" y="4219571"/>
              <a:ext cx="5219700" cy="5210175"/>
            </a:xfrm>
            <a:custGeom>
              <a:avLst/>
              <a:gdLst/>
              <a:ahLst/>
              <a:cxnLst/>
              <a:rect l="l" t="t" r="r" b="b"/>
              <a:pathLst>
                <a:path w="5219700" h="5210175">
                  <a:moveTo>
                    <a:pt x="5219699" y="5210174"/>
                  </a:moveTo>
                  <a:lnTo>
                    <a:pt x="0" y="5210174"/>
                  </a:lnTo>
                  <a:lnTo>
                    <a:pt x="0" y="0"/>
                  </a:lnTo>
                  <a:lnTo>
                    <a:pt x="5219699" y="0"/>
                  </a:lnTo>
                  <a:lnTo>
                    <a:pt x="5219699" y="5210174"/>
                  </a:lnTo>
                  <a:close/>
                </a:path>
              </a:pathLst>
            </a:custGeom>
            <a:solidFill>
              <a:srgbClr val="F4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52512" y="4224333"/>
              <a:ext cx="5210175" cy="5200650"/>
            </a:xfrm>
            <a:custGeom>
              <a:avLst/>
              <a:gdLst/>
              <a:ahLst/>
              <a:cxnLst/>
              <a:rect l="l" t="t" r="r" b="b"/>
              <a:pathLst>
                <a:path w="5210175" h="5200650">
                  <a:moveTo>
                    <a:pt x="0" y="0"/>
                  </a:moveTo>
                  <a:lnTo>
                    <a:pt x="5210174" y="0"/>
                  </a:lnTo>
                  <a:lnTo>
                    <a:pt x="5210174" y="5200649"/>
                  </a:lnTo>
                  <a:lnTo>
                    <a:pt x="0" y="5200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3CC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323974" y="4465955"/>
            <a:ext cx="3066415" cy="48831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4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1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r>
              <a:rPr sz="1800" spc="90" dirty="0">
                <a:solidFill>
                  <a:srgbClr val="16171F"/>
                </a:solidFill>
                <a:latin typeface="Times New Roman"/>
                <a:cs typeface="Times New Roman"/>
              </a:rPr>
              <a:t>Period-</a:t>
            </a:r>
            <a:r>
              <a:rPr sz="1800" spc="95" dirty="0">
                <a:solidFill>
                  <a:srgbClr val="16171F"/>
                </a:solidFill>
                <a:latin typeface="Times New Roman"/>
                <a:cs typeface="Times New Roman"/>
              </a:rPr>
              <a:t>related</a:t>
            </a:r>
            <a:r>
              <a:rPr sz="1800" spc="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80" dirty="0">
                <a:solidFill>
                  <a:srgbClr val="16171F"/>
                </a:solidFill>
                <a:latin typeface="Times New Roman"/>
                <a:cs typeface="Times New Roman"/>
              </a:rPr>
              <a:t>school</a:t>
            </a:r>
            <a:r>
              <a:rPr sz="1800" spc="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80" dirty="0">
                <a:solidFill>
                  <a:srgbClr val="16171F"/>
                </a:solidFill>
                <a:latin typeface="Times New Roman"/>
                <a:cs typeface="Times New Roman"/>
              </a:rPr>
              <a:t>absence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96392" y="5206999"/>
            <a:ext cx="4203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67686E"/>
                </a:solidFill>
                <a:latin typeface="Times New Roman"/>
                <a:cs typeface="Times New Roman"/>
              </a:rPr>
              <a:t>4–</a:t>
            </a:r>
            <a:r>
              <a:rPr sz="2100" spc="-50" dirty="0">
                <a:solidFill>
                  <a:srgbClr val="67686E"/>
                </a:solidFill>
                <a:latin typeface="Times New Roman"/>
                <a:cs typeface="Times New Roman"/>
              </a:rPr>
              <a:t>5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105024" y="5705471"/>
            <a:ext cx="3886200" cy="885825"/>
            <a:chOff x="2105024" y="5705471"/>
            <a:chExt cx="3886200" cy="885825"/>
          </a:xfrm>
        </p:grpSpPr>
        <p:sp>
          <p:nvSpPr>
            <p:cNvPr id="33" name="object 33"/>
            <p:cNvSpPr/>
            <p:nvPr/>
          </p:nvSpPr>
          <p:spPr>
            <a:xfrm>
              <a:off x="2105024" y="5705471"/>
              <a:ext cx="1171575" cy="885825"/>
            </a:xfrm>
            <a:custGeom>
              <a:avLst/>
              <a:gdLst/>
              <a:ahLst/>
              <a:cxnLst/>
              <a:rect l="l" t="t" r="r" b="b"/>
              <a:pathLst>
                <a:path w="1171575" h="885825">
                  <a:moveTo>
                    <a:pt x="1171574" y="885824"/>
                  </a:moveTo>
                  <a:lnTo>
                    <a:pt x="0" y="885824"/>
                  </a:lnTo>
                  <a:lnTo>
                    <a:pt x="0" y="0"/>
                  </a:lnTo>
                  <a:lnTo>
                    <a:pt x="1171574" y="0"/>
                  </a:lnTo>
                  <a:lnTo>
                    <a:pt x="1171574" y="885824"/>
                  </a:lnTo>
                  <a:close/>
                </a:path>
              </a:pathLst>
            </a:custGeom>
            <a:solidFill>
              <a:srgbClr val="6768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19649" y="5705471"/>
              <a:ext cx="1171575" cy="485775"/>
            </a:xfrm>
            <a:custGeom>
              <a:avLst/>
              <a:gdLst/>
              <a:ahLst/>
              <a:cxnLst/>
              <a:rect l="l" t="t" r="r" b="b"/>
              <a:pathLst>
                <a:path w="1171575" h="485775">
                  <a:moveTo>
                    <a:pt x="1171574" y="485774"/>
                  </a:moveTo>
                  <a:lnTo>
                    <a:pt x="0" y="485774"/>
                  </a:lnTo>
                  <a:lnTo>
                    <a:pt x="0" y="0"/>
                  </a:lnTo>
                  <a:lnTo>
                    <a:pt x="1171574" y="0"/>
                  </a:lnTo>
                  <a:lnTo>
                    <a:pt x="1171574" y="485774"/>
                  </a:lnTo>
                  <a:close/>
                </a:path>
              </a:pathLst>
            </a:custGeom>
            <a:solidFill>
              <a:srgbClr val="772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505200" y="5788024"/>
            <a:ext cx="317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77292E"/>
                </a:solidFill>
                <a:latin typeface="Times New Roman"/>
                <a:cs typeface="Times New Roman"/>
              </a:rPr>
              <a:t>→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26955" y="5206999"/>
            <a:ext cx="1885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275" dirty="0">
                <a:solidFill>
                  <a:srgbClr val="77292E"/>
                </a:solidFill>
                <a:latin typeface="Times New Roman"/>
                <a:cs typeface="Times New Roman"/>
              </a:rPr>
              <a:t>↓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06230" y="6273799"/>
            <a:ext cx="81153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3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3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23974" y="6673850"/>
            <a:ext cx="3357245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4897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50" spc="70" dirty="0">
                <a:solidFill>
                  <a:srgbClr val="67686E"/>
                </a:solidFill>
                <a:latin typeface="Courier New"/>
                <a:cs typeface="Courier New"/>
              </a:rPr>
              <a:t>Pre/post</a:t>
            </a:r>
            <a:r>
              <a:rPr sz="1050" spc="17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70" dirty="0">
                <a:solidFill>
                  <a:srgbClr val="67686E"/>
                </a:solidFill>
                <a:latin typeface="Courier New"/>
                <a:cs typeface="Courier New"/>
              </a:rPr>
              <a:t>attendance</a:t>
            </a:r>
            <a:r>
              <a:rPr sz="1050" spc="17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60" dirty="0">
                <a:solidFill>
                  <a:srgbClr val="67686E"/>
                </a:solidFill>
                <a:latin typeface="Courier New"/>
                <a:cs typeface="Courier New"/>
              </a:rPr>
              <a:t>logs</a:t>
            </a:r>
            <a:r>
              <a:rPr sz="1050" spc="17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050" spc="17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60" dirty="0">
                <a:solidFill>
                  <a:srgbClr val="67686E"/>
                </a:solidFill>
                <a:latin typeface="Courier New"/>
                <a:cs typeface="Courier New"/>
              </a:rPr>
              <a:t>days/month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534149" y="4219571"/>
            <a:ext cx="5219700" cy="5210175"/>
            <a:chOff x="6534149" y="4219571"/>
            <a:chExt cx="5219700" cy="5210175"/>
          </a:xfrm>
        </p:grpSpPr>
        <p:sp>
          <p:nvSpPr>
            <p:cNvPr id="40" name="object 40"/>
            <p:cNvSpPr/>
            <p:nvPr/>
          </p:nvSpPr>
          <p:spPr>
            <a:xfrm>
              <a:off x="6534149" y="4219571"/>
              <a:ext cx="5219700" cy="5210175"/>
            </a:xfrm>
            <a:custGeom>
              <a:avLst/>
              <a:gdLst/>
              <a:ahLst/>
              <a:cxnLst/>
              <a:rect l="l" t="t" r="r" b="b"/>
              <a:pathLst>
                <a:path w="5219700" h="5210175">
                  <a:moveTo>
                    <a:pt x="5219699" y="5210174"/>
                  </a:moveTo>
                  <a:lnTo>
                    <a:pt x="0" y="5210174"/>
                  </a:lnTo>
                  <a:lnTo>
                    <a:pt x="0" y="0"/>
                  </a:lnTo>
                  <a:lnTo>
                    <a:pt x="5219699" y="0"/>
                  </a:lnTo>
                  <a:lnTo>
                    <a:pt x="5219699" y="5210174"/>
                  </a:lnTo>
                  <a:close/>
                </a:path>
              </a:pathLst>
            </a:custGeom>
            <a:solidFill>
              <a:srgbClr val="F4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538911" y="4224333"/>
              <a:ext cx="5210175" cy="5200650"/>
            </a:xfrm>
            <a:custGeom>
              <a:avLst/>
              <a:gdLst/>
              <a:ahLst/>
              <a:cxnLst/>
              <a:rect l="l" t="t" r="r" b="b"/>
              <a:pathLst>
                <a:path w="5210175" h="5200650">
                  <a:moveTo>
                    <a:pt x="0" y="0"/>
                  </a:moveTo>
                  <a:lnTo>
                    <a:pt x="5210174" y="0"/>
                  </a:lnTo>
                  <a:lnTo>
                    <a:pt x="5210174" y="5200649"/>
                  </a:lnTo>
                  <a:lnTo>
                    <a:pt x="0" y="5200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3CC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810375" y="4465955"/>
            <a:ext cx="3426460" cy="48831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4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2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r>
              <a:rPr sz="1800" spc="75" dirty="0">
                <a:solidFill>
                  <a:srgbClr val="16171F"/>
                </a:solidFill>
                <a:latin typeface="Times New Roman"/>
                <a:cs typeface="Times New Roman"/>
              </a:rPr>
              <a:t>Girls</a:t>
            </a:r>
            <a:r>
              <a:rPr sz="1800" spc="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95" dirty="0">
                <a:solidFill>
                  <a:srgbClr val="16171F"/>
                </a:solidFill>
                <a:latin typeface="Times New Roman"/>
                <a:cs typeface="Times New Roman"/>
              </a:rPr>
              <a:t>using</a:t>
            </a:r>
            <a:r>
              <a:rPr sz="1800" spc="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55" dirty="0">
                <a:solidFill>
                  <a:srgbClr val="16171F"/>
                </a:solidFill>
                <a:latin typeface="Times New Roman"/>
                <a:cs typeface="Times New Roman"/>
              </a:rPr>
              <a:t>safe</a:t>
            </a:r>
            <a:r>
              <a:rPr sz="1800" spc="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85" dirty="0">
                <a:solidFill>
                  <a:srgbClr val="16171F"/>
                </a:solidFill>
                <a:latin typeface="Times New Roman"/>
                <a:cs typeface="Times New Roman"/>
              </a:rPr>
              <a:t>sanitary</a:t>
            </a:r>
            <a:r>
              <a:rPr sz="1800" spc="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95" dirty="0">
                <a:solidFill>
                  <a:srgbClr val="16171F"/>
                </a:solidFill>
                <a:latin typeface="Times New Roman"/>
                <a:cs typeface="Times New Roman"/>
              </a:rPr>
              <a:t>products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894108" y="5274733"/>
            <a:ext cx="2499995" cy="899794"/>
            <a:chOff x="7894108" y="5274733"/>
            <a:chExt cx="2499995" cy="899794"/>
          </a:xfrm>
        </p:grpSpPr>
        <p:sp>
          <p:nvSpPr>
            <p:cNvPr id="44" name="object 44"/>
            <p:cNvSpPr/>
            <p:nvPr/>
          </p:nvSpPr>
          <p:spPr>
            <a:xfrm>
              <a:off x="7973483" y="5354108"/>
              <a:ext cx="741045" cy="741045"/>
            </a:xfrm>
            <a:custGeom>
              <a:avLst/>
              <a:gdLst/>
              <a:ahLst/>
              <a:cxnLst/>
              <a:rect l="l" t="t" r="r" b="b"/>
              <a:pathLst>
                <a:path w="741045" h="741045">
                  <a:moveTo>
                    <a:pt x="740833" y="370416"/>
                  </a:moveTo>
                  <a:lnTo>
                    <a:pt x="738047" y="415762"/>
                  </a:lnTo>
                  <a:lnTo>
                    <a:pt x="729732" y="460420"/>
                  </a:lnTo>
                  <a:lnTo>
                    <a:pt x="716013" y="503725"/>
                  </a:lnTo>
                  <a:lnTo>
                    <a:pt x="697095" y="545029"/>
                  </a:lnTo>
                  <a:lnTo>
                    <a:pt x="673262" y="583707"/>
                  </a:lnTo>
                  <a:lnTo>
                    <a:pt x="644877" y="619173"/>
                  </a:lnTo>
                  <a:lnTo>
                    <a:pt x="612364" y="650897"/>
                  </a:lnTo>
                  <a:lnTo>
                    <a:pt x="576209" y="678406"/>
                  </a:lnTo>
                  <a:lnTo>
                    <a:pt x="536957" y="701283"/>
                  </a:lnTo>
                  <a:lnTo>
                    <a:pt x="495206" y="719180"/>
                  </a:lnTo>
                  <a:lnTo>
                    <a:pt x="451578" y="731832"/>
                  </a:lnTo>
                  <a:lnTo>
                    <a:pt x="406723" y="739049"/>
                  </a:lnTo>
                  <a:lnTo>
                    <a:pt x="370416" y="740833"/>
                  </a:lnTo>
                  <a:lnTo>
                    <a:pt x="361323" y="740721"/>
                  </a:lnTo>
                  <a:lnTo>
                    <a:pt x="316065" y="736824"/>
                  </a:lnTo>
                  <a:lnTo>
                    <a:pt x="271624" y="727416"/>
                  </a:lnTo>
                  <a:lnTo>
                    <a:pt x="228664" y="712636"/>
                  </a:lnTo>
                  <a:lnTo>
                    <a:pt x="187836" y="692710"/>
                  </a:lnTo>
                  <a:lnTo>
                    <a:pt x="149759" y="667938"/>
                  </a:lnTo>
                  <a:lnTo>
                    <a:pt x="115001" y="638691"/>
                  </a:lnTo>
                  <a:lnTo>
                    <a:pt x="84080" y="605406"/>
                  </a:lnTo>
                  <a:lnTo>
                    <a:pt x="57467" y="568586"/>
                  </a:lnTo>
                  <a:lnTo>
                    <a:pt x="35563" y="528790"/>
                  </a:lnTo>
                  <a:lnTo>
                    <a:pt x="18696" y="486612"/>
                  </a:lnTo>
                  <a:lnTo>
                    <a:pt x="7117" y="442681"/>
                  </a:lnTo>
                  <a:lnTo>
                    <a:pt x="1003" y="397663"/>
                  </a:lnTo>
                  <a:lnTo>
                    <a:pt x="0" y="370416"/>
                  </a:lnTo>
                  <a:lnTo>
                    <a:pt x="111" y="361323"/>
                  </a:lnTo>
                  <a:lnTo>
                    <a:pt x="4008" y="316065"/>
                  </a:lnTo>
                  <a:lnTo>
                    <a:pt x="13417" y="271624"/>
                  </a:lnTo>
                  <a:lnTo>
                    <a:pt x="28196" y="228664"/>
                  </a:lnTo>
                  <a:lnTo>
                    <a:pt x="48123" y="187836"/>
                  </a:lnTo>
                  <a:lnTo>
                    <a:pt x="72894" y="149759"/>
                  </a:lnTo>
                  <a:lnTo>
                    <a:pt x="102141" y="115001"/>
                  </a:lnTo>
                  <a:lnTo>
                    <a:pt x="135426" y="84080"/>
                  </a:lnTo>
                  <a:lnTo>
                    <a:pt x="172246" y="57467"/>
                  </a:lnTo>
                  <a:lnTo>
                    <a:pt x="212042" y="35563"/>
                  </a:lnTo>
                  <a:lnTo>
                    <a:pt x="254221" y="18696"/>
                  </a:lnTo>
                  <a:lnTo>
                    <a:pt x="298151" y="7117"/>
                  </a:lnTo>
                  <a:lnTo>
                    <a:pt x="343169" y="1003"/>
                  </a:lnTo>
                  <a:lnTo>
                    <a:pt x="370416" y="0"/>
                  </a:lnTo>
                  <a:lnTo>
                    <a:pt x="379509" y="111"/>
                  </a:lnTo>
                  <a:lnTo>
                    <a:pt x="424768" y="4008"/>
                  </a:lnTo>
                  <a:lnTo>
                    <a:pt x="469208" y="13417"/>
                  </a:lnTo>
                  <a:lnTo>
                    <a:pt x="512168" y="28196"/>
                  </a:lnTo>
                  <a:lnTo>
                    <a:pt x="552996" y="48123"/>
                  </a:lnTo>
                  <a:lnTo>
                    <a:pt x="591073" y="72894"/>
                  </a:lnTo>
                  <a:lnTo>
                    <a:pt x="625832" y="102141"/>
                  </a:lnTo>
                  <a:lnTo>
                    <a:pt x="656752" y="135426"/>
                  </a:lnTo>
                  <a:lnTo>
                    <a:pt x="683366" y="172246"/>
                  </a:lnTo>
                  <a:lnTo>
                    <a:pt x="705269" y="212042"/>
                  </a:lnTo>
                  <a:lnTo>
                    <a:pt x="722136" y="254221"/>
                  </a:lnTo>
                  <a:lnTo>
                    <a:pt x="733715" y="298151"/>
                  </a:lnTo>
                  <a:lnTo>
                    <a:pt x="739829" y="343169"/>
                  </a:lnTo>
                  <a:lnTo>
                    <a:pt x="740833" y="370416"/>
                  </a:lnTo>
                  <a:close/>
                </a:path>
              </a:pathLst>
            </a:custGeom>
            <a:ln w="158749">
              <a:solidFill>
                <a:srgbClr val="D3CC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343899" y="5274733"/>
              <a:ext cx="450215" cy="641985"/>
            </a:xfrm>
            <a:custGeom>
              <a:avLst/>
              <a:gdLst/>
              <a:ahLst/>
              <a:cxnLst/>
              <a:rect l="l" t="t" r="r" b="b"/>
              <a:pathLst>
                <a:path w="450215" h="641985">
                  <a:moveTo>
                    <a:pt x="449791" y="449791"/>
                  </a:moveTo>
                  <a:lnTo>
                    <a:pt x="447106" y="499553"/>
                  </a:lnTo>
                  <a:lnTo>
                    <a:pt x="439052" y="548112"/>
                  </a:lnTo>
                  <a:lnTo>
                    <a:pt x="425627" y="595468"/>
                  </a:lnTo>
                  <a:lnTo>
                    <a:pt x="406833" y="641622"/>
                  </a:lnTo>
                  <a:lnTo>
                    <a:pt x="263245" y="573917"/>
                  </a:lnTo>
                  <a:lnTo>
                    <a:pt x="275406" y="544053"/>
                  </a:lnTo>
                  <a:lnTo>
                    <a:pt x="284092" y="513410"/>
                  </a:lnTo>
                  <a:lnTo>
                    <a:pt x="289304" y="481990"/>
                  </a:lnTo>
                  <a:lnTo>
                    <a:pt x="291041" y="449791"/>
                  </a:lnTo>
                  <a:lnTo>
                    <a:pt x="287631" y="402982"/>
                  </a:lnTo>
                  <a:lnTo>
                    <a:pt x="277402" y="358998"/>
                  </a:lnTo>
                  <a:lnTo>
                    <a:pt x="260353" y="317838"/>
                  </a:lnTo>
                  <a:lnTo>
                    <a:pt x="236485" y="279504"/>
                  </a:lnTo>
                  <a:lnTo>
                    <a:pt x="205797" y="243994"/>
                  </a:lnTo>
                  <a:lnTo>
                    <a:pt x="170287" y="213306"/>
                  </a:lnTo>
                  <a:lnTo>
                    <a:pt x="131952" y="189437"/>
                  </a:lnTo>
                  <a:lnTo>
                    <a:pt x="90793" y="172389"/>
                  </a:lnTo>
                  <a:lnTo>
                    <a:pt x="46808" y="162159"/>
                  </a:lnTo>
                  <a:lnTo>
                    <a:pt x="0" y="158749"/>
                  </a:lnTo>
                  <a:lnTo>
                    <a:pt x="0" y="0"/>
                  </a:lnTo>
                  <a:lnTo>
                    <a:pt x="52117" y="2688"/>
                  </a:lnTo>
                  <a:lnTo>
                    <a:pt x="102008" y="10754"/>
                  </a:lnTo>
                  <a:lnTo>
                    <a:pt x="149671" y="24197"/>
                  </a:lnTo>
                  <a:lnTo>
                    <a:pt x="195107" y="43017"/>
                  </a:lnTo>
                  <a:lnTo>
                    <a:pt x="238315" y="67214"/>
                  </a:lnTo>
                  <a:lnTo>
                    <a:pt x="279296" y="96789"/>
                  </a:lnTo>
                  <a:lnTo>
                    <a:pt x="318050" y="131740"/>
                  </a:lnTo>
                  <a:lnTo>
                    <a:pt x="353002" y="170494"/>
                  </a:lnTo>
                  <a:lnTo>
                    <a:pt x="382576" y="211476"/>
                  </a:lnTo>
                  <a:lnTo>
                    <a:pt x="406774" y="254684"/>
                  </a:lnTo>
                  <a:lnTo>
                    <a:pt x="425594" y="300120"/>
                  </a:lnTo>
                  <a:lnTo>
                    <a:pt x="439037" y="347783"/>
                  </a:lnTo>
                  <a:lnTo>
                    <a:pt x="447103" y="397673"/>
                  </a:lnTo>
                  <a:lnTo>
                    <a:pt x="449791" y="449791"/>
                  </a:lnTo>
                  <a:close/>
                </a:path>
              </a:pathLst>
            </a:custGeom>
            <a:solidFill>
              <a:srgbClr val="6768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573683" y="5354108"/>
              <a:ext cx="741045" cy="741045"/>
            </a:xfrm>
            <a:custGeom>
              <a:avLst/>
              <a:gdLst/>
              <a:ahLst/>
              <a:cxnLst/>
              <a:rect l="l" t="t" r="r" b="b"/>
              <a:pathLst>
                <a:path w="741045" h="741045">
                  <a:moveTo>
                    <a:pt x="740833" y="370416"/>
                  </a:moveTo>
                  <a:lnTo>
                    <a:pt x="738047" y="415762"/>
                  </a:lnTo>
                  <a:lnTo>
                    <a:pt x="729732" y="460420"/>
                  </a:lnTo>
                  <a:lnTo>
                    <a:pt x="716013" y="503725"/>
                  </a:lnTo>
                  <a:lnTo>
                    <a:pt x="697095" y="545029"/>
                  </a:lnTo>
                  <a:lnTo>
                    <a:pt x="673262" y="583707"/>
                  </a:lnTo>
                  <a:lnTo>
                    <a:pt x="644877" y="619173"/>
                  </a:lnTo>
                  <a:lnTo>
                    <a:pt x="612364" y="650897"/>
                  </a:lnTo>
                  <a:lnTo>
                    <a:pt x="576209" y="678406"/>
                  </a:lnTo>
                  <a:lnTo>
                    <a:pt x="536957" y="701283"/>
                  </a:lnTo>
                  <a:lnTo>
                    <a:pt x="495206" y="719180"/>
                  </a:lnTo>
                  <a:lnTo>
                    <a:pt x="451578" y="731832"/>
                  </a:lnTo>
                  <a:lnTo>
                    <a:pt x="406723" y="739049"/>
                  </a:lnTo>
                  <a:lnTo>
                    <a:pt x="370416" y="740833"/>
                  </a:lnTo>
                  <a:lnTo>
                    <a:pt x="361323" y="740721"/>
                  </a:lnTo>
                  <a:lnTo>
                    <a:pt x="316065" y="736824"/>
                  </a:lnTo>
                  <a:lnTo>
                    <a:pt x="271624" y="727416"/>
                  </a:lnTo>
                  <a:lnTo>
                    <a:pt x="228664" y="712636"/>
                  </a:lnTo>
                  <a:lnTo>
                    <a:pt x="187836" y="692710"/>
                  </a:lnTo>
                  <a:lnTo>
                    <a:pt x="149759" y="667938"/>
                  </a:lnTo>
                  <a:lnTo>
                    <a:pt x="115001" y="638691"/>
                  </a:lnTo>
                  <a:lnTo>
                    <a:pt x="84080" y="605406"/>
                  </a:lnTo>
                  <a:lnTo>
                    <a:pt x="57467" y="568586"/>
                  </a:lnTo>
                  <a:lnTo>
                    <a:pt x="35563" y="528790"/>
                  </a:lnTo>
                  <a:lnTo>
                    <a:pt x="18696" y="486612"/>
                  </a:lnTo>
                  <a:lnTo>
                    <a:pt x="7117" y="442681"/>
                  </a:lnTo>
                  <a:lnTo>
                    <a:pt x="1003" y="397663"/>
                  </a:lnTo>
                  <a:lnTo>
                    <a:pt x="0" y="370416"/>
                  </a:lnTo>
                  <a:lnTo>
                    <a:pt x="111" y="361323"/>
                  </a:lnTo>
                  <a:lnTo>
                    <a:pt x="4008" y="316065"/>
                  </a:lnTo>
                  <a:lnTo>
                    <a:pt x="13417" y="271624"/>
                  </a:lnTo>
                  <a:lnTo>
                    <a:pt x="28196" y="228664"/>
                  </a:lnTo>
                  <a:lnTo>
                    <a:pt x="48123" y="187836"/>
                  </a:lnTo>
                  <a:lnTo>
                    <a:pt x="72894" y="149759"/>
                  </a:lnTo>
                  <a:lnTo>
                    <a:pt x="102141" y="115001"/>
                  </a:lnTo>
                  <a:lnTo>
                    <a:pt x="135426" y="84080"/>
                  </a:lnTo>
                  <a:lnTo>
                    <a:pt x="172246" y="57467"/>
                  </a:lnTo>
                  <a:lnTo>
                    <a:pt x="212042" y="35563"/>
                  </a:lnTo>
                  <a:lnTo>
                    <a:pt x="254221" y="18696"/>
                  </a:lnTo>
                  <a:lnTo>
                    <a:pt x="298151" y="7117"/>
                  </a:lnTo>
                  <a:lnTo>
                    <a:pt x="343169" y="1003"/>
                  </a:lnTo>
                  <a:lnTo>
                    <a:pt x="370416" y="0"/>
                  </a:lnTo>
                  <a:lnTo>
                    <a:pt x="379509" y="111"/>
                  </a:lnTo>
                  <a:lnTo>
                    <a:pt x="424768" y="4008"/>
                  </a:lnTo>
                  <a:lnTo>
                    <a:pt x="469208" y="13417"/>
                  </a:lnTo>
                  <a:lnTo>
                    <a:pt x="512168" y="28196"/>
                  </a:lnTo>
                  <a:lnTo>
                    <a:pt x="552996" y="48123"/>
                  </a:lnTo>
                  <a:lnTo>
                    <a:pt x="591073" y="72894"/>
                  </a:lnTo>
                  <a:lnTo>
                    <a:pt x="625832" y="102141"/>
                  </a:lnTo>
                  <a:lnTo>
                    <a:pt x="656752" y="135426"/>
                  </a:lnTo>
                  <a:lnTo>
                    <a:pt x="683366" y="172246"/>
                  </a:lnTo>
                  <a:lnTo>
                    <a:pt x="705269" y="212042"/>
                  </a:lnTo>
                  <a:lnTo>
                    <a:pt x="722136" y="254221"/>
                  </a:lnTo>
                  <a:lnTo>
                    <a:pt x="733715" y="298151"/>
                  </a:lnTo>
                  <a:lnTo>
                    <a:pt x="739829" y="343169"/>
                  </a:lnTo>
                  <a:lnTo>
                    <a:pt x="740833" y="370416"/>
                  </a:lnTo>
                  <a:close/>
                </a:path>
              </a:pathLst>
            </a:custGeom>
            <a:ln w="158749">
              <a:solidFill>
                <a:srgbClr val="D3CC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576070" y="5274733"/>
              <a:ext cx="817880" cy="899794"/>
            </a:xfrm>
            <a:custGeom>
              <a:avLst/>
              <a:gdLst/>
              <a:ahLst/>
              <a:cxnLst/>
              <a:rect l="l" t="t" r="r" b="b"/>
              <a:pathLst>
                <a:path w="817879" h="899795">
                  <a:moveTo>
                    <a:pt x="817821" y="449791"/>
                  </a:moveTo>
                  <a:lnTo>
                    <a:pt x="815132" y="501909"/>
                  </a:lnTo>
                  <a:lnTo>
                    <a:pt x="807066" y="551799"/>
                  </a:lnTo>
                  <a:lnTo>
                    <a:pt x="793623" y="599462"/>
                  </a:lnTo>
                  <a:lnTo>
                    <a:pt x="774803" y="644898"/>
                  </a:lnTo>
                  <a:lnTo>
                    <a:pt x="750606" y="688107"/>
                  </a:lnTo>
                  <a:lnTo>
                    <a:pt x="721031" y="729088"/>
                  </a:lnTo>
                  <a:lnTo>
                    <a:pt x="686080" y="767842"/>
                  </a:lnTo>
                  <a:lnTo>
                    <a:pt x="647326" y="802794"/>
                  </a:lnTo>
                  <a:lnTo>
                    <a:pt x="606345" y="832368"/>
                  </a:lnTo>
                  <a:lnTo>
                    <a:pt x="563136" y="856565"/>
                  </a:lnTo>
                  <a:lnTo>
                    <a:pt x="517700" y="875385"/>
                  </a:lnTo>
                  <a:lnTo>
                    <a:pt x="470037" y="888828"/>
                  </a:lnTo>
                  <a:lnTo>
                    <a:pt x="420147" y="896894"/>
                  </a:lnTo>
                  <a:lnTo>
                    <a:pt x="368029" y="899583"/>
                  </a:lnTo>
                  <a:lnTo>
                    <a:pt x="317326" y="897222"/>
                  </a:lnTo>
                  <a:lnTo>
                    <a:pt x="269075" y="890141"/>
                  </a:lnTo>
                  <a:lnTo>
                    <a:pt x="223277" y="878338"/>
                  </a:lnTo>
                  <a:lnTo>
                    <a:pt x="179932" y="861814"/>
                  </a:lnTo>
                  <a:lnTo>
                    <a:pt x="139040" y="840569"/>
                  </a:lnTo>
                  <a:lnTo>
                    <a:pt x="100601" y="814603"/>
                  </a:lnTo>
                  <a:lnTo>
                    <a:pt x="64614" y="783915"/>
                  </a:lnTo>
                  <a:lnTo>
                    <a:pt x="31080" y="748507"/>
                  </a:lnTo>
                  <a:lnTo>
                    <a:pt x="0" y="708377"/>
                  </a:lnTo>
                  <a:lnTo>
                    <a:pt x="129892" y="617112"/>
                  </a:lnTo>
                  <a:lnTo>
                    <a:pt x="160654" y="654915"/>
                  </a:lnTo>
                  <a:lnTo>
                    <a:pt x="194987" y="685846"/>
                  </a:lnTo>
                  <a:lnTo>
                    <a:pt x="232891" y="709903"/>
                  </a:lnTo>
                  <a:lnTo>
                    <a:pt x="274366" y="727086"/>
                  </a:lnTo>
                  <a:lnTo>
                    <a:pt x="319412" y="737396"/>
                  </a:lnTo>
                  <a:lnTo>
                    <a:pt x="368029" y="740833"/>
                  </a:lnTo>
                  <a:lnTo>
                    <a:pt x="414838" y="737423"/>
                  </a:lnTo>
                  <a:lnTo>
                    <a:pt x="458822" y="727194"/>
                  </a:lnTo>
                  <a:lnTo>
                    <a:pt x="499982" y="710145"/>
                  </a:lnTo>
                  <a:lnTo>
                    <a:pt x="538316" y="686277"/>
                  </a:lnTo>
                  <a:lnTo>
                    <a:pt x="573826" y="655589"/>
                  </a:lnTo>
                  <a:lnTo>
                    <a:pt x="604514" y="620079"/>
                  </a:lnTo>
                  <a:lnTo>
                    <a:pt x="628383" y="581744"/>
                  </a:lnTo>
                  <a:lnTo>
                    <a:pt x="645432" y="540584"/>
                  </a:lnTo>
                  <a:lnTo>
                    <a:pt x="655661" y="496600"/>
                  </a:lnTo>
                  <a:lnTo>
                    <a:pt x="659071" y="449791"/>
                  </a:lnTo>
                  <a:lnTo>
                    <a:pt x="655661" y="402982"/>
                  </a:lnTo>
                  <a:lnTo>
                    <a:pt x="645432" y="358998"/>
                  </a:lnTo>
                  <a:lnTo>
                    <a:pt x="628383" y="317838"/>
                  </a:lnTo>
                  <a:lnTo>
                    <a:pt x="604514" y="279504"/>
                  </a:lnTo>
                  <a:lnTo>
                    <a:pt x="573826" y="243994"/>
                  </a:lnTo>
                  <a:lnTo>
                    <a:pt x="538316" y="213306"/>
                  </a:lnTo>
                  <a:lnTo>
                    <a:pt x="499982" y="189437"/>
                  </a:lnTo>
                  <a:lnTo>
                    <a:pt x="458822" y="172389"/>
                  </a:lnTo>
                  <a:lnTo>
                    <a:pt x="414838" y="162159"/>
                  </a:lnTo>
                  <a:lnTo>
                    <a:pt x="368029" y="158749"/>
                  </a:lnTo>
                  <a:lnTo>
                    <a:pt x="368029" y="0"/>
                  </a:lnTo>
                  <a:lnTo>
                    <a:pt x="420147" y="2688"/>
                  </a:lnTo>
                  <a:lnTo>
                    <a:pt x="470037" y="10754"/>
                  </a:lnTo>
                  <a:lnTo>
                    <a:pt x="517700" y="24197"/>
                  </a:lnTo>
                  <a:lnTo>
                    <a:pt x="563136" y="43017"/>
                  </a:lnTo>
                  <a:lnTo>
                    <a:pt x="606345" y="67214"/>
                  </a:lnTo>
                  <a:lnTo>
                    <a:pt x="647326" y="96789"/>
                  </a:lnTo>
                  <a:lnTo>
                    <a:pt x="686080" y="131740"/>
                  </a:lnTo>
                  <a:lnTo>
                    <a:pt x="721031" y="170494"/>
                  </a:lnTo>
                  <a:lnTo>
                    <a:pt x="750606" y="211476"/>
                  </a:lnTo>
                  <a:lnTo>
                    <a:pt x="774803" y="254684"/>
                  </a:lnTo>
                  <a:lnTo>
                    <a:pt x="793623" y="300120"/>
                  </a:lnTo>
                  <a:lnTo>
                    <a:pt x="807066" y="347783"/>
                  </a:lnTo>
                  <a:lnTo>
                    <a:pt x="815132" y="397673"/>
                  </a:lnTo>
                  <a:lnTo>
                    <a:pt x="817821" y="449791"/>
                  </a:lnTo>
                  <a:close/>
                </a:path>
              </a:pathLst>
            </a:custGeom>
            <a:solidFill>
              <a:srgbClr val="772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016924" y="6254749"/>
            <a:ext cx="6477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00"/>
              </a:spcBef>
            </a:pPr>
            <a:r>
              <a:rPr sz="1650" spc="-20" dirty="0">
                <a:solidFill>
                  <a:srgbClr val="16171F"/>
                </a:solidFill>
                <a:latin typeface="Times New Roman"/>
                <a:cs typeface="Times New Roman"/>
              </a:rPr>
              <a:t>~50%</a:t>
            </a:r>
            <a:endParaRPr sz="165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89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991600" y="5778499"/>
            <a:ext cx="317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77292E"/>
                </a:solidFill>
                <a:latin typeface="Times New Roman"/>
                <a:cs typeface="Times New Roman"/>
              </a:rPr>
              <a:t>→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535417" y="6254749"/>
            <a:ext cx="82359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sz="1650" spc="75" dirty="0">
                <a:solidFill>
                  <a:srgbClr val="77292E"/>
                </a:solidFill>
                <a:latin typeface="Times New Roman"/>
                <a:cs typeface="Times New Roman"/>
              </a:rPr>
              <a:t>Target</a:t>
            </a:r>
            <a:r>
              <a:rPr sz="1650" spc="25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sz="1650" spc="204" dirty="0">
                <a:solidFill>
                  <a:srgbClr val="77292E"/>
                </a:solidFill>
                <a:latin typeface="Times New Roman"/>
                <a:cs typeface="Times New Roman"/>
              </a:rPr>
              <a:t>↑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3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3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10375" y="6959600"/>
            <a:ext cx="371982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spc="70" dirty="0">
                <a:solidFill>
                  <a:srgbClr val="67686E"/>
                </a:solidFill>
                <a:latin typeface="Courier New"/>
                <a:cs typeface="Courier New"/>
              </a:rPr>
              <a:t>Baseline</a:t>
            </a:r>
            <a:r>
              <a:rPr sz="1050" spc="2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vs</a:t>
            </a:r>
            <a:r>
              <a:rPr sz="1050" spc="2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80" dirty="0">
                <a:solidFill>
                  <a:srgbClr val="67686E"/>
                </a:solidFill>
                <a:latin typeface="Courier New"/>
                <a:cs typeface="Courier New"/>
              </a:rPr>
              <a:t>follow-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up</a:t>
            </a:r>
            <a:r>
              <a:rPr sz="1050" spc="2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65" dirty="0">
                <a:solidFill>
                  <a:srgbClr val="67686E"/>
                </a:solidFill>
                <a:latin typeface="Courier New"/>
                <a:cs typeface="Courier New"/>
              </a:rPr>
              <a:t>survey</a:t>
            </a:r>
            <a:r>
              <a:rPr sz="1050" spc="2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050" spc="2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%</a:t>
            </a:r>
            <a:r>
              <a:rPr sz="1050" spc="2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of</a:t>
            </a:r>
            <a:r>
              <a:rPr sz="1050" spc="204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50" dirty="0">
                <a:solidFill>
                  <a:srgbClr val="67686E"/>
                </a:solidFill>
                <a:latin typeface="Courier New"/>
                <a:cs typeface="Courier New"/>
              </a:rPr>
              <a:t>girls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2020549" y="4219571"/>
            <a:ext cx="5219700" cy="5210175"/>
            <a:chOff x="12020549" y="4219571"/>
            <a:chExt cx="5219700" cy="5210175"/>
          </a:xfrm>
        </p:grpSpPr>
        <p:sp>
          <p:nvSpPr>
            <p:cNvPr id="53" name="object 53"/>
            <p:cNvSpPr/>
            <p:nvPr/>
          </p:nvSpPr>
          <p:spPr>
            <a:xfrm>
              <a:off x="12020549" y="4219571"/>
              <a:ext cx="5219700" cy="5210175"/>
            </a:xfrm>
            <a:custGeom>
              <a:avLst/>
              <a:gdLst/>
              <a:ahLst/>
              <a:cxnLst/>
              <a:rect l="l" t="t" r="r" b="b"/>
              <a:pathLst>
                <a:path w="5219700" h="5210175">
                  <a:moveTo>
                    <a:pt x="5219699" y="5210174"/>
                  </a:moveTo>
                  <a:lnTo>
                    <a:pt x="0" y="5210174"/>
                  </a:lnTo>
                  <a:lnTo>
                    <a:pt x="0" y="0"/>
                  </a:lnTo>
                  <a:lnTo>
                    <a:pt x="5219699" y="0"/>
                  </a:lnTo>
                  <a:lnTo>
                    <a:pt x="5219699" y="5210174"/>
                  </a:lnTo>
                  <a:close/>
                </a:path>
              </a:pathLst>
            </a:custGeom>
            <a:solidFill>
              <a:srgbClr val="F4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2025311" y="4224333"/>
              <a:ext cx="5210175" cy="5200650"/>
            </a:xfrm>
            <a:custGeom>
              <a:avLst/>
              <a:gdLst/>
              <a:ahLst/>
              <a:cxnLst/>
              <a:rect l="l" t="t" r="r" b="b"/>
              <a:pathLst>
                <a:path w="5210175" h="5200650">
                  <a:moveTo>
                    <a:pt x="0" y="0"/>
                  </a:moveTo>
                  <a:lnTo>
                    <a:pt x="5210174" y="0"/>
                  </a:lnTo>
                  <a:lnTo>
                    <a:pt x="5210174" y="5200649"/>
                  </a:lnTo>
                  <a:lnTo>
                    <a:pt x="0" y="5200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3CC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2296774" y="5419721"/>
              <a:ext cx="4667250" cy="114300"/>
            </a:xfrm>
            <a:custGeom>
              <a:avLst/>
              <a:gdLst/>
              <a:ahLst/>
              <a:cxnLst/>
              <a:rect l="l" t="t" r="r" b="b"/>
              <a:pathLst>
                <a:path w="4667250" h="114300">
                  <a:moveTo>
                    <a:pt x="4667249" y="114299"/>
                  </a:moveTo>
                  <a:lnTo>
                    <a:pt x="0" y="114299"/>
                  </a:lnTo>
                  <a:lnTo>
                    <a:pt x="0" y="0"/>
                  </a:lnTo>
                  <a:lnTo>
                    <a:pt x="4667249" y="0"/>
                  </a:lnTo>
                  <a:lnTo>
                    <a:pt x="4667249" y="114299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2296774" y="4465955"/>
            <a:ext cx="3615690" cy="89598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4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0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3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r>
              <a:rPr sz="1800" spc="110" dirty="0">
                <a:solidFill>
                  <a:srgbClr val="16171F"/>
                </a:solidFill>
                <a:latin typeface="Times New Roman"/>
                <a:cs typeface="Times New Roman"/>
              </a:rPr>
              <a:t>Institutions</a:t>
            </a:r>
            <a:r>
              <a:rPr sz="1800" spc="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120" dirty="0">
                <a:solidFill>
                  <a:srgbClr val="16171F"/>
                </a:solidFill>
                <a:latin typeface="Times New Roman"/>
                <a:cs typeface="Times New Roman"/>
              </a:rPr>
              <a:t>running</a:t>
            </a:r>
            <a:r>
              <a:rPr sz="1800" spc="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85" dirty="0">
                <a:solidFill>
                  <a:srgbClr val="16171F"/>
                </a:solidFill>
                <a:latin typeface="Times New Roman"/>
                <a:cs typeface="Times New Roman"/>
              </a:rPr>
              <a:t>independently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YR</a:t>
            </a:r>
            <a:r>
              <a:rPr sz="950" spc="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6815344" y="5187949"/>
            <a:ext cx="1612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solidFill>
                  <a:srgbClr val="67686E"/>
                </a:solidFill>
                <a:latin typeface="Courier New"/>
                <a:cs typeface="Courier New"/>
              </a:rPr>
              <a:t>0%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12296774" y="5905496"/>
            <a:ext cx="4667250" cy="600075"/>
            <a:chOff x="12296774" y="5905496"/>
            <a:chExt cx="4667250" cy="600075"/>
          </a:xfrm>
        </p:grpSpPr>
        <p:sp>
          <p:nvSpPr>
            <p:cNvPr id="59" name="object 59"/>
            <p:cNvSpPr/>
            <p:nvPr/>
          </p:nvSpPr>
          <p:spPr>
            <a:xfrm>
              <a:off x="15097124" y="5905496"/>
              <a:ext cx="1866900" cy="114300"/>
            </a:xfrm>
            <a:custGeom>
              <a:avLst/>
              <a:gdLst/>
              <a:ahLst/>
              <a:cxnLst/>
              <a:rect l="l" t="t" r="r" b="b"/>
              <a:pathLst>
                <a:path w="1866900" h="114300">
                  <a:moveTo>
                    <a:pt x="0" y="114299"/>
                  </a:moveTo>
                  <a:lnTo>
                    <a:pt x="1866899" y="114299"/>
                  </a:lnTo>
                  <a:lnTo>
                    <a:pt x="1866899" y="0"/>
                  </a:lnTo>
                  <a:lnTo>
                    <a:pt x="0" y="0"/>
                  </a:lnTo>
                  <a:lnTo>
                    <a:pt x="0" y="114299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2296763" y="5905499"/>
              <a:ext cx="4667250" cy="600075"/>
            </a:xfrm>
            <a:custGeom>
              <a:avLst/>
              <a:gdLst/>
              <a:ahLst/>
              <a:cxnLst/>
              <a:rect l="l" t="t" r="r" b="b"/>
              <a:pathLst>
                <a:path w="4667250" h="600075">
                  <a:moveTo>
                    <a:pt x="2800350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800350" y="114300"/>
                  </a:lnTo>
                  <a:lnTo>
                    <a:pt x="2800350" y="0"/>
                  </a:lnTo>
                  <a:close/>
                </a:path>
                <a:path w="4667250" h="600075">
                  <a:moveTo>
                    <a:pt x="4667250" y="485775"/>
                  </a:moveTo>
                  <a:lnTo>
                    <a:pt x="0" y="485775"/>
                  </a:lnTo>
                  <a:lnTo>
                    <a:pt x="0" y="600075"/>
                  </a:lnTo>
                  <a:lnTo>
                    <a:pt x="4667250" y="600075"/>
                  </a:lnTo>
                  <a:lnTo>
                    <a:pt x="4667250" y="485775"/>
                  </a:lnTo>
                  <a:close/>
                </a:path>
              </a:pathLst>
            </a:custGeom>
            <a:solidFill>
              <a:srgbClr val="772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12296774" y="5673724"/>
            <a:ext cx="3098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YR</a:t>
            </a:r>
            <a:r>
              <a:rPr sz="950" spc="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6666815" y="5673724"/>
            <a:ext cx="3098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solidFill>
                  <a:srgbClr val="67686E"/>
                </a:solidFill>
                <a:latin typeface="Courier New"/>
                <a:cs typeface="Courier New"/>
              </a:rPr>
              <a:t>~60%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2296774" y="6159499"/>
            <a:ext cx="3098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YR</a:t>
            </a:r>
            <a:r>
              <a:rPr sz="950" spc="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3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6666815" y="6159499"/>
            <a:ext cx="3098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solidFill>
                  <a:srgbClr val="77292E"/>
                </a:solidFill>
                <a:latin typeface="Courier New"/>
                <a:cs typeface="Courier New"/>
              </a:rPr>
              <a:t>100%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296774" y="8691244"/>
            <a:ext cx="399224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7100"/>
              </a:lnSpc>
              <a:spcBef>
                <a:spcPts val="100"/>
              </a:spcBef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%</a:t>
            </a:r>
            <a:r>
              <a:rPr sz="1050" spc="1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80" dirty="0">
                <a:solidFill>
                  <a:srgbClr val="67686E"/>
                </a:solidFill>
                <a:latin typeface="Courier New"/>
                <a:cs typeface="Courier New"/>
              </a:rPr>
              <a:t>self-</a:t>
            </a:r>
            <a:r>
              <a:rPr sz="1050" spc="70" dirty="0">
                <a:solidFill>
                  <a:srgbClr val="67686E"/>
                </a:solidFill>
                <a:latin typeface="Courier New"/>
                <a:cs typeface="Courier New"/>
              </a:rPr>
              <a:t>delivering</a:t>
            </a:r>
            <a:r>
              <a:rPr sz="1050" spc="1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—</a:t>
            </a:r>
            <a:r>
              <a:rPr sz="1050" spc="1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70" dirty="0">
                <a:solidFill>
                  <a:srgbClr val="67686E"/>
                </a:solidFill>
                <a:latin typeface="Courier New"/>
                <a:cs typeface="Courier New"/>
              </a:rPr>
              <a:t>institution</a:t>
            </a:r>
            <a:r>
              <a:rPr sz="1050" spc="1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60" dirty="0">
                <a:solidFill>
                  <a:srgbClr val="67686E"/>
                </a:solidFill>
                <a:latin typeface="Courier New"/>
                <a:cs typeface="Courier New"/>
              </a:rPr>
              <a:t>staff</a:t>
            </a:r>
            <a:r>
              <a:rPr sz="1050" spc="1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&amp;</a:t>
            </a:r>
            <a:r>
              <a:rPr sz="1050" spc="1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40" dirty="0">
                <a:solidFill>
                  <a:srgbClr val="67686E"/>
                </a:solidFill>
                <a:latin typeface="Courier New"/>
                <a:cs typeface="Courier New"/>
              </a:rPr>
              <a:t>peer </a:t>
            </a:r>
            <a:r>
              <a:rPr sz="1050" spc="55" dirty="0">
                <a:solidFill>
                  <a:srgbClr val="67686E"/>
                </a:solidFill>
                <a:latin typeface="Courier New"/>
                <a:cs typeface="Courier New"/>
              </a:rPr>
              <a:t>mentors</a:t>
            </a:r>
            <a:endParaRPr sz="1050">
              <a:latin typeface="Courier New"/>
              <a:cs typeface="Courier New"/>
            </a:endParaRPr>
          </a:p>
        </p:txBody>
      </p:sp>
      <p:pic>
        <p:nvPicPr>
          <p:cNvPr id="66" name="object 6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7749" y="466721"/>
            <a:ext cx="95250" cy="95240"/>
          </a:xfrm>
          <a:prstGeom prst="rect">
            <a:avLst/>
          </a:prstGeom>
        </p:spPr>
      </p:pic>
      <p:sp>
        <p:nvSpPr>
          <p:cNvPr id="67" name="object 67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5087848" y="406400"/>
            <a:ext cx="2138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438910" algn="l"/>
                <a:tab pos="1676400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&amp;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K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7749" y="1085846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5050" y="911344"/>
            <a:ext cx="8474075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404620" algn="l"/>
                <a:tab pos="1748155" algn="l"/>
                <a:tab pos="2950845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G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&amp;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P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Y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G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220" dirty="0">
                <a:solidFill>
                  <a:srgbClr val="16171F"/>
                </a:solidFill>
                <a:latin typeface="Times New Roman"/>
                <a:cs typeface="Times New Roman"/>
              </a:rPr>
              <a:t>Contributing</a:t>
            </a:r>
            <a:r>
              <a:rPr sz="4800" spc="-1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40" dirty="0">
                <a:solidFill>
                  <a:srgbClr val="16171F"/>
                </a:solidFill>
                <a:latin typeface="Times New Roman"/>
                <a:cs typeface="Times New Roman"/>
              </a:rPr>
              <a:t>to</a:t>
            </a:r>
            <a:r>
              <a:rPr sz="4800" spc="-1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five</a:t>
            </a:r>
            <a:r>
              <a:rPr sz="4800" spc="-13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345" dirty="0">
                <a:solidFill>
                  <a:srgbClr val="16171F"/>
                </a:solidFill>
                <a:latin typeface="Times New Roman"/>
                <a:cs typeface="Times New Roman"/>
              </a:rPr>
              <a:t>UN </a:t>
            </a:r>
            <a:r>
              <a:rPr sz="4800" spc="140" dirty="0">
                <a:solidFill>
                  <a:srgbClr val="16171F"/>
                </a:solidFill>
                <a:latin typeface="Times New Roman"/>
                <a:cs typeface="Times New Roman"/>
              </a:rPr>
              <a:t>Sustainable</a:t>
            </a:r>
            <a:r>
              <a:rPr sz="4800" spc="-16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0" dirty="0">
                <a:solidFill>
                  <a:srgbClr val="16171F"/>
                </a:solidFill>
                <a:latin typeface="Times New Roman"/>
                <a:cs typeface="Times New Roman"/>
              </a:rPr>
              <a:t>Development</a:t>
            </a:r>
            <a:r>
              <a:rPr sz="4800" spc="-16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65" dirty="0">
                <a:solidFill>
                  <a:srgbClr val="16171F"/>
                </a:solidFill>
                <a:latin typeface="Times New Roman"/>
                <a:cs typeface="Times New Roman"/>
              </a:rPr>
              <a:t>Goals.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47749" y="3133720"/>
            <a:ext cx="3067050" cy="3076575"/>
            <a:chOff x="1047749" y="3133720"/>
            <a:chExt cx="3067050" cy="3076575"/>
          </a:xfrm>
        </p:grpSpPr>
        <p:sp>
          <p:nvSpPr>
            <p:cNvPr id="6" name="object 6"/>
            <p:cNvSpPr/>
            <p:nvPr/>
          </p:nvSpPr>
          <p:spPr>
            <a:xfrm>
              <a:off x="1047749" y="3133720"/>
              <a:ext cx="3067050" cy="3076575"/>
            </a:xfrm>
            <a:custGeom>
              <a:avLst/>
              <a:gdLst/>
              <a:ahLst/>
              <a:cxnLst/>
              <a:rect l="l" t="t" r="r" b="b"/>
              <a:pathLst>
                <a:path w="3067050" h="3076575">
                  <a:moveTo>
                    <a:pt x="3067049" y="3076574"/>
                  </a:moveTo>
                  <a:lnTo>
                    <a:pt x="0" y="3076574"/>
                  </a:lnTo>
                  <a:lnTo>
                    <a:pt x="0" y="0"/>
                  </a:lnTo>
                  <a:lnTo>
                    <a:pt x="3067049" y="0"/>
                  </a:lnTo>
                  <a:lnTo>
                    <a:pt x="3067049" y="3076574"/>
                  </a:lnTo>
                  <a:close/>
                </a:path>
              </a:pathLst>
            </a:custGeom>
            <a:solidFill>
              <a:srgbClr val="4B9E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67099" y="560070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5"/>
                  </a:moveTo>
                  <a:lnTo>
                    <a:pt x="144660" y="324292"/>
                  </a:lnTo>
                  <a:lnTo>
                    <a:pt x="85724" y="272648"/>
                  </a:lnTo>
                  <a:lnTo>
                    <a:pt x="26789" y="194216"/>
                  </a:lnTo>
                  <a:lnTo>
                    <a:pt x="0" y="95245"/>
                  </a:lnTo>
                  <a:lnTo>
                    <a:pt x="287" y="87794"/>
                  </a:lnTo>
                  <a:lnTo>
                    <a:pt x="13855" y="45765"/>
                  </a:lnTo>
                  <a:lnTo>
                    <a:pt x="44999" y="14324"/>
                  </a:lnTo>
                  <a:lnTo>
                    <a:pt x="86897" y="358"/>
                  </a:lnTo>
                  <a:lnTo>
                    <a:pt x="94346" y="0"/>
                  </a:lnTo>
                  <a:lnTo>
                    <a:pt x="101799" y="217"/>
                  </a:lnTo>
                  <a:lnTo>
                    <a:pt x="143955" y="13385"/>
                  </a:lnTo>
                  <a:lnTo>
                    <a:pt x="171449" y="38095"/>
                  </a:lnTo>
                  <a:lnTo>
                    <a:pt x="176151" y="32307"/>
                  </a:lnTo>
                  <a:lnTo>
                    <a:pt x="212222" y="6824"/>
                  </a:lnTo>
                  <a:lnTo>
                    <a:pt x="248553" y="0"/>
                  </a:lnTo>
                  <a:lnTo>
                    <a:pt x="256002" y="358"/>
                  </a:lnTo>
                  <a:lnTo>
                    <a:pt x="297900" y="14324"/>
                  </a:lnTo>
                  <a:lnTo>
                    <a:pt x="329044" y="45765"/>
                  </a:lnTo>
                  <a:lnTo>
                    <a:pt x="342612" y="87794"/>
                  </a:lnTo>
                  <a:lnTo>
                    <a:pt x="342899" y="95245"/>
                  </a:lnTo>
                  <a:lnTo>
                    <a:pt x="316110" y="194216"/>
                  </a:lnTo>
                  <a:lnTo>
                    <a:pt x="257174" y="272648"/>
                  </a:lnTo>
                  <a:lnTo>
                    <a:pt x="198239" y="324292"/>
                  </a:lnTo>
                  <a:lnTo>
                    <a:pt x="171449" y="342895"/>
                  </a:lnTo>
                  <a:close/>
                </a:path>
                <a:path w="342900" h="342900">
                  <a:moveTo>
                    <a:pt x="76199" y="95245"/>
                  </a:moveTo>
                  <a:lnTo>
                    <a:pt x="133349" y="95245"/>
                  </a:lnTo>
                  <a:lnTo>
                    <a:pt x="152399" y="38095"/>
                  </a:lnTo>
                  <a:lnTo>
                    <a:pt x="190499" y="152395"/>
                  </a:lnTo>
                  <a:lnTo>
                    <a:pt x="209549" y="95245"/>
                  </a:lnTo>
                  <a:lnTo>
                    <a:pt x="266699" y="95245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35050" y="6345458"/>
            <a:ext cx="2982595" cy="682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0600"/>
              </a:lnSpc>
              <a:spcBef>
                <a:spcPts val="95"/>
              </a:spcBef>
            </a:pP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Promotes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menstrual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hygiene;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reduces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3B3C43"/>
                </a:solidFill>
                <a:latin typeface="Arial"/>
                <a:cs typeface="Arial"/>
              </a:rPr>
              <a:t>RTIs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&amp;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UTIs;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protects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physical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&amp;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emotional</a:t>
            </a:r>
            <a:r>
              <a:rPr sz="1300" spc="-8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well-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being.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24349" y="3133720"/>
            <a:ext cx="3076575" cy="3076575"/>
            <a:chOff x="4324349" y="3133720"/>
            <a:chExt cx="3076575" cy="3076575"/>
          </a:xfrm>
        </p:grpSpPr>
        <p:sp>
          <p:nvSpPr>
            <p:cNvPr id="10" name="object 10"/>
            <p:cNvSpPr/>
            <p:nvPr/>
          </p:nvSpPr>
          <p:spPr>
            <a:xfrm>
              <a:off x="4324349" y="3133720"/>
              <a:ext cx="3076575" cy="3076575"/>
            </a:xfrm>
            <a:custGeom>
              <a:avLst/>
              <a:gdLst/>
              <a:ahLst/>
              <a:cxnLst/>
              <a:rect l="l" t="t" r="r" b="b"/>
              <a:pathLst>
                <a:path w="3076575" h="3076575">
                  <a:moveTo>
                    <a:pt x="3076574" y="3076574"/>
                  </a:moveTo>
                  <a:lnTo>
                    <a:pt x="0" y="3076574"/>
                  </a:lnTo>
                  <a:lnTo>
                    <a:pt x="0" y="0"/>
                  </a:lnTo>
                  <a:lnTo>
                    <a:pt x="3076574" y="0"/>
                  </a:lnTo>
                  <a:lnTo>
                    <a:pt x="3076574" y="3076574"/>
                  </a:lnTo>
                  <a:close/>
                </a:path>
              </a:pathLst>
            </a:custGeom>
            <a:solidFill>
              <a:srgbClr val="C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96074" y="5543549"/>
              <a:ext cx="457200" cy="323850"/>
            </a:xfrm>
            <a:custGeom>
              <a:avLst/>
              <a:gdLst/>
              <a:ahLst/>
              <a:cxnLst/>
              <a:rect l="l" t="t" r="r" b="b"/>
              <a:pathLst>
                <a:path w="457200" h="323850">
                  <a:moveTo>
                    <a:pt x="0" y="95249"/>
                  </a:moveTo>
                  <a:lnTo>
                    <a:pt x="228599" y="0"/>
                  </a:lnTo>
                  <a:lnTo>
                    <a:pt x="457199" y="95249"/>
                  </a:lnTo>
                  <a:lnTo>
                    <a:pt x="228599" y="190499"/>
                  </a:lnTo>
                  <a:lnTo>
                    <a:pt x="0" y="95249"/>
                  </a:lnTo>
                  <a:close/>
                </a:path>
                <a:path w="457200" h="323850">
                  <a:moveTo>
                    <a:pt x="76199" y="133349"/>
                  </a:moveTo>
                  <a:lnTo>
                    <a:pt x="76199" y="266699"/>
                  </a:lnTo>
                  <a:lnTo>
                    <a:pt x="87957" y="287684"/>
                  </a:lnTo>
                  <a:lnTo>
                    <a:pt x="120253" y="305990"/>
                  </a:lnTo>
                  <a:lnTo>
                    <a:pt x="168622" y="318938"/>
                  </a:lnTo>
                  <a:lnTo>
                    <a:pt x="228599" y="323849"/>
                  </a:lnTo>
                  <a:lnTo>
                    <a:pt x="288577" y="318938"/>
                  </a:lnTo>
                  <a:lnTo>
                    <a:pt x="336946" y="305990"/>
                  </a:lnTo>
                  <a:lnTo>
                    <a:pt x="369242" y="287684"/>
                  </a:lnTo>
                  <a:lnTo>
                    <a:pt x="380999" y="266699"/>
                  </a:lnTo>
                  <a:lnTo>
                    <a:pt x="380999" y="133349"/>
                  </a:lnTo>
                </a:path>
                <a:path w="457200" h="323850">
                  <a:moveTo>
                    <a:pt x="457199" y="95249"/>
                  </a:moveTo>
                  <a:lnTo>
                    <a:pt x="457199" y="228599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15370" y="6345458"/>
            <a:ext cx="2830830" cy="682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95"/>
              </a:spcBef>
            </a:pP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Cuts</a:t>
            </a:r>
            <a:r>
              <a:rPr sz="1300" spc="-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menstruation-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driven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absenteeism;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preserves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school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attendance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&amp;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academic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continuity.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10474" y="3133720"/>
            <a:ext cx="3067050" cy="3076575"/>
            <a:chOff x="7610474" y="3133720"/>
            <a:chExt cx="3067050" cy="3076575"/>
          </a:xfrm>
        </p:grpSpPr>
        <p:sp>
          <p:nvSpPr>
            <p:cNvPr id="14" name="object 14"/>
            <p:cNvSpPr/>
            <p:nvPr/>
          </p:nvSpPr>
          <p:spPr>
            <a:xfrm>
              <a:off x="7610474" y="3133720"/>
              <a:ext cx="3067050" cy="3076575"/>
            </a:xfrm>
            <a:custGeom>
              <a:avLst/>
              <a:gdLst/>
              <a:ahLst/>
              <a:cxnLst/>
              <a:rect l="l" t="t" r="r" b="b"/>
              <a:pathLst>
                <a:path w="3067050" h="3076575">
                  <a:moveTo>
                    <a:pt x="3067049" y="3076574"/>
                  </a:moveTo>
                  <a:lnTo>
                    <a:pt x="0" y="3076574"/>
                  </a:lnTo>
                  <a:lnTo>
                    <a:pt x="0" y="0"/>
                  </a:lnTo>
                  <a:lnTo>
                    <a:pt x="3067049" y="0"/>
                  </a:lnTo>
                  <a:lnTo>
                    <a:pt x="3067049" y="3076574"/>
                  </a:lnTo>
                  <a:close/>
                </a:path>
              </a:pathLst>
            </a:custGeom>
            <a:solidFill>
              <a:srgbClr val="FF3A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086974" y="5543549"/>
              <a:ext cx="228600" cy="438150"/>
            </a:xfrm>
            <a:custGeom>
              <a:avLst/>
              <a:gdLst/>
              <a:ahLst/>
              <a:cxnLst/>
              <a:rect l="l" t="t" r="r" b="b"/>
              <a:pathLst>
                <a:path w="228600" h="438150">
                  <a:moveTo>
                    <a:pt x="228600" y="114299"/>
                  </a:moveTo>
                  <a:lnTo>
                    <a:pt x="228599" y="121805"/>
                  </a:lnTo>
                  <a:lnTo>
                    <a:pt x="227867" y="129237"/>
                  </a:lnTo>
                  <a:lnTo>
                    <a:pt x="226403" y="136598"/>
                  </a:lnTo>
                  <a:lnTo>
                    <a:pt x="224939" y="143959"/>
                  </a:lnTo>
                  <a:lnTo>
                    <a:pt x="222771" y="151106"/>
                  </a:lnTo>
                  <a:lnTo>
                    <a:pt x="219899" y="158040"/>
                  </a:lnTo>
                  <a:lnTo>
                    <a:pt x="217027" y="164974"/>
                  </a:lnTo>
                  <a:lnTo>
                    <a:pt x="189815" y="200429"/>
                  </a:lnTo>
                  <a:lnTo>
                    <a:pt x="177801" y="209336"/>
                  </a:lnTo>
                  <a:lnTo>
                    <a:pt x="171561" y="213506"/>
                  </a:lnTo>
                  <a:lnTo>
                    <a:pt x="164974" y="217027"/>
                  </a:lnTo>
                  <a:lnTo>
                    <a:pt x="158040" y="219899"/>
                  </a:lnTo>
                  <a:lnTo>
                    <a:pt x="151106" y="222771"/>
                  </a:lnTo>
                  <a:lnTo>
                    <a:pt x="143959" y="224939"/>
                  </a:lnTo>
                  <a:lnTo>
                    <a:pt x="136598" y="226403"/>
                  </a:lnTo>
                  <a:lnTo>
                    <a:pt x="129237" y="227867"/>
                  </a:lnTo>
                  <a:lnTo>
                    <a:pt x="121805" y="228599"/>
                  </a:lnTo>
                  <a:lnTo>
                    <a:pt x="114300" y="228599"/>
                  </a:lnTo>
                  <a:lnTo>
                    <a:pt x="106794" y="228599"/>
                  </a:lnTo>
                  <a:lnTo>
                    <a:pt x="99362" y="227867"/>
                  </a:lnTo>
                  <a:lnTo>
                    <a:pt x="92001" y="226403"/>
                  </a:lnTo>
                  <a:lnTo>
                    <a:pt x="84640" y="224939"/>
                  </a:lnTo>
                  <a:lnTo>
                    <a:pt x="77493" y="222771"/>
                  </a:lnTo>
                  <a:lnTo>
                    <a:pt x="70559" y="219899"/>
                  </a:lnTo>
                  <a:lnTo>
                    <a:pt x="63625" y="217027"/>
                  </a:lnTo>
                  <a:lnTo>
                    <a:pt x="28170" y="189815"/>
                  </a:lnTo>
                  <a:lnTo>
                    <a:pt x="19263" y="177801"/>
                  </a:lnTo>
                  <a:lnTo>
                    <a:pt x="15093" y="171561"/>
                  </a:lnTo>
                  <a:lnTo>
                    <a:pt x="11572" y="164974"/>
                  </a:lnTo>
                  <a:lnTo>
                    <a:pt x="8700" y="158040"/>
                  </a:lnTo>
                  <a:lnTo>
                    <a:pt x="5828" y="151106"/>
                  </a:lnTo>
                  <a:lnTo>
                    <a:pt x="3660" y="143959"/>
                  </a:lnTo>
                  <a:lnTo>
                    <a:pt x="2196" y="136598"/>
                  </a:lnTo>
                  <a:lnTo>
                    <a:pt x="732" y="129237"/>
                  </a:lnTo>
                  <a:lnTo>
                    <a:pt x="0" y="121805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732" y="99361"/>
                  </a:lnTo>
                  <a:lnTo>
                    <a:pt x="2196" y="92001"/>
                  </a:lnTo>
                  <a:lnTo>
                    <a:pt x="3660" y="84640"/>
                  </a:lnTo>
                  <a:lnTo>
                    <a:pt x="5828" y="77492"/>
                  </a:lnTo>
                  <a:lnTo>
                    <a:pt x="8700" y="70559"/>
                  </a:lnTo>
                  <a:lnTo>
                    <a:pt x="11572" y="63625"/>
                  </a:lnTo>
                  <a:lnTo>
                    <a:pt x="15093" y="57038"/>
                  </a:lnTo>
                  <a:lnTo>
                    <a:pt x="19263" y="50798"/>
                  </a:lnTo>
                  <a:lnTo>
                    <a:pt x="23432" y="44558"/>
                  </a:lnTo>
                  <a:lnTo>
                    <a:pt x="28170" y="38784"/>
                  </a:lnTo>
                  <a:lnTo>
                    <a:pt x="33477" y="33477"/>
                  </a:lnTo>
                  <a:lnTo>
                    <a:pt x="38784" y="28170"/>
                  </a:lnTo>
                  <a:lnTo>
                    <a:pt x="44558" y="23432"/>
                  </a:lnTo>
                  <a:lnTo>
                    <a:pt x="50798" y="19263"/>
                  </a:lnTo>
                  <a:lnTo>
                    <a:pt x="57038" y="15093"/>
                  </a:lnTo>
                  <a:lnTo>
                    <a:pt x="63625" y="11572"/>
                  </a:lnTo>
                  <a:lnTo>
                    <a:pt x="70559" y="8700"/>
                  </a:lnTo>
                  <a:lnTo>
                    <a:pt x="77493" y="5828"/>
                  </a:lnTo>
                  <a:lnTo>
                    <a:pt x="84640" y="3660"/>
                  </a:lnTo>
                  <a:lnTo>
                    <a:pt x="92001" y="2196"/>
                  </a:lnTo>
                  <a:lnTo>
                    <a:pt x="99362" y="732"/>
                  </a:lnTo>
                  <a:lnTo>
                    <a:pt x="106794" y="0"/>
                  </a:lnTo>
                  <a:lnTo>
                    <a:pt x="114300" y="0"/>
                  </a:lnTo>
                  <a:lnTo>
                    <a:pt x="121805" y="0"/>
                  </a:lnTo>
                  <a:lnTo>
                    <a:pt x="129237" y="732"/>
                  </a:lnTo>
                  <a:lnTo>
                    <a:pt x="136598" y="2196"/>
                  </a:lnTo>
                  <a:lnTo>
                    <a:pt x="143959" y="3660"/>
                  </a:lnTo>
                  <a:lnTo>
                    <a:pt x="151106" y="5828"/>
                  </a:lnTo>
                  <a:lnTo>
                    <a:pt x="158040" y="8700"/>
                  </a:lnTo>
                  <a:lnTo>
                    <a:pt x="164974" y="11572"/>
                  </a:lnTo>
                  <a:lnTo>
                    <a:pt x="171561" y="15093"/>
                  </a:lnTo>
                  <a:lnTo>
                    <a:pt x="177801" y="19263"/>
                  </a:lnTo>
                  <a:lnTo>
                    <a:pt x="184041" y="23432"/>
                  </a:lnTo>
                  <a:lnTo>
                    <a:pt x="213506" y="57038"/>
                  </a:lnTo>
                  <a:lnTo>
                    <a:pt x="219899" y="70559"/>
                  </a:lnTo>
                  <a:lnTo>
                    <a:pt x="222771" y="77492"/>
                  </a:lnTo>
                  <a:lnTo>
                    <a:pt x="224939" y="84640"/>
                  </a:lnTo>
                  <a:lnTo>
                    <a:pt x="226403" y="92001"/>
                  </a:lnTo>
                  <a:lnTo>
                    <a:pt x="227867" y="99361"/>
                  </a:lnTo>
                  <a:lnTo>
                    <a:pt x="228599" y="106794"/>
                  </a:lnTo>
                  <a:lnTo>
                    <a:pt x="228600" y="114299"/>
                  </a:lnTo>
                  <a:close/>
                </a:path>
                <a:path w="228600" h="438150">
                  <a:moveTo>
                    <a:pt x="114300" y="228599"/>
                  </a:moveTo>
                  <a:lnTo>
                    <a:pt x="114300" y="438149"/>
                  </a:lnTo>
                </a:path>
                <a:path w="228600" h="438150">
                  <a:moveTo>
                    <a:pt x="19050" y="342899"/>
                  </a:moveTo>
                  <a:lnTo>
                    <a:pt x="209550" y="342899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595840" y="6345458"/>
            <a:ext cx="3054985" cy="682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95"/>
              </a:spcBef>
            </a:pP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Challenges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period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stigma; 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ensures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equitable </a:t>
            </a:r>
            <a:r>
              <a:rPr sz="1300" spc="-75" dirty="0">
                <a:solidFill>
                  <a:srgbClr val="3B3C43"/>
                </a:solidFill>
                <a:latin typeface="Arial"/>
                <a:cs typeface="Arial"/>
              </a:rPr>
              <a:t>access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to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dignity,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knowledge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&amp;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menstrual care.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887074" y="3133720"/>
            <a:ext cx="3076575" cy="3076575"/>
            <a:chOff x="10887074" y="3133720"/>
            <a:chExt cx="3076575" cy="3076575"/>
          </a:xfrm>
        </p:grpSpPr>
        <p:sp>
          <p:nvSpPr>
            <p:cNvPr id="18" name="object 18"/>
            <p:cNvSpPr/>
            <p:nvPr/>
          </p:nvSpPr>
          <p:spPr>
            <a:xfrm>
              <a:off x="10887074" y="3133720"/>
              <a:ext cx="3076575" cy="3076575"/>
            </a:xfrm>
            <a:custGeom>
              <a:avLst/>
              <a:gdLst/>
              <a:ahLst/>
              <a:cxnLst/>
              <a:rect l="l" t="t" r="r" b="b"/>
              <a:pathLst>
                <a:path w="3076575" h="3076575">
                  <a:moveTo>
                    <a:pt x="3076574" y="3076574"/>
                  </a:moveTo>
                  <a:lnTo>
                    <a:pt x="0" y="3076574"/>
                  </a:lnTo>
                  <a:lnTo>
                    <a:pt x="0" y="0"/>
                  </a:lnTo>
                  <a:lnTo>
                    <a:pt x="3076574" y="0"/>
                  </a:lnTo>
                  <a:lnTo>
                    <a:pt x="3076574" y="3076574"/>
                  </a:lnTo>
                  <a:close/>
                </a:path>
              </a:pathLst>
            </a:custGeom>
            <a:solidFill>
              <a:srgbClr val="25B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354049" y="5486399"/>
              <a:ext cx="266700" cy="419100"/>
            </a:xfrm>
            <a:custGeom>
              <a:avLst/>
              <a:gdLst/>
              <a:ahLst/>
              <a:cxnLst/>
              <a:rect l="l" t="t" r="r" b="b"/>
              <a:pathLst>
                <a:path w="266700" h="419100">
                  <a:moveTo>
                    <a:pt x="133349" y="0"/>
                  </a:moveTo>
                  <a:lnTo>
                    <a:pt x="112514" y="28574"/>
                  </a:lnTo>
                  <a:lnTo>
                    <a:pt x="66674" y="100012"/>
                  </a:lnTo>
                  <a:lnTo>
                    <a:pt x="20835" y="192881"/>
                  </a:lnTo>
                  <a:lnTo>
                    <a:pt x="0" y="285749"/>
                  </a:lnTo>
                  <a:lnTo>
                    <a:pt x="160" y="292301"/>
                  </a:lnTo>
                  <a:lnTo>
                    <a:pt x="7791" y="330666"/>
                  </a:lnTo>
                  <a:lnTo>
                    <a:pt x="26246" y="365193"/>
                  </a:lnTo>
                  <a:lnTo>
                    <a:pt x="53906" y="392853"/>
                  </a:lnTo>
                  <a:lnTo>
                    <a:pt x="88432" y="411308"/>
                  </a:lnTo>
                  <a:lnTo>
                    <a:pt x="126798" y="418939"/>
                  </a:lnTo>
                  <a:lnTo>
                    <a:pt x="133349" y="419099"/>
                  </a:lnTo>
                  <a:lnTo>
                    <a:pt x="139901" y="418939"/>
                  </a:lnTo>
                  <a:lnTo>
                    <a:pt x="178267" y="411308"/>
                  </a:lnTo>
                  <a:lnTo>
                    <a:pt x="212793" y="392853"/>
                  </a:lnTo>
                  <a:lnTo>
                    <a:pt x="240453" y="365193"/>
                  </a:lnTo>
                  <a:lnTo>
                    <a:pt x="258908" y="330666"/>
                  </a:lnTo>
                  <a:lnTo>
                    <a:pt x="266539" y="292301"/>
                  </a:lnTo>
                  <a:lnTo>
                    <a:pt x="266699" y="285749"/>
                  </a:lnTo>
                  <a:lnTo>
                    <a:pt x="245864" y="192881"/>
                  </a:lnTo>
                  <a:lnTo>
                    <a:pt x="200024" y="100012"/>
                  </a:lnTo>
                  <a:lnTo>
                    <a:pt x="154185" y="28574"/>
                  </a:lnTo>
                  <a:lnTo>
                    <a:pt x="133349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876160" y="6345458"/>
            <a:ext cx="3064510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95"/>
              </a:spcBef>
            </a:pP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550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eco-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friendly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incinerators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end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open-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burn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pollution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across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all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275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campuses.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4173198" y="3133720"/>
            <a:ext cx="3067050" cy="3076575"/>
            <a:chOff x="14173198" y="3133720"/>
            <a:chExt cx="3067050" cy="3076575"/>
          </a:xfrm>
        </p:grpSpPr>
        <p:sp>
          <p:nvSpPr>
            <p:cNvPr id="22" name="object 22"/>
            <p:cNvSpPr/>
            <p:nvPr/>
          </p:nvSpPr>
          <p:spPr>
            <a:xfrm>
              <a:off x="14173198" y="3133720"/>
              <a:ext cx="3067050" cy="3076575"/>
            </a:xfrm>
            <a:custGeom>
              <a:avLst/>
              <a:gdLst/>
              <a:ahLst/>
              <a:cxnLst/>
              <a:rect l="l" t="t" r="r" b="b"/>
              <a:pathLst>
                <a:path w="3067050" h="3076575">
                  <a:moveTo>
                    <a:pt x="3067049" y="3076574"/>
                  </a:moveTo>
                  <a:lnTo>
                    <a:pt x="0" y="3076574"/>
                  </a:lnTo>
                  <a:lnTo>
                    <a:pt x="0" y="0"/>
                  </a:lnTo>
                  <a:lnTo>
                    <a:pt x="3067049" y="0"/>
                  </a:lnTo>
                  <a:lnTo>
                    <a:pt x="3067049" y="3076574"/>
                  </a:lnTo>
                  <a:close/>
                </a:path>
              </a:pathLst>
            </a:custGeom>
            <a:solidFill>
              <a:srgbClr val="DD12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21111" y="5605462"/>
              <a:ext cx="485774" cy="1809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6668748" y="5562599"/>
              <a:ext cx="190500" cy="323850"/>
            </a:xfrm>
            <a:custGeom>
              <a:avLst/>
              <a:gdLst/>
              <a:ahLst/>
              <a:cxnLst/>
              <a:rect l="l" t="t" r="r" b="b"/>
              <a:pathLst>
                <a:path w="190500" h="323850">
                  <a:moveTo>
                    <a:pt x="95249" y="0"/>
                  </a:moveTo>
                  <a:lnTo>
                    <a:pt x="95249" y="323849"/>
                  </a:lnTo>
                </a:path>
                <a:path w="190500" h="323850">
                  <a:moveTo>
                    <a:pt x="0" y="323849"/>
                  </a:moveTo>
                  <a:lnTo>
                    <a:pt x="190499" y="323849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4156630" y="6345458"/>
            <a:ext cx="3081655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95"/>
              </a:spcBef>
            </a:pP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Exclusively 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serves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10" dirty="0">
                <a:solidFill>
                  <a:srgbClr val="3B3C43"/>
                </a:solidFill>
                <a:latin typeface="Arial"/>
                <a:cs typeface="Arial"/>
              </a:rPr>
              <a:t>BC,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40" dirty="0">
                <a:solidFill>
                  <a:srgbClr val="3B3C43"/>
                </a:solidFill>
                <a:latin typeface="Arial"/>
                <a:cs typeface="Arial"/>
              </a:rPr>
              <a:t>SC,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60" dirty="0">
                <a:solidFill>
                  <a:srgbClr val="3B3C43"/>
                </a:solidFill>
                <a:latin typeface="Arial"/>
                <a:cs typeface="Arial"/>
              </a:rPr>
              <a:t>ST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&amp;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minority 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adolescent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girls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65" dirty="0">
                <a:solidFill>
                  <a:srgbClr val="3B3C43"/>
                </a:solidFill>
                <a:latin typeface="Arial"/>
                <a:cs typeface="Arial"/>
              </a:rPr>
              <a:t>—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India's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most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underserved.</a:t>
            </a:r>
            <a:endParaRPr sz="13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47749" y="9039220"/>
            <a:ext cx="16192500" cy="9525"/>
          </a:xfrm>
          <a:custGeom>
            <a:avLst/>
            <a:gdLst/>
            <a:ahLst/>
            <a:cxnLst/>
            <a:rect l="l" t="t" r="r" b="b"/>
            <a:pathLst>
              <a:path w="16192500" h="9525">
                <a:moveTo>
                  <a:pt x="16192498" y="9524"/>
                </a:moveTo>
                <a:lnTo>
                  <a:pt x="0" y="9524"/>
                </a:lnTo>
                <a:lnTo>
                  <a:pt x="0" y="0"/>
                </a:lnTo>
                <a:lnTo>
                  <a:pt x="16192498" y="0"/>
                </a:lnTo>
                <a:lnTo>
                  <a:pt x="16192498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035050" y="9245600"/>
            <a:ext cx="26022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8690" algn="l"/>
                <a:tab pos="1676400" algn="l"/>
              </a:tabLst>
            </a:pP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T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O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16171F"/>
                </a:solidFill>
                <a:latin typeface="Courier New"/>
                <a:cs typeface="Courier New"/>
              </a:rPr>
              <a:t>L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	P</a:t>
            </a:r>
            <a:r>
              <a:rPr sz="1050" spc="-45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O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L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C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16171F"/>
                </a:solidFill>
                <a:latin typeface="Courier New"/>
                <a:cs typeface="Courier New"/>
              </a:rPr>
              <a:t>Y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	A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L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G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M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E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6171F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16171F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16171F"/>
                </a:solidFill>
                <a:latin typeface="Courier New"/>
                <a:cs typeface="Courier New"/>
              </a:rPr>
              <a:t>T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68775" y="9245600"/>
            <a:ext cx="23939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2130" algn="l"/>
                <a:tab pos="1260475" algn="l"/>
                <a:tab pos="1780539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B</a:t>
            </a:r>
            <a:r>
              <a:rPr sz="105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B</a:t>
            </a:r>
            <a:r>
              <a:rPr sz="105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P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94587" y="9245600"/>
            <a:ext cx="21856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0410" algn="l"/>
                <a:tab pos="146875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B</a:t>
            </a:r>
            <a:r>
              <a:rPr sz="105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M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12336" y="9245600"/>
            <a:ext cx="8337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862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2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6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177983" y="9245600"/>
            <a:ext cx="43700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2195" algn="l"/>
                <a:tab pos="1468755" algn="l"/>
                <a:tab pos="1988820" algn="l"/>
                <a:tab pos="2196465" algn="l"/>
                <a:tab pos="2716530" algn="l"/>
                <a:tab pos="3132455" algn="l"/>
                <a:tab pos="3549015" algn="l"/>
                <a:tab pos="3964940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A</a:t>
            </a:r>
            <a:r>
              <a:rPr sz="105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2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3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S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V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(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)</a:t>
            </a:r>
            <a:endParaRPr sz="1050">
              <a:latin typeface="Courier New"/>
              <a:cs typeface="Courier New"/>
            </a:endParaRPr>
          </a:p>
        </p:txBody>
      </p:sp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749" y="466721"/>
            <a:ext cx="95250" cy="95240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017922" y="406400"/>
            <a:ext cx="3208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082040" algn="l"/>
                <a:tab pos="1320165" algn="l"/>
                <a:tab pos="215201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&amp;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47749" y="3133720"/>
            <a:ext cx="3067050" cy="30765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Times New Roman"/>
              <a:cs typeface="Times New Roman"/>
            </a:endParaRPr>
          </a:p>
          <a:p>
            <a:pPr marL="171450" marR="807720">
              <a:lnSpc>
                <a:spcPct val="104200"/>
              </a:lnSpc>
              <a:spcBef>
                <a:spcPts val="5"/>
              </a:spcBef>
            </a:pP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B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D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V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T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G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Courier New"/>
              <a:cs typeface="Courier New"/>
            </a:endParaRPr>
          </a:p>
          <a:p>
            <a:pPr marL="171450">
              <a:lnSpc>
                <a:spcPts val="9815"/>
              </a:lnSpc>
            </a:pPr>
            <a:r>
              <a:rPr sz="8250" spc="3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8250">
              <a:latin typeface="Times New Roman"/>
              <a:cs typeface="Times New Roman"/>
            </a:endParaRPr>
          </a:p>
          <a:p>
            <a:pPr marL="171450" marR="1686560">
              <a:lnSpc>
                <a:spcPts val="1500"/>
              </a:lnSpc>
              <a:spcBef>
                <a:spcPts val="165"/>
              </a:spcBef>
            </a:pPr>
            <a:r>
              <a:rPr sz="1450" b="1" spc="-135" dirty="0">
                <a:solidFill>
                  <a:srgbClr val="FFFFFF"/>
                </a:solidFill>
                <a:latin typeface="Arial"/>
                <a:cs typeface="Arial"/>
              </a:rPr>
              <a:t>Good</a:t>
            </a:r>
            <a:r>
              <a:rPr sz="145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FFFFFF"/>
                </a:solidFill>
                <a:latin typeface="Arial"/>
                <a:cs typeface="Arial"/>
              </a:rPr>
              <a:t>Health </a:t>
            </a:r>
            <a:r>
              <a:rPr sz="1450" b="1" spc="-8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45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40" dirty="0">
                <a:solidFill>
                  <a:srgbClr val="FFFFFF"/>
                </a:solidFill>
                <a:latin typeface="Arial"/>
                <a:cs typeface="Arial"/>
              </a:rPr>
              <a:t>Well-</a:t>
            </a:r>
            <a:r>
              <a:rPr sz="1450" b="1" spc="-90" dirty="0">
                <a:solidFill>
                  <a:srgbClr val="FFFFFF"/>
                </a:solidFill>
                <a:latin typeface="Arial"/>
                <a:cs typeface="Arial"/>
              </a:rPr>
              <a:t>being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24349" y="3133720"/>
            <a:ext cx="3076575" cy="30765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Times New Roman"/>
              <a:cs typeface="Times New Roman"/>
            </a:endParaRPr>
          </a:p>
          <a:p>
            <a:pPr marL="174625" marR="813435">
              <a:lnSpc>
                <a:spcPct val="104200"/>
              </a:lnSpc>
              <a:spcBef>
                <a:spcPts val="5"/>
              </a:spcBef>
            </a:pP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B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D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V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T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G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Courier New"/>
              <a:cs typeface="Courier New"/>
            </a:endParaRPr>
          </a:p>
          <a:p>
            <a:pPr marL="174625">
              <a:lnSpc>
                <a:spcPts val="9815"/>
              </a:lnSpc>
            </a:pPr>
            <a:r>
              <a:rPr sz="8250" spc="3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8250">
              <a:latin typeface="Times New Roman"/>
              <a:cs typeface="Times New Roman"/>
            </a:endParaRPr>
          </a:p>
          <a:p>
            <a:pPr marL="174625" marR="2096770">
              <a:lnSpc>
                <a:spcPts val="1500"/>
              </a:lnSpc>
              <a:spcBef>
                <a:spcPts val="165"/>
              </a:spcBef>
            </a:pPr>
            <a:r>
              <a:rPr sz="1450" b="1" spc="-10" dirty="0">
                <a:solidFill>
                  <a:srgbClr val="FFFFFF"/>
                </a:solidFill>
                <a:latin typeface="Arial"/>
                <a:cs typeface="Arial"/>
              </a:rPr>
              <a:t>Quality </a:t>
            </a:r>
            <a:r>
              <a:rPr sz="1450" b="1" spc="-95" dirty="0">
                <a:solidFill>
                  <a:srgbClr val="FFFFFF"/>
                </a:solidFill>
                <a:latin typeface="Arial"/>
                <a:cs typeface="Arial"/>
              </a:rPr>
              <a:t>Education</a:t>
            </a:r>
            <a:endParaRPr sz="14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610474" y="3133720"/>
            <a:ext cx="3067050" cy="30765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Times New Roman"/>
              <a:cs typeface="Times New Roman"/>
            </a:endParaRPr>
          </a:p>
          <a:p>
            <a:pPr marL="168910" marR="809625">
              <a:lnSpc>
                <a:spcPct val="104200"/>
              </a:lnSpc>
              <a:spcBef>
                <a:spcPts val="5"/>
              </a:spcBef>
            </a:pP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B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D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V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T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G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Courier New"/>
              <a:cs typeface="Courier New"/>
            </a:endParaRPr>
          </a:p>
          <a:p>
            <a:pPr marL="168910">
              <a:lnSpc>
                <a:spcPts val="9815"/>
              </a:lnSpc>
            </a:pPr>
            <a:r>
              <a:rPr sz="8250" spc="3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8250">
              <a:latin typeface="Times New Roman"/>
              <a:cs typeface="Times New Roman"/>
            </a:endParaRPr>
          </a:p>
          <a:p>
            <a:pPr marL="168910" marR="2237105">
              <a:lnSpc>
                <a:spcPts val="1500"/>
              </a:lnSpc>
              <a:spcBef>
                <a:spcPts val="165"/>
              </a:spcBef>
            </a:pPr>
            <a:r>
              <a:rPr sz="1450" b="1" spc="-10" dirty="0">
                <a:solidFill>
                  <a:srgbClr val="FFFFFF"/>
                </a:solidFill>
                <a:latin typeface="Arial"/>
                <a:cs typeface="Arial"/>
              </a:rPr>
              <a:t>Gender </a:t>
            </a:r>
            <a:r>
              <a:rPr sz="1450" b="1" spc="-75" dirty="0">
                <a:solidFill>
                  <a:srgbClr val="FFFFFF"/>
                </a:solidFill>
                <a:latin typeface="Arial"/>
                <a:cs typeface="Arial"/>
              </a:rPr>
              <a:t>Equality</a:t>
            </a:r>
            <a:endParaRPr sz="14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887074" y="3133720"/>
            <a:ext cx="3076575" cy="30765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Times New Roman"/>
              <a:cs typeface="Times New Roman"/>
            </a:endParaRPr>
          </a:p>
          <a:p>
            <a:pPr marL="172720" marR="815340">
              <a:lnSpc>
                <a:spcPct val="104200"/>
              </a:lnSpc>
              <a:spcBef>
                <a:spcPts val="5"/>
              </a:spcBef>
            </a:pP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B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D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V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T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G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Courier New"/>
              <a:cs typeface="Courier New"/>
            </a:endParaRPr>
          </a:p>
          <a:p>
            <a:pPr marL="172720">
              <a:lnSpc>
                <a:spcPts val="9815"/>
              </a:lnSpc>
            </a:pPr>
            <a:r>
              <a:rPr sz="8250" spc="3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8250">
              <a:latin typeface="Times New Roman"/>
              <a:cs typeface="Times New Roman"/>
            </a:endParaRPr>
          </a:p>
          <a:p>
            <a:pPr marL="172720" marR="1916430">
              <a:lnSpc>
                <a:spcPts val="1500"/>
              </a:lnSpc>
              <a:spcBef>
                <a:spcPts val="165"/>
              </a:spcBef>
            </a:pPr>
            <a:r>
              <a:rPr sz="1450" b="1" spc="-85" dirty="0">
                <a:solidFill>
                  <a:srgbClr val="FFFFFF"/>
                </a:solidFill>
                <a:latin typeface="Arial"/>
                <a:cs typeface="Arial"/>
              </a:rPr>
              <a:t>Clean</a:t>
            </a:r>
            <a:r>
              <a:rPr sz="145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55" dirty="0">
                <a:solidFill>
                  <a:srgbClr val="FFFFFF"/>
                </a:solidFill>
                <a:latin typeface="Arial"/>
                <a:cs typeface="Arial"/>
              </a:rPr>
              <a:t>Water </a:t>
            </a:r>
            <a:r>
              <a:rPr sz="1450" b="1" spc="-10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45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50" b="1" spc="-70" dirty="0">
                <a:solidFill>
                  <a:srgbClr val="FFFFFF"/>
                </a:solidFill>
                <a:latin typeface="Arial"/>
                <a:cs typeface="Arial"/>
              </a:rPr>
              <a:t>Sanitation</a:t>
            </a:r>
            <a:endParaRPr sz="14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173198" y="3133720"/>
            <a:ext cx="3067050" cy="30765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Times New Roman"/>
              <a:cs typeface="Times New Roman"/>
            </a:endParaRPr>
          </a:p>
          <a:p>
            <a:pPr marL="167005" marR="811530">
              <a:lnSpc>
                <a:spcPct val="104200"/>
              </a:lnSpc>
              <a:spcBef>
                <a:spcPts val="5"/>
              </a:spcBef>
            </a:pP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B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D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V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T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G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Courier New"/>
              <a:cs typeface="Courier New"/>
            </a:endParaRPr>
          </a:p>
          <a:p>
            <a:pPr marL="167005">
              <a:lnSpc>
                <a:spcPts val="9815"/>
              </a:lnSpc>
            </a:pPr>
            <a:r>
              <a:rPr sz="8250" spc="-25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8250">
              <a:latin typeface="Times New Roman"/>
              <a:cs typeface="Times New Roman"/>
            </a:endParaRPr>
          </a:p>
          <a:p>
            <a:pPr marL="167005" marR="1932939">
              <a:lnSpc>
                <a:spcPts val="1500"/>
              </a:lnSpc>
              <a:spcBef>
                <a:spcPts val="165"/>
              </a:spcBef>
            </a:pPr>
            <a:r>
              <a:rPr sz="1450" b="1" spc="-10" dirty="0">
                <a:solidFill>
                  <a:srgbClr val="FFFFFF"/>
                </a:solidFill>
                <a:latin typeface="Arial"/>
                <a:cs typeface="Arial"/>
              </a:rPr>
              <a:t>Reduced </a:t>
            </a:r>
            <a:r>
              <a:rPr sz="1450" b="1" spc="-50" dirty="0">
                <a:solidFill>
                  <a:srgbClr val="FFFFFF"/>
                </a:solidFill>
                <a:latin typeface="Arial"/>
                <a:cs typeface="Arial"/>
              </a:rPr>
              <a:t>Inequalities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21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7749" y="1085845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B89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5050" y="911344"/>
            <a:ext cx="11021695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404620" algn="l"/>
                <a:tab pos="2263775" algn="l"/>
                <a:tab pos="2950845" algn="l"/>
              </a:tabLst>
            </a:pP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W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Y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	G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V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	F</a:t>
            </a:r>
            <a:r>
              <a:rPr sz="1650" spc="-64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	S</a:t>
            </a:r>
            <a:r>
              <a:rPr sz="1650" spc="-64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Y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170" dirty="0">
                <a:solidFill>
                  <a:srgbClr val="FCF8EF"/>
                </a:solidFill>
                <a:latin typeface="Times New Roman"/>
                <a:cs typeface="Times New Roman"/>
              </a:rPr>
              <a:t>Government-</a:t>
            </a:r>
            <a:r>
              <a:rPr sz="4800" spc="165" dirty="0">
                <a:solidFill>
                  <a:srgbClr val="FCF8EF"/>
                </a:solidFill>
                <a:latin typeface="Times New Roman"/>
                <a:cs typeface="Times New Roman"/>
              </a:rPr>
              <a:t>endorsed,</a:t>
            </a:r>
            <a:r>
              <a:rPr sz="4800" spc="-114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145" dirty="0">
                <a:solidFill>
                  <a:srgbClr val="FCF8EF"/>
                </a:solidFill>
                <a:latin typeface="Times New Roman"/>
                <a:cs typeface="Times New Roman"/>
              </a:rPr>
              <a:t>award-</a:t>
            </a:r>
            <a:r>
              <a:rPr sz="4800" spc="130" dirty="0">
                <a:solidFill>
                  <a:srgbClr val="FCF8EF"/>
                </a:solidFill>
                <a:latin typeface="Times New Roman"/>
                <a:cs typeface="Times New Roman"/>
              </a:rPr>
              <a:t>recognised, </a:t>
            </a:r>
            <a:r>
              <a:rPr sz="4800" spc="210" dirty="0">
                <a:solidFill>
                  <a:srgbClr val="FCF8EF"/>
                </a:solidFill>
                <a:latin typeface="Times New Roman"/>
                <a:cs typeface="Times New Roman"/>
              </a:rPr>
              <a:t>with</a:t>
            </a:r>
            <a:r>
              <a:rPr sz="4800" spc="-16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229" dirty="0">
                <a:solidFill>
                  <a:srgbClr val="FCF8EF"/>
                </a:solidFill>
                <a:latin typeface="Times New Roman"/>
                <a:cs typeface="Times New Roman"/>
              </a:rPr>
              <a:t>a</a:t>
            </a:r>
            <a:r>
              <a:rPr sz="4800" spc="-16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i="1" spc="-10" dirty="0">
                <a:solidFill>
                  <a:srgbClr val="B89056"/>
                </a:solidFill>
                <a:latin typeface="Times New Roman"/>
                <a:cs typeface="Times New Roman"/>
              </a:rPr>
              <a:t>pilot</a:t>
            </a:r>
            <a:r>
              <a:rPr sz="4800" i="1" spc="-204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4800" i="1" spc="-100" dirty="0">
                <a:solidFill>
                  <a:srgbClr val="B89056"/>
                </a:solidFill>
                <a:latin typeface="Times New Roman"/>
                <a:cs typeface="Times New Roman"/>
              </a:rPr>
              <a:t>already</a:t>
            </a:r>
            <a:r>
              <a:rPr sz="4800" i="1" spc="-210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4800" i="1" spc="75" dirty="0">
                <a:solidFill>
                  <a:srgbClr val="B89056"/>
                </a:solidFill>
                <a:latin typeface="Times New Roman"/>
                <a:cs typeface="Times New Roman"/>
              </a:rPr>
              <a:t>in</a:t>
            </a:r>
            <a:r>
              <a:rPr sz="4800" i="1" spc="-210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4800" i="1" dirty="0">
                <a:solidFill>
                  <a:srgbClr val="B89056"/>
                </a:solidFill>
                <a:latin typeface="Times New Roman"/>
                <a:cs typeface="Times New Roman"/>
              </a:rPr>
              <a:t>the</a:t>
            </a:r>
            <a:r>
              <a:rPr sz="4800" i="1" spc="-210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4800" i="1" spc="-10" dirty="0">
                <a:solidFill>
                  <a:srgbClr val="B89056"/>
                </a:solidFill>
                <a:latin typeface="Times New Roman"/>
                <a:cs typeface="Times New Roman"/>
              </a:rPr>
              <a:t>ground</a:t>
            </a:r>
            <a:r>
              <a:rPr sz="4800" spc="-10" dirty="0">
                <a:solidFill>
                  <a:srgbClr val="FCF8EF"/>
                </a:solidFill>
                <a:latin typeface="Times New Roman"/>
                <a:cs typeface="Times New Roman"/>
              </a:rPr>
              <a:t>.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2512" y="3138483"/>
            <a:ext cx="7972425" cy="1733550"/>
          </a:xfrm>
          <a:custGeom>
            <a:avLst/>
            <a:gdLst/>
            <a:ahLst/>
            <a:cxnLst/>
            <a:rect l="l" t="t" r="r" b="b"/>
            <a:pathLst>
              <a:path w="7972425" h="1733550">
                <a:moveTo>
                  <a:pt x="0" y="0"/>
                </a:moveTo>
                <a:lnTo>
                  <a:pt x="7972424" y="0"/>
                </a:lnTo>
                <a:lnTo>
                  <a:pt x="7972424" y="1733549"/>
                </a:lnTo>
                <a:lnTo>
                  <a:pt x="0" y="173354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54F4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2074" y="3282950"/>
            <a:ext cx="4572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solidFill>
                  <a:srgbClr val="B89056"/>
                </a:solidFill>
                <a:latin typeface="Segoe UI Symbol"/>
                <a:cs typeface="Segoe UI Symbol"/>
              </a:rPr>
              <a:t>★</a:t>
            </a:r>
            <a:endParaRPr sz="420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4125" y="3397250"/>
            <a:ext cx="4148454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G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950" spc="42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G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V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'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r>
              <a:rPr sz="950" spc="42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X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42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W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r>
              <a:rPr sz="950" spc="42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2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0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2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B89056"/>
                </a:solidFill>
                <a:latin typeface="Courier New"/>
                <a:cs typeface="Courier New"/>
              </a:rPr>
              <a:t>5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4125" y="3604895"/>
            <a:ext cx="6510020" cy="9588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080">
              <a:lnSpc>
                <a:spcPct val="112799"/>
              </a:lnSpc>
              <a:spcBef>
                <a:spcPts val="135"/>
              </a:spcBef>
            </a:pP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Corporate</a:t>
            </a:r>
            <a:r>
              <a:rPr sz="1800" spc="-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Volunteering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—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Organisation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Category.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Conferred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by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Hon'ble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Governor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Shri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Jishnu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Dev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Varma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on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the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77th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 Republic </a:t>
            </a:r>
            <a:r>
              <a:rPr sz="1800" spc="-50" dirty="0">
                <a:solidFill>
                  <a:srgbClr val="FCF8EF"/>
                </a:solidFill>
                <a:latin typeface="Palatino Linotype"/>
                <a:cs typeface="Palatino Linotype"/>
              </a:rPr>
              <a:t>Day,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Lok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Bhavan,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Hyderabad.</a:t>
            </a:r>
            <a:endParaRPr sz="180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52512" y="5091107"/>
            <a:ext cx="7972425" cy="1724025"/>
          </a:xfrm>
          <a:custGeom>
            <a:avLst/>
            <a:gdLst/>
            <a:ahLst/>
            <a:cxnLst/>
            <a:rect l="l" t="t" r="r" b="b"/>
            <a:pathLst>
              <a:path w="7972425" h="1724025">
                <a:moveTo>
                  <a:pt x="0" y="0"/>
                </a:moveTo>
                <a:lnTo>
                  <a:pt x="7972424" y="0"/>
                </a:lnTo>
                <a:lnTo>
                  <a:pt x="7972424" y="1724024"/>
                </a:lnTo>
                <a:lnTo>
                  <a:pt x="0" y="172402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54F4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62074" y="5235574"/>
            <a:ext cx="2794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solidFill>
                  <a:srgbClr val="B89056"/>
                </a:solidFill>
                <a:latin typeface="Palatino Linotype"/>
                <a:cs typeface="Palatino Linotype"/>
              </a:rPr>
              <a:t>§</a:t>
            </a:r>
            <a:endParaRPr sz="42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76425" y="5349874"/>
            <a:ext cx="196913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M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950" spc="42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W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950" spc="42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M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J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B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W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6425" y="5567044"/>
            <a:ext cx="64693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11100"/>
              </a:lnSpc>
              <a:spcBef>
                <a:spcPts val="100"/>
              </a:spcBef>
            </a:pP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Memorandum</a:t>
            </a:r>
            <a:r>
              <a:rPr sz="1800" spc="-3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of</a:t>
            </a:r>
            <a:r>
              <a:rPr sz="1800" spc="-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Collaboration</a:t>
            </a:r>
            <a:r>
              <a:rPr sz="1800" spc="-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signed</a:t>
            </a:r>
            <a:r>
              <a:rPr sz="1800" spc="-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with</a:t>
            </a:r>
            <a:r>
              <a:rPr sz="1800" spc="-3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the</a:t>
            </a:r>
            <a:r>
              <a:rPr sz="1800" spc="-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Secretary,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MJPTBCWREIS</a:t>
            </a:r>
            <a:r>
              <a:rPr sz="1800" spc="114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—</a:t>
            </a:r>
            <a:r>
              <a:rPr sz="1800" spc="114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30" dirty="0">
                <a:solidFill>
                  <a:srgbClr val="FCF8EF"/>
                </a:solidFill>
                <a:latin typeface="Palatino Linotype"/>
                <a:cs typeface="Palatino Linotype"/>
              </a:rPr>
              <a:t>Lr.No.C2/3357/2025.</a:t>
            </a:r>
            <a:r>
              <a:rPr sz="1800" spc="12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Full</a:t>
            </a:r>
            <a:r>
              <a:rPr sz="1800" spc="114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institutional</a:t>
            </a:r>
            <a:r>
              <a:rPr sz="1800" spc="114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access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across</a:t>
            </a:r>
            <a:r>
              <a:rPr sz="1800" spc="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275</a:t>
            </a:r>
            <a:r>
              <a:rPr sz="1800" spc="1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girls-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only</a:t>
            </a:r>
            <a:r>
              <a:rPr sz="1800" spc="1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campuses.</a:t>
            </a:r>
            <a:endParaRPr sz="1800" dirty="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2512" y="7034207"/>
            <a:ext cx="7972425" cy="1419225"/>
          </a:xfrm>
          <a:custGeom>
            <a:avLst/>
            <a:gdLst/>
            <a:ahLst/>
            <a:cxnLst/>
            <a:rect l="l" t="t" r="r" b="b"/>
            <a:pathLst>
              <a:path w="7972425" h="1419225">
                <a:moveTo>
                  <a:pt x="0" y="0"/>
                </a:moveTo>
                <a:lnTo>
                  <a:pt x="7972424" y="0"/>
                </a:lnTo>
                <a:lnTo>
                  <a:pt x="7972424" y="1419224"/>
                </a:lnTo>
                <a:lnTo>
                  <a:pt x="0" y="141922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54F4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62074" y="7178675"/>
            <a:ext cx="2711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solidFill>
                  <a:srgbClr val="B89056"/>
                </a:solidFill>
                <a:latin typeface="Cambria Math"/>
                <a:cs typeface="Cambria Math"/>
              </a:rPr>
              <a:t>⌖</a:t>
            </a:r>
            <a:endParaRPr sz="42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67644" y="7292975"/>
            <a:ext cx="256349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950" spc="4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V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r>
              <a:rPr sz="950" spc="4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·</a:t>
            </a:r>
            <a:r>
              <a:rPr sz="950" spc="4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V</a:t>
            </a:r>
            <a:r>
              <a:rPr sz="950" spc="42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2</a:t>
            </a:r>
            <a:r>
              <a:rPr sz="950" spc="-38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0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2</a:t>
            </a:r>
            <a:r>
              <a:rPr sz="950" spc="-37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B89056"/>
                </a:solidFill>
                <a:latin typeface="Courier New"/>
                <a:cs typeface="Courier New"/>
              </a:rPr>
              <a:t>5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67644" y="7510144"/>
            <a:ext cx="63798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11100"/>
              </a:lnSpc>
              <a:spcBef>
                <a:spcPts val="100"/>
              </a:spcBef>
            </a:pP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1,200+</a:t>
            </a:r>
            <a:r>
              <a:rPr sz="1800" spc="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students</a:t>
            </a:r>
            <a:r>
              <a:rPr sz="1800" spc="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reached</a:t>
            </a:r>
            <a:r>
              <a:rPr sz="1800" spc="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in</a:t>
            </a:r>
            <a:r>
              <a:rPr sz="1800" spc="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Warangal</a:t>
            </a:r>
            <a:r>
              <a:rPr sz="1800" spc="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District.</a:t>
            </a:r>
            <a:r>
              <a:rPr sz="1800" spc="3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End-to-</a:t>
            </a:r>
            <a:r>
              <a:rPr sz="1800" spc="-25" dirty="0">
                <a:solidFill>
                  <a:srgbClr val="FCF8EF"/>
                </a:solidFill>
                <a:latin typeface="Palatino Linotype"/>
                <a:cs typeface="Palatino Linotype"/>
              </a:rPr>
              <a:t>end </a:t>
            </a:r>
            <a:r>
              <a:rPr sz="1800" spc="-30" dirty="0">
                <a:solidFill>
                  <a:srgbClr val="FCF8EF"/>
                </a:solidFill>
                <a:latin typeface="Palatino Linotype"/>
                <a:cs typeface="Palatino Linotype"/>
              </a:rPr>
              <a:t>workshop,</a:t>
            </a:r>
            <a:r>
              <a:rPr sz="1800" spc="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kit</a:t>
            </a:r>
            <a:r>
              <a:rPr sz="1800" spc="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distribution,</a:t>
            </a:r>
            <a:r>
              <a:rPr sz="1800" spc="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Palatino Linotype"/>
                <a:cs typeface="Palatino Linotype"/>
              </a:rPr>
              <a:t>and</a:t>
            </a:r>
            <a:r>
              <a:rPr sz="1800" spc="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incinerator</a:t>
            </a:r>
            <a:r>
              <a:rPr sz="1800" spc="5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solidFill>
                  <a:srgbClr val="FCF8EF"/>
                </a:solidFill>
                <a:latin typeface="Palatino Linotype"/>
                <a:cs typeface="Palatino Linotype"/>
              </a:rPr>
              <a:t>install</a:t>
            </a:r>
            <a:r>
              <a:rPr sz="1800" spc="10" dirty="0">
                <a:solidFill>
                  <a:srgbClr val="FCF8EF"/>
                </a:solidFill>
                <a:latin typeface="Palatino Linotype"/>
                <a:cs typeface="Palatino Linotype"/>
              </a:rPr>
              <a:t> </a:t>
            </a:r>
            <a:r>
              <a:rPr sz="1800" spc="-10" dirty="0">
                <a:solidFill>
                  <a:srgbClr val="FCF8EF"/>
                </a:solidFill>
                <a:latin typeface="Palatino Linotype"/>
                <a:cs typeface="Palatino Linotype"/>
              </a:rPr>
              <a:t>documented.</a:t>
            </a:r>
            <a:endParaRPr sz="1800">
              <a:latin typeface="Palatino Linotype"/>
              <a:cs typeface="Palatino Linotyp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47749" y="8667745"/>
            <a:ext cx="7981950" cy="1066800"/>
            <a:chOff x="1047749" y="8667745"/>
            <a:chExt cx="7981950" cy="1066800"/>
          </a:xfrm>
        </p:grpSpPr>
        <p:sp>
          <p:nvSpPr>
            <p:cNvPr id="18" name="object 18"/>
            <p:cNvSpPr/>
            <p:nvPr/>
          </p:nvSpPr>
          <p:spPr>
            <a:xfrm>
              <a:off x="1047749" y="8667745"/>
              <a:ext cx="7981950" cy="1066800"/>
            </a:xfrm>
            <a:custGeom>
              <a:avLst/>
              <a:gdLst/>
              <a:ahLst/>
              <a:cxnLst/>
              <a:rect l="l" t="t" r="r" b="b"/>
              <a:pathLst>
                <a:path w="7981950" h="1066800">
                  <a:moveTo>
                    <a:pt x="7981949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7981949" y="0"/>
                  </a:lnTo>
                  <a:lnTo>
                    <a:pt x="7981949" y="106679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 descr="Give For Society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449" y="8896350"/>
              <a:ext cx="609599" cy="60959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061567" y="9007475"/>
            <a:ext cx="1268095" cy="3454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ts val="915"/>
              </a:lnSpc>
              <a:spcBef>
                <a:spcPts val="12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ts val="1580"/>
              </a:lnSpc>
            </a:pPr>
            <a:r>
              <a:rPr sz="1350" dirty="0">
                <a:solidFill>
                  <a:srgbClr val="16171F"/>
                </a:solidFill>
                <a:latin typeface="Times New Roman"/>
                <a:cs typeface="Times New Roman"/>
              </a:rPr>
              <a:t>Give</a:t>
            </a:r>
            <a:r>
              <a:rPr sz="1350" spc="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350" spc="60" dirty="0">
                <a:solidFill>
                  <a:srgbClr val="16171F"/>
                </a:solidFill>
                <a:latin typeface="Times New Roman"/>
                <a:cs typeface="Times New Roman"/>
              </a:rPr>
              <a:t>For</a:t>
            </a:r>
            <a:r>
              <a:rPr sz="1350" spc="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16171F"/>
                </a:solidFill>
                <a:latin typeface="Times New Roman"/>
                <a:cs typeface="Times New Roman"/>
              </a:rPr>
              <a:t>Society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52824" y="8896350"/>
            <a:ext cx="3810000" cy="609600"/>
            <a:chOff x="3552824" y="8896350"/>
            <a:chExt cx="3810000" cy="609600"/>
          </a:xfrm>
        </p:grpSpPr>
        <p:sp>
          <p:nvSpPr>
            <p:cNvPr id="22" name="object 22"/>
            <p:cNvSpPr/>
            <p:nvPr/>
          </p:nvSpPr>
          <p:spPr>
            <a:xfrm>
              <a:off x="3552824" y="896302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9524" y="476249"/>
                  </a:moveTo>
                  <a:lnTo>
                    <a:pt x="0" y="4762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476249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 descr="Sthree Swabhima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0474" y="8896350"/>
              <a:ext cx="609599" cy="6095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210299" y="896302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9524" y="476249"/>
                  </a:moveTo>
                  <a:lnTo>
                    <a:pt x="0" y="4762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476249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 descr="MJPTBCWREIS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7949" y="8934449"/>
              <a:ext cx="904874" cy="5333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543573" y="9007475"/>
            <a:ext cx="1445260" cy="3454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ts val="915"/>
              </a:lnSpc>
              <a:spcBef>
                <a:spcPts val="12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31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ts val="1580"/>
              </a:lnSpc>
            </a:pPr>
            <a:r>
              <a:rPr sz="1350" spc="70" dirty="0">
                <a:solidFill>
                  <a:srgbClr val="16171F"/>
                </a:solidFill>
                <a:latin typeface="Times New Roman"/>
                <a:cs typeface="Times New Roman"/>
              </a:rPr>
              <a:t>Sthree</a:t>
            </a:r>
            <a:r>
              <a:rPr sz="13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350" spc="60" dirty="0">
                <a:solidFill>
                  <a:srgbClr val="16171F"/>
                </a:solidFill>
                <a:latin typeface="Times New Roman"/>
                <a:cs typeface="Times New Roman"/>
              </a:rPr>
              <a:t>Swabhiman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99449" y="9007475"/>
            <a:ext cx="1271905" cy="3454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ts val="915"/>
              </a:lnSpc>
              <a:spcBef>
                <a:spcPts val="12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ts val="1580"/>
              </a:lnSpc>
            </a:pPr>
            <a:r>
              <a:rPr sz="1350" spc="40" dirty="0">
                <a:solidFill>
                  <a:srgbClr val="16171F"/>
                </a:solidFill>
                <a:latin typeface="Times New Roman"/>
                <a:cs typeface="Times New Roman"/>
              </a:rPr>
              <a:t>MJPTBCWREIS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7749" y="466720"/>
            <a:ext cx="95250" cy="95249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255750" y="406400"/>
            <a:ext cx="2969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082040" algn="l"/>
                <a:tab pos="1676400" algn="l"/>
                <a:tab pos="2152015" algn="l"/>
              </a:tabLst>
            </a:pP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1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B5ABA4"/>
                </a:solidFill>
                <a:latin typeface="Courier New"/>
                <a:cs typeface="Courier New"/>
              </a:rPr>
              <a:t>2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W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H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Y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G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I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V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F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R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S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I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T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Y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32" name="object 32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39299" y="3316296"/>
            <a:ext cx="3743324" cy="2584757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9753599" y="3248020"/>
            <a:ext cx="1123950" cy="228600"/>
          </a:xfrm>
          <a:prstGeom prst="rect">
            <a:avLst/>
          </a:prstGeom>
          <a:solidFill>
            <a:srgbClr val="B89056"/>
          </a:solidFill>
        </p:spPr>
        <p:txBody>
          <a:bodyPr vert="horz" wrap="square" lIns="0" tIns="5715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450"/>
              </a:spcBef>
            </a:pPr>
            <a:r>
              <a:rPr sz="750" dirty="0">
                <a:solidFill>
                  <a:srgbClr val="221716"/>
                </a:solidFill>
                <a:latin typeface="Segoe UI Symbol"/>
                <a:cs typeface="Segoe UI Symbol"/>
              </a:rPr>
              <a:t>★</a:t>
            </a:r>
            <a:r>
              <a:rPr sz="750" spc="160" dirty="0">
                <a:solidFill>
                  <a:srgbClr val="221716"/>
                </a:solidFill>
                <a:latin typeface="Segoe UI Symbol"/>
                <a:cs typeface="Segoe UI Symbol"/>
              </a:rPr>
              <a:t> 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A</a:t>
            </a:r>
            <a:r>
              <a:rPr sz="750" spc="-305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W</a:t>
            </a:r>
            <a:r>
              <a:rPr sz="750" spc="-305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A</a:t>
            </a:r>
            <a:r>
              <a:rPr sz="750" spc="-305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R</a:t>
            </a:r>
            <a:r>
              <a:rPr sz="750" spc="-305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D</a:t>
            </a:r>
            <a:r>
              <a:rPr sz="750" spc="290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2</a:t>
            </a:r>
            <a:r>
              <a:rPr sz="750" spc="-305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0</a:t>
            </a:r>
            <a:r>
              <a:rPr sz="750" spc="-305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221716"/>
                </a:solidFill>
                <a:latin typeface="Courier New"/>
                <a:cs typeface="Courier New"/>
              </a:rPr>
              <a:t>2</a:t>
            </a:r>
            <a:r>
              <a:rPr sz="750" spc="-305" dirty="0">
                <a:solidFill>
                  <a:srgbClr val="221716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221716"/>
                </a:solidFill>
                <a:latin typeface="Courier New"/>
                <a:cs typeface="Courier New"/>
              </a:rPr>
              <a:t>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639299" y="3133720"/>
            <a:ext cx="3743325" cy="323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</a:pPr>
            <a:r>
              <a:rPr sz="1200" spc="55" dirty="0">
                <a:solidFill>
                  <a:srgbClr val="FCF8EF"/>
                </a:solidFill>
                <a:latin typeface="Times New Roman"/>
                <a:cs typeface="Times New Roman"/>
              </a:rPr>
              <a:t>Governor's</a:t>
            </a:r>
            <a:r>
              <a:rPr sz="1200" spc="16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200" spc="10" dirty="0">
                <a:solidFill>
                  <a:srgbClr val="FCF8EF"/>
                </a:solidFill>
                <a:latin typeface="Times New Roman"/>
                <a:cs typeface="Times New Roman"/>
              </a:rPr>
              <a:t>Excellence</a:t>
            </a:r>
            <a:r>
              <a:rPr sz="1200" spc="16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FCF8EF"/>
                </a:solidFill>
                <a:latin typeface="Times New Roman"/>
                <a:cs typeface="Times New Roman"/>
              </a:rPr>
              <a:t>Award</a:t>
            </a:r>
            <a:endParaRPr sz="1200" dirty="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  <a:spcBef>
                <a:spcPts val="285"/>
              </a:spcBef>
            </a:pP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K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B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V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·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7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7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U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B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B89056"/>
                </a:solidFill>
                <a:latin typeface="Courier New"/>
                <a:cs typeface="Courier New"/>
              </a:rPr>
              <a:t>Y</a:t>
            </a:r>
            <a:endParaRPr sz="750" dirty="0">
              <a:latin typeface="Courier New"/>
              <a:cs typeface="Courier New"/>
            </a:endParaRPr>
          </a:p>
        </p:txBody>
      </p:sp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496923" y="3133720"/>
            <a:ext cx="3743324" cy="323849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13496923" y="3133720"/>
            <a:ext cx="3743325" cy="323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2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</a:pPr>
            <a:r>
              <a:rPr sz="1200" spc="65" dirty="0">
                <a:solidFill>
                  <a:srgbClr val="FCF8EF"/>
                </a:solidFill>
                <a:latin typeface="Times New Roman"/>
                <a:cs typeface="Times New Roman"/>
              </a:rPr>
              <a:t>MoC</a:t>
            </a:r>
            <a:r>
              <a:rPr sz="1200" spc="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200" spc="50" dirty="0">
                <a:solidFill>
                  <a:srgbClr val="FCF8EF"/>
                </a:solidFill>
                <a:latin typeface="Times New Roman"/>
                <a:cs typeface="Times New Roman"/>
              </a:rPr>
              <a:t>signing</a:t>
            </a:r>
            <a:endParaRPr sz="12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  <a:spcBef>
                <a:spcPts val="285"/>
              </a:spcBef>
            </a:pP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G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V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.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F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G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F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F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639299" y="6863250"/>
            <a:ext cx="3743324" cy="2871294"/>
            <a:chOff x="9639299" y="6863250"/>
            <a:chExt cx="3743324" cy="2871294"/>
          </a:xfrm>
        </p:grpSpPr>
        <p:pic>
          <p:nvPicPr>
            <p:cNvPr id="38" name="object 38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9299" y="6863250"/>
              <a:ext cx="3743324" cy="249457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39299" y="9134470"/>
              <a:ext cx="3743324" cy="600074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639299" y="9134470"/>
            <a:ext cx="3743325" cy="60007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900"/>
              </a:spcBef>
            </a:pPr>
            <a:r>
              <a:rPr sz="1200" spc="60" dirty="0">
                <a:solidFill>
                  <a:srgbClr val="FCF8EF"/>
                </a:solidFill>
                <a:latin typeface="Times New Roman"/>
                <a:cs typeface="Times New Roman"/>
              </a:rPr>
              <a:t>Pilot</a:t>
            </a:r>
            <a:r>
              <a:rPr sz="1200" spc="2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200" spc="55" dirty="0">
                <a:solidFill>
                  <a:srgbClr val="FCF8EF"/>
                </a:solidFill>
                <a:latin typeface="Times New Roman"/>
                <a:cs typeface="Times New Roman"/>
              </a:rPr>
              <a:t>launch</a:t>
            </a:r>
            <a:endParaRPr sz="12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  <a:spcBef>
                <a:spcPts val="360"/>
              </a:spcBef>
            </a:pP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M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J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B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W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K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M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U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·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U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M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K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3496923" y="6486525"/>
            <a:ext cx="3743325" cy="3248025"/>
            <a:chOff x="13496923" y="6486525"/>
            <a:chExt cx="3743325" cy="3248025"/>
          </a:xfrm>
        </p:grpSpPr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96924" y="6486525"/>
              <a:ext cx="3743324" cy="324802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496923" y="9134470"/>
              <a:ext cx="3743324" cy="600074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3496923" y="9134470"/>
            <a:ext cx="3743325" cy="60007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900"/>
              </a:spcBef>
            </a:pPr>
            <a:r>
              <a:rPr sz="1200" dirty="0">
                <a:solidFill>
                  <a:srgbClr val="FCF8EF"/>
                </a:solidFill>
                <a:latin typeface="Times New Roman"/>
                <a:cs typeface="Times New Roman"/>
              </a:rPr>
              <a:t>Kit</a:t>
            </a:r>
            <a:r>
              <a:rPr sz="1200" spc="13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200" spc="60" dirty="0">
                <a:solidFill>
                  <a:srgbClr val="FCF8EF"/>
                </a:solidFill>
                <a:latin typeface="Times New Roman"/>
                <a:cs typeface="Times New Roman"/>
              </a:rPr>
              <a:t>distribution</a:t>
            </a:r>
            <a:endParaRPr sz="12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  <a:spcBef>
                <a:spcPts val="360"/>
              </a:spcBef>
            </a:pP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1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,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2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0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0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+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U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r>
              <a:rPr sz="750" spc="26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750" spc="-32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endParaRPr sz="7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949325"/>
            <a:ext cx="6186170" cy="249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00"/>
              </a:spcBef>
              <a:tabLst>
                <a:tab pos="1920239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B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G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O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V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V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endParaRPr sz="1650">
              <a:latin typeface="Courier New"/>
              <a:cs typeface="Courier New"/>
            </a:endParaRPr>
          </a:p>
          <a:p>
            <a:pPr marL="12700">
              <a:lnSpc>
                <a:spcPts val="65"/>
              </a:lnSpc>
              <a:spcBef>
                <a:spcPts val="1770"/>
              </a:spcBef>
              <a:tabLst>
                <a:tab pos="652145" algn="l"/>
                <a:tab pos="1718945" algn="l"/>
                <a:tab pos="2252345" algn="l"/>
                <a:tab pos="246570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P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C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A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ts val="13930"/>
              </a:lnSpc>
            </a:pPr>
            <a:r>
              <a:rPr sz="12600" spc="-155" dirty="0">
                <a:solidFill>
                  <a:srgbClr val="77292E"/>
                </a:solidFill>
                <a:latin typeface="Times New Roman"/>
                <a:cs typeface="Times New Roman"/>
              </a:rPr>
              <a:t>₹8</a:t>
            </a:r>
            <a:r>
              <a:rPr sz="12600" spc="-160" dirty="0">
                <a:solidFill>
                  <a:srgbClr val="77292E"/>
                </a:solidFill>
                <a:latin typeface="Times New Roman"/>
                <a:cs typeface="Times New Roman"/>
              </a:rPr>
              <a:t>.</a:t>
            </a:r>
            <a:r>
              <a:rPr sz="12600" spc="-155" dirty="0">
                <a:solidFill>
                  <a:srgbClr val="77292E"/>
                </a:solidFill>
                <a:latin typeface="Times New Roman"/>
                <a:cs typeface="Times New Roman"/>
              </a:rPr>
              <a:t>0</a:t>
            </a:r>
            <a:r>
              <a:rPr sz="12600" spc="440" dirty="0">
                <a:solidFill>
                  <a:srgbClr val="77292E"/>
                </a:solidFill>
                <a:latin typeface="Times New Roman"/>
                <a:cs typeface="Times New Roman"/>
              </a:rPr>
              <a:t>4</a:t>
            </a:r>
            <a:r>
              <a:rPr sz="5000" spc="-130" dirty="0">
                <a:solidFill>
                  <a:srgbClr val="67686E"/>
                </a:solidFill>
                <a:latin typeface="Times New Roman"/>
                <a:cs typeface="Times New Roman"/>
              </a:rPr>
              <a:t>C</a:t>
            </a:r>
            <a:r>
              <a:rPr sz="5000" spc="220" dirty="0">
                <a:solidFill>
                  <a:srgbClr val="67686E"/>
                </a:solidFill>
                <a:latin typeface="Times New Roman"/>
                <a:cs typeface="Times New Roman"/>
              </a:rPr>
              <a:t>r</a:t>
            </a:r>
            <a:endParaRPr sz="5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k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x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-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x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050" spc="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₹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8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4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6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6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050" spc="-4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39124" y="1628770"/>
            <a:ext cx="2895600" cy="1657350"/>
            <a:chOff x="8239124" y="1628770"/>
            <a:chExt cx="2895600" cy="1657350"/>
          </a:xfrm>
        </p:grpSpPr>
        <p:sp>
          <p:nvSpPr>
            <p:cNvPr id="4" name="object 4"/>
            <p:cNvSpPr/>
            <p:nvPr/>
          </p:nvSpPr>
          <p:spPr>
            <a:xfrm>
              <a:off x="8239124" y="1628770"/>
              <a:ext cx="2895600" cy="1657350"/>
            </a:xfrm>
            <a:custGeom>
              <a:avLst/>
              <a:gdLst/>
              <a:ahLst/>
              <a:cxnLst/>
              <a:rect l="l" t="t" r="r" b="b"/>
              <a:pathLst>
                <a:path w="2895600" h="1657350">
                  <a:moveTo>
                    <a:pt x="2895599" y="1657349"/>
                  </a:moveTo>
                  <a:lnTo>
                    <a:pt x="0" y="1657349"/>
                  </a:lnTo>
                  <a:lnTo>
                    <a:pt x="0" y="0"/>
                  </a:lnTo>
                  <a:lnTo>
                    <a:pt x="2895599" y="0"/>
                  </a:lnTo>
                  <a:lnTo>
                    <a:pt x="2895599" y="1657349"/>
                  </a:lnTo>
                  <a:close/>
                </a:path>
              </a:pathLst>
            </a:custGeom>
            <a:solidFill>
              <a:srgbClr val="F4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39124" y="1628770"/>
              <a:ext cx="38100" cy="1657350"/>
            </a:xfrm>
            <a:custGeom>
              <a:avLst/>
              <a:gdLst/>
              <a:ahLst/>
              <a:cxnLst/>
              <a:rect l="l" t="t" r="r" b="b"/>
              <a:pathLst>
                <a:path w="38100" h="1657350">
                  <a:moveTo>
                    <a:pt x="38099" y="1657349"/>
                  </a:moveTo>
                  <a:lnTo>
                    <a:pt x="0" y="16573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657349"/>
                  </a:lnTo>
                  <a:close/>
                </a:path>
              </a:pathLst>
            </a:custGeom>
            <a:solidFill>
              <a:srgbClr val="772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277224" y="1825625"/>
            <a:ext cx="285750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>
              <a:lnSpc>
                <a:spcPts val="95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-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00" spc="3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endParaRPr sz="900">
              <a:latin typeface="Courier New"/>
              <a:cs typeface="Courier New"/>
            </a:endParaRPr>
          </a:p>
          <a:p>
            <a:pPr marL="190500">
              <a:lnSpc>
                <a:spcPts val="4915"/>
              </a:lnSpc>
            </a:pPr>
            <a:r>
              <a:rPr sz="4200" spc="-20" dirty="0">
                <a:solidFill>
                  <a:srgbClr val="77292E"/>
                </a:solidFill>
                <a:latin typeface="Times New Roman"/>
                <a:cs typeface="Times New Roman"/>
              </a:rPr>
              <a:t>₹600</a:t>
            </a:r>
            <a:endParaRPr sz="4200">
              <a:latin typeface="Times New Roman"/>
              <a:cs typeface="Times New Roman"/>
            </a:endParaRPr>
          </a:p>
          <a:p>
            <a:pPr marL="190500" marR="339725">
              <a:lnSpc>
                <a:spcPct val="108700"/>
              </a:lnSpc>
              <a:spcBef>
                <a:spcPts val="740"/>
              </a:spcBef>
            </a:pPr>
            <a:r>
              <a:rPr sz="1150" spc="-95" dirty="0">
                <a:solidFill>
                  <a:srgbClr val="3B3C43"/>
                </a:solidFill>
                <a:latin typeface="Arial"/>
                <a:cs typeface="Arial"/>
              </a:rPr>
              <a:t>Year</a:t>
            </a:r>
            <a:r>
              <a:rPr sz="11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25" dirty="0">
                <a:solidFill>
                  <a:srgbClr val="3B3C43"/>
                </a:solidFill>
                <a:latin typeface="Arial"/>
                <a:cs typeface="Arial"/>
              </a:rPr>
              <a:t>of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70" dirty="0">
                <a:solidFill>
                  <a:srgbClr val="3B3C43"/>
                </a:solidFill>
                <a:latin typeface="Arial"/>
                <a:cs typeface="Arial"/>
              </a:rPr>
              <a:t>awareness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+ </a:t>
            </a:r>
            <a:r>
              <a:rPr sz="1150" spc="-25" dirty="0">
                <a:solidFill>
                  <a:srgbClr val="3B3C43"/>
                </a:solidFill>
                <a:latin typeface="Arial"/>
                <a:cs typeface="Arial"/>
              </a:rPr>
              <a:t>12</a:t>
            </a:r>
            <a:r>
              <a:rPr sz="11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5" dirty="0">
                <a:solidFill>
                  <a:srgbClr val="3B3C43"/>
                </a:solidFill>
                <a:latin typeface="Arial"/>
                <a:cs typeface="Arial"/>
              </a:rPr>
              <a:t>napkin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60" dirty="0">
                <a:solidFill>
                  <a:srgbClr val="3B3C43"/>
                </a:solidFill>
                <a:latin typeface="Arial"/>
                <a:cs typeface="Arial"/>
              </a:rPr>
              <a:t>packs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+ 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incinerator</a:t>
            </a:r>
            <a:r>
              <a:rPr sz="11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share.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287124" y="1628770"/>
            <a:ext cx="2905125" cy="1657350"/>
            <a:chOff x="11287124" y="1628770"/>
            <a:chExt cx="2905125" cy="1657350"/>
          </a:xfrm>
        </p:grpSpPr>
        <p:sp>
          <p:nvSpPr>
            <p:cNvPr id="8" name="object 8"/>
            <p:cNvSpPr/>
            <p:nvPr/>
          </p:nvSpPr>
          <p:spPr>
            <a:xfrm>
              <a:off x="11287124" y="1628770"/>
              <a:ext cx="2905125" cy="1657350"/>
            </a:xfrm>
            <a:custGeom>
              <a:avLst/>
              <a:gdLst/>
              <a:ahLst/>
              <a:cxnLst/>
              <a:rect l="l" t="t" r="r" b="b"/>
              <a:pathLst>
                <a:path w="2905125" h="1657350">
                  <a:moveTo>
                    <a:pt x="2905124" y="1657349"/>
                  </a:moveTo>
                  <a:lnTo>
                    <a:pt x="0" y="1657349"/>
                  </a:lnTo>
                  <a:lnTo>
                    <a:pt x="0" y="0"/>
                  </a:lnTo>
                  <a:lnTo>
                    <a:pt x="2905124" y="0"/>
                  </a:lnTo>
                  <a:lnTo>
                    <a:pt x="2905124" y="1657349"/>
                  </a:lnTo>
                  <a:close/>
                </a:path>
              </a:pathLst>
            </a:custGeom>
            <a:solidFill>
              <a:srgbClr val="F4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287124" y="1628770"/>
              <a:ext cx="38100" cy="1657350"/>
            </a:xfrm>
            <a:custGeom>
              <a:avLst/>
              <a:gdLst/>
              <a:ahLst/>
              <a:cxnLst/>
              <a:rect l="l" t="t" r="r" b="b"/>
              <a:pathLst>
                <a:path w="38100" h="1657350">
                  <a:moveTo>
                    <a:pt x="38099" y="1657349"/>
                  </a:moveTo>
                  <a:lnTo>
                    <a:pt x="0" y="16573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657349"/>
                  </a:lnTo>
                  <a:close/>
                </a:path>
              </a:pathLst>
            </a:custGeom>
            <a:solidFill>
              <a:srgbClr val="B890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325224" y="1825625"/>
            <a:ext cx="2867025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040">
              <a:lnSpc>
                <a:spcPts val="95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00" spc="3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900">
              <a:latin typeface="Courier New"/>
              <a:cs typeface="Courier New"/>
            </a:endParaRPr>
          </a:p>
          <a:p>
            <a:pPr marL="193040">
              <a:lnSpc>
                <a:spcPts val="4915"/>
              </a:lnSpc>
            </a:pPr>
            <a:r>
              <a:rPr sz="4200" spc="-100" dirty="0">
                <a:solidFill>
                  <a:srgbClr val="16171F"/>
                </a:solidFill>
                <a:latin typeface="Times New Roman"/>
                <a:cs typeface="Times New Roman"/>
              </a:rPr>
              <a:t>10+</a:t>
            </a:r>
            <a:r>
              <a:rPr sz="42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200" spc="30" dirty="0">
                <a:solidFill>
                  <a:srgbClr val="16171F"/>
                </a:solidFill>
                <a:latin typeface="Times New Roman"/>
                <a:cs typeface="Times New Roman"/>
              </a:rPr>
              <a:t>yr</a:t>
            </a:r>
            <a:endParaRPr sz="4200">
              <a:latin typeface="Times New Roman"/>
              <a:cs typeface="Times New Roman"/>
            </a:endParaRPr>
          </a:p>
          <a:p>
            <a:pPr marL="193040" marR="287020">
              <a:lnSpc>
                <a:spcPct val="108700"/>
              </a:lnSpc>
              <a:spcBef>
                <a:spcPts val="740"/>
              </a:spcBef>
            </a:pP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Incinerators</a:t>
            </a:r>
            <a:r>
              <a:rPr sz="115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60" dirty="0">
                <a:solidFill>
                  <a:srgbClr val="3B3C43"/>
                </a:solidFill>
                <a:latin typeface="Arial"/>
                <a:cs typeface="Arial"/>
              </a:rPr>
              <a:t>are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85" dirty="0">
                <a:solidFill>
                  <a:srgbClr val="3B3C43"/>
                </a:solidFill>
                <a:latin typeface="Arial"/>
                <a:cs typeface="Arial"/>
              </a:rPr>
              <a:t>a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0" dirty="0">
                <a:solidFill>
                  <a:srgbClr val="3B3C43"/>
                </a:solidFill>
                <a:latin typeface="Arial"/>
                <a:cs typeface="Arial"/>
              </a:rPr>
              <a:t>one-</a:t>
            </a:r>
            <a:r>
              <a:rPr sz="1150" spc="-20" dirty="0">
                <a:solidFill>
                  <a:srgbClr val="3B3C43"/>
                </a:solidFill>
                <a:latin typeface="Arial"/>
                <a:cs typeface="Arial"/>
              </a:rPr>
              <a:t>time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investment; </a:t>
            </a:r>
            <a:r>
              <a:rPr sz="1150" spc="-40" dirty="0">
                <a:solidFill>
                  <a:srgbClr val="3B3C43"/>
                </a:solidFill>
                <a:latin typeface="Arial"/>
                <a:cs typeface="Arial"/>
              </a:rPr>
              <a:t>recurring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0" dirty="0">
                <a:solidFill>
                  <a:srgbClr val="3B3C43"/>
                </a:solidFill>
                <a:latin typeface="Arial"/>
                <a:cs typeface="Arial"/>
              </a:rPr>
              <a:t>cost</a:t>
            </a:r>
            <a:r>
              <a:rPr sz="115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drops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5" dirty="0">
                <a:solidFill>
                  <a:srgbClr val="3B3C43"/>
                </a:solidFill>
                <a:latin typeface="Arial"/>
                <a:cs typeface="Arial"/>
              </a:rPr>
              <a:t>year-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on-</a:t>
            </a:r>
            <a:r>
              <a:rPr sz="1150" spc="-20" dirty="0">
                <a:solidFill>
                  <a:srgbClr val="3B3C43"/>
                </a:solidFill>
                <a:latin typeface="Arial"/>
                <a:cs typeface="Arial"/>
              </a:rPr>
              <a:t>year.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344648" y="1628770"/>
            <a:ext cx="2895600" cy="1657350"/>
            <a:chOff x="14344648" y="1628770"/>
            <a:chExt cx="2895600" cy="1657350"/>
          </a:xfrm>
        </p:grpSpPr>
        <p:sp>
          <p:nvSpPr>
            <p:cNvPr id="12" name="object 12"/>
            <p:cNvSpPr/>
            <p:nvPr/>
          </p:nvSpPr>
          <p:spPr>
            <a:xfrm>
              <a:off x="14344648" y="1628770"/>
              <a:ext cx="2895600" cy="1657350"/>
            </a:xfrm>
            <a:custGeom>
              <a:avLst/>
              <a:gdLst/>
              <a:ahLst/>
              <a:cxnLst/>
              <a:rect l="l" t="t" r="r" b="b"/>
              <a:pathLst>
                <a:path w="2895600" h="1657350">
                  <a:moveTo>
                    <a:pt x="2895599" y="1657349"/>
                  </a:moveTo>
                  <a:lnTo>
                    <a:pt x="0" y="1657349"/>
                  </a:lnTo>
                  <a:lnTo>
                    <a:pt x="0" y="0"/>
                  </a:lnTo>
                  <a:lnTo>
                    <a:pt x="2895599" y="0"/>
                  </a:lnTo>
                  <a:lnTo>
                    <a:pt x="2895599" y="1657349"/>
                  </a:lnTo>
                  <a:close/>
                </a:path>
              </a:pathLst>
            </a:custGeom>
            <a:solidFill>
              <a:srgbClr val="F4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344648" y="1628770"/>
              <a:ext cx="38100" cy="1657350"/>
            </a:xfrm>
            <a:custGeom>
              <a:avLst/>
              <a:gdLst/>
              <a:ahLst/>
              <a:cxnLst/>
              <a:rect l="l" t="t" r="r" b="b"/>
              <a:pathLst>
                <a:path w="38100" h="1657350">
                  <a:moveTo>
                    <a:pt x="38099" y="1657349"/>
                  </a:moveTo>
                  <a:lnTo>
                    <a:pt x="0" y="16573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657349"/>
                  </a:lnTo>
                  <a:close/>
                </a:path>
              </a:pathLst>
            </a:custGeom>
            <a:solidFill>
              <a:srgbClr val="1617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4382748" y="1825625"/>
            <a:ext cx="285750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690">
              <a:lnSpc>
                <a:spcPts val="950"/>
              </a:lnSpc>
              <a:spcBef>
                <a:spcPts val="100"/>
              </a:spcBef>
            </a:pP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endParaRPr sz="900">
              <a:latin typeface="Courier New"/>
              <a:cs typeface="Courier New"/>
            </a:endParaRPr>
          </a:p>
          <a:p>
            <a:pPr marL="186690">
              <a:lnSpc>
                <a:spcPts val="4915"/>
              </a:lnSpc>
            </a:pPr>
            <a:r>
              <a:rPr sz="4200" spc="-20" dirty="0">
                <a:solidFill>
                  <a:srgbClr val="16171F"/>
                </a:solidFill>
                <a:latin typeface="Times New Roman"/>
                <a:cs typeface="Times New Roman"/>
              </a:rPr>
              <a:t>~10%</a:t>
            </a:r>
            <a:endParaRPr sz="4200">
              <a:latin typeface="Times New Roman"/>
              <a:cs typeface="Times New Roman"/>
            </a:endParaRPr>
          </a:p>
          <a:p>
            <a:pPr marL="186690" marR="330835">
              <a:lnSpc>
                <a:spcPct val="108700"/>
              </a:lnSpc>
              <a:spcBef>
                <a:spcPts val="740"/>
              </a:spcBef>
            </a:pP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Estimated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bulk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5" dirty="0">
                <a:solidFill>
                  <a:srgbClr val="3B3C43"/>
                </a:solidFill>
                <a:latin typeface="Arial"/>
                <a:cs typeface="Arial"/>
              </a:rPr>
              <a:t>procurement</a:t>
            </a:r>
            <a:r>
              <a:rPr sz="1150" spc="-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70" dirty="0">
                <a:solidFill>
                  <a:srgbClr val="3B3C43"/>
                </a:solidFill>
                <a:latin typeface="Arial"/>
                <a:cs typeface="Arial"/>
              </a:rPr>
              <a:t>savings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25" dirty="0">
                <a:solidFill>
                  <a:srgbClr val="3B3C43"/>
                </a:solidFill>
                <a:latin typeface="Arial"/>
                <a:cs typeface="Arial"/>
              </a:rPr>
              <a:t>at </a:t>
            </a:r>
            <a:r>
              <a:rPr sz="1150" dirty="0">
                <a:solidFill>
                  <a:srgbClr val="3B3C43"/>
                </a:solidFill>
                <a:latin typeface="Arial"/>
                <a:cs typeface="Arial"/>
              </a:rPr>
              <a:t>full</a:t>
            </a:r>
            <a:r>
              <a:rPr sz="11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statewide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volume.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47749" y="3905244"/>
            <a:ext cx="16192500" cy="9525"/>
          </a:xfrm>
          <a:custGeom>
            <a:avLst/>
            <a:gdLst/>
            <a:ahLst/>
            <a:cxnLst/>
            <a:rect l="l" t="t" r="r" b="b"/>
            <a:pathLst>
              <a:path w="16192500" h="9525">
                <a:moveTo>
                  <a:pt x="16192498" y="9524"/>
                </a:moveTo>
                <a:lnTo>
                  <a:pt x="0" y="9524"/>
                </a:lnTo>
                <a:lnTo>
                  <a:pt x="0" y="0"/>
                </a:lnTo>
                <a:lnTo>
                  <a:pt x="16192498" y="0"/>
                </a:lnTo>
                <a:lnTo>
                  <a:pt x="16192498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047749" y="4257669"/>
            <a:ext cx="3114675" cy="5172075"/>
            <a:chOff x="1047749" y="4257669"/>
            <a:chExt cx="3114675" cy="5172075"/>
          </a:xfrm>
        </p:grpSpPr>
        <p:sp>
          <p:nvSpPr>
            <p:cNvPr id="17" name="object 17"/>
            <p:cNvSpPr/>
            <p:nvPr/>
          </p:nvSpPr>
          <p:spPr>
            <a:xfrm>
              <a:off x="1047749" y="4257669"/>
              <a:ext cx="3114675" cy="5172075"/>
            </a:xfrm>
            <a:custGeom>
              <a:avLst/>
              <a:gdLst/>
              <a:ahLst/>
              <a:cxnLst/>
              <a:rect l="l" t="t" r="r" b="b"/>
              <a:pathLst>
                <a:path w="3114675" h="5172075">
                  <a:moveTo>
                    <a:pt x="3114674" y="5172074"/>
                  </a:moveTo>
                  <a:lnTo>
                    <a:pt x="0" y="5172074"/>
                  </a:lnTo>
                  <a:lnTo>
                    <a:pt x="0" y="0"/>
                  </a:lnTo>
                  <a:lnTo>
                    <a:pt x="3114674" y="0"/>
                  </a:lnTo>
                  <a:lnTo>
                    <a:pt x="3114674" y="51720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95424" y="8943969"/>
              <a:ext cx="2447925" cy="57150"/>
            </a:xfrm>
            <a:custGeom>
              <a:avLst/>
              <a:gdLst/>
              <a:ahLst/>
              <a:cxnLst/>
              <a:rect l="l" t="t" r="r" b="b"/>
              <a:pathLst>
                <a:path w="2447925" h="57150">
                  <a:moveTo>
                    <a:pt x="0" y="57149"/>
                  </a:moveTo>
                  <a:lnTo>
                    <a:pt x="2447924" y="57149"/>
                  </a:lnTo>
                  <a:lnTo>
                    <a:pt x="24479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E4D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66824" y="8943969"/>
              <a:ext cx="228600" cy="57150"/>
            </a:xfrm>
            <a:custGeom>
              <a:avLst/>
              <a:gdLst/>
              <a:ahLst/>
              <a:cxnLst/>
              <a:rect l="l" t="t" r="r" b="b"/>
              <a:pathLst>
                <a:path w="228600" h="57150">
                  <a:moveTo>
                    <a:pt x="2285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228599" y="0"/>
                  </a:lnTo>
                  <a:lnTo>
                    <a:pt x="228599" y="57149"/>
                  </a:lnTo>
                  <a:close/>
                </a:path>
              </a:pathLst>
            </a:custGeom>
            <a:solidFill>
              <a:srgbClr val="B890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52512" y="4262432"/>
            <a:ext cx="3105150" cy="51625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endParaRPr sz="900">
              <a:latin typeface="Times New Roman"/>
              <a:cs typeface="Times New Roman"/>
            </a:endParaRPr>
          </a:p>
          <a:p>
            <a:pPr marL="213995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900">
              <a:latin typeface="Courier New"/>
              <a:cs typeface="Courier New"/>
            </a:endParaRPr>
          </a:p>
          <a:p>
            <a:pPr marL="213995">
              <a:lnSpc>
                <a:spcPct val="100000"/>
              </a:lnSpc>
              <a:spcBef>
                <a:spcPts val="495"/>
              </a:spcBef>
            </a:pPr>
            <a:r>
              <a:rPr sz="28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₹68.75</a:t>
            </a:r>
            <a:r>
              <a:rPr sz="1200" spc="-10" dirty="0">
                <a:solidFill>
                  <a:srgbClr val="67686E"/>
                </a:solidFill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  <a:p>
            <a:pPr marL="213995" marR="756920">
              <a:lnSpc>
                <a:spcPct val="108700"/>
              </a:lnSpc>
              <a:spcBef>
                <a:spcPts val="635"/>
              </a:spcBef>
            </a:pPr>
            <a:r>
              <a:rPr sz="1150" spc="-75" dirty="0">
                <a:solidFill>
                  <a:srgbClr val="3B3C43"/>
                </a:solidFill>
                <a:latin typeface="Arial"/>
                <a:cs typeface="Arial"/>
              </a:rPr>
              <a:t>Sessions,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135" dirty="0">
                <a:solidFill>
                  <a:srgbClr val="3B3C43"/>
                </a:solidFill>
                <a:latin typeface="Arial"/>
                <a:cs typeface="Arial"/>
              </a:rPr>
              <a:t>ToT,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peer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mentor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25" dirty="0">
                <a:solidFill>
                  <a:srgbClr val="3B3C43"/>
                </a:solidFill>
                <a:latin typeface="Arial"/>
                <a:cs typeface="Arial"/>
              </a:rPr>
              <a:t>training,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logistics.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050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8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%</a:t>
            </a:r>
            <a:r>
              <a:rPr sz="800" spc="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36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14824" y="4257669"/>
            <a:ext cx="3114675" cy="5172075"/>
            <a:chOff x="4314824" y="4257669"/>
            <a:chExt cx="3114675" cy="5172075"/>
          </a:xfrm>
        </p:grpSpPr>
        <p:sp>
          <p:nvSpPr>
            <p:cNvPr id="22" name="object 22"/>
            <p:cNvSpPr/>
            <p:nvPr/>
          </p:nvSpPr>
          <p:spPr>
            <a:xfrm>
              <a:off x="4314824" y="4257669"/>
              <a:ext cx="3114675" cy="5172075"/>
            </a:xfrm>
            <a:custGeom>
              <a:avLst/>
              <a:gdLst/>
              <a:ahLst/>
              <a:cxnLst/>
              <a:rect l="l" t="t" r="r" b="b"/>
              <a:pathLst>
                <a:path w="3114675" h="5172075">
                  <a:moveTo>
                    <a:pt x="3114674" y="5172074"/>
                  </a:moveTo>
                  <a:lnTo>
                    <a:pt x="0" y="5172074"/>
                  </a:lnTo>
                  <a:lnTo>
                    <a:pt x="0" y="0"/>
                  </a:lnTo>
                  <a:lnTo>
                    <a:pt x="3114674" y="0"/>
                  </a:lnTo>
                  <a:lnTo>
                    <a:pt x="3114674" y="51720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96024" y="8943969"/>
              <a:ext cx="914400" cy="57150"/>
            </a:xfrm>
            <a:custGeom>
              <a:avLst/>
              <a:gdLst/>
              <a:ahLst/>
              <a:cxnLst/>
              <a:rect l="l" t="t" r="r" b="b"/>
              <a:pathLst>
                <a:path w="914400" h="57150">
                  <a:moveTo>
                    <a:pt x="0" y="57149"/>
                  </a:moveTo>
                  <a:lnTo>
                    <a:pt x="914399" y="57149"/>
                  </a:lnTo>
                  <a:lnTo>
                    <a:pt x="9143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E4D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33899" y="8943969"/>
              <a:ext cx="1762125" cy="57150"/>
            </a:xfrm>
            <a:custGeom>
              <a:avLst/>
              <a:gdLst/>
              <a:ahLst/>
              <a:cxnLst/>
              <a:rect l="l" t="t" r="r" b="b"/>
              <a:pathLst>
                <a:path w="1762125" h="57150">
                  <a:moveTo>
                    <a:pt x="17621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1762124" y="0"/>
                  </a:lnTo>
                  <a:lnTo>
                    <a:pt x="1762124" y="57149"/>
                  </a:lnTo>
                  <a:close/>
                </a:path>
              </a:pathLst>
            </a:custGeom>
            <a:solidFill>
              <a:srgbClr val="772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319587" y="4262432"/>
            <a:ext cx="3105150" cy="51625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endParaRPr sz="900">
              <a:latin typeface="Times New Roman"/>
              <a:cs typeface="Times New Roman"/>
            </a:endParaRPr>
          </a:p>
          <a:p>
            <a:pPr marL="215900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B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K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9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495"/>
              </a:spcBef>
            </a:pPr>
            <a:r>
              <a:rPr sz="2850" spc="-10" dirty="0">
                <a:solidFill>
                  <a:srgbClr val="77292E"/>
                </a:solidFill>
                <a:latin typeface="Times New Roman"/>
                <a:cs typeface="Times New Roman"/>
              </a:rPr>
              <a:t>₹5.28</a:t>
            </a:r>
            <a:r>
              <a:rPr sz="1200" spc="-10" dirty="0">
                <a:solidFill>
                  <a:srgbClr val="67686E"/>
                </a:solidFill>
                <a:latin typeface="Times New Roman"/>
                <a:cs typeface="Times New Roman"/>
              </a:rPr>
              <a:t>Cr</a:t>
            </a:r>
            <a:endParaRPr sz="1200">
              <a:latin typeface="Times New Roman"/>
              <a:cs typeface="Times New Roman"/>
            </a:endParaRPr>
          </a:p>
          <a:p>
            <a:pPr marL="215900" marR="218440">
              <a:lnSpc>
                <a:spcPct val="108700"/>
              </a:lnSpc>
              <a:spcBef>
                <a:spcPts val="635"/>
              </a:spcBef>
            </a:pP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88,000</a:t>
            </a:r>
            <a:r>
              <a:rPr sz="11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girls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× </a:t>
            </a:r>
            <a:r>
              <a:rPr sz="1150" spc="-25" dirty="0">
                <a:solidFill>
                  <a:srgbClr val="3B3C43"/>
                </a:solidFill>
                <a:latin typeface="Arial"/>
                <a:cs typeface="Arial"/>
              </a:rPr>
              <a:t>12</a:t>
            </a:r>
            <a:r>
              <a:rPr sz="11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60" dirty="0">
                <a:solidFill>
                  <a:srgbClr val="3B3C43"/>
                </a:solidFill>
                <a:latin typeface="Arial"/>
                <a:cs typeface="Arial"/>
              </a:rPr>
              <a:t>packs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× </a:t>
            </a:r>
            <a:r>
              <a:rPr sz="1050" dirty="0">
                <a:solidFill>
                  <a:srgbClr val="3B3C43"/>
                </a:solidFill>
                <a:latin typeface="Arial"/>
                <a:cs typeface="Arial"/>
              </a:rPr>
              <a:t>₹</a:t>
            </a:r>
            <a:r>
              <a:rPr sz="1150" dirty="0">
                <a:solidFill>
                  <a:srgbClr val="3B3C43"/>
                </a:solidFill>
                <a:latin typeface="Arial"/>
                <a:cs typeface="Arial"/>
              </a:rPr>
              <a:t>45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+</a:t>
            </a:r>
            <a:r>
              <a:rPr sz="115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65" dirty="0">
                <a:solidFill>
                  <a:srgbClr val="3B3C43"/>
                </a:solidFill>
                <a:latin typeface="Arial"/>
                <a:cs typeface="Arial"/>
              </a:rPr>
              <a:t>packaging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 &amp;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logistics.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05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6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6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%</a:t>
            </a:r>
            <a:r>
              <a:rPr sz="800" spc="36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581899" y="4257669"/>
            <a:ext cx="3124200" cy="5172075"/>
            <a:chOff x="7581899" y="4257669"/>
            <a:chExt cx="3124200" cy="5172075"/>
          </a:xfrm>
        </p:grpSpPr>
        <p:sp>
          <p:nvSpPr>
            <p:cNvPr id="27" name="object 27"/>
            <p:cNvSpPr/>
            <p:nvPr/>
          </p:nvSpPr>
          <p:spPr>
            <a:xfrm>
              <a:off x="7581899" y="4257669"/>
              <a:ext cx="3124200" cy="5172075"/>
            </a:xfrm>
            <a:custGeom>
              <a:avLst/>
              <a:gdLst/>
              <a:ahLst/>
              <a:cxnLst/>
              <a:rect l="l" t="t" r="r" b="b"/>
              <a:pathLst>
                <a:path w="3124200" h="5172075">
                  <a:moveTo>
                    <a:pt x="3124199" y="5172074"/>
                  </a:moveTo>
                  <a:lnTo>
                    <a:pt x="0" y="5172074"/>
                  </a:lnTo>
                  <a:lnTo>
                    <a:pt x="0" y="0"/>
                  </a:lnTo>
                  <a:lnTo>
                    <a:pt x="3124199" y="0"/>
                  </a:lnTo>
                  <a:lnTo>
                    <a:pt x="3124199" y="51720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00974" y="8943969"/>
              <a:ext cx="2686050" cy="57150"/>
            </a:xfrm>
            <a:custGeom>
              <a:avLst/>
              <a:gdLst/>
              <a:ahLst/>
              <a:cxnLst/>
              <a:rect l="l" t="t" r="r" b="b"/>
              <a:pathLst>
                <a:path w="2686050" h="57150">
                  <a:moveTo>
                    <a:pt x="26860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2686049" y="0"/>
                  </a:lnTo>
                  <a:lnTo>
                    <a:pt x="2686049" y="57149"/>
                  </a:lnTo>
                  <a:close/>
                </a:path>
              </a:pathLst>
            </a:custGeom>
            <a:solidFill>
              <a:srgbClr val="E4D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800974" y="8943969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2857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57149"/>
                  </a:lnTo>
                  <a:close/>
                </a:path>
              </a:pathLst>
            </a:custGeom>
            <a:solidFill>
              <a:srgbClr val="6768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586661" y="4262432"/>
            <a:ext cx="3114675" cy="51625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endParaRPr sz="900">
              <a:latin typeface="Times New Roman"/>
              <a:cs typeface="Times New Roman"/>
            </a:endParaRPr>
          </a:p>
          <a:p>
            <a:pPr marL="217804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900">
              <a:latin typeface="Courier New"/>
              <a:cs typeface="Courier New"/>
            </a:endParaRPr>
          </a:p>
          <a:p>
            <a:pPr marL="217804">
              <a:lnSpc>
                <a:spcPct val="100000"/>
              </a:lnSpc>
              <a:spcBef>
                <a:spcPts val="495"/>
              </a:spcBef>
            </a:pPr>
            <a:r>
              <a:rPr sz="28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₹8.25</a:t>
            </a:r>
            <a:r>
              <a:rPr sz="1200" spc="-10" dirty="0">
                <a:solidFill>
                  <a:srgbClr val="67686E"/>
                </a:solidFill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  <a:p>
            <a:pPr marL="217804" marR="488315">
              <a:lnSpc>
                <a:spcPct val="108700"/>
              </a:lnSpc>
              <a:spcBef>
                <a:spcPts val="635"/>
              </a:spcBef>
            </a:pPr>
            <a:r>
              <a:rPr sz="1150" spc="-75" dirty="0">
                <a:solidFill>
                  <a:srgbClr val="3B3C43"/>
                </a:solidFill>
                <a:latin typeface="Arial"/>
                <a:cs typeface="Arial"/>
              </a:rPr>
              <a:t>Telugu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flipbooks, 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wall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0" dirty="0">
                <a:solidFill>
                  <a:srgbClr val="3B3C43"/>
                </a:solidFill>
                <a:latin typeface="Arial"/>
                <a:cs typeface="Arial"/>
              </a:rPr>
              <a:t>charts,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20" dirty="0">
                <a:solidFill>
                  <a:srgbClr val="3B3C43"/>
                </a:solidFill>
                <a:latin typeface="Arial"/>
                <a:cs typeface="Arial"/>
              </a:rPr>
              <a:t>lamination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treatment.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050"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%</a:t>
            </a:r>
            <a:r>
              <a:rPr sz="800" spc="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36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858499" y="4257669"/>
            <a:ext cx="3114675" cy="5172075"/>
            <a:chOff x="10858499" y="4257669"/>
            <a:chExt cx="3114675" cy="5172075"/>
          </a:xfrm>
        </p:grpSpPr>
        <p:sp>
          <p:nvSpPr>
            <p:cNvPr id="32" name="object 32"/>
            <p:cNvSpPr/>
            <p:nvPr/>
          </p:nvSpPr>
          <p:spPr>
            <a:xfrm>
              <a:off x="10858499" y="4257669"/>
              <a:ext cx="3114675" cy="5172075"/>
            </a:xfrm>
            <a:custGeom>
              <a:avLst/>
              <a:gdLst/>
              <a:ahLst/>
              <a:cxnLst/>
              <a:rect l="l" t="t" r="r" b="b"/>
              <a:pathLst>
                <a:path w="3114675" h="5172075">
                  <a:moveTo>
                    <a:pt x="3114674" y="5172074"/>
                  </a:moveTo>
                  <a:lnTo>
                    <a:pt x="0" y="5172074"/>
                  </a:lnTo>
                  <a:lnTo>
                    <a:pt x="0" y="0"/>
                  </a:lnTo>
                  <a:lnTo>
                    <a:pt x="3114674" y="0"/>
                  </a:lnTo>
                  <a:lnTo>
                    <a:pt x="3114674" y="51720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534774" y="8943969"/>
              <a:ext cx="2219325" cy="57150"/>
            </a:xfrm>
            <a:custGeom>
              <a:avLst/>
              <a:gdLst/>
              <a:ahLst/>
              <a:cxnLst/>
              <a:rect l="l" t="t" r="r" b="b"/>
              <a:pathLst>
                <a:path w="2219325" h="57150">
                  <a:moveTo>
                    <a:pt x="0" y="57149"/>
                  </a:moveTo>
                  <a:lnTo>
                    <a:pt x="2219324" y="57149"/>
                  </a:lnTo>
                  <a:lnTo>
                    <a:pt x="2219324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E4D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077574" y="8943969"/>
              <a:ext cx="457200" cy="57150"/>
            </a:xfrm>
            <a:custGeom>
              <a:avLst/>
              <a:gdLst/>
              <a:ahLst/>
              <a:cxnLst/>
              <a:rect l="l" t="t" r="r" b="b"/>
              <a:pathLst>
                <a:path w="457200" h="57150">
                  <a:moveTo>
                    <a:pt x="4571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457199" y="0"/>
                  </a:lnTo>
                  <a:lnTo>
                    <a:pt x="457199" y="57149"/>
                  </a:lnTo>
                  <a:close/>
                </a:path>
              </a:pathLst>
            </a:custGeom>
            <a:solidFill>
              <a:srgbClr val="B371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863261" y="4262432"/>
            <a:ext cx="3105150" cy="51625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endParaRPr sz="900">
              <a:latin typeface="Times New Roman"/>
              <a:cs typeface="Times New Roman"/>
            </a:endParaRPr>
          </a:p>
          <a:p>
            <a:pPr marL="210185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endParaRPr sz="9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495"/>
              </a:spcBef>
            </a:pPr>
            <a:r>
              <a:rPr sz="2850" spc="-10" dirty="0">
                <a:solidFill>
                  <a:srgbClr val="B3716E"/>
                </a:solidFill>
                <a:latin typeface="Times New Roman"/>
                <a:cs typeface="Times New Roman"/>
              </a:rPr>
              <a:t>₹1.38</a:t>
            </a:r>
            <a:r>
              <a:rPr sz="1200" spc="-10" dirty="0">
                <a:solidFill>
                  <a:srgbClr val="67686E"/>
                </a:solidFill>
                <a:latin typeface="Times New Roman"/>
                <a:cs typeface="Times New Roman"/>
              </a:rPr>
              <a:t>Cr</a:t>
            </a:r>
            <a:endParaRPr sz="1200">
              <a:latin typeface="Times New Roman"/>
              <a:cs typeface="Times New Roman"/>
            </a:endParaRPr>
          </a:p>
          <a:p>
            <a:pPr marL="210185" marR="975360">
              <a:lnSpc>
                <a:spcPct val="108700"/>
              </a:lnSpc>
              <a:spcBef>
                <a:spcPts val="635"/>
              </a:spcBef>
            </a:pPr>
            <a:r>
              <a:rPr sz="1150" spc="-25" dirty="0">
                <a:solidFill>
                  <a:srgbClr val="3B3C43"/>
                </a:solidFill>
                <a:latin typeface="Arial"/>
                <a:cs typeface="Arial"/>
              </a:rPr>
              <a:t>550</a:t>
            </a:r>
            <a:r>
              <a:rPr sz="1150" spc="-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units,</a:t>
            </a:r>
            <a:r>
              <a:rPr sz="11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installation,</a:t>
            </a:r>
            <a:r>
              <a:rPr sz="11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first-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year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maintenance.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05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%</a:t>
            </a:r>
            <a:r>
              <a:rPr sz="800" spc="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800" spc="36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-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4125573" y="4257669"/>
            <a:ext cx="3114675" cy="5172075"/>
            <a:chOff x="14125573" y="4257669"/>
            <a:chExt cx="3114675" cy="5172075"/>
          </a:xfrm>
        </p:grpSpPr>
        <p:sp>
          <p:nvSpPr>
            <p:cNvPr id="37" name="object 37"/>
            <p:cNvSpPr/>
            <p:nvPr/>
          </p:nvSpPr>
          <p:spPr>
            <a:xfrm>
              <a:off x="14125573" y="4257669"/>
              <a:ext cx="3114675" cy="5172075"/>
            </a:xfrm>
            <a:custGeom>
              <a:avLst/>
              <a:gdLst/>
              <a:ahLst/>
              <a:cxnLst/>
              <a:rect l="l" t="t" r="r" b="b"/>
              <a:pathLst>
                <a:path w="3114675" h="5172075">
                  <a:moveTo>
                    <a:pt x="3114674" y="5172074"/>
                  </a:moveTo>
                  <a:lnTo>
                    <a:pt x="0" y="5172074"/>
                  </a:lnTo>
                  <a:lnTo>
                    <a:pt x="0" y="0"/>
                  </a:lnTo>
                  <a:lnTo>
                    <a:pt x="3114674" y="0"/>
                  </a:lnTo>
                  <a:lnTo>
                    <a:pt x="3114674" y="51720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544673" y="8943969"/>
              <a:ext cx="2476500" cy="57150"/>
            </a:xfrm>
            <a:custGeom>
              <a:avLst/>
              <a:gdLst/>
              <a:ahLst/>
              <a:cxnLst/>
              <a:rect l="l" t="t" r="r" b="b"/>
              <a:pathLst>
                <a:path w="2476500" h="57150">
                  <a:moveTo>
                    <a:pt x="0" y="57149"/>
                  </a:moveTo>
                  <a:lnTo>
                    <a:pt x="2476499" y="57149"/>
                  </a:lnTo>
                  <a:lnTo>
                    <a:pt x="2476499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E4D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44648" y="8943969"/>
              <a:ext cx="200025" cy="57150"/>
            </a:xfrm>
            <a:custGeom>
              <a:avLst/>
              <a:gdLst/>
              <a:ahLst/>
              <a:cxnLst/>
              <a:rect l="l" t="t" r="r" b="b"/>
              <a:pathLst>
                <a:path w="200025" h="57150">
                  <a:moveTo>
                    <a:pt x="200024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200024" y="0"/>
                  </a:lnTo>
                  <a:lnTo>
                    <a:pt x="200024" y="57149"/>
                  </a:lnTo>
                  <a:close/>
                </a:path>
              </a:pathLst>
            </a:custGeom>
            <a:solidFill>
              <a:srgbClr val="1617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4130335" y="4262432"/>
            <a:ext cx="3105150" cy="51625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endParaRPr sz="900">
              <a:latin typeface="Times New Roman"/>
              <a:cs typeface="Times New Roman"/>
            </a:endParaRPr>
          </a:p>
          <a:p>
            <a:pPr marL="212090">
              <a:lnSpc>
                <a:spcPct val="100000"/>
              </a:lnSpc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&amp;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+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endParaRPr sz="900">
              <a:latin typeface="Courier New"/>
              <a:cs typeface="Courier New"/>
            </a:endParaRPr>
          </a:p>
          <a:p>
            <a:pPr marL="212090">
              <a:lnSpc>
                <a:spcPct val="100000"/>
              </a:lnSpc>
              <a:spcBef>
                <a:spcPts val="495"/>
              </a:spcBef>
            </a:pPr>
            <a:r>
              <a:rPr sz="28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₹62.16</a:t>
            </a:r>
            <a:r>
              <a:rPr sz="1200" spc="-10" dirty="0">
                <a:solidFill>
                  <a:srgbClr val="67686E"/>
                </a:solidFill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  <a:p>
            <a:pPr marL="212090" marR="260350">
              <a:lnSpc>
                <a:spcPct val="108700"/>
              </a:lnSpc>
              <a:spcBef>
                <a:spcPts val="635"/>
              </a:spcBef>
            </a:pPr>
            <a:r>
              <a:rPr sz="1150" spc="-45" dirty="0">
                <a:solidFill>
                  <a:srgbClr val="3B3C43"/>
                </a:solidFill>
                <a:latin typeface="Arial"/>
                <a:cs typeface="Arial"/>
              </a:rPr>
              <a:t>Field</a:t>
            </a:r>
            <a:r>
              <a:rPr sz="115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5" dirty="0">
                <a:solidFill>
                  <a:srgbClr val="3B3C43"/>
                </a:solidFill>
                <a:latin typeface="Arial"/>
                <a:cs typeface="Arial"/>
              </a:rPr>
              <a:t>coordinators,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110" dirty="0">
                <a:solidFill>
                  <a:srgbClr val="3B3C43"/>
                </a:solidFill>
                <a:latin typeface="Arial"/>
                <a:cs typeface="Arial"/>
              </a:rPr>
              <a:t>M&amp;E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40" dirty="0">
                <a:solidFill>
                  <a:srgbClr val="3B3C43"/>
                </a:solidFill>
                <a:latin typeface="Arial"/>
                <a:cs typeface="Arial"/>
              </a:rPr>
              <a:t>officer,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150" spc="-20" dirty="0">
                <a:solidFill>
                  <a:srgbClr val="3B3C43"/>
                </a:solidFill>
                <a:latin typeface="Arial"/>
                <a:cs typeface="Arial"/>
              </a:rPr>
              <a:t>field</a:t>
            </a:r>
            <a:r>
              <a:rPr sz="1150" spc="-30" dirty="0">
                <a:solidFill>
                  <a:srgbClr val="3B3C43"/>
                </a:solidFill>
                <a:latin typeface="Arial"/>
                <a:cs typeface="Arial"/>
              </a:rPr>
              <a:t> visits </a:t>
            </a:r>
            <a:r>
              <a:rPr sz="1150" spc="-50" dirty="0">
                <a:solidFill>
                  <a:srgbClr val="3B3C43"/>
                </a:solidFill>
                <a:latin typeface="Arial"/>
                <a:cs typeface="Arial"/>
              </a:rPr>
              <a:t>&amp; </a:t>
            </a:r>
            <a:r>
              <a:rPr sz="1150" spc="-10" dirty="0">
                <a:solidFill>
                  <a:srgbClr val="3B3C43"/>
                </a:solidFill>
                <a:latin typeface="Arial"/>
                <a:cs typeface="Arial"/>
              </a:rPr>
              <a:t>reports.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050">
              <a:latin typeface="Arial"/>
              <a:cs typeface="Arial"/>
            </a:endParaRPr>
          </a:p>
          <a:p>
            <a:pPr marL="21209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800" spc="-3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%</a:t>
            </a:r>
            <a:r>
              <a:rPr sz="800" spc="36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36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20"/>
            <a:ext cx="95250" cy="95240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850020" y="406400"/>
            <a:ext cx="2375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438910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3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894519"/>
            <a:ext cx="7778750" cy="157988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530"/>
              </a:spcBef>
              <a:tabLst>
                <a:tab pos="2263775" algn="l"/>
                <a:tab pos="3466465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B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U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G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B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K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4130"/>
              </a:lnSpc>
              <a:spcBef>
                <a:spcPts val="1614"/>
              </a:spcBef>
            </a:pPr>
            <a:r>
              <a:rPr sz="3900" dirty="0">
                <a:solidFill>
                  <a:srgbClr val="16171F"/>
                </a:solidFill>
                <a:latin typeface="Times New Roman"/>
                <a:cs typeface="Times New Roman"/>
              </a:rPr>
              <a:t>Every</a:t>
            </a:r>
            <a:r>
              <a:rPr sz="3900" spc="-114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spc="130" dirty="0">
                <a:solidFill>
                  <a:srgbClr val="16171F"/>
                </a:solidFill>
                <a:latin typeface="Times New Roman"/>
                <a:cs typeface="Times New Roman"/>
              </a:rPr>
              <a:t>line</a:t>
            </a:r>
            <a:r>
              <a:rPr sz="3900" spc="-114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spc="185" dirty="0">
                <a:solidFill>
                  <a:srgbClr val="16171F"/>
                </a:solidFill>
                <a:latin typeface="Times New Roman"/>
                <a:cs typeface="Times New Roman"/>
              </a:rPr>
              <a:t>item</a:t>
            </a:r>
            <a:r>
              <a:rPr sz="3900" spc="-114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dirty="0">
                <a:solidFill>
                  <a:srgbClr val="16171F"/>
                </a:solidFill>
                <a:latin typeface="Times New Roman"/>
                <a:cs typeface="Times New Roman"/>
              </a:rPr>
              <a:t>—</a:t>
            </a:r>
            <a:r>
              <a:rPr sz="3900" spc="-114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spc="70" dirty="0">
                <a:solidFill>
                  <a:srgbClr val="16171F"/>
                </a:solidFill>
                <a:latin typeface="Times New Roman"/>
                <a:cs typeface="Times New Roman"/>
              </a:rPr>
              <a:t>verifiable</a:t>
            </a:r>
            <a:r>
              <a:rPr sz="3900" spc="-1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spc="185" dirty="0">
                <a:solidFill>
                  <a:srgbClr val="16171F"/>
                </a:solidFill>
                <a:latin typeface="Times New Roman"/>
                <a:cs typeface="Times New Roman"/>
              </a:rPr>
              <a:t>through </a:t>
            </a:r>
            <a:r>
              <a:rPr sz="3900" spc="110" dirty="0">
                <a:solidFill>
                  <a:srgbClr val="16171F"/>
                </a:solidFill>
                <a:latin typeface="Times New Roman"/>
                <a:cs typeface="Times New Roman"/>
              </a:rPr>
              <a:t>Schedule</a:t>
            </a:r>
            <a:r>
              <a:rPr sz="3900" spc="-114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spc="130" dirty="0">
                <a:solidFill>
                  <a:srgbClr val="16171F"/>
                </a:solidFill>
                <a:latin typeface="Times New Roman"/>
                <a:cs typeface="Times New Roman"/>
              </a:rPr>
              <a:t>VII</a:t>
            </a:r>
            <a:r>
              <a:rPr sz="3900" spc="-114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spc="135" dirty="0">
                <a:solidFill>
                  <a:srgbClr val="16171F"/>
                </a:solidFill>
                <a:latin typeface="Times New Roman"/>
                <a:cs typeface="Times New Roman"/>
              </a:rPr>
              <a:t>utilisation</a:t>
            </a:r>
            <a:r>
              <a:rPr sz="3900" spc="-114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3900" spc="90" dirty="0">
                <a:solidFill>
                  <a:srgbClr val="16171F"/>
                </a:solidFill>
                <a:latin typeface="Times New Roman"/>
                <a:cs typeface="Times New Roman"/>
              </a:rPr>
              <a:t>certificates.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47749" y="2895594"/>
            <a:ext cx="7829550" cy="19050"/>
          </a:xfrm>
          <a:custGeom>
            <a:avLst/>
            <a:gdLst/>
            <a:ahLst/>
            <a:cxnLst/>
            <a:rect l="l" t="t" r="r" b="b"/>
            <a:pathLst>
              <a:path w="7829550" h="19050">
                <a:moveTo>
                  <a:pt x="7829549" y="19049"/>
                </a:moveTo>
                <a:lnTo>
                  <a:pt x="0" y="19049"/>
                </a:lnTo>
                <a:lnTo>
                  <a:pt x="0" y="0"/>
                </a:lnTo>
                <a:lnTo>
                  <a:pt x="7829549" y="0"/>
                </a:lnTo>
                <a:lnTo>
                  <a:pt x="7829549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5050" y="3214370"/>
            <a:ext cx="3503295" cy="49593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950" spc="80" dirty="0">
                <a:solidFill>
                  <a:srgbClr val="16171F"/>
                </a:solidFill>
                <a:latin typeface="Times New Roman"/>
                <a:cs typeface="Times New Roman"/>
              </a:rPr>
              <a:t>Awareness</a:t>
            </a:r>
            <a:r>
              <a:rPr sz="1950" spc="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-140" dirty="0">
                <a:solidFill>
                  <a:srgbClr val="16171F"/>
                </a:solidFill>
                <a:latin typeface="Times New Roman"/>
                <a:cs typeface="Times New Roman"/>
              </a:rPr>
              <a:t>&amp;</a:t>
            </a:r>
            <a:r>
              <a:rPr sz="1950" spc="1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85" dirty="0">
                <a:solidFill>
                  <a:srgbClr val="16171F"/>
                </a:solidFill>
                <a:latin typeface="Times New Roman"/>
                <a:cs typeface="Times New Roman"/>
              </a:rPr>
              <a:t>Capacity</a:t>
            </a:r>
            <a:r>
              <a:rPr sz="1950" spc="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16171F"/>
                </a:solidFill>
                <a:latin typeface="Times New Roman"/>
                <a:cs typeface="Times New Roman"/>
              </a:rPr>
              <a:t>Building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44345" y="3054350"/>
            <a:ext cx="134556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₹68,75,000</a:t>
            </a:r>
            <a:endParaRPr sz="225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47749" y="4142994"/>
          <a:ext cx="7830183" cy="1997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4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171450">
                        <a:lnSpc>
                          <a:spcPts val="1345"/>
                        </a:lnSpc>
                      </a:pPr>
                      <a:r>
                        <a:rPr sz="1450" spc="-3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Facilitator</a:t>
                      </a:r>
                      <a:r>
                        <a:rPr sz="1450" spc="-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costs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6565" algn="r">
                        <a:lnSpc>
                          <a:spcPts val="1345"/>
                        </a:lnSpc>
                      </a:pPr>
                      <a:r>
                        <a:rPr sz="140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2,500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×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275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345"/>
                        </a:lnSpc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25,00,000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Training</a:t>
                      </a:r>
                      <a:r>
                        <a:rPr sz="14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Trainers</a:t>
                      </a:r>
                      <a:r>
                        <a:rPr sz="14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workshops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6565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20,00,000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8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Peer</a:t>
                      </a:r>
                      <a:r>
                        <a:rPr sz="1450" spc="-6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mentor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training</a:t>
                      </a:r>
                      <a:r>
                        <a:rPr sz="1450" spc="-6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materials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6565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15,00,000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L="171450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Logistics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coordination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56565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8,75,000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047749" y="6572244"/>
            <a:ext cx="7829550" cy="19050"/>
          </a:xfrm>
          <a:custGeom>
            <a:avLst/>
            <a:gdLst/>
            <a:ahLst/>
            <a:cxnLst/>
            <a:rect l="l" t="t" r="r" b="b"/>
            <a:pathLst>
              <a:path w="7829550" h="19050">
                <a:moveTo>
                  <a:pt x="7829549" y="19049"/>
                </a:moveTo>
                <a:lnTo>
                  <a:pt x="0" y="19049"/>
                </a:lnTo>
                <a:lnTo>
                  <a:pt x="0" y="0"/>
                </a:lnTo>
                <a:lnTo>
                  <a:pt x="7829549" y="0"/>
                </a:lnTo>
                <a:lnTo>
                  <a:pt x="7829549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35050" y="6891019"/>
            <a:ext cx="1581785" cy="49593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950" spc="105" dirty="0">
                <a:solidFill>
                  <a:srgbClr val="16171F"/>
                </a:solidFill>
                <a:latin typeface="Times New Roman"/>
                <a:cs typeface="Times New Roman"/>
              </a:rPr>
              <a:t>IEC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90" dirty="0">
                <a:solidFill>
                  <a:srgbClr val="16171F"/>
                </a:solidFill>
                <a:latin typeface="Times New Roman"/>
                <a:cs typeface="Times New Roman"/>
              </a:rPr>
              <a:t>Materials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91239" y="6731000"/>
            <a:ext cx="119888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₹8,25,000</a:t>
            </a:r>
            <a:endParaRPr sz="225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047749" y="7819643"/>
          <a:ext cx="7828278" cy="1388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3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171450">
                        <a:lnSpc>
                          <a:spcPts val="1345"/>
                        </a:lnSpc>
                      </a:pPr>
                      <a:r>
                        <a:rPr sz="1450" spc="-7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Telugu</a:t>
                      </a:r>
                      <a:r>
                        <a:rPr sz="1450" spc="-5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flipbooks</a:t>
                      </a:r>
                      <a:r>
                        <a:rPr sz="1450" spc="-5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450" spc="-5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visual</a:t>
                      </a:r>
                      <a:r>
                        <a:rPr sz="1450" spc="-5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aids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0850" algn="r">
                        <a:lnSpc>
                          <a:spcPts val="1345"/>
                        </a:lnSpc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345"/>
                        </a:lnSpc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4,12,500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5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Wall</a:t>
                      </a:r>
                      <a:r>
                        <a:rPr sz="1450" spc="-6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3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charts</a:t>
                      </a:r>
                      <a:r>
                        <a:rPr sz="1450" spc="-6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posters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085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2,75,000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L="171450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Lamination</a:t>
                      </a:r>
                      <a:r>
                        <a:rPr sz="1450" spc="-7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450" spc="-7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durability</a:t>
                      </a:r>
                      <a:r>
                        <a:rPr sz="1450" spc="-7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treatment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50850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1,37,500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1047749" y="9639293"/>
            <a:ext cx="7829550" cy="19050"/>
          </a:xfrm>
          <a:custGeom>
            <a:avLst/>
            <a:gdLst/>
            <a:ahLst/>
            <a:cxnLst/>
            <a:rect l="l" t="t" r="r" b="b"/>
            <a:pathLst>
              <a:path w="7829550" h="19050">
                <a:moveTo>
                  <a:pt x="7829549" y="19049"/>
                </a:moveTo>
                <a:lnTo>
                  <a:pt x="0" y="19049"/>
                </a:lnTo>
                <a:lnTo>
                  <a:pt x="0" y="0"/>
                </a:lnTo>
                <a:lnTo>
                  <a:pt x="7829549" y="0"/>
                </a:lnTo>
                <a:lnTo>
                  <a:pt x="7829549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35050" y="9969499"/>
            <a:ext cx="10083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44345" y="9798049"/>
            <a:ext cx="134556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₹62,16,000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410699" y="2895594"/>
            <a:ext cx="7829550" cy="19050"/>
          </a:xfrm>
          <a:custGeom>
            <a:avLst/>
            <a:gdLst/>
            <a:ahLst/>
            <a:cxnLst/>
            <a:rect l="l" t="t" r="r" b="b"/>
            <a:pathLst>
              <a:path w="7829550" h="19050">
                <a:moveTo>
                  <a:pt x="7829549" y="19049"/>
                </a:moveTo>
                <a:lnTo>
                  <a:pt x="0" y="19049"/>
                </a:lnTo>
                <a:lnTo>
                  <a:pt x="0" y="0"/>
                </a:lnTo>
                <a:lnTo>
                  <a:pt x="7829549" y="0"/>
                </a:lnTo>
                <a:lnTo>
                  <a:pt x="7829549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397999" y="3214370"/>
            <a:ext cx="3162935" cy="49593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B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950" spc="85" dirty="0">
                <a:solidFill>
                  <a:srgbClr val="16171F"/>
                </a:solidFill>
                <a:latin typeface="Times New Roman"/>
                <a:cs typeface="Times New Roman"/>
              </a:rPr>
              <a:t>Sanitary</a:t>
            </a:r>
            <a:r>
              <a:rPr sz="1950" spc="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114" dirty="0">
                <a:solidFill>
                  <a:srgbClr val="16171F"/>
                </a:solidFill>
                <a:latin typeface="Times New Roman"/>
                <a:cs typeface="Times New Roman"/>
              </a:rPr>
              <a:t>Napkin</a:t>
            </a:r>
            <a:r>
              <a:rPr sz="1950" spc="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105" dirty="0">
                <a:solidFill>
                  <a:srgbClr val="16171F"/>
                </a:solidFill>
                <a:latin typeface="Times New Roman"/>
                <a:cs typeface="Times New Roman"/>
              </a:rPr>
              <a:t>Starter</a:t>
            </a:r>
            <a:r>
              <a:rPr sz="1950" spc="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55" dirty="0">
                <a:solidFill>
                  <a:srgbClr val="16171F"/>
                </a:solidFill>
                <a:latin typeface="Times New Roman"/>
                <a:cs typeface="Times New Roman"/>
              </a:rPr>
              <a:t>Kits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687923" y="3054350"/>
            <a:ext cx="1565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₹5,28,00,000</a:t>
            </a:r>
            <a:endParaRPr sz="225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9410699" y="4142994"/>
          <a:ext cx="7829550" cy="1388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96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9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171450">
                        <a:lnSpc>
                          <a:spcPts val="1345"/>
                        </a:lnSpc>
                      </a:pPr>
                      <a:r>
                        <a:rPr sz="14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Sanitary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napkins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0059" algn="r">
                        <a:lnSpc>
                          <a:spcPts val="1345"/>
                        </a:lnSpc>
                      </a:pPr>
                      <a:r>
                        <a:rPr sz="14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88,000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×</a:t>
                      </a:r>
                      <a:r>
                        <a:rPr sz="1450" spc="-7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12</a:t>
                      </a:r>
                      <a:r>
                        <a:rPr sz="1450" spc="-7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×</a:t>
                      </a:r>
                      <a:r>
                        <a:rPr sz="1450" spc="-7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45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345"/>
                        </a:lnSpc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4,75,20,000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8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Packaging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user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guides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0059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22,00,000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L="171450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Logistics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distribution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80059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30,80,000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9410699" y="5962644"/>
            <a:ext cx="7829550" cy="19050"/>
          </a:xfrm>
          <a:custGeom>
            <a:avLst/>
            <a:gdLst/>
            <a:ahLst/>
            <a:cxnLst/>
            <a:rect l="l" t="t" r="r" b="b"/>
            <a:pathLst>
              <a:path w="7829550" h="19050">
                <a:moveTo>
                  <a:pt x="7829549" y="19049"/>
                </a:moveTo>
                <a:lnTo>
                  <a:pt x="0" y="19049"/>
                </a:lnTo>
                <a:lnTo>
                  <a:pt x="0" y="0"/>
                </a:lnTo>
                <a:lnTo>
                  <a:pt x="7829549" y="0"/>
                </a:lnTo>
                <a:lnTo>
                  <a:pt x="7829549" y="19049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397999" y="6281419"/>
            <a:ext cx="2745740" cy="49593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D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·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O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-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M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900" spc="35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P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900" spc="-365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77292E"/>
                </a:solidFill>
                <a:latin typeface="Courier New"/>
                <a:cs typeface="Courier New"/>
              </a:rPr>
              <a:t>L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950" spc="114" dirty="0">
                <a:solidFill>
                  <a:srgbClr val="16171F"/>
                </a:solidFill>
                <a:latin typeface="Times New Roman"/>
                <a:cs typeface="Times New Roman"/>
              </a:rPr>
              <a:t>Incinerators</a:t>
            </a:r>
            <a:r>
              <a:rPr sz="1950" spc="-4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16171F"/>
                </a:solidFill>
                <a:latin typeface="Times New Roman"/>
                <a:cs typeface="Times New Roman"/>
              </a:rPr>
              <a:t>(550</a:t>
            </a:r>
            <a:r>
              <a:rPr sz="1950" spc="-4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950" spc="60" dirty="0">
                <a:solidFill>
                  <a:srgbClr val="16171F"/>
                </a:solidFill>
                <a:latin typeface="Times New Roman"/>
                <a:cs typeface="Times New Roman"/>
              </a:rPr>
              <a:t>units)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687923" y="6121399"/>
            <a:ext cx="1565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10" dirty="0">
                <a:solidFill>
                  <a:srgbClr val="16171F"/>
                </a:solidFill>
                <a:latin typeface="Times New Roman"/>
                <a:cs typeface="Times New Roman"/>
              </a:rPr>
              <a:t>₹1,37,50,000</a:t>
            </a:r>
            <a:endParaRPr sz="225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9410699" y="7210043"/>
          <a:ext cx="7830184" cy="1997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5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3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171450">
                        <a:lnSpc>
                          <a:spcPts val="1345"/>
                        </a:lnSpc>
                      </a:pPr>
                      <a:r>
                        <a:rPr sz="1450" spc="-2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Incinerator</a:t>
                      </a:r>
                      <a:r>
                        <a:rPr sz="1450" spc="-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units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0" algn="r">
                        <a:lnSpc>
                          <a:spcPts val="1345"/>
                        </a:lnSpc>
                      </a:pPr>
                      <a:r>
                        <a:rPr sz="14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550</a:t>
                      </a:r>
                      <a:r>
                        <a:rPr sz="1450" spc="-8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×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20,000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345"/>
                        </a:lnSpc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1,10,00,000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Installation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&amp;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electrical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0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6,000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×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275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16,50,000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spc="-2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First-</a:t>
                      </a:r>
                      <a:r>
                        <a:rPr sz="1450" spc="-5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year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maintenance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5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275</a:t>
                      </a:r>
                      <a:r>
                        <a:rPr sz="1450" spc="-8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institutions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8,25,000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  <a:lnB w="9525">
                      <a:solidFill>
                        <a:srgbClr val="D3CCC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L="171450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6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Training</a:t>
                      </a:r>
                      <a:r>
                        <a:rPr sz="1450" spc="-7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sz="1450" spc="-6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5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op.</a:t>
                      </a:r>
                      <a:r>
                        <a:rPr sz="1450" spc="-6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4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450" spc="-65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10" dirty="0">
                          <a:solidFill>
                            <a:srgbClr val="3B3C43"/>
                          </a:solidFill>
                          <a:latin typeface="Arial"/>
                          <a:cs typeface="Arial"/>
                        </a:rPr>
                        <a:t>maintenance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38150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50" spc="-6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Lump</a:t>
                      </a:r>
                      <a:r>
                        <a:rPr sz="1450" spc="-80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-25" dirty="0">
                          <a:solidFill>
                            <a:srgbClr val="67686E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635"/>
                        </a:lnSpc>
                        <a:spcBef>
                          <a:spcPts val="1435"/>
                        </a:spcBef>
                      </a:pPr>
                      <a:r>
                        <a:rPr sz="140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₹</a:t>
                      </a:r>
                      <a:r>
                        <a:rPr sz="1450" b="1" spc="-10" dirty="0">
                          <a:solidFill>
                            <a:srgbClr val="16171F"/>
                          </a:solidFill>
                          <a:latin typeface="Arial"/>
                          <a:cs typeface="Arial"/>
                        </a:rPr>
                        <a:t>2,75,000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D3CCC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19"/>
            <a:ext cx="95250" cy="9524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850020" y="406400"/>
            <a:ext cx="2375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676400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4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7749" y="1085844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772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5050" y="911344"/>
            <a:ext cx="10142220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576070" algn="l"/>
                <a:tab pos="2263775" algn="l"/>
                <a:tab pos="3810000" algn="l"/>
              </a:tabLst>
            </a:pP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W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H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P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N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R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S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	R</a:t>
            </a:r>
            <a:r>
              <a:rPr sz="1650" spc="-64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77292E"/>
                </a:solidFill>
                <a:latin typeface="Courier New"/>
                <a:cs typeface="Courier New"/>
              </a:rPr>
              <a:t>V</a:t>
            </a:r>
            <a:r>
              <a:rPr sz="1650" spc="-630" dirty="0">
                <a:solidFill>
                  <a:srgbClr val="77292E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77292E"/>
                </a:solidFill>
                <a:latin typeface="Courier New"/>
                <a:cs typeface="Courier New"/>
              </a:rPr>
              <a:t>E</a:t>
            </a:r>
            <a:endParaRPr sz="1650">
              <a:latin typeface="Courier New"/>
              <a:cs typeface="Courier New"/>
            </a:endParaRPr>
          </a:p>
          <a:p>
            <a:pPr marL="12700">
              <a:lnSpc>
                <a:spcPts val="5390"/>
              </a:lnSpc>
              <a:spcBef>
                <a:spcPts val="870"/>
              </a:spcBef>
            </a:pPr>
            <a:r>
              <a:rPr sz="4800" spc="55" dirty="0">
                <a:solidFill>
                  <a:srgbClr val="16171F"/>
                </a:solidFill>
                <a:latin typeface="Times New Roman"/>
                <a:cs typeface="Times New Roman"/>
              </a:rPr>
              <a:t>Visibility,</a:t>
            </a:r>
            <a:r>
              <a:rPr sz="4800" spc="-1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05" dirty="0">
                <a:solidFill>
                  <a:srgbClr val="16171F"/>
                </a:solidFill>
                <a:latin typeface="Times New Roman"/>
                <a:cs typeface="Times New Roman"/>
              </a:rPr>
              <a:t>verification,</a:t>
            </a:r>
            <a:r>
              <a:rPr sz="4800" spc="-15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65" dirty="0">
                <a:solidFill>
                  <a:srgbClr val="16171F"/>
                </a:solidFill>
                <a:latin typeface="Times New Roman"/>
                <a:cs typeface="Times New Roman"/>
              </a:rPr>
              <a:t>and</a:t>
            </a:r>
            <a:r>
              <a:rPr sz="4800" spc="-14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50" dirty="0">
                <a:solidFill>
                  <a:srgbClr val="16171F"/>
                </a:solidFill>
                <a:latin typeface="Times New Roman"/>
                <a:cs typeface="Times New Roman"/>
              </a:rPr>
              <a:t>compliance</a:t>
            </a:r>
            <a:endParaRPr sz="4800">
              <a:latin typeface="Times New Roman"/>
              <a:cs typeface="Times New Roman"/>
            </a:endParaRPr>
          </a:p>
          <a:p>
            <a:pPr marL="12700">
              <a:lnSpc>
                <a:spcPts val="5395"/>
              </a:lnSpc>
            </a:pPr>
            <a:r>
              <a:rPr sz="4800" dirty="0">
                <a:solidFill>
                  <a:srgbClr val="16171F"/>
                </a:solidFill>
                <a:latin typeface="Times New Roman"/>
                <a:cs typeface="Times New Roman"/>
              </a:rPr>
              <a:t>—</a:t>
            </a:r>
            <a:r>
              <a:rPr sz="4800" spc="-17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16171F"/>
                </a:solidFill>
                <a:latin typeface="Times New Roman"/>
                <a:cs typeface="Times New Roman"/>
              </a:rPr>
              <a:t>bundled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16171F"/>
                </a:solidFill>
                <a:latin typeface="Times New Roman"/>
                <a:cs typeface="Times New Roman"/>
              </a:rPr>
              <a:t>with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280" dirty="0">
                <a:solidFill>
                  <a:srgbClr val="16171F"/>
                </a:solidFill>
                <a:latin typeface="Times New Roman"/>
                <a:cs typeface="Times New Roman"/>
              </a:rPr>
              <a:t>the</a:t>
            </a:r>
            <a:r>
              <a:rPr sz="4800" spc="-1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4800" spc="160" dirty="0">
                <a:solidFill>
                  <a:srgbClr val="16171F"/>
                </a:solidFill>
                <a:latin typeface="Times New Roman"/>
                <a:cs typeface="Times New Roman"/>
              </a:rPr>
              <a:t>impact.</a:t>
            </a:r>
            <a:endParaRPr sz="4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6719"/>
            <a:ext cx="95250" cy="9524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31107" y="406400"/>
            <a:ext cx="2494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082040" algn="l"/>
                <a:tab pos="1557655" algn="l"/>
              </a:tabLst>
            </a:pP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200" spc="-50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200" spc="-50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47749" y="3133719"/>
            <a:ext cx="5257800" cy="3048000"/>
            <a:chOff x="1047749" y="3133719"/>
            <a:chExt cx="5257800" cy="3048000"/>
          </a:xfrm>
        </p:grpSpPr>
        <p:sp>
          <p:nvSpPr>
            <p:cNvPr id="10" name="object 10"/>
            <p:cNvSpPr/>
            <p:nvPr/>
          </p:nvSpPr>
          <p:spPr>
            <a:xfrm>
              <a:off x="1047749" y="3133719"/>
              <a:ext cx="5257800" cy="3048000"/>
            </a:xfrm>
            <a:custGeom>
              <a:avLst/>
              <a:gdLst/>
              <a:ahLst/>
              <a:cxnLst/>
              <a:rect l="l" t="t" r="r" b="b"/>
              <a:pathLst>
                <a:path w="5257800" h="3048000">
                  <a:moveTo>
                    <a:pt x="5257799" y="3047999"/>
                  </a:moveTo>
                  <a:lnTo>
                    <a:pt x="0" y="3047999"/>
                  </a:lnTo>
                  <a:lnTo>
                    <a:pt x="0" y="0"/>
                  </a:lnTo>
                  <a:lnTo>
                    <a:pt x="5257799" y="0"/>
                  </a:lnTo>
                  <a:lnTo>
                    <a:pt x="5257799" y="304799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55724" y="3441699"/>
              <a:ext cx="317500" cy="301625"/>
            </a:xfrm>
            <a:custGeom>
              <a:avLst/>
              <a:gdLst/>
              <a:ahLst/>
              <a:cxnLst/>
              <a:rect l="l" t="t" r="r" b="b"/>
              <a:pathLst>
                <a:path w="317500" h="301625">
                  <a:moveTo>
                    <a:pt x="158749" y="0"/>
                  </a:moveTo>
                  <a:lnTo>
                    <a:pt x="206374" y="111124"/>
                  </a:lnTo>
                  <a:lnTo>
                    <a:pt x="317499" y="111124"/>
                  </a:lnTo>
                  <a:lnTo>
                    <a:pt x="222249" y="174624"/>
                  </a:lnTo>
                  <a:lnTo>
                    <a:pt x="253999" y="301624"/>
                  </a:lnTo>
                  <a:lnTo>
                    <a:pt x="158749" y="222249"/>
                  </a:lnTo>
                  <a:lnTo>
                    <a:pt x="63499" y="301624"/>
                  </a:lnTo>
                  <a:lnTo>
                    <a:pt x="95249" y="174624"/>
                  </a:lnTo>
                  <a:lnTo>
                    <a:pt x="0" y="111124"/>
                  </a:lnTo>
                  <a:lnTo>
                    <a:pt x="111124" y="111124"/>
                  </a:lnTo>
                  <a:lnTo>
                    <a:pt x="158749" y="0"/>
                  </a:lnTo>
                  <a:close/>
                </a:path>
              </a:pathLst>
            </a:custGeom>
            <a:ln w="2539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52512" y="3138481"/>
            <a:ext cx="5248275" cy="303847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R="225425" algn="r">
              <a:lnSpc>
                <a:spcPct val="100000"/>
              </a:lnSpc>
              <a:spcBef>
                <a:spcPts val="635"/>
              </a:spcBef>
            </a:pPr>
            <a:r>
              <a:rPr sz="4200" spc="-25" dirty="0">
                <a:solidFill>
                  <a:srgbClr val="E4DCD6"/>
                </a:solidFill>
                <a:latin typeface="Times New Roman"/>
                <a:cs typeface="Times New Roman"/>
              </a:rPr>
              <a:t>01</a:t>
            </a:r>
            <a:endParaRPr sz="420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spcBef>
                <a:spcPts val="68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800">
              <a:latin typeface="Courier New"/>
              <a:cs typeface="Courier New"/>
            </a:endParaRPr>
          </a:p>
          <a:p>
            <a:pPr marL="271145">
              <a:lnSpc>
                <a:spcPct val="100000"/>
              </a:lnSpc>
              <a:spcBef>
                <a:spcPts val="290"/>
              </a:spcBef>
            </a:pPr>
            <a:r>
              <a:rPr sz="1800" spc="95" dirty="0">
                <a:solidFill>
                  <a:srgbClr val="16171F"/>
                </a:solidFill>
                <a:latin typeface="Times New Roman"/>
                <a:cs typeface="Times New Roman"/>
              </a:rPr>
              <a:t>Named</a:t>
            </a:r>
            <a:r>
              <a:rPr sz="1800" spc="-1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105" dirty="0">
                <a:solidFill>
                  <a:srgbClr val="16171F"/>
                </a:solidFill>
                <a:latin typeface="Times New Roman"/>
                <a:cs typeface="Times New Roman"/>
              </a:rPr>
              <a:t>partner</a:t>
            </a:r>
            <a:r>
              <a:rPr sz="1800" spc="-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16171F"/>
                </a:solidFill>
                <a:latin typeface="Times New Roman"/>
                <a:cs typeface="Times New Roman"/>
              </a:rPr>
              <a:t>across</a:t>
            </a:r>
            <a:r>
              <a:rPr sz="1800" spc="-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6171F"/>
                </a:solidFill>
                <a:latin typeface="Times New Roman"/>
                <a:cs typeface="Times New Roman"/>
              </a:rPr>
              <a:t>all</a:t>
            </a:r>
            <a:r>
              <a:rPr sz="1800" spc="-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6171F"/>
                </a:solidFill>
                <a:latin typeface="Times New Roman"/>
                <a:cs typeface="Times New Roman"/>
              </a:rPr>
              <a:t>275 </a:t>
            </a:r>
            <a:r>
              <a:rPr sz="1800" spc="65" dirty="0">
                <a:solidFill>
                  <a:srgbClr val="16171F"/>
                </a:solidFill>
                <a:latin typeface="Times New Roman"/>
                <a:cs typeface="Times New Roman"/>
              </a:rPr>
              <a:t>campuses</a:t>
            </a:r>
            <a:endParaRPr sz="1800">
              <a:latin typeface="Times New Roman"/>
              <a:cs typeface="Times New Roman"/>
            </a:endParaRPr>
          </a:p>
          <a:p>
            <a:pPr marL="271145" marR="786765">
              <a:lnSpc>
                <a:spcPct val="115399"/>
              </a:lnSpc>
              <a:spcBef>
                <a:spcPts val="950"/>
              </a:spcBef>
            </a:pP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Co-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branding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on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3B3C43"/>
                </a:solidFill>
                <a:latin typeface="Arial"/>
                <a:cs typeface="Arial"/>
              </a:rPr>
              <a:t>Telugu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90" dirty="0">
                <a:solidFill>
                  <a:srgbClr val="3B3C43"/>
                </a:solidFill>
                <a:latin typeface="Arial"/>
                <a:cs typeface="Arial"/>
              </a:rPr>
              <a:t>IEC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materials, 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session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backdrops,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and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partner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credits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delivered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to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1,23,000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girls.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15099" y="3133719"/>
            <a:ext cx="5257800" cy="3048000"/>
            <a:chOff x="6515099" y="3133719"/>
            <a:chExt cx="5257800" cy="3048000"/>
          </a:xfrm>
        </p:grpSpPr>
        <p:sp>
          <p:nvSpPr>
            <p:cNvPr id="14" name="object 14"/>
            <p:cNvSpPr/>
            <p:nvPr/>
          </p:nvSpPr>
          <p:spPr>
            <a:xfrm>
              <a:off x="6515099" y="3133719"/>
              <a:ext cx="5257800" cy="3048000"/>
            </a:xfrm>
            <a:custGeom>
              <a:avLst/>
              <a:gdLst/>
              <a:ahLst/>
              <a:cxnLst/>
              <a:rect l="l" t="t" r="r" b="b"/>
              <a:pathLst>
                <a:path w="5257800" h="3048000">
                  <a:moveTo>
                    <a:pt x="5257799" y="3047999"/>
                  </a:moveTo>
                  <a:lnTo>
                    <a:pt x="0" y="3047999"/>
                  </a:lnTo>
                  <a:lnTo>
                    <a:pt x="0" y="0"/>
                  </a:lnTo>
                  <a:lnTo>
                    <a:pt x="5257799" y="0"/>
                  </a:lnTo>
                  <a:lnTo>
                    <a:pt x="5257799" y="304799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70699" y="3457574"/>
              <a:ext cx="222250" cy="285750"/>
            </a:xfrm>
            <a:custGeom>
              <a:avLst/>
              <a:gdLst/>
              <a:ahLst/>
              <a:cxnLst/>
              <a:rect l="l" t="t" r="r" b="b"/>
              <a:pathLst>
                <a:path w="222250" h="285750">
                  <a:moveTo>
                    <a:pt x="15875" y="0"/>
                  </a:moveTo>
                  <a:lnTo>
                    <a:pt x="206374" y="0"/>
                  </a:lnTo>
                  <a:lnTo>
                    <a:pt x="208480" y="0"/>
                  </a:lnTo>
                  <a:lnTo>
                    <a:pt x="210505" y="402"/>
                  </a:lnTo>
                  <a:lnTo>
                    <a:pt x="221041" y="9799"/>
                  </a:lnTo>
                  <a:lnTo>
                    <a:pt x="221847" y="11744"/>
                  </a:lnTo>
                  <a:lnTo>
                    <a:pt x="222249" y="13769"/>
                  </a:lnTo>
                  <a:lnTo>
                    <a:pt x="222249" y="15874"/>
                  </a:lnTo>
                  <a:lnTo>
                    <a:pt x="222249" y="269874"/>
                  </a:lnTo>
                  <a:lnTo>
                    <a:pt x="222249" y="271980"/>
                  </a:lnTo>
                  <a:lnTo>
                    <a:pt x="221847" y="274005"/>
                  </a:lnTo>
                  <a:lnTo>
                    <a:pt x="221041" y="275950"/>
                  </a:lnTo>
                  <a:lnTo>
                    <a:pt x="220235" y="277894"/>
                  </a:lnTo>
                  <a:lnTo>
                    <a:pt x="206374" y="285749"/>
                  </a:lnTo>
                  <a:lnTo>
                    <a:pt x="15875" y="285749"/>
                  </a:lnTo>
                  <a:lnTo>
                    <a:pt x="0" y="271980"/>
                  </a:lnTo>
                  <a:lnTo>
                    <a:pt x="0" y="269874"/>
                  </a:lnTo>
                  <a:lnTo>
                    <a:pt x="0" y="15874"/>
                  </a:lnTo>
                  <a:lnTo>
                    <a:pt x="4649" y="4649"/>
                  </a:lnTo>
                  <a:lnTo>
                    <a:pt x="6138" y="3161"/>
                  </a:lnTo>
                  <a:lnTo>
                    <a:pt x="7854" y="2014"/>
                  </a:lnTo>
                  <a:lnTo>
                    <a:pt x="9799" y="1208"/>
                  </a:lnTo>
                  <a:lnTo>
                    <a:pt x="11744" y="402"/>
                  </a:lnTo>
                  <a:lnTo>
                    <a:pt x="13769" y="0"/>
                  </a:lnTo>
                  <a:lnTo>
                    <a:pt x="15875" y="0"/>
                  </a:lnTo>
                  <a:close/>
                </a:path>
                <a:path w="222250" h="285750">
                  <a:moveTo>
                    <a:pt x="63500" y="79374"/>
                  </a:moveTo>
                  <a:lnTo>
                    <a:pt x="158749" y="79374"/>
                  </a:lnTo>
                </a:path>
                <a:path w="222250" h="285750">
                  <a:moveTo>
                    <a:pt x="63500" y="142874"/>
                  </a:moveTo>
                  <a:lnTo>
                    <a:pt x="158749" y="142874"/>
                  </a:lnTo>
                </a:path>
                <a:path w="222250" h="285750">
                  <a:moveTo>
                    <a:pt x="63500" y="206374"/>
                  </a:moveTo>
                  <a:lnTo>
                    <a:pt x="126999" y="206374"/>
                  </a:lnTo>
                </a:path>
              </a:pathLst>
            </a:custGeom>
            <a:ln w="2539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19861" y="3138481"/>
            <a:ext cx="5248275" cy="303847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R="225425" algn="r">
              <a:lnSpc>
                <a:spcPct val="100000"/>
              </a:lnSpc>
              <a:spcBef>
                <a:spcPts val="635"/>
              </a:spcBef>
            </a:pPr>
            <a:r>
              <a:rPr sz="4200" spc="-25" dirty="0">
                <a:solidFill>
                  <a:srgbClr val="E4DCD6"/>
                </a:solidFill>
                <a:latin typeface="Times New Roman"/>
                <a:cs typeface="Times New Roman"/>
              </a:rPr>
              <a:t>02</a:t>
            </a:r>
            <a:endParaRPr sz="420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spcBef>
                <a:spcPts val="68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9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endParaRPr sz="800">
              <a:latin typeface="Courier New"/>
              <a:cs typeface="Courier New"/>
            </a:endParaRPr>
          </a:p>
          <a:p>
            <a:pPr marL="271145">
              <a:lnSpc>
                <a:spcPct val="100000"/>
              </a:lnSpc>
              <a:spcBef>
                <a:spcPts val="290"/>
              </a:spcBef>
            </a:pPr>
            <a:r>
              <a:rPr sz="1800" spc="80" dirty="0">
                <a:solidFill>
                  <a:srgbClr val="16171F"/>
                </a:solidFill>
                <a:latin typeface="Times New Roman"/>
                <a:cs typeface="Times New Roman"/>
              </a:rPr>
              <a:t>Branded</a:t>
            </a:r>
            <a:r>
              <a:rPr sz="1800" spc="-3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plaques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105" dirty="0">
                <a:solidFill>
                  <a:srgbClr val="16171F"/>
                </a:solidFill>
                <a:latin typeface="Times New Roman"/>
                <a:cs typeface="Times New Roman"/>
              </a:rPr>
              <a:t>on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6171F"/>
                </a:solidFill>
                <a:latin typeface="Times New Roman"/>
                <a:cs typeface="Times New Roman"/>
              </a:rPr>
              <a:t>550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75" dirty="0">
                <a:solidFill>
                  <a:srgbClr val="16171F"/>
                </a:solidFill>
                <a:latin typeface="Times New Roman"/>
                <a:cs typeface="Times New Roman"/>
              </a:rPr>
              <a:t>incinerators</a:t>
            </a:r>
            <a:endParaRPr sz="1800">
              <a:latin typeface="Times New Roman"/>
              <a:cs typeface="Times New Roman"/>
            </a:endParaRPr>
          </a:p>
          <a:p>
            <a:pPr marL="271145" marR="776605">
              <a:lnSpc>
                <a:spcPct val="115399"/>
              </a:lnSpc>
              <a:spcBef>
                <a:spcPts val="950"/>
              </a:spcBef>
            </a:pP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Permanent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metal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plaques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on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every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unit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65" dirty="0">
                <a:solidFill>
                  <a:srgbClr val="3B3C43"/>
                </a:solidFill>
                <a:latin typeface="Arial"/>
                <a:cs typeface="Arial"/>
              </a:rPr>
              <a:t>—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3B3C43"/>
                </a:solidFill>
                <a:latin typeface="Arial"/>
                <a:cs typeface="Arial"/>
              </a:rPr>
              <a:t>a</a:t>
            </a:r>
            <a:r>
              <a:rPr sz="1300" spc="-6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10+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year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visibility footprint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anchored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to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real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infrastructure.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982449" y="3133719"/>
            <a:ext cx="5257800" cy="3048000"/>
            <a:chOff x="11982449" y="3133719"/>
            <a:chExt cx="5257800" cy="3048000"/>
          </a:xfrm>
        </p:grpSpPr>
        <p:sp>
          <p:nvSpPr>
            <p:cNvPr id="18" name="object 18"/>
            <p:cNvSpPr/>
            <p:nvPr/>
          </p:nvSpPr>
          <p:spPr>
            <a:xfrm>
              <a:off x="11982449" y="3133719"/>
              <a:ext cx="5257800" cy="3048000"/>
            </a:xfrm>
            <a:custGeom>
              <a:avLst/>
              <a:gdLst/>
              <a:ahLst/>
              <a:cxnLst/>
              <a:rect l="l" t="t" r="r" b="b"/>
              <a:pathLst>
                <a:path w="5257800" h="3048000">
                  <a:moveTo>
                    <a:pt x="5257799" y="3047999"/>
                  </a:moveTo>
                  <a:lnTo>
                    <a:pt x="0" y="3047999"/>
                  </a:lnTo>
                  <a:lnTo>
                    <a:pt x="0" y="0"/>
                  </a:lnTo>
                  <a:lnTo>
                    <a:pt x="5257799" y="0"/>
                  </a:lnTo>
                  <a:lnTo>
                    <a:pt x="5257799" y="3047999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322174" y="3473449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0" y="253999"/>
                  </a:moveTo>
                  <a:lnTo>
                    <a:pt x="0" y="0"/>
                  </a:lnTo>
                </a:path>
                <a:path w="254000" h="254000">
                  <a:moveTo>
                    <a:pt x="0" y="253999"/>
                  </a:moveTo>
                  <a:lnTo>
                    <a:pt x="253999" y="253999"/>
                  </a:lnTo>
                </a:path>
                <a:path w="254000" h="254000">
                  <a:moveTo>
                    <a:pt x="47624" y="190499"/>
                  </a:moveTo>
                  <a:lnTo>
                    <a:pt x="111124" y="111124"/>
                  </a:lnTo>
                  <a:lnTo>
                    <a:pt x="158749" y="158749"/>
                  </a:lnTo>
                  <a:lnTo>
                    <a:pt x="238124" y="47624"/>
                  </a:lnTo>
                </a:path>
              </a:pathLst>
            </a:custGeom>
            <a:ln w="2539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987211" y="3138481"/>
            <a:ext cx="5248275" cy="3038475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R="225425" algn="r">
              <a:lnSpc>
                <a:spcPct val="100000"/>
              </a:lnSpc>
              <a:spcBef>
                <a:spcPts val="635"/>
              </a:spcBef>
            </a:pPr>
            <a:r>
              <a:rPr sz="4200" spc="-25" dirty="0">
                <a:solidFill>
                  <a:srgbClr val="E4DCD6"/>
                </a:solidFill>
                <a:latin typeface="Times New Roman"/>
                <a:cs typeface="Times New Roman"/>
              </a:rPr>
              <a:t>03</a:t>
            </a:r>
            <a:endParaRPr sz="420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spcBef>
                <a:spcPts val="68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endParaRPr sz="800">
              <a:latin typeface="Courier New"/>
              <a:cs typeface="Courier New"/>
            </a:endParaRPr>
          </a:p>
          <a:p>
            <a:pPr marL="271145" marR="1179195">
              <a:lnSpc>
                <a:spcPct val="100699"/>
              </a:lnSpc>
              <a:spcBef>
                <a:spcPts val="275"/>
              </a:spcBef>
            </a:pP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Quarterly</a:t>
            </a:r>
            <a:r>
              <a:rPr sz="1800" spc="-3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progress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90" dirty="0">
                <a:solidFill>
                  <a:srgbClr val="16171F"/>
                </a:solidFill>
                <a:latin typeface="Times New Roman"/>
                <a:cs typeface="Times New Roman"/>
              </a:rPr>
              <a:t>reports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90" dirty="0">
                <a:solidFill>
                  <a:srgbClr val="16171F"/>
                </a:solidFill>
                <a:latin typeface="Times New Roman"/>
                <a:cs typeface="Times New Roman"/>
              </a:rPr>
              <a:t>with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90" dirty="0">
                <a:solidFill>
                  <a:srgbClr val="16171F"/>
                </a:solidFill>
                <a:latin typeface="Times New Roman"/>
                <a:cs typeface="Times New Roman"/>
              </a:rPr>
              <a:t>photo </a:t>
            </a:r>
            <a:r>
              <a:rPr sz="1800" spc="45" dirty="0">
                <a:solidFill>
                  <a:srgbClr val="16171F"/>
                </a:solidFill>
                <a:latin typeface="Times New Roman"/>
                <a:cs typeface="Times New Roman"/>
              </a:rPr>
              <a:t>evidence</a:t>
            </a:r>
            <a:endParaRPr sz="1800">
              <a:latin typeface="Times New Roman"/>
              <a:cs typeface="Times New Roman"/>
            </a:endParaRPr>
          </a:p>
          <a:p>
            <a:pPr marL="271145" marR="876300">
              <a:lnSpc>
                <a:spcPct val="115399"/>
              </a:lnSpc>
              <a:spcBef>
                <a:spcPts val="950"/>
              </a:spcBef>
            </a:pP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Distribution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records,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install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logs,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institution-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wise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data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00" dirty="0">
                <a:solidFill>
                  <a:srgbClr val="3B3C43"/>
                </a:solidFill>
                <a:latin typeface="Arial"/>
                <a:cs typeface="Arial"/>
              </a:rPr>
              <a:t>—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formatted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for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85" dirty="0">
                <a:solidFill>
                  <a:srgbClr val="3B3C43"/>
                </a:solidFill>
                <a:latin typeface="Arial"/>
                <a:cs typeface="Arial"/>
              </a:rPr>
              <a:t>CSR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committee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review.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47749" y="6391269"/>
            <a:ext cx="5257800" cy="3038475"/>
            <a:chOff x="1047749" y="6391269"/>
            <a:chExt cx="5257800" cy="3038475"/>
          </a:xfrm>
        </p:grpSpPr>
        <p:sp>
          <p:nvSpPr>
            <p:cNvPr id="22" name="object 22"/>
            <p:cNvSpPr/>
            <p:nvPr/>
          </p:nvSpPr>
          <p:spPr>
            <a:xfrm>
              <a:off x="1047749" y="6391269"/>
              <a:ext cx="5257800" cy="3038475"/>
            </a:xfrm>
            <a:custGeom>
              <a:avLst/>
              <a:gdLst/>
              <a:ahLst/>
              <a:cxnLst/>
              <a:rect l="l" t="t" r="r" b="b"/>
              <a:pathLst>
                <a:path w="5257800" h="3038475">
                  <a:moveTo>
                    <a:pt x="5257799" y="3038474"/>
                  </a:moveTo>
                  <a:lnTo>
                    <a:pt x="0" y="3038474"/>
                  </a:lnTo>
                  <a:lnTo>
                    <a:pt x="0" y="0"/>
                  </a:lnTo>
                  <a:lnTo>
                    <a:pt x="5257799" y="0"/>
                  </a:lnTo>
                  <a:lnTo>
                    <a:pt x="5257799" y="30384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71599" y="671512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49" y="142874"/>
                  </a:moveTo>
                  <a:lnTo>
                    <a:pt x="279599" y="184349"/>
                  </a:lnTo>
                  <a:lnTo>
                    <a:pt x="261671" y="222252"/>
                  </a:lnTo>
                  <a:lnTo>
                    <a:pt x="233514" y="253320"/>
                  </a:lnTo>
                  <a:lnTo>
                    <a:pt x="197550" y="274874"/>
                  </a:lnTo>
                  <a:lnTo>
                    <a:pt x="156879" y="285063"/>
                  </a:ln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7" y="257628"/>
                  </a:lnTo>
                  <a:lnTo>
                    <a:pt x="28121" y="227992"/>
                  </a:lnTo>
                  <a:lnTo>
                    <a:pt x="8348" y="191000"/>
                  </a:lnTo>
                  <a:lnTo>
                    <a:pt x="171" y="149894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1" y="57757"/>
                  </a:lnTo>
                  <a:lnTo>
                    <a:pt x="57757" y="28121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8"/>
                  </a:lnTo>
                  <a:lnTo>
                    <a:pt x="227992" y="28121"/>
                  </a:lnTo>
                  <a:lnTo>
                    <a:pt x="257628" y="57757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close/>
                </a:path>
                <a:path w="285750" h="285750">
                  <a:moveTo>
                    <a:pt x="0" y="142874"/>
                  </a:moveTo>
                  <a:lnTo>
                    <a:pt x="285749" y="142874"/>
                  </a:lnTo>
                </a:path>
                <a:path w="285750" h="285750">
                  <a:moveTo>
                    <a:pt x="142874" y="0"/>
                  </a:moveTo>
                  <a:lnTo>
                    <a:pt x="165101" y="31736"/>
                  </a:lnTo>
                  <a:lnTo>
                    <a:pt x="181477" y="66851"/>
                  </a:lnTo>
                  <a:lnTo>
                    <a:pt x="191507" y="104276"/>
                  </a:lnTo>
                  <a:lnTo>
                    <a:pt x="194884" y="142875"/>
                  </a:lnTo>
                  <a:lnTo>
                    <a:pt x="194673" y="152579"/>
                  </a:lnTo>
                  <a:lnTo>
                    <a:pt x="189613" y="190994"/>
                  </a:lnTo>
                  <a:lnTo>
                    <a:pt x="177959" y="227945"/>
                  </a:lnTo>
                  <a:lnTo>
                    <a:pt x="160065" y="262311"/>
                  </a:lnTo>
                  <a:lnTo>
                    <a:pt x="148952" y="278180"/>
                  </a:lnTo>
                  <a:lnTo>
                    <a:pt x="142874" y="285749"/>
                  </a:lnTo>
                </a:path>
                <a:path w="285750" h="285750">
                  <a:moveTo>
                    <a:pt x="142874" y="0"/>
                  </a:moveTo>
                  <a:lnTo>
                    <a:pt x="120648" y="31736"/>
                  </a:lnTo>
                  <a:lnTo>
                    <a:pt x="104272" y="66851"/>
                  </a:lnTo>
                  <a:lnTo>
                    <a:pt x="94242" y="104276"/>
                  </a:lnTo>
                  <a:lnTo>
                    <a:pt x="90865" y="142875"/>
                  </a:lnTo>
                  <a:lnTo>
                    <a:pt x="91076" y="152579"/>
                  </a:lnTo>
                  <a:lnTo>
                    <a:pt x="96136" y="190994"/>
                  </a:lnTo>
                  <a:lnTo>
                    <a:pt x="107790" y="227945"/>
                  </a:lnTo>
                  <a:lnTo>
                    <a:pt x="125684" y="262311"/>
                  </a:lnTo>
                  <a:lnTo>
                    <a:pt x="136797" y="278180"/>
                  </a:lnTo>
                  <a:lnTo>
                    <a:pt x="142874" y="285749"/>
                  </a:lnTo>
                </a:path>
              </a:pathLst>
            </a:custGeom>
            <a:ln w="2539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52512" y="6396031"/>
            <a:ext cx="5248275" cy="30289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R="225425" algn="r">
              <a:lnSpc>
                <a:spcPct val="100000"/>
              </a:lnSpc>
              <a:spcBef>
                <a:spcPts val="635"/>
              </a:spcBef>
            </a:pPr>
            <a:r>
              <a:rPr sz="4200" spc="-25" dirty="0">
                <a:solidFill>
                  <a:srgbClr val="E4DCD6"/>
                </a:solidFill>
                <a:latin typeface="Times New Roman"/>
                <a:cs typeface="Times New Roman"/>
              </a:rPr>
              <a:t>04</a:t>
            </a:r>
            <a:endParaRPr sz="420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spcBef>
                <a:spcPts val="68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endParaRPr sz="800">
              <a:latin typeface="Courier New"/>
              <a:cs typeface="Courier New"/>
            </a:endParaRPr>
          </a:p>
          <a:p>
            <a:pPr marL="271145">
              <a:lnSpc>
                <a:spcPct val="100000"/>
              </a:lnSpc>
              <a:spcBef>
                <a:spcPts val="290"/>
              </a:spcBef>
            </a:pPr>
            <a:r>
              <a:rPr sz="1800" spc="85" dirty="0">
                <a:solidFill>
                  <a:srgbClr val="16171F"/>
                </a:solidFill>
                <a:latin typeface="Times New Roman"/>
                <a:cs typeface="Times New Roman"/>
              </a:rPr>
              <a:t>Annual</a:t>
            </a:r>
            <a:r>
              <a:rPr sz="1800" spc="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90" dirty="0">
                <a:solidFill>
                  <a:srgbClr val="16171F"/>
                </a:solidFill>
                <a:latin typeface="Times New Roman"/>
                <a:cs typeface="Times New Roman"/>
              </a:rPr>
              <a:t>impact</a:t>
            </a: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95" dirty="0">
                <a:solidFill>
                  <a:srgbClr val="16171F"/>
                </a:solidFill>
                <a:latin typeface="Times New Roman"/>
                <a:cs typeface="Times New Roman"/>
              </a:rPr>
              <a:t>report</a:t>
            </a:r>
            <a:r>
              <a:rPr sz="1800" spc="6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-135" dirty="0">
                <a:solidFill>
                  <a:srgbClr val="16171F"/>
                </a:solidFill>
                <a:latin typeface="Times New Roman"/>
                <a:cs typeface="Times New Roman"/>
              </a:rPr>
              <a:t>&amp;</a:t>
            </a: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6171F"/>
                </a:solidFill>
                <a:latin typeface="Times New Roman"/>
                <a:cs typeface="Times New Roman"/>
              </a:rPr>
              <a:t>field-visit</a:t>
            </a: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40" dirty="0">
                <a:solidFill>
                  <a:srgbClr val="16171F"/>
                </a:solidFill>
                <a:latin typeface="Times New Roman"/>
                <a:cs typeface="Times New Roman"/>
              </a:rPr>
              <a:t>access</a:t>
            </a:r>
            <a:endParaRPr sz="1800">
              <a:latin typeface="Times New Roman"/>
              <a:cs typeface="Times New Roman"/>
            </a:endParaRPr>
          </a:p>
          <a:p>
            <a:pPr marL="271145" marR="861060">
              <a:lnSpc>
                <a:spcPct val="115399"/>
              </a:lnSpc>
              <a:spcBef>
                <a:spcPts val="875"/>
              </a:spcBef>
            </a:pPr>
            <a:r>
              <a:rPr sz="1300" spc="-75" dirty="0">
                <a:solidFill>
                  <a:srgbClr val="3B3C43"/>
                </a:solidFill>
                <a:latin typeface="Arial"/>
                <a:cs typeface="Arial"/>
              </a:rPr>
              <a:t>Year-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end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documentation,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sample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field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visits,</a:t>
            </a:r>
            <a:r>
              <a:rPr sz="1300" spc="-3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third-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party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verification 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on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request.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515099" y="6391269"/>
            <a:ext cx="5257800" cy="3038475"/>
            <a:chOff x="6515099" y="6391269"/>
            <a:chExt cx="5257800" cy="3038475"/>
          </a:xfrm>
        </p:grpSpPr>
        <p:sp>
          <p:nvSpPr>
            <p:cNvPr id="26" name="object 26"/>
            <p:cNvSpPr/>
            <p:nvPr/>
          </p:nvSpPr>
          <p:spPr>
            <a:xfrm>
              <a:off x="6515099" y="6391269"/>
              <a:ext cx="5257800" cy="3038475"/>
            </a:xfrm>
            <a:custGeom>
              <a:avLst/>
              <a:gdLst/>
              <a:ahLst/>
              <a:cxnLst/>
              <a:rect l="l" t="t" r="r" b="b"/>
              <a:pathLst>
                <a:path w="5257800" h="3038475">
                  <a:moveTo>
                    <a:pt x="5257799" y="3038474"/>
                  </a:moveTo>
                  <a:lnTo>
                    <a:pt x="0" y="3038474"/>
                  </a:lnTo>
                  <a:lnTo>
                    <a:pt x="0" y="0"/>
                  </a:lnTo>
                  <a:lnTo>
                    <a:pt x="5257799" y="0"/>
                  </a:lnTo>
                  <a:lnTo>
                    <a:pt x="5257799" y="30384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54824" y="6699249"/>
              <a:ext cx="254000" cy="317500"/>
            </a:xfrm>
            <a:custGeom>
              <a:avLst/>
              <a:gdLst/>
              <a:ahLst/>
              <a:cxnLst/>
              <a:rect l="l" t="t" r="r" b="b"/>
              <a:pathLst>
                <a:path w="254000" h="317500">
                  <a:moveTo>
                    <a:pt x="126999" y="0"/>
                  </a:moveTo>
                  <a:lnTo>
                    <a:pt x="253999" y="63499"/>
                  </a:lnTo>
                  <a:lnTo>
                    <a:pt x="253999" y="158749"/>
                  </a:lnTo>
                  <a:lnTo>
                    <a:pt x="247649" y="204215"/>
                  </a:lnTo>
                  <a:lnTo>
                    <a:pt x="229869" y="244347"/>
                  </a:lnTo>
                  <a:lnTo>
                    <a:pt x="202564" y="277621"/>
                  </a:lnTo>
                  <a:lnTo>
                    <a:pt x="167639" y="302513"/>
                  </a:lnTo>
                  <a:lnTo>
                    <a:pt x="126999" y="317499"/>
                  </a:lnTo>
                  <a:lnTo>
                    <a:pt x="86359" y="302513"/>
                  </a:lnTo>
                  <a:lnTo>
                    <a:pt x="51434" y="277621"/>
                  </a:lnTo>
                  <a:lnTo>
                    <a:pt x="24129" y="244347"/>
                  </a:lnTo>
                  <a:lnTo>
                    <a:pt x="6349" y="204215"/>
                  </a:lnTo>
                  <a:lnTo>
                    <a:pt x="0" y="158749"/>
                  </a:lnTo>
                  <a:lnTo>
                    <a:pt x="0" y="63499"/>
                  </a:lnTo>
                  <a:lnTo>
                    <a:pt x="126999" y="0"/>
                  </a:lnTo>
                  <a:close/>
                </a:path>
                <a:path w="254000" h="317500">
                  <a:moveTo>
                    <a:pt x="79374" y="158749"/>
                  </a:moveTo>
                  <a:lnTo>
                    <a:pt x="111124" y="190499"/>
                  </a:lnTo>
                  <a:lnTo>
                    <a:pt x="174624" y="126999"/>
                  </a:lnTo>
                </a:path>
              </a:pathLst>
            </a:custGeom>
            <a:ln w="2539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519861" y="6396031"/>
            <a:ext cx="5248275" cy="30289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R="225425" algn="r">
              <a:lnSpc>
                <a:spcPct val="100000"/>
              </a:lnSpc>
              <a:spcBef>
                <a:spcPts val="635"/>
              </a:spcBef>
            </a:pPr>
            <a:r>
              <a:rPr sz="4200" spc="-25" dirty="0">
                <a:solidFill>
                  <a:srgbClr val="E4DCD6"/>
                </a:solidFill>
                <a:latin typeface="Times New Roman"/>
                <a:cs typeface="Times New Roman"/>
              </a:rPr>
              <a:t>05</a:t>
            </a:r>
            <a:endParaRPr sz="420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spcBef>
                <a:spcPts val="68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800">
              <a:latin typeface="Courier New"/>
              <a:cs typeface="Courier New"/>
            </a:endParaRPr>
          </a:p>
          <a:p>
            <a:pPr marL="271145">
              <a:lnSpc>
                <a:spcPct val="100000"/>
              </a:lnSpc>
              <a:spcBef>
                <a:spcPts val="290"/>
              </a:spcBef>
            </a:pPr>
            <a:r>
              <a:rPr sz="1800" spc="55" dirty="0">
                <a:solidFill>
                  <a:srgbClr val="16171F"/>
                </a:solidFill>
                <a:latin typeface="Times New Roman"/>
                <a:cs typeface="Times New Roman"/>
              </a:rPr>
              <a:t>Full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16171F"/>
                </a:solidFill>
                <a:latin typeface="Times New Roman"/>
                <a:cs typeface="Times New Roman"/>
              </a:rPr>
              <a:t>Schedule</a:t>
            </a:r>
            <a:r>
              <a:rPr sz="1800" spc="-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VII</a:t>
            </a:r>
            <a:r>
              <a:rPr sz="1800" spc="-2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16171F"/>
                </a:solidFill>
                <a:latin typeface="Times New Roman"/>
                <a:cs typeface="Times New Roman"/>
              </a:rPr>
              <a:t>certification</a:t>
            </a:r>
            <a:endParaRPr sz="1800">
              <a:latin typeface="Times New Roman"/>
              <a:cs typeface="Times New Roman"/>
            </a:endParaRPr>
          </a:p>
          <a:p>
            <a:pPr marL="271145" marR="291465">
              <a:lnSpc>
                <a:spcPct val="115399"/>
              </a:lnSpc>
              <a:spcBef>
                <a:spcPts val="875"/>
              </a:spcBef>
            </a:pP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Utilisation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certificates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and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expenditure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data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for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Companies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Act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2013 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Schedule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VII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3B3C43"/>
                </a:solidFill>
                <a:latin typeface="Arial"/>
                <a:cs typeface="Arial"/>
              </a:rPr>
              <a:t>(Clauses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i,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ii</a:t>
            </a:r>
            <a:r>
              <a:rPr sz="1300" spc="-4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&amp;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iii).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982449" y="6391269"/>
            <a:ext cx="5257800" cy="3038475"/>
            <a:chOff x="11982449" y="6391269"/>
            <a:chExt cx="5257800" cy="3038475"/>
          </a:xfrm>
        </p:grpSpPr>
        <p:sp>
          <p:nvSpPr>
            <p:cNvPr id="30" name="object 30"/>
            <p:cNvSpPr/>
            <p:nvPr/>
          </p:nvSpPr>
          <p:spPr>
            <a:xfrm>
              <a:off x="11982449" y="6391269"/>
              <a:ext cx="5257800" cy="3038475"/>
            </a:xfrm>
            <a:custGeom>
              <a:avLst/>
              <a:gdLst/>
              <a:ahLst/>
              <a:cxnLst/>
              <a:rect l="l" t="t" r="r" b="b"/>
              <a:pathLst>
                <a:path w="5257800" h="3038475">
                  <a:moveTo>
                    <a:pt x="5257799" y="3038474"/>
                  </a:moveTo>
                  <a:lnTo>
                    <a:pt x="0" y="3038474"/>
                  </a:lnTo>
                  <a:lnTo>
                    <a:pt x="0" y="0"/>
                  </a:lnTo>
                  <a:lnTo>
                    <a:pt x="5257799" y="0"/>
                  </a:lnTo>
                  <a:lnTo>
                    <a:pt x="5257799" y="3038474"/>
                  </a:lnTo>
                  <a:close/>
                </a:path>
              </a:pathLst>
            </a:custGeom>
            <a:solidFill>
              <a:srgbClr val="FC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306299" y="6730999"/>
              <a:ext cx="285750" cy="269875"/>
            </a:xfrm>
            <a:custGeom>
              <a:avLst/>
              <a:gdLst/>
              <a:ahLst/>
              <a:cxnLst/>
              <a:rect l="l" t="t" r="r" b="b"/>
              <a:pathLst>
                <a:path w="285750" h="269875">
                  <a:moveTo>
                    <a:pt x="0" y="269874"/>
                  </a:moveTo>
                  <a:lnTo>
                    <a:pt x="285749" y="269874"/>
                  </a:lnTo>
                </a:path>
                <a:path w="285750" h="269875">
                  <a:moveTo>
                    <a:pt x="31749" y="269874"/>
                  </a:moveTo>
                  <a:lnTo>
                    <a:pt x="31749" y="95249"/>
                  </a:lnTo>
                  <a:lnTo>
                    <a:pt x="142874" y="0"/>
                  </a:lnTo>
                  <a:lnTo>
                    <a:pt x="253999" y="95249"/>
                  </a:lnTo>
                  <a:lnTo>
                    <a:pt x="253999" y="269874"/>
                  </a:lnTo>
                </a:path>
                <a:path w="285750" h="269875">
                  <a:moveTo>
                    <a:pt x="95249" y="269874"/>
                  </a:moveTo>
                  <a:lnTo>
                    <a:pt x="95249" y="158749"/>
                  </a:lnTo>
                  <a:lnTo>
                    <a:pt x="190499" y="158749"/>
                  </a:lnTo>
                  <a:lnTo>
                    <a:pt x="190499" y="269874"/>
                  </a:lnTo>
                </a:path>
              </a:pathLst>
            </a:custGeom>
            <a:ln w="25399">
              <a:solidFill>
                <a:srgbClr val="7729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987211" y="6396031"/>
            <a:ext cx="5248275" cy="3028950"/>
          </a:xfrm>
          <a:prstGeom prst="rect">
            <a:avLst/>
          </a:prstGeom>
          <a:ln w="9524">
            <a:solidFill>
              <a:srgbClr val="D3CCC6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R="225425" algn="r">
              <a:lnSpc>
                <a:spcPct val="100000"/>
              </a:lnSpc>
              <a:spcBef>
                <a:spcPts val="635"/>
              </a:spcBef>
            </a:pPr>
            <a:r>
              <a:rPr sz="4200" spc="-25" dirty="0">
                <a:solidFill>
                  <a:srgbClr val="E4DCD6"/>
                </a:solidFill>
                <a:latin typeface="Times New Roman"/>
                <a:cs typeface="Times New Roman"/>
              </a:rPr>
              <a:t>06</a:t>
            </a:r>
            <a:endParaRPr sz="420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spcBef>
                <a:spcPts val="68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800">
              <a:latin typeface="Courier New"/>
              <a:cs typeface="Courier New"/>
            </a:endParaRPr>
          </a:p>
          <a:p>
            <a:pPr marL="271145">
              <a:lnSpc>
                <a:spcPct val="100000"/>
              </a:lnSpc>
              <a:spcBef>
                <a:spcPts val="290"/>
              </a:spcBef>
            </a:pPr>
            <a:r>
              <a:rPr sz="1800" spc="75" dirty="0">
                <a:solidFill>
                  <a:srgbClr val="16171F"/>
                </a:solidFill>
                <a:latin typeface="Times New Roman"/>
                <a:cs typeface="Times New Roman"/>
              </a:rPr>
              <a:t>Government-</a:t>
            </a:r>
            <a:r>
              <a:rPr sz="1800" spc="85" dirty="0">
                <a:solidFill>
                  <a:srgbClr val="16171F"/>
                </a:solidFill>
                <a:latin typeface="Times New Roman"/>
                <a:cs typeface="Times New Roman"/>
              </a:rPr>
              <a:t>endorsed</a:t>
            </a:r>
            <a:r>
              <a:rPr sz="1800" spc="10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6171F"/>
                </a:solidFill>
                <a:latin typeface="Times New Roman"/>
                <a:cs typeface="Times New Roman"/>
              </a:rPr>
              <a:t>delivery</a:t>
            </a:r>
            <a:r>
              <a:rPr sz="1800" spc="100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800" spc="70" dirty="0">
                <a:solidFill>
                  <a:srgbClr val="16171F"/>
                </a:solidFill>
                <a:latin typeface="Times New Roman"/>
                <a:cs typeface="Times New Roman"/>
              </a:rPr>
              <a:t>chain</a:t>
            </a:r>
            <a:endParaRPr sz="1800">
              <a:latin typeface="Times New Roman"/>
              <a:cs typeface="Times New Roman"/>
            </a:endParaRPr>
          </a:p>
          <a:p>
            <a:pPr marL="271145" marR="1113790">
              <a:lnSpc>
                <a:spcPct val="115399"/>
              </a:lnSpc>
              <a:spcBef>
                <a:spcPts val="875"/>
              </a:spcBef>
            </a:pP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Delivered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under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3B3C43"/>
                </a:solidFill>
                <a:latin typeface="Arial"/>
                <a:cs typeface="Arial"/>
              </a:rPr>
              <a:t>a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signed </a:t>
            </a:r>
            <a:r>
              <a:rPr sz="1300" spc="-125" dirty="0">
                <a:solidFill>
                  <a:srgbClr val="3B3C43"/>
                </a:solidFill>
                <a:latin typeface="Arial"/>
                <a:cs typeface="Arial"/>
              </a:rPr>
              <a:t>MoC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3B3C43"/>
                </a:solidFill>
                <a:latin typeface="Arial"/>
                <a:cs typeface="Arial"/>
              </a:rPr>
              <a:t>with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25" dirty="0">
                <a:solidFill>
                  <a:srgbClr val="3B3C43"/>
                </a:solidFill>
                <a:latin typeface="Arial"/>
                <a:cs typeface="Arial"/>
              </a:rPr>
              <a:t>MJPTBCWREIS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65" dirty="0">
                <a:solidFill>
                  <a:srgbClr val="3B3C43"/>
                </a:solidFill>
                <a:latin typeface="Arial"/>
                <a:cs typeface="Arial"/>
              </a:rPr>
              <a:t>—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full </a:t>
            </a:r>
            <a:r>
              <a:rPr sz="1300" spc="-40" dirty="0">
                <a:solidFill>
                  <a:srgbClr val="3B3C43"/>
                </a:solidFill>
                <a:latin typeface="Arial"/>
                <a:cs typeface="Arial"/>
              </a:rPr>
              <a:t>cooperation,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3B3C43"/>
                </a:solidFill>
                <a:latin typeface="Arial"/>
                <a:cs typeface="Arial"/>
              </a:rPr>
              <a:t>named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focal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3B3C43"/>
                </a:solidFill>
                <a:latin typeface="Arial"/>
                <a:cs typeface="Arial"/>
              </a:rPr>
              <a:t>persons,</a:t>
            </a:r>
            <a:r>
              <a:rPr sz="1300" spc="-25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3B3C43"/>
                </a:solidFill>
                <a:latin typeface="Arial"/>
                <a:cs typeface="Arial"/>
              </a:rPr>
              <a:t>audit-</a:t>
            </a:r>
            <a:r>
              <a:rPr sz="1300" spc="-50" dirty="0">
                <a:solidFill>
                  <a:srgbClr val="3B3C43"/>
                </a:solidFill>
                <a:latin typeface="Arial"/>
                <a:cs typeface="Arial"/>
              </a:rPr>
              <a:t>ready</a:t>
            </a:r>
            <a:r>
              <a:rPr sz="1300" spc="-30" dirty="0">
                <a:solidFill>
                  <a:srgbClr val="3B3C4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3B3C43"/>
                </a:solidFill>
                <a:latin typeface="Arial"/>
                <a:cs typeface="Arial"/>
              </a:rPr>
              <a:t>records.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21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7749" y="1085844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B89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5050" y="911344"/>
            <a:ext cx="12218035" cy="1795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400"/>
              </a:spcBef>
              <a:tabLst>
                <a:tab pos="1576070" algn="l"/>
                <a:tab pos="2091689" algn="l"/>
              </a:tabLst>
            </a:pP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L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	T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	A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C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1650" spc="-63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650" spc="-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ts val="5030"/>
              </a:lnSpc>
              <a:spcBef>
                <a:spcPts val="1645"/>
              </a:spcBef>
            </a:pPr>
            <a:r>
              <a:rPr sz="4800" spc="250" dirty="0">
                <a:solidFill>
                  <a:srgbClr val="FCF8EF"/>
                </a:solidFill>
                <a:latin typeface="Times New Roman"/>
                <a:cs typeface="Times New Roman"/>
              </a:rPr>
              <a:t>Partner</a:t>
            </a:r>
            <a:r>
              <a:rPr sz="4800" spc="-16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FCF8EF"/>
                </a:solidFill>
                <a:latin typeface="Times New Roman"/>
                <a:cs typeface="Times New Roman"/>
              </a:rPr>
              <a:t>with</a:t>
            </a:r>
            <a:r>
              <a:rPr sz="4800" spc="-16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FCF8EF"/>
                </a:solidFill>
                <a:latin typeface="Times New Roman"/>
                <a:cs typeface="Times New Roman"/>
              </a:rPr>
              <a:t>us</a:t>
            </a:r>
            <a:r>
              <a:rPr sz="4800" spc="-16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FCF8EF"/>
                </a:solidFill>
                <a:latin typeface="Times New Roman"/>
                <a:cs typeface="Times New Roman"/>
              </a:rPr>
              <a:t>—</a:t>
            </a:r>
            <a:r>
              <a:rPr sz="4800" spc="-16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240" dirty="0">
                <a:solidFill>
                  <a:srgbClr val="FCF8EF"/>
                </a:solidFill>
                <a:latin typeface="Times New Roman"/>
                <a:cs typeface="Times New Roman"/>
              </a:rPr>
              <a:t>to</a:t>
            </a:r>
            <a:r>
              <a:rPr sz="4800" spc="-16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204" dirty="0">
                <a:solidFill>
                  <a:srgbClr val="FCF8EF"/>
                </a:solidFill>
                <a:latin typeface="Times New Roman"/>
                <a:cs typeface="Times New Roman"/>
              </a:rPr>
              <a:t>reach</a:t>
            </a:r>
            <a:r>
              <a:rPr sz="4800" spc="-16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i="1" spc="-35" dirty="0">
                <a:solidFill>
                  <a:srgbClr val="B89056"/>
                </a:solidFill>
                <a:latin typeface="Times New Roman"/>
                <a:cs typeface="Times New Roman"/>
              </a:rPr>
              <a:t>1,23,000</a:t>
            </a:r>
            <a:r>
              <a:rPr sz="4800" i="1" spc="-215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4800" i="1" spc="-190" dirty="0">
                <a:solidFill>
                  <a:srgbClr val="B89056"/>
                </a:solidFill>
                <a:latin typeface="Times New Roman"/>
                <a:cs typeface="Times New Roman"/>
              </a:rPr>
              <a:t>girls</a:t>
            </a:r>
            <a:r>
              <a:rPr sz="4800" i="1" spc="-165" dirty="0">
                <a:solidFill>
                  <a:srgbClr val="B89056"/>
                </a:solidFill>
                <a:latin typeface="Times New Roman"/>
                <a:cs typeface="Times New Roman"/>
              </a:rPr>
              <a:t> </a:t>
            </a:r>
            <a:r>
              <a:rPr sz="4800" spc="130" dirty="0">
                <a:solidFill>
                  <a:srgbClr val="FCF8EF"/>
                </a:solidFill>
                <a:latin typeface="Times New Roman"/>
                <a:cs typeface="Times New Roman"/>
              </a:rPr>
              <a:t>across </a:t>
            </a:r>
            <a:r>
              <a:rPr sz="4800" dirty="0">
                <a:solidFill>
                  <a:srgbClr val="FCF8EF"/>
                </a:solidFill>
                <a:latin typeface="Times New Roman"/>
                <a:cs typeface="Times New Roman"/>
              </a:rPr>
              <a:t>275</a:t>
            </a:r>
            <a:r>
              <a:rPr sz="4800" spc="-17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145" dirty="0">
                <a:solidFill>
                  <a:srgbClr val="FCF8EF"/>
                </a:solidFill>
                <a:latin typeface="Times New Roman"/>
                <a:cs typeface="Times New Roman"/>
              </a:rPr>
              <a:t>campuses,</a:t>
            </a:r>
            <a:r>
              <a:rPr sz="4800" spc="-17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210" dirty="0">
                <a:solidFill>
                  <a:srgbClr val="FCF8EF"/>
                </a:solidFill>
                <a:latin typeface="Times New Roman"/>
                <a:cs typeface="Times New Roman"/>
              </a:rPr>
              <a:t>starting</a:t>
            </a:r>
            <a:r>
              <a:rPr sz="4800" spc="-17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229" dirty="0">
                <a:solidFill>
                  <a:srgbClr val="FCF8EF"/>
                </a:solidFill>
                <a:latin typeface="Times New Roman"/>
                <a:cs typeface="Times New Roman"/>
              </a:rPr>
              <a:t>this</a:t>
            </a:r>
            <a:r>
              <a:rPr sz="4800" spc="-17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160" dirty="0">
                <a:solidFill>
                  <a:srgbClr val="FCF8EF"/>
                </a:solidFill>
                <a:latin typeface="Times New Roman"/>
                <a:cs typeface="Times New Roman"/>
              </a:rPr>
              <a:t>academic</a:t>
            </a:r>
            <a:r>
              <a:rPr sz="4800" spc="-17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4800" spc="-10" dirty="0">
                <a:solidFill>
                  <a:srgbClr val="FCF8EF"/>
                </a:solidFill>
                <a:latin typeface="Times New Roman"/>
                <a:cs typeface="Times New Roman"/>
              </a:rPr>
              <a:t>year.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5050" y="3006725"/>
            <a:ext cx="24022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7094" algn="l"/>
                <a:tab pos="1215390" algn="l"/>
              </a:tabLst>
            </a:pP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D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M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	T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B89056"/>
                </a:solidFill>
                <a:latin typeface="Courier New"/>
                <a:cs typeface="Courier New"/>
              </a:rPr>
              <a:t>O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	P</a:t>
            </a:r>
            <a:r>
              <a:rPr sz="1050" spc="-409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A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R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89056"/>
                </a:solidFill>
                <a:latin typeface="Courier New"/>
                <a:cs typeface="Courier New"/>
              </a:rPr>
              <a:t>I</a:t>
            </a:r>
            <a:r>
              <a:rPr sz="1050" spc="-40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endParaRPr sz="105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5999" y="3028943"/>
            <a:ext cx="7324724" cy="2800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901236" y="3024181"/>
            <a:ext cx="7334250" cy="2809875"/>
          </a:xfrm>
          <a:prstGeom prst="rect">
            <a:avLst/>
          </a:prstGeom>
          <a:ln w="9524">
            <a:solidFill>
              <a:srgbClr val="654F4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950">
              <a:latin typeface="Times New Roman"/>
              <a:cs typeface="Times New Roman"/>
            </a:endParaRPr>
          </a:p>
          <a:p>
            <a:pPr marL="381000">
              <a:lnSpc>
                <a:spcPts val="894"/>
              </a:lnSpc>
              <a:tabLst>
                <a:tab pos="787400" algn="l"/>
              </a:tabLst>
            </a:pP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950" spc="-35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H</a:t>
            </a:r>
            <a:r>
              <a:rPr sz="950" spc="-35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spc="-6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	A</a:t>
            </a:r>
            <a:r>
              <a:rPr sz="950" spc="-35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r>
              <a:rPr sz="950" spc="-35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B89056"/>
                </a:solidFill>
                <a:latin typeface="Courier New"/>
                <a:cs typeface="Courier New"/>
              </a:rPr>
              <a:t>K</a:t>
            </a:r>
            <a:endParaRPr sz="950">
              <a:latin typeface="Courier New"/>
              <a:cs typeface="Courier New"/>
            </a:endParaRPr>
          </a:p>
          <a:p>
            <a:pPr marL="381000">
              <a:lnSpc>
                <a:spcPts val="9655"/>
              </a:lnSpc>
            </a:pPr>
            <a:r>
              <a:rPr sz="8250" spc="-70" dirty="0">
                <a:solidFill>
                  <a:srgbClr val="FCF8EF"/>
                </a:solidFill>
                <a:latin typeface="Times New Roman"/>
                <a:cs typeface="Times New Roman"/>
              </a:rPr>
              <a:t>₹8.04</a:t>
            </a:r>
            <a:r>
              <a:rPr sz="8250" spc="-142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3700" spc="120" dirty="0">
                <a:solidFill>
                  <a:srgbClr val="C0B4AC"/>
                </a:solidFill>
                <a:latin typeface="Times New Roman"/>
                <a:cs typeface="Times New Roman"/>
              </a:rPr>
              <a:t>Cr</a:t>
            </a:r>
            <a:endParaRPr sz="3700">
              <a:latin typeface="Times New Roman"/>
              <a:cs typeface="Times New Roman"/>
            </a:endParaRPr>
          </a:p>
          <a:p>
            <a:pPr marL="381000" marR="525780">
              <a:lnSpc>
                <a:spcPct val="116399"/>
              </a:lnSpc>
              <a:spcBef>
                <a:spcPts val="1190"/>
              </a:spcBef>
            </a:pPr>
            <a:r>
              <a:rPr sz="1450" spc="-75" dirty="0">
                <a:solidFill>
                  <a:srgbClr val="D6CBC2"/>
                </a:solidFill>
                <a:latin typeface="Arial"/>
                <a:cs typeface="Arial"/>
              </a:rPr>
              <a:t>For</a:t>
            </a:r>
            <a:r>
              <a:rPr sz="1450" spc="-60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D6CBC2"/>
                </a:solidFill>
                <a:latin typeface="Arial"/>
                <a:cs typeface="Arial"/>
              </a:rPr>
              <a:t>one </a:t>
            </a:r>
            <a:r>
              <a:rPr sz="1450" dirty="0">
                <a:solidFill>
                  <a:srgbClr val="D6CBC2"/>
                </a:solidFill>
                <a:latin typeface="Arial"/>
                <a:cs typeface="Arial"/>
              </a:rPr>
              <a:t>full</a:t>
            </a:r>
            <a:r>
              <a:rPr sz="1450" spc="-55" dirty="0">
                <a:solidFill>
                  <a:srgbClr val="D6CBC2"/>
                </a:solidFill>
                <a:latin typeface="Arial"/>
                <a:cs typeface="Arial"/>
              </a:rPr>
              <a:t> academic</a:t>
            </a:r>
            <a:r>
              <a:rPr sz="1450" spc="-60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55" dirty="0">
                <a:solidFill>
                  <a:srgbClr val="D6CBC2"/>
                </a:solidFill>
                <a:latin typeface="Arial"/>
                <a:cs typeface="Arial"/>
              </a:rPr>
              <a:t>year </a:t>
            </a:r>
            <a:r>
              <a:rPr sz="1450" spc="-20" dirty="0">
                <a:solidFill>
                  <a:srgbClr val="D6CBC2"/>
                </a:solidFill>
                <a:latin typeface="Arial"/>
                <a:cs typeface="Arial"/>
              </a:rPr>
              <a:t>of</a:t>
            </a:r>
            <a:r>
              <a:rPr sz="1450" spc="-55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30" dirty="0">
                <a:solidFill>
                  <a:srgbClr val="D6CBC2"/>
                </a:solidFill>
                <a:latin typeface="Arial"/>
                <a:cs typeface="Arial"/>
              </a:rPr>
              <a:t>statewide</a:t>
            </a:r>
            <a:r>
              <a:rPr sz="1450" spc="-60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40" dirty="0">
                <a:solidFill>
                  <a:srgbClr val="D6CBC2"/>
                </a:solidFill>
                <a:latin typeface="Arial"/>
                <a:cs typeface="Arial"/>
              </a:rPr>
              <a:t>delivery.</a:t>
            </a:r>
            <a:r>
              <a:rPr sz="1450" spc="-55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35" dirty="0">
                <a:solidFill>
                  <a:srgbClr val="D6CBC2"/>
                </a:solidFill>
                <a:latin typeface="Arial"/>
                <a:cs typeface="Arial"/>
              </a:rPr>
              <a:t>Full,</a:t>
            </a:r>
            <a:r>
              <a:rPr sz="1450" spc="-55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D6CBC2"/>
                </a:solidFill>
                <a:latin typeface="Arial"/>
                <a:cs typeface="Arial"/>
              </a:rPr>
              <a:t>partial,</a:t>
            </a:r>
            <a:r>
              <a:rPr sz="1450" spc="-55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25" dirty="0">
                <a:solidFill>
                  <a:srgbClr val="D6CBC2"/>
                </a:solidFill>
                <a:latin typeface="Arial"/>
                <a:cs typeface="Arial"/>
              </a:rPr>
              <a:t>or</a:t>
            </a:r>
            <a:r>
              <a:rPr sz="1450" spc="-60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35" dirty="0">
                <a:solidFill>
                  <a:srgbClr val="D6CBC2"/>
                </a:solidFill>
                <a:latin typeface="Arial"/>
                <a:cs typeface="Arial"/>
              </a:rPr>
              <a:t>component-specific </a:t>
            </a:r>
            <a:r>
              <a:rPr sz="1450" spc="-30" dirty="0">
                <a:solidFill>
                  <a:srgbClr val="D6CBC2"/>
                </a:solidFill>
                <a:latin typeface="Arial"/>
                <a:cs typeface="Arial"/>
              </a:rPr>
              <a:t>commitments</a:t>
            </a:r>
            <a:r>
              <a:rPr sz="1450" spc="-15" dirty="0">
                <a:solidFill>
                  <a:srgbClr val="D6CBC2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D6CBC2"/>
                </a:solidFill>
                <a:latin typeface="Arial"/>
                <a:cs typeface="Arial"/>
              </a:rPr>
              <a:t>welcomed.</a:t>
            </a:r>
            <a:endParaRPr sz="1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79607" y="6054724"/>
            <a:ext cx="29432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6865" algn="l"/>
                <a:tab pos="926465" algn="l"/>
                <a:tab pos="1433830" algn="l"/>
                <a:tab pos="1840230" algn="l"/>
              </a:tabLst>
            </a:pP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O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ABA29B"/>
                </a:solidFill>
                <a:latin typeface="Courier New"/>
                <a:cs typeface="Courier New"/>
              </a:rPr>
              <a:t>R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	S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C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O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P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ABA29B"/>
                </a:solidFill>
                <a:latin typeface="Courier New"/>
                <a:cs typeface="Courier New"/>
              </a:rPr>
              <a:t>E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	D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O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W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ABA29B"/>
                </a:solidFill>
                <a:latin typeface="Courier New"/>
                <a:cs typeface="Courier New"/>
              </a:rPr>
              <a:t>N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	T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H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ABA29B"/>
                </a:solidFill>
                <a:latin typeface="Courier New"/>
                <a:cs typeface="Courier New"/>
              </a:rPr>
              <a:t>E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	P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A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R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T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N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E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R</a:t>
            </a:r>
            <a:r>
              <a:rPr sz="950" spc="-350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S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H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ABA29B"/>
                </a:solidFill>
                <a:latin typeface="Courier New"/>
                <a:cs typeface="Courier New"/>
              </a:rPr>
              <a:t>I</a:t>
            </a:r>
            <a:r>
              <a:rPr sz="950" spc="-355" dirty="0">
                <a:solidFill>
                  <a:srgbClr val="ABA29B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ABA29B"/>
                </a:solidFill>
                <a:latin typeface="Courier New"/>
                <a:cs typeface="Courier New"/>
              </a:rPr>
              <a:t>P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1236" y="6367456"/>
            <a:ext cx="2362200" cy="857250"/>
          </a:xfrm>
          <a:prstGeom prst="rect">
            <a:avLst/>
          </a:prstGeom>
          <a:ln w="9524">
            <a:solidFill>
              <a:srgbClr val="524342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460"/>
              </a:spcBef>
            </a:pPr>
            <a:r>
              <a:rPr sz="1650" dirty="0">
                <a:solidFill>
                  <a:srgbClr val="FCF8EF"/>
                </a:solidFill>
                <a:latin typeface="Times New Roman"/>
                <a:cs typeface="Times New Roman"/>
              </a:rPr>
              <a:t>₹1.38</a:t>
            </a:r>
            <a:r>
              <a:rPr sz="1650" spc="-4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050" spc="35" dirty="0">
                <a:solidFill>
                  <a:srgbClr val="ABA29B"/>
                </a:solidFill>
                <a:latin typeface="Times New Roman"/>
                <a:cs typeface="Times New Roman"/>
              </a:rPr>
              <a:t>Cr</a:t>
            </a:r>
            <a:endParaRPr sz="1050"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894"/>
              </a:spcBef>
            </a:pP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L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L</a:t>
            </a:r>
            <a:r>
              <a:rPr sz="800" spc="37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5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5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0</a:t>
            </a:r>
            <a:r>
              <a:rPr sz="800" spc="37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C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N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O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B6ABA2"/>
                </a:solidFill>
                <a:latin typeface="Courier New"/>
                <a:cs typeface="Courier New"/>
              </a:rPr>
              <a:t>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87261" y="6367456"/>
            <a:ext cx="2362200" cy="857250"/>
          </a:xfrm>
          <a:prstGeom prst="rect">
            <a:avLst/>
          </a:prstGeom>
          <a:ln w="9524">
            <a:solidFill>
              <a:srgbClr val="524342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1460"/>
              </a:spcBef>
            </a:pPr>
            <a:r>
              <a:rPr sz="1650" dirty="0">
                <a:solidFill>
                  <a:srgbClr val="FCF8EF"/>
                </a:solidFill>
                <a:latin typeface="Times New Roman"/>
                <a:cs typeface="Times New Roman"/>
              </a:rPr>
              <a:t>₹68.75</a:t>
            </a:r>
            <a:r>
              <a:rPr sz="1650" spc="-3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050" spc="-50" dirty="0">
                <a:solidFill>
                  <a:srgbClr val="ABA29B"/>
                </a:solidFill>
                <a:latin typeface="Times New Roman"/>
                <a:cs typeface="Times New Roman"/>
              </a:rPr>
              <a:t>L</a:t>
            </a:r>
            <a:endParaRPr sz="1050">
              <a:latin typeface="Times New Roman"/>
              <a:cs typeface="Times New Roman"/>
            </a:endParaRPr>
          </a:p>
          <a:p>
            <a:pPr marL="173355">
              <a:lnSpc>
                <a:spcPct val="100000"/>
              </a:lnSpc>
              <a:spcBef>
                <a:spcPts val="894"/>
              </a:spcBef>
            </a:pP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S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T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W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D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E</a:t>
            </a:r>
            <a:r>
              <a:rPr sz="800" spc="39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W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R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S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B6ABA2"/>
                </a:solidFill>
                <a:latin typeface="Courier New"/>
                <a:cs typeface="Courier New"/>
              </a:rPr>
              <a:t>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73285" y="6367456"/>
            <a:ext cx="2362200" cy="857250"/>
          </a:xfrm>
          <a:prstGeom prst="rect">
            <a:avLst/>
          </a:prstGeom>
          <a:ln w="9524">
            <a:solidFill>
              <a:srgbClr val="524342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460"/>
              </a:spcBef>
            </a:pPr>
            <a:r>
              <a:rPr sz="1650" dirty="0">
                <a:solidFill>
                  <a:srgbClr val="FCF8EF"/>
                </a:solidFill>
                <a:latin typeface="Times New Roman"/>
                <a:cs typeface="Times New Roman"/>
              </a:rPr>
              <a:t>₹2.92</a:t>
            </a:r>
            <a:r>
              <a:rPr sz="1650" spc="-4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050" spc="-50" dirty="0">
                <a:solidFill>
                  <a:srgbClr val="ABA29B"/>
                </a:solidFill>
                <a:latin typeface="Times New Roman"/>
                <a:cs typeface="Times New Roman"/>
              </a:rPr>
              <a:t>L</a:t>
            </a:r>
            <a:endParaRPr sz="105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  <a:spcBef>
                <a:spcPts val="894"/>
              </a:spcBef>
            </a:pP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D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O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P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T</a:t>
            </a:r>
            <a:r>
              <a:rPr sz="800" spc="37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1</a:t>
            </a:r>
            <a:r>
              <a:rPr sz="800" spc="37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N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S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T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T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U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6ABA2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B6ABA2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B6ABA2"/>
                </a:solidFill>
                <a:latin typeface="Courier New"/>
                <a:cs typeface="Courier New"/>
              </a:rPr>
              <a:t>N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896474" y="8534393"/>
            <a:ext cx="7343775" cy="895350"/>
            <a:chOff x="9896474" y="8534393"/>
            <a:chExt cx="7343775" cy="895350"/>
          </a:xfrm>
        </p:grpSpPr>
        <p:sp>
          <p:nvSpPr>
            <p:cNvPr id="13" name="object 13"/>
            <p:cNvSpPr/>
            <p:nvPr/>
          </p:nvSpPr>
          <p:spPr>
            <a:xfrm>
              <a:off x="9896474" y="8534393"/>
              <a:ext cx="7343775" cy="895350"/>
            </a:xfrm>
            <a:custGeom>
              <a:avLst/>
              <a:gdLst/>
              <a:ahLst/>
              <a:cxnLst/>
              <a:rect l="l" t="t" r="r" b="b"/>
              <a:pathLst>
                <a:path w="7343775" h="895350">
                  <a:moveTo>
                    <a:pt x="7343774" y="895349"/>
                  </a:moveTo>
                  <a:lnTo>
                    <a:pt x="0" y="895349"/>
                  </a:lnTo>
                  <a:lnTo>
                    <a:pt x="0" y="0"/>
                  </a:lnTo>
                  <a:lnTo>
                    <a:pt x="7343774" y="0"/>
                  </a:lnTo>
                  <a:lnTo>
                    <a:pt x="7343774" y="895349"/>
                  </a:lnTo>
                  <a:close/>
                </a:path>
              </a:pathLst>
            </a:custGeom>
            <a:solidFill>
              <a:srgbClr val="2F22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901236" y="8539156"/>
              <a:ext cx="7334250" cy="885825"/>
            </a:xfrm>
            <a:custGeom>
              <a:avLst/>
              <a:gdLst/>
              <a:ahLst/>
              <a:cxnLst/>
              <a:rect l="l" t="t" r="r" b="b"/>
              <a:pathLst>
                <a:path w="7334250" h="885825">
                  <a:moveTo>
                    <a:pt x="0" y="0"/>
                  </a:moveTo>
                  <a:lnTo>
                    <a:pt x="7334249" y="0"/>
                  </a:lnTo>
                  <a:lnTo>
                    <a:pt x="7334249" y="885824"/>
                  </a:lnTo>
                  <a:lnTo>
                    <a:pt x="0" y="885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243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130432" y="8710390"/>
            <a:ext cx="3694429" cy="46545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5"/>
              </a:spcBef>
            </a:pPr>
            <a:r>
              <a:rPr sz="800" dirty="0">
                <a:solidFill>
                  <a:srgbClr val="B89056"/>
                </a:solidFill>
                <a:latin typeface="Courier New"/>
                <a:cs typeface="Courier New"/>
              </a:rPr>
              <a:t>N</a:t>
            </a:r>
            <a:r>
              <a:rPr sz="800" spc="-31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800" spc="-31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89056"/>
                </a:solidFill>
                <a:latin typeface="Courier New"/>
                <a:cs typeface="Courier New"/>
              </a:rPr>
              <a:t>X</a:t>
            </a:r>
            <a:r>
              <a:rPr sz="800" spc="-30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800" spc="39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89056"/>
                </a:solidFill>
                <a:latin typeface="Courier New"/>
                <a:cs typeface="Courier New"/>
              </a:rPr>
              <a:t>S</a:t>
            </a:r>
            <a:r>
              <a:rPr sz="800" spc="-31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89056"/>
                </a:solidFill>
                <a:latin typeface="Courier New"/>
                <a:cs typeface="Courier New"/>
              </a:rPr>
              <a:t>T</a:t>
            </a:r>
            <a:r>
              <a:rPr sz="800" spc="-305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B89056"/>
                </a:solidFill>
                <a:latin typeface="Courier New"/>
                <a:cs typeface="Courier New"/>
              </a:rPr>
              <a:t>E</a:t>
            </a:r>
            <a:r>
              <a:rPr sz="800" spc="-310" dirty="0">
                <a:solidFill>
                  <a:srgbClr val="B89056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B89056"/>
                </a:solidFill>
                <a:latin typeface="Courier New"/>
                <a:cs typeface="Courier New"/>
              </a:rPr>
              <a:t>P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9"/>
              </a:spcBef>
            </a:pPr>
            <a:r>
              <a:rPr sz="1500" spc="50" dirty="0">
                <a:solidFill>
                  <a:srgbClr val="FCF8EF"/>
                </a:solidFill>
                <a:latin typeface="Times New Roman"/>
                <a:cs typeface="Times New Roman"/>
              </a:rPr>
              <a:t>Sign</a:t>
            </a:r>
            <a:r>
              <a:rPr sz="15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spc="105" dirty="0">
                <a:solidFill>
                  <a:srgbClr val="FCF8EF"/>
                </a:solidFill>
                <a:latin typeface="Times New Roman"/>
                <a:cs typeface="Times New Roman"/>
              </a:rPr>
              <a:t>the</a:t>
            </a:r>
            <a:r>
              <a:rPr sz="1500" spc="2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spc="60" dirty="0">
                <a:solidFill>
                  <a:srgbClr val="FCF8EF"/>
                </a:solidFill>
                <a:latin typeface="Times New Roman"/>
                <a:cs typeface="Times New Roman"/>
              </a:rPr>
              <a:t>MoU.</a:t>
            </a:r>
            <a:r>
              <a:rPr sz="15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spc="65" dirty="0">
                <a:solidFill>
                  <a:srgbClr val="FCF8EF"/>
                </a:solidFill>
                <a:latin typeface="Times New Roman"/>
                <a:cs typeface="Times New Roman"/>
              </a:rPr>
              <a:t>Reach</a:t>
            </a:r>
            <a:r>
              <a:rPr sz="1500" spc="2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spc="105" dirty="0">
                <a:solidFill>
                  <a:srgbClr val="FCF8EF"/>
                </a:solidFill>
                <a:latin typeface="Times New Roman"/>
                <a:cs typeface="Times New Roman"/>
              </a:rPr>
              <a:t>the</a:t>
            </a:r>
            <a:r>
              <a:rPr sz="15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spc="70" dirty="0">
                <a:solidFill>
                  <a:srgbClr val="FCF8EF"/>
                </a:solidFill>
                <a:latin typeface="Times New Roman"/>
                <a:cs typeface="Times New Roman"/>
              </a:rPr>
              <a:t>first</a:t>
            </a:r>
            <a:r>
              <a:rPr sz="1500" spc="2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spc="65" dirty="0">
                <a:solidFill>
                  <a:srgbClr val="FCF8EF"/>
                </a:solidFill>
                <a:latin typeface="Times New Roman"/>
                <a:cs typeface="Times New Roman"/>
              </a:rPr>
              <a:t>girls</a:t>
            </a:r>
            <a:r>
              <a:rPr sz="1500" spc="2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CF8EF"/>
                </a:solidFill>
                <a:latin typeface="Times New Roman"/>
                <a:cs typeface="Times New Roman"/>
              </a:rPr>
              <a:t>by</a:t>
            </a:r>
            <a:r>
              <a:rPr sz="15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500" spc="45" dirty="0">
                <a:solidFill>
                  <a:srgbClr val="FCF8EF"/>
                </a:solidFill>
                <a:latin typeface="Times New Roman"/>
                <a:cs typeface="Times New Roman"/>
              </a:rPr>
              <a:t>June.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369768" y="9039212"/>
            <a:ext cx="1632585" cy="9525"/>
          </a:xfrm>
          <a:custGeom>
            <a:avLst/>
            <a:gdLst/>
            <a:ahLst/>
            <a:cxnLst/>
            <a:rect l="l" t="t" r="r" b="b"/>
            <a:pathLst>
              <a:path w="1632584" h="9525">
                <a:moveTo>
                  <a:pt x="16675" y="0"/>
                </a:moveTo>
                <a:lnTo>
                  <a:pt x="0" y="0"/>
                </a:lnTo>
                <a:lnTo>
                  <a:pt x="0" y="9525"/>
                </a:lnTo>
                <a:lnTo>
                  <a:pt x="16675" y="9525"/>
                </a:lnTo>
                <a:lnTo>
                  <a:pt x="16675" y="0"/>
                </a:lnTo>
                <a:close/>
              </a:path>
              <a:path w="1632584" h="9525">
                <a:moveTo>
                  <a:pt x="1632343" y="0"/>
                </a:moveTo>
                <a:lnTo>
                  <a:pt x="1599526" y="0"/>
                </a:lnTo>
                <a:lnTo>
                  <a:pt x="1599526" y="9525"/>
                </a:lnTo>
                <a:lnTo>
                  <a:pt x="1632343" y="9525"/>
                </a:lnTo>
                <a:lnTo>
                  <a:pt x="1632343" y="0"/>
                </a:lnTo>
                <a:close/>
              </a:path>
            </a:pathLst>
          </a:custGeom>
          <a:solidFill>
            <a:srgbClr val="0000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5369778" y="8883650"/>
            <a:ext cx="16294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spc="100" dirty="0">
                <a:solidFill>
                  <a:srgbClr val="0000ED"/>
                </a:solidFill>
                <a:latin typeface="Courier New"/>
                <a:cs typeface="Courier New"/>
                <a:hlinkClick r:id="rId3"/>
              </a:rPr>
              <a:t>[</a:t>
            </a:r>
            <a:r>
              <a:rPr sz="1050" u="sng" spc="100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Courier New"/>
                <a:cs typeface="Courier New"/>
                <a:hlinkClick r:id="rId3"/>
              </a:rPr>
              <a:t>email</a:t>
            </a:r>
            <a:r>
              <a:rPr sz="1050" u="sng" spc="275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Courier New"/>
                <a:cs typeface="Courier New"/>
                <a:hlinkClick r:id="rId3"/>
              </a:rPr>
              <a:t> </a:t>
            </a:r>
            <a:r>
              <a:rPr sz="1050" u="sng" spc="100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Courier New"/>
                <a:cs typeface="Courier New"/>
                <a:hlinkClick r:id="rId3"/>
              </a:rPr>
              <a:t>protected</a:t>
            </a:r>
            <a:r>
              <a:rPr sz="1050" u="none" spc="100" dirty="0">
                <a:solidFill>
                  <a:srgbClr val="0000ED"/>
                </a:solidFill>
                <a:latin typeface="Courier New"/>
                <a:cs typeface="Courier New"/>
                <a:hlinkClick r:id="rId3"/>
              </a:rPr>
              <a:t>]</a:t>
            </a:r>
            <a:endParaRPr sz="1050">
              <a:latin typeface="Courier New"/>
              <a:cs typeface="Courier New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7749" y="466719"/>
            <a:ext cx="95250" cy="9524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263649" y="40640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T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R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38424" y="406400"/>
            <a:ext cx="111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S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W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A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B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H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I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M</a:t>
            </a:r>
            <a:r>
              <a:rPr sz="1200" spc="-459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A</a:t>
            </a:r>
            <a:r>
              <a:rPr sz="1200" spc="-45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968934" y="406400"/>
            <a:ext cx="2256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  <a:tab pos="606425" algn="l"/>
                <a:tab pos="1200785" algn="l"/>
                <a:tab pos="1557655" algn="l"/>
              </a:tabLst>
            </a:pP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1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B5ABA4"/>
                </a:solidFill>
                <a:latin typeface="Courier New"/>
                <a:cs typeface="Courier New"/>
              </a:rPr>
              <a:t>6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·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C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A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L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L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O</a:t>
            </a:r>
            <a:r>
              <a:rPr sz="1200" dirty="0">
                <a:solidFill>
                  <a:srgbClr val="B5ABA4"/>
                </a:solidFill>
                <a:latin typeface="Courier New"/>
                <a:cs typeface="Courier New"/>
              </a:rPr>
              <a:t>	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A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C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T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I</a:t>
            </a:r>
            <a:r>
              <a:rPr sz="1200" spc="-500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5ABA4"/>
                </a:solidFill>
                <a:latin typeface="Courier New"/>
                <a:cs typeface="Courier New"/>
              </a:rPr>
              <a:t>O</a:t>
            </a:r>
            <a:r>
              <a:rPr sz="1200" spc="-505" dirty="0">
                <a:solidFill>
                  <a:srgbClr val="B5ABA4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5ABA4"/>
                </a:solidFill>
                <a:latin typeface="Courier New"/>
                <a:cs typeface="Courier New"/>
              </a:rPr>
              <a:t>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73250" y="3492500"/>
            <a:ext cx="4958715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14" dirty="0">
                <a:solidFill>
                  <a:srgbClr val="FCF8EF"/>
                </a:solidFill>
                <a:latin typeface="Times New Roman"/>
                <a:cs typeface="Times New Roman"/>
              </a:rPr>
              <a:t>Partnership</a:t>
            </a:r>
            <a:r>
              <a:rPr sz="1800" spc="2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75" dirty="0">
                <a:solidFill>
                  <a:srgbClr val="FCF8EF"/>
                </a:solidFill>
                <a:latin typeface="Times New Roman"/>
                <a:cs typeface="Times New Roman"/>
              </a:rPr>
              <a:t>conversation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300" spc="-110" dirty="0">
                <a:solidFill>
                  <a:srgbClr val="C0B4AC"/>
                </a:solidFill>
                <a:latin typeface="Arial"/>
                <a:cs typeface="Arial"/>
              </a:rPr>
              <a:t>A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0B4AC"/>
                </a:solidFill>
                <a:latin typeface="Arial"/>
                <a:cs typeface="Arial"/>
              </a:rPr>
              <a:t>45-</a:t>
            </a:r>
            <a:r>
              <a:rPr sz="1300" spc="-30" dirty="0">
                <a:solidFill>
                  <a:srgbClr val="C0B4AC"/>
                </a:solidFill>
                <a:latin typeface="Arial"/>
                <a:cs typeface="Arial"/>
              </a:rPr>
              <a:t>minute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review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0B4AC"/>
                </a:solidFill>
                <a:latin typeface="Arial"/>
                <a:cs typeface="Arial"/>
              </a:rPr>
              <a:t>with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your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185" dirty="0">
                <a:solidFill>
                  <a:srgbClr val="C0B4AC"/>
                </a:solidFill>
                <a:latin typeface="Arial"/>
                <a:cs typeface="Arial"/>
              </a:rPr>
              <a:t>CSR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C0B4AC"/>
                </a:solidFill>
                <a:latin typeface="Arial"/>
                <a:cs typeface="Arial"/>
              </a:rPr>
              <a:t>committee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65" dirty="0">
                <a:solidFill>
                  <a:srgbClr val="C0B4AC"/>
                </a:solidFill>
                <a:latin typeface="Arial"/>
                <a:cs typeface="Arial"/>
              </a:rPr>
              <a:t>—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0B4AC"/>
                </a:solidFill>
                <a:latin typeface="Arial"/>
                <a:cs typeface="Arial"/>
              </a:rPr>
              <a:t>fit,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scale,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C0B4AC"/>
                </a:solidFill>
                <a:latin typeface="Arial"/>
                <a:cs typeface="Arial"/>
              </a:rPr>
              <a:t>disbursement.</a:t>
            </a:r>
            <a:endParaRPr sz="1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73250" y="4387850"/>
            <a:ext cx="6109970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FCF8EF"/>
                </a:solidFill>
                <a:latin typeface="Times New Roman"/>
                <a:cs typeface="Times New Roman"/>
              </a:rPr>
              <a:t>Site</a:t>
            </a:r>
            <a:r>
              <a:rPr sz="1800" spc="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FCF8EF"/>
                </a:solidFill>
                <a:latin typeface="Times New Roman"/>
                <a:cs typeface="Times New Roman"/>
              </a:rPr>
              <a:t>visit</a:t>
            </a:r>
            <a:r>
              <a:rPr sz="18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-130" dirty="0">
                <a:solidFill>
                  <a:srgbClr val="FCF8EF"/>
                </a:solidFill>
                <a:latin typeface="Times New Roman"/>
                <a:cs typeface="Times New Roman"/>
              </a:rPr>
              <a:t>&amp;</a:t>
            </a:r>
            <a:r>
              <a:rPr sz="1800" spc="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90" dirty="0">
                <a:solidFill>
                  <a:srgbClr val="FCF8EF"/>
                </a:solidFill>
                <a:latin typeface="Times New Roman"/>
                <a:cs typeface="Times New Roman"/>
              </a:rPr>
              <a:t>pilot</a:t>
            </a:r>
            <a:r>
              <a:rPr sz="18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45" dirty="0">
                <a:solidFill>
                  <a:srgbClr val="FCF8EF"/>
                </a:solidFill>
                <a:latin typeface="Times New Roman"/>
                <a:cs typeface="Times New Roman"/>
              </a:rPr>
              <a:t>review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300" spc="-40" dirty="0">
                <a:solidFill>
                  <a:srgbClr val="C0B4AC"/>
                </a:solidFill>
                <a:latin typeface="Arial"/>
                <a:cs typeface="Arial"/>
              </a:rPr>
              <a:t>Optional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0B4AC"/>
                </a:solidFill>
                <a:latin typeface="Arial"/>
                <a:cs typeface="Arial"/>
              </a:rPr>
              <a:t>visit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0B4AC"/>
                </a:solidFill>
                <a:latin typeface="Arial"/>
                <a:cs typeface="Arial"/>
              </a:rPr>
              <a:t>to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0B4AC"/>
                </a:solidFill>
                <a:latin typeface="Arial"/>
                <a:cs typeface="Arial"/>
              </a:rPr>
              <a:t>the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C0B4AC"/>
                </a:solidFill>
                <a:latin typeface="Arial"/>
                <a:cs typeface="Arial"/>
              </a:rPr>
              <a:t>Warangal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0B4AC"/>
                </a:solidFill>
                <a:latin typeface="Arial"/>
                <a:cs typeface="Arial"/>
              </a:rPr>
              <a:t>pilot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65" dirty="0">
                <a:solidFill>
                  <a:srgbClr val="C0B4AC"/>
                </a:solidFill>
                <a:latin typeface="Arial"/>
                <a:cs typeface="Arial"/>
              </a:rPr>
              <a:t>—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observe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C0B4AC"/>
                </a:solidFill>
                <a:latin typeface="Arial"/>
                <a:cs typeface="Arial"/>
              </a:rPr>
              <a:t>a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C0B4AC"/>
                </a:solidFill>
                <a:latin typeface="Arial"/>
                <a:cs typeface="Arial"/>
              </a:rPr>
              <a:t>session,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C0B4AC"/>
                </a:solidFill>
                <a:latin typeface="Arial"/>
                <a:cs typeface="Arial"/>
              </a:rPr>
              <a:t>inspect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C0B4AC"/>
                </a:solidFill>
                <a:latin typeface="Arial"/>
                <a:cs typeface="Arial"/>
              </a:rPr>
              <a:t>an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0B4AC"/>
                </a:solidFill>
                <a:latin typeface="Arial"/>
                <a:cs typeface="Arial"/>
              </a:rPr>
              <a:t>install,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C0B4AC"/>
                </a:solidFill>
                <a:latin typeface="Arial"/>
                <a:cs typeface="Arial"/>
              </a:rPr>
              <a:t>meet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C0B4AC"/>
                </a:solidFill>
                <a:latin typeface="Arial"/>
                <a:cs typeface="Arial"/>
              </a:rPr>
              <a:t>wardens.</a:t>
            </a:r>
            <a:endParaRPr sz="1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73250" y="5283199"/>
            <a:ext cx="4011295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14" dirty="0">
                <a:solidFill>
                  <a:srgbClr val="FCF8EF"/>
                </a:solidFill>
                <a:latin typeface="Times New Roman"/>
                <a:cs typeface="Times New Roman"/>
              </a:rPr>
              <a:t>MoU</a:t>
            </a:r>
            <a:r>
              <a:rPr sz="1800" spc="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-130" dirty="0">
                <a:solidFill>
                  <a:srgbClr val="FCF8EF"/>
                </a:solidFill>
                <a:latin typeface="Times New Roman"/>
                <a:cs typeface="Times New Roman"/>
              </a:rPr>
              <a:t>&amp;</a:t>
            </a:r>
            <a:r>
              <a:rPr sz="18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90" dirty="0">
                <a:solidFill>
                  <a:srgbClr val="FCF8EF"/>
                </a:solidFill>
                <a:latin typeface="Times New Roman"/>
                <a:cs typeface="Times New Roman"/>
              </a:rPr>
              <a:t>milestone-linked</a:t>
            </a:r>
            <a:r>
              <a:rPr sz="1800" spc="1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95" dirty="0">
                <a:solidFill>
                  <a:srgbClr val="FCF8EF"/>
                </a:solidFill>
                <a:latin typeface="Times New Roman"/>
                <a:cs typeface="Times New Roman"/>
              </a:rPr>
              <a:t>disbursement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300" spc="-75" dirty="0">
                <a:solidFill>
                  <a:srgbClr val="C0B4AC"/>
                </a:solidFill>
                <a:latin typeface="Arial"/>
                <a:cs typeface="Arial"/>
              </a:rPr>
              <a:t>Sign</a:t>
            </a:r>
            <a:r>
              <a:rPr sz="1300" spc="-6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0B4AC"/>
                </a:solidFill>
                <a:latin typeface="Arial"/>
                <a:cs typeface="Arial"/>
              </a:rPr>
              <a:t>the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80" dirty="0">
                <a:solidFill>
                  <a:srgbClr val="C0B4AC"/>
                </a:solidFill>
                <a:latin typeface="Arial"/>
                <a:cs typeface="Arial"/>
              </a:rPr>
              <a:t>MoU;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launch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0B4AC"/>
                </a:solidFill>
                <a:latin typeface="Arial"/>
                <a:cs typeface="Arial"/>
              </a:rPr>
              <a:t>with</a:t>
            </a:r>
            <a:r>
              <a:rPr sz="1300" spc="-6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0B4AC"/>
                </a:solidFill>
                <a:latin typeface="Arial"/>
                <a:cs typeface="Arial"/>
              </a:rPr>
              <a:t>the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C0B4AC"/>
                </a:solidFill>
                <a:latin typeface="Arial"/>
                <a:cs typeface="Arial"/>
              </a:rPr>
              <a:t>April–</a:t>
            </a:r>
            <a:r>
              <a:rPr sz="1300" spc="-90" dirty="0">
                <a:solidFill>
                  <a:srgbClr val="C0B4AC"/>
                </a:solidFill>
                <a:latin typeface="Arial"/>
                <a:cs typeface="Arial"/>
              </a:rPr>
              <a:t>May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C0B4AC"/>
                </a:solidFill>
                <a:latin typeface="Arial"/>
                <a:cs typeface="Arial"/>
              </a:rPr>
              <a:t>planning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C0B4AC"/>
                </a:solidFill>
                <a:latin typeface="Arial"/>
                <a:cs typeface="Arial"/>
              </a:rPr>
              <a:t>phase.</a:t>
            </a:r>
            <a:endParaRPr sz="1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73250" y="6178549"/>
            <a:ext cx="5622925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solidFill>
                  <a:srgbClr val="FCF8EF"/>
                </a:solidFill>
                <a:latin typeface="Times New Roman"/>
                <a:cs typeface="Times New Roman"/>
              </a:rPr>
              <a:t>First</a:t>
            </a:r>
            <a:r>
              <a:rPr sz="1800" spc="5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CF8EF"/>
                </a:solidFill>
                <a:latin typeface="Times New Roman"/>
                <a:cs typeface="Times New Roman"/>
              </a:rPr>
              <a:t>reach</a:t>
            </a:r>
            <a:r>
              <a:rPr sz="1800" spc="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CF8EF"/>
                </a:solidFill>
                <a:latin typeface="Times New Roman"/>
                <a:cs typeface="Times New Roman"/>
              </a:rPr>
              <a:t>—</a:t>
            </a:r>
            <a:r>
              <a:rPr sz="1800" spc="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85" dirty="0">
                <a:solidFill>
                  <a:srgbClr val="FCF8EF"/>
                </a:solidFill>
                <a:latin typeface="Times New Roman"/>
                <a:cs typeface="Times New Roman"/>
              </a:rPr>
              <a:t>June</a:t>
            </a:r>
            <a:r>
              <a:rPr sz="1800" spc="10" dirty="0">
                <a:solidFill>
                  <a:srgbClr val="FCF8E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CF8EF"/>
                </a:solidFill>
                <a:latin typeface="Times New Roman"/>
                <a:cs typeface="Times New Roman"/>
              </a:rPr>
              <a:t>2026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300" spc="-30" dirty="0">
                <a:solidFill>
                  <a:srgbClr val="C0B4AC"/>
                </a:solidFill>
                <a:latin typeface="Arial"/>
                <a:cs typeface="Arial"/>
              </a:rPr>
              <a:t>First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C0B4AC"/>
                </a:solidFill>
                <a:latin typeface="Arial"/>
                <a:cs typeface="Arial"/>
              </a:rPr>
              <a:t>girls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receive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0B4AC"/>
                </a:solidFill>
                <a:latin typeface="Arial"/>
                <a:cs typeface="Arial"/>
              </a:rPr>
              <a:t>kits,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C0B4AC"/>
                </a:solidFill>
                <a:latin typeface="Arial"/>
                <a:cs typeface="Arial"/>
              </a:rPr>
              <a:t>training,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and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C0B4AC"/>
                </a:solidFill>
                <a:latin typeface="Arial"/>
                <a:cs typeface="Arial"/>
              </a:rPr>
              <a:t>access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0B4AC"/>
                </a:solidFill>
                <a:latin typeface="Arial"/>
                <a:cs typeface="Arial"/>
              </a:rPr>
              <a:t>to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safe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C0B4AC"/>
                </a:solidFill>
                <a:latin typeface="Arial"/>
                <a:cs typeface="Arial"/>
              </a:rPr>
              <a:t>disposal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0B4AC"/>
                </a:solidFill>
                <a:latin typeface="Arial"/>
                <a:cs typeface="Arial"/>
              </a:rPr>
              <a:t>at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C0B4AC"/>
                </a:solidFill>
                <a:latin typeface="Arial"/>
                <a:cs typeface="Arial"/>
              </a:rPr>
              <a:t>academic</a:t>
            </a:r>
            <a:r>
              <a:rPr sz="1300" spc="-50" dirty="0">
                <a:solidFill>
                  <a:srgbClr val="C0B4AC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C0B4AC"/>
                </a:solidFill>
                <a:latin typeface="Arial"/>
                <a:cs typeface="Arial"/>
              </a:rPr>
              <a:t>year-</a:t>
            </a:r>
            <a:r>
              <a:rPr sz="1300" spc="-10" dirty="0">
                <a:solidFill>
                  <a:srgbClr val="C0B4AC"/>
                </a:solidFill>
                <a:latin typeface="Arial"/>
                <a:cs typeface="Arial"/>
              </a:rPr>
              <a:t>start.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47749" y="3400418"/>
            <a:ext cx="571500" cy="3257550"/>
            <a:chOff x="1047749" y="3400418"/>
            <a:chExt cx="571500" cy="3257550"/>
          </a:xfrm>
        </p:grpSpPr>
        <p:sp>
          <p:nvSpPr>
            <p:cNvPr id="27" name="object 27"/>
            <p:cNvSpPr/>
            <p:nvPr/>
          </p:nvSpPr>
          <p:spPr>
            <a:xfrm>
              <a:off x="1333499" y="3552818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9524" y="3105149"/>
                  </a:moveTo>
                  <a:lnTo>
                    <a:pt x="0" y="31051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3105149"/>
                  </a:lnTo>
                  <a:close/>
                </a:path>
              </a:pathLst>
            </a:custGeom>
            <a:solidFill>
              <a:srgbClr val="5243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47749" y="3400418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388"/>
                  </a:lnTo>
                  <a:lnTo>
                    <a:pt x="202801" y="559203"/>
                  </a:lnTo>
                  <a:lnTo>
                    <a:pt x="163575" y="544041"/>
                  </a:lnTo>
                  <a:lnTo>
                    <a:pt x="126995" y="523298"/>
                  </a:lnTo>
                  <a:lnTo>
                    <a:pt x="93851" y="497455"/>
                  </a:lnTo>
                  <a:lnTo>
                    <a:pt x="64862" y="467004"/>
                  </a:lnTo>
                  <a:lnTo>
                    <a:pt x="40653" y="432629"/>
                  </a:lnTo>
                  <a:lnTo>
                    <a:pt x="21751" y="395064"/>
                  </a:lnTo>
                  <a:lnTo>
                    <a:pt x="8563" y="355169"/>
                  </a:lnTo>
                  <a:lnTo>
                    <a:pt x="1376" y="313748"/>
                  </a:lnTo>
                  <a:lnTo>
                    <a:pt x="0" y="285749"/>
                  </a:lnTo>
                  <a:lnTo>
                    <a:pt x="343" y="271727"/>
                  </a:lnTo>
                  <a:lnTo>
                    <a:pt x="5490" y="229995"/>
                  </a:lnTo>
                  <a:lnTo>
                    <a:pt x="16703" y="189476"/>
                  </a:lnTo>
                  <a:lnTo>
                    <a:pt x="33740" y="151023"/>
                  </a:lnTo>
                  <a:lnTo>
                    <a:pt x="56233" y="115514"/>
                  </a:lnTo>
                  <a:lnTo>
                    <a:pt x="83694" y="83679"/>
                  </a:lnTo>
                  <a:lnTo>
                    <a:pt x="115528" y="56217"/>
                  </a:lnTo>
                  <a:lnTo>
                    <a:pt x="151048" y="33728"/>
                  </a:lnTo>
                  <a:lnTo>
                    <a:pt x="189483" y="16705"/>
                  </a:lnTo>
                  <a:lnTo>
                    <a:pt x="230002" y="5488"/>
                  </a:lnTo>
                  <a:lnTo>
                    <a:pt x="271728" y="363"/>
                  </a:lnTo>
                  <a:lnTo>
                    <a:pt x="285749" y="0"/>
                  </a:lnTo>
                  <a:lnTo>
                    <a:pt x="299771" y="363"/>
                  </a:lnTo>
                  <a:lnTo>
                    <a:pt x="341497" y="5488"/>
                  </a:lnTo>
                  <a:lnTo>
                    <a:pt x="382016" y="16705"/>
                  </a:lnTo>
                  <a:lnTo>
                    <a:pt x="420451" y="33728"/>
                  </a:lnTo>
                  <a:lnTo>
                    <a:pt x="455971" y="56226"/>
                  </a:lnTo>
                  <a:lnTo>
                    <a:pt x="487805" y="83679"/>
                  </a:lnTo>
                  <a:lnTo>
                    <a:pt x="515266" y="115511"/>
                  </a:lnTo>
                  <a:lnTo>
                    <a:pt x="537758" y="151023"/>
                  </a:lnTo>
                  <a:lnTo>
                    <a:pt x="554796" y="189479"/>
                  </a:lnTo>
                  <a:lnTo>
                    <a:pt x="566009" y="229995"/>
                  </a:lnTo>
                  <a:lnTo>
                    <a:pt x="571156" y="271727"/>
                  </a:lnTo>
                  <a:lnTo>
                    <a:pt x="571499" y="285749"/>
                  </a:lnTo>
                  <a:lnTo>
                    <a:pt x="571156" y="299770"/>
                  </a:lnTo>
                  <a:lnTo>
                    <a:pt x="566009" y="341486"/>
                  </a:lnTo>
                  <a:lnTo>
                    <a:pt x="554796" y="381992"/>
                  </a:lnTo>
                  <a:lnTo>
                    <a:pt x="537759" y="420421"/>
                  </a:lnTo>
                  <a:lnTo>
                    <a:pt x="515266" y="455948"/>
                  </a:lnTo>
                  <a:lnTo>
                    <a:pt x="487805" y="487783"/>
                  </a:lnTo>
                  <a:lnTo>
                    <a:pt x="455971" y="515233"/>
                  </a:lnTo>
                  <a:lnTo>
                    <a:pt x="420451" y="537752"/>
                  </a:lnTo>
                  <a:lnTo>
                    <a:pt x="382016" y="554789"/>
                  </a:lnTo>
                  <a:lnTo>
                    <a:pt x="341497" y="565993"/>
                  </a:lnTo>
                  <a:lnTo>
                    <a:pt x="299771" y="571153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B890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203225" y="3511550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21716"/>
                </a:solidFill>
                <a:latin typeface="Times New Roman"/>
                <a:cs typeface="Times New Roman"/>
              </a:rPr>
              <a:t>01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47749" y="4295768"/>
            <a:ext cx="609600" cy="609600"/>
            <a:chOff x="1047749" y="4295768"/>
            <a:chExt cx="609600" cy="609600"/>
          </a:xfrm>
        </p:grpSpPr>
        <p:sp>
          <p:nvSpPr>
            <p:cNvPr id="31" name="object 31"/>
            <p:cNvSpPr/>
            <p:nvPr/>
          </p:nvSpPr>
          <p:spPr>
            <a:xfrm>
              <a:off x="1057274" y="4305293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295274" y="590549"/>
                  </a:moveTo>
                  <a:lnTo>
                    <a:pt x="251949" y="587361"/>
                  </a:lnTo>
                  <a:lnTo>
                    <a:pt x="209561" y="577843"/>
                  </a:lnTo>
                  <a:lnTo>
                    <a:pt x="169028" y="562186"/>
                  </a:lnTo>
                  <a:lnTo>
                    <a:pt x="131228" y="540766"/>
                  </a:lnTo>
                  <a:lnTo>
                    <a:pt x="96980" y="514045"/>
                  </a:lnTo>
                  <a:lnTo>
                    <a:pt x="67024" y="482575"/>
                  </a:lnTo>
                  <a:lnTo>
                    <a:pt x="42008" y="447070"/>
                  </a:lnTo>
                  <a:lnTo>
                    <a:pt x="22476" y="408253"/>
                  </a:lnTo>
                  <a:lnTo>
                    <a:pt x="8848" y="367017"/>
                  </a:lnTo>
                  <a:lnTo>
                    <a:pt x="1421" y="324222"/>
                  </a:lnTo>
                  <a:lnTo>
                    <a:pt x="0" y="295274"/>
                  </a:lnTo>
                  <a:lnTo>
                    <a:pt x="355" y="280780"/>
                  </a:lnTo>
                  <a:lnTo>
                    <a:pt x="5673" y="237641"/>
                  </a:lnTo>
                  <a:lnTo>
                    <a:pt x="17260" y="195792"/>
                  </a:lnTo>
                  <a:lnTo>
                    <a:pt x="34865" y="156083"/>
                  </a:lnTo>
                  <a:lnTo>
                    <a:pt x="58107" y="119362"/>
                  </a:lnTo>
                  <a:lnTo>
                    <a:pt x="86484" y="86468"/>
                  </a:lnTo>
                  <a:lnTo>
                    <a:pt x="119379" y="58098"/>
                  </a:lnTo>
                  <a:lnTo>
                    <a:pt x="156083" y="34844"/>
                  </a:lnTo>
                  <a:lnTo>
                    <a:pt x="195799" y="17252"/>
                  </a:lnTo>
                  <a:lnTo>
                    <a:pt x="237669" y="5655"/>
                  </a:lnTo>
                  <a:lnTo>
                    <a:pt x="280786" y="367"/>
                  </a:lnTo>
                  <a:lnTo>
                    <a:pt x="295274" y="0"/>
                  </a:lnTo>
                  <a:lnTo>
                    <a:pt x="309763" y="367"/>
                  </a:lnTo>
                  <a:lnTo>
                    <a:pt x="352880" y="5655"/>
                  </a:lnTo>
                  <a:lnTo>
                    <a:pt x="394750" y="17252"/>
                  </a:lnTo>
                  <a:lnTo>
                    <a:pt x="434466" y="34863"/>
                  </a:lnTo>
                  <a:lnTo>
                    <a:pt x="471170" y="58098"/>
                  </a:lnTo>
                  <a:lnTo>
                    <a:pt x="504065" y="86468"/>
                  </a:lnTo>
                  <a:lnTo>
                    <a:pt x="532442" y="119362"/>
                  </a:lnTo>
                  <a:lnTo>
                    <a:pt x="555684" y="156083"/>
                  </a:lnTo>
                  <a:lnTo>
                    <a:pt x="573289" y="195795"/>
                  </a:lnTo>
                  <a:lnTo>
                    <a:pt x="584876" y="237660"/>
                  </a:lnTo>
                  <a:lnTo>
                    <a:pt x="590194" y="280780"/>
                  </a:lnTo>
                  <a:lnTo>
                    <a:pt x="590549" y="295274"/>
                  </a:lnTo>
                  <a:lnTo>
                    <a:pt x="590194" y="309769"/>
                  </a:lnTo>
                  <a:lnTo>
                    <a:pt x="584876" y="352871"/>
                  </a:lnTo>
                  <a:lnTo>
                    <a:pt x="573289" y="394736"/>
                  </a:lnTo>
                  <a:lnTo>
                    <a:pt x="555684" y="434447"/>
                  </a:lnTo>
                  <a:lnTo>
                    <a:pt x="532442" y="471145"/>
                  </a:lnTo>
                  <a:lnTo>
                    <a:pt x="504065" y="504043"/>
                  </a:lnTo>
                  <a:lnTo>
                    <a:pt x="471170" y="532421"/>
                  </a:lnTo>
                  <a:lnTo>
                    <a:pt x="434466" y="555686"/>
                  </a:lnTo>
                  <a:lnTo>
                    <a:pt x="394750" y="573273"/>
                  </a:lnTo>
                  <a:lnTo>
                    <a:pt x="352880" y="584875"/>
                  </a:lnTo>
                  <a:lnTo>
                    <a:pt x="309763" y="590198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3C2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57274" y="4305293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49" y="295274"/>
                  </a:moveTo>
                  <a:lnTo>
                    <a:pt x="587354" y="338595"/>
                  </a:lnTo>
                  <a:lnTo>
                    <a:pt x="577835" y="380980"/>
                  </a:lnTo>
                  <a:lnTo>
                    <a:pt x="562200" y="421511"/>
                  </a:lnTo>
                  <a:lnTo>
                    <a:pt x="540786" y="459284"/>
                  </a:lnTo>
                  <a:lnTo>
                    <a:pt x="514059" y="493560"/>
                  </a:lnTo>
                  <a:lnTo>
                    <a:pt x="482595" y="523502"/>
                  </a:lnTo>
                  <a:lnTo>
                    <a:pt x="447076" y="548533"/>
                  </a:lnTo>
                  <a:lnTo>
                    <a:pt x="408271" y="568039"/>
                  </a:lnTo>
                  <a:lnTo>
                    <a:pt x="367020" y="581699"/>
                  </a:lnTo>
                  <a:lnTo>
                    <a:pt x="324217" y="589136"/>
                  </a:lnTo>
                  <a:lnTo>
                    <a:pt x="295274" y="590549"/>
                  </a:lnTo>
                  <a:lnTo>
                    <a:pt x="288026" y="590462"/>
                  </a:lnTo>
                  <a:lnTo>
                    <a:pt x="244796" y="586208"/>
                  </a:lnTo>
                  <a:lnTo>
                    <a:pt x="202650" y="575650"/>
                  </a:lnTo>
                  <a:lnTo>
                    <a:pt x="162517" y="559014"/>
                  </a:lnTo>
                  <a:lnTo>
                    <a:pt x="125251" y="536664"/>
                  </a:lnTo>
                  <a:lnTo>
                    <a:pt x="91672" y="509111"/>
                  </a:lnTo>
                  <a:lnTo>
                    <a:pt x="62494" y="476924"/>
                  </a:lnTo>
                  <a:lnTo>
                    <a:pt x="38360" y="440806"/>
                  </a:lnTo>
                  <a:lnTo>
                    <a:pt x="19784" y="401525"/>
                  </a:lnTo>
                  <a:lnTo>
                    <a:pt x="7174" y="359966"/>
                  </a:lnTo>
                  <a:lnTo>
                    <a:pt x="799" y="317001"/>
                  </a:lnTo>
                  <a:lnTo>
                    <a:pt x="0" y="295274"/>
                  </a:lnTo>
                  <a:lnTo>
                    <a:pt x="88" y="288023"/>
                  </a:lnTo>
                  <a:lnTo>
                    <a:pt x="4346" y="244781"/>
                  </a:lnTo>
                  <a:lnTo>
                    <a:pt x="14903" y="202643"/>
                  </a:lnTo>
                  <a:lnTo>
                    <a:pt x="31527" y="162512"/>
                  </a:lnTo>
                  <a:lnTo>
                    <a:pt x="53863" y="125227"/>
                  </a:lnTo>
                  <a:lnTo>
                    <a:pt x="81421" y="91662"/>
                  </a:lnTo>
                  <a:lnTo>
                    <a:pt x="113614" y="62486"/>
                  </a:lnTo>
                  <a:lnTo>
                    <a:pt x="149732" y="38339"/>
                  </a:lnTo>
                  <a:lnTo>
                    <a:pt x="189008" y="19772"/>
                  </a:lnTo>
                  <a:lnTo>
                    <a:pt x="230577" y="7163"/>
                  </a:lnTo>
                  <a:lnTo>
                    <a:pt x="273555" y="811"/>
                  </a:lnTo>
                  <a:lnTo>
                    <a:pt x="295274" y="0"/>
                  </a:lnTo>
                  <a:lnTo>
                    <a:pt x="302523" y="98"/>
                  </a:lnTo>
                  <a:lnTo>
                    <a:pt x="345753" y="4336"/>
                  </a:lnTo>
                  <a:lnTo>
                    <a:pt x="387899" y="14896"/>
                  </a:lnTo>
                  <a:lnTo>
                    <a:pt x="428031" y="31514"/>
                  </a:lnTo>
                  <a:lnTo>
                    <a:pt x="465298" y="53850"/>
                  </a:lnTo>
                  <a:lnTo>
                    <a:pt x="498877" y="81411"/>
                  </a:lnTo>
                  <a:lnTo>
                    <a:pt x="528055" y="113598"/>
                  </a:lnTo>
                  <a:lnTo>
                    <a:pt x="552188" y="149724"/>
                  </a:lnTo>
                  <a:lnTo>
                    <a:pt x="570765" y="188998"/>
                  </a:lnTo>
                  <a:lnTo>
                    <a:pt x="583374" y="230576"/>
                  </a:lnTo>
                  <a:lnTo>
                    <a:pt x="589750" y="273547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B890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222275" y="4425949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B89056"/>
                </a:solidFill>
                <a:latin typeface="Times New Roman"/>
                <a:cs typeface="Times New Roman"/>
              </a:rPr>
              <a:t>02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047749" y="5191118"/>
            <a:ext cx="609600" cy="609600"/>
            <a:chOff x="1047749" y="5191118"/>
            <a:chExt cx="609600" cy="609600"/>
          </a:xfrm>
        </p:grpSpPr>
        <p:sp>
          <p:nvSpPr>
            <p:cNvPr id="35" name="object 35"/>
            <p:cNvSpPr/>
            <p:nvPr/>
          </p:nvSpPr>
          <p:spPr>
            <a:xfrm>
              <a:off x="1057274" y="5200643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295274" y="590549"/>
                  </a:moveTo>
                  <a:lnTo>
                    <a:pt x="251949" y="587361"/>
                  </a:lnTo>
                  <a:lnTo>
                    <a:pt x="209561" y="577824"/>
                  </a:lnTo>
                  <a:lnTo>
                    <a:pt x="169028" y="562183"/>
                  </a:lnTo>
                  <a:lnTo>
                    <a:pt x="131228" y="540762"/>
                  </a:lnTo>
                  <a:lnTo>
                    <a:pt x="96980" y="514049"/>
                  </a:lnTo>
                  <a:lnTo>
                    <a:pt x="67024" y="482593"/>
                  </a:lnTo>
                  <a:lnTo>
                    <a:pt x="42008" y="447066"/>
                  </a:lnTo>
                  <a:lnTo>
                    <a:pt x="22476" y="408250"/>
                  </a:lnTo>
                  <a:lnTo>
                    <a:pt x="8848" y="367016"/>
                  </a:lnTo>
                  <a:lnTo>
                    <a:pt x="1421" y="324202"/>
                  </a:lnTo>
                  <a:lnTo>
                    <a:pt x="0" y="295274"/>
                  </a:lnTo>
                  <a:lnTo>
                    <a:pt x="355" y="280780"/>
                  </a:lnTo>
                  <a:lnTo>
                    <a:pt x="5673" y="237660"/>
                  </a:lnTo>
                  <a:lnTo>
                    <a:pt x="17260" y="195792"/>
                  </a:lnTo>
                  <a:lnTo>
                    <a:pt x="34865" y="156083"/>
                  </a:lnTo>
                  <a:lnTo>
                    <a:pt x="58107" y="119383"/>
                  </a:lnTo>
                  <a:lnTo>
                    <a:pt x="86484" y="86487"/>
                  </a:lnTo>
                  <a:lnTo>
                    <a:pt x="119379" y="58117"/>
                  </a:lnTo>
                  <a:lnTo>
                    <a:pt x="156083" y="34863"/>
                  </a:lnTo>
                  <a:lnTo>
                    <a:pt x="195799" y="17264"/>
                  </a:lnTo>
                  <a:lnTo>
                    <a:pt x="237669" y="5674"/>
                  </a:lnTo>
                  <a:lnTo>
                    <a:pt x="280786" y="367"/>
                  </a:lnTo>
                  <a:lnTo>
                    <a:pt x="295274" y="0"/>
                  </a:lnTo>
                  <a:lnTo>
                    <a:pt x="309763" y="367"/>
                  </a:lnTo>
                  <a:lnTo>
                    <a:pt x="352880" y="5674"/>
                  </a:lnTo>
                  <a:lnTo>
                    <a:pt x="394750" y="17264"/>
                  </a:lnTo>
                  <a:lnTo>
                    <a:pt x="434466" y="34863"/>
                  </a:lnTo>
                  <a:lnTo>
                    <a:pt x="471170" y="58117"/>
                  </a:lnTo>
                  <a:lnTo>
                    <a:pt x="504065" y="86487"/>
                  </a:lnTo>
                  <a:lnTo>
                    <a:pt x="532442" y="119383"/>
                  </a:lnTo>
                  <a:lnTo>
                    <a:pt x="555684" y="156083"/>
                  </a:lnTo>
                  <a:lnTo>
                    <a:pt x="573289" y="195795"/>
                  </a:lnTo>
                  <a:lnTo>
                    <a:pt x="584876" y="237660"/>
                  </a:lnTo>
                  <a:lnTo>
                    <a:pt x="590194" y="280780"/>
                  </a:lnTo>
                  <a:lnTo>
                    <a:pt x="590549" y="295274"/>
                  </a:lnTo>
                  <a:lnTo>
                    <a:pt x="590194" y="309760"/>
                  </a:lnTo>
                  <a:lnTo>
                    <a:pt x="584876" y="352872"/>
                  </a:lnTo>
                  <a:lnTo>
                    <a:pt x="573289" y="394737"/>
                  </a:lnTo>
                  <a:lnTo>
                    <a:pt x="555684" y="434463"/>
                  </a:lnTo>
                  <a:lnTo>
                    <a:pt x="532442" y="471170"/>
                  </a:lnTo>
                  <a:lnTo>
                    <a:pt x="504065" y="504062"/>
                  </a:lnTo>
                  <a:lnTo>
                    <a:pt x="471170" y="532421"/>
                  </a:lnTo>
                  <a:lnTo>
                    <a:pt x="434466" y="555669"/>
                  </a:lnTo>
                  <a:lnTo>
                    <a:pt x="394750" y="573275"/>
                  </a:lnTo>
                  <a:lnTo>
                    <a:pt x="352880" y="584854"/>
                  </a:lnTo>
                  <a:lnTo>
                    <a:pt x="309763" y="590198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3C2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57274" y="5200643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49" y="295274"/>
                  </a:moveTo>
                  <a:lnTo>
                    <a:pt x="587354" y="338587"/>
                  </a:lnTo>
                  <a:lnTo>
                    <a:pt x="577835" y="380980"/>
                  </a:lnTo>
                  <a:lnTo>
                    <a:pt x="562200" y="421514"/>
                  </a:lnTo>
                  <a:lnTo>
                    <a:pt x="540786" y="459304"/>
                  </a:lnTo>
                  <a:lnTo>
                    <a:pt x="514059" y="493556"/>
                  </a:lnTo>
                  <a:lnTo>
                    <a:pt x="482595" y="523522"/>
                  </a:lnTo>
                  <a:lnTo>
                    <a:pt x="447076" y="548523"/>
                  </a:lnTo>
                  <a:lnTo>
                    <a:pt x="408271" y="568061"/>
                  </a:lnTo>
                  <a:lnTo>
                    <a:pt x="367020" y="581689"/>
                  </a:lnTo>
                  <a:lnTo>
                    <a:pt x="324217" y="589140"/>
                  </a:lnTo>
                  <a:lnTo>
                    <a:pt x="295274" y="590549"/>
                  </a:lnTo>
                  <a:lnTo>
                    <a:pt x="288026" y="590462"/>
                  </a:lnTo>
                  <a:lnTo>
                    <a:pt x="244796" y="586201"/>
                  </a:lnTo>
                  <a:lnTo>
                    <a:pt x="202650" y="575633"/>
                  </a:lnTo>
                  <a:lnTo>
                    <a:pt x="162517" y="559005"/>
                  </a:lnTo>
                  <a:lnTo>
                    <a:pt x="125251" y="536662"/>
                  </a:lnTo>
                  <a:lnTo>
                    <a:pt x="91672" y="509120"/>
                  </a:lnTo>
                  <a:lnTo>
                    <a:pt x="62494" y="476940"/>
                  </a:lnTo>
                  <a:lnTo>
                    <a:pt x="38360" y="440811"/>
                  </a:lnTo>
                  <a:lnTo>
                    <a:pt x="19784" y="401525"/>
                  </a:lnTo>
                  <a:lnTo>
                    <a:pt x="7174" y="359966"/>
                  </a:lnTo>
                  <a:lnTo>
                    <a:pt x="799" y="316984"/>
                  </a:lnTo>
                  <a:lnTo>
                    <a:pt x="0" y="295274"/>
                  </a:lnTo>
                  <a:lnTo>
                    <a:pt x="88" y="288023"/>
                  </a:lnTo>
                  <a:lnTo>
                    <a:pt x="4346" y="244789"/>
                  </a:lnTo>
                  <a:lnTo>
                    <a:pt x="14903" y="202643"/>
                  </a:lnTo>
                  <a:lnTo>
                    <a:pt x="31527" y="162512"/>
                  </a:lnTo>
                  <a:lnTo>
                    <a:pt x="53863" y="125253"/>
                  </a:lnTo>
                  <a:lnTo>
                    <a:pt x="81421" y="91671"/>
                  </a:lnTo>
                  <a:lnTo>
                    <a:pt x="113614" y="62504"/>
                  </a:lnTo>
                  <a:lnTo>
                    <a:pt x="149732" y="38358"/>
                  </a:lnTo>
                  <a:lnTo>
                    <a:pt x="189008" y="19783"/>
                  </a:lnTo>
                  <a:lnTo>
                    <a:pt x="230577" y="7181"/>
                  </a:lnTo>
                  <a:lnTo>
                    <a:pt x="273555" y="811"/>
                  </a:lnTo>
                  <a:lnTo>
                    <a:pt x="295274" y="0"/>
                  </a:lnTo>
                  <a:lnTo>
                    <a:pt x="302523" y="98"/>
                  </a:lnTo>
                  <a:lnTo>
                    <a:pt x="345753" y="4351"/>
                  </a:lnTo>
                  <a:lnTo>
                    <a:pt x="387899" y="14912"/>
                  </a:lnTo>
                  <a:lnTo>
                    <a:pt x="428031" y="31524"/>
                  </a:lnTo>
                  <a:lnTo>
                    <a:pt x="465298" y="53869"/>
                  </a:lnTo>
                  <a:lnTo>
                    <a:pt x="498877" y="81419"/>
                  </a:lnTo>
                  <a:lnTo>
                    <a:pt x="528055" y="113617"/>
                  </a:lnTo>
                  <a:lnTo>
                    <a:pt x="552188" y="149727"/>
                  </a:lnTo>
                  <a:lnTo>
                    <a:pt x="570765" y="188998"/>
                  </a:lnTo>
                  <a:lnTo>
                    <a:pt x="583374" y="230568"/>
                  </a:lnTo>
                  <a:lnTo>
                    <a:pt x="589750" y="273547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B890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222275" y="5321299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B89056"/>
                </a:solidFill>
                <a:latin typeface="Times New Roman"/>
                <a:cs typeface="Times New Roman"/>
              </a:rPr>
              <a:t>03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047749" y="6086468"/>
            <a:ext cx="609600" cy="609600"/>
            <a:chOff x="1047749" y="6086468"/>
            <a:chExt cx="609600" cy="609600"/>
          </a:xfrm>
        </p:grpSpPr>
        <p:sp>
          <p:nvSpPr>
            <p:cNvPr id="39" name="object 39"/>
            <p:cNvSpPr/>
            <p:nvPr/>
          </p:nvSpPr>
          <p:spPr>
            <a:xfrm>
              <a:off x="1057274" y="6095993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295274" y="590549"/>
                  </a:moveTo>
                  <a:lnTo>
                    <a:pt x="251949" y="587340"/>
                  </a:lnTo>
                  <a:lnTo>
                    <a:pt x="209561" y="577805"/>
                  </a:lnTo>
                  <a:lnTo>
                    <a:pt x="169028" y="562183"/>
                  </a:lnTo>
                  <a:lnTo>
                    <a:pt x="131228" y="540781"/>
                  </a:lnTo>
                  <a:lnTo>
                    <a:pt x="96980" y="514049"/>
                  </a:lnTo>
                  <a:lnTo>
                    <a:pt x="67024" y="482593"/>
                  </a:lnTo>
                  <a:lnTo>
                    <a:pt x="42008" y="447066"/>
                  </a:lnTo>
                  <a:lnTo>
                    <a:pt x="22476" y="408250"/>
                  </a:lnTo>
                  <a:lnTo>
                    <a:pt x="8848" y="367013"/>
                  </a:lnTo>
                  <a:lnTo>
                    <a:pt x="1421" y="324202"/>
                  </a:lnTo>
                  <a:lnTo>
                    <a:pt x="0" y="295274"/>
                  </a:lnTo>
                  <a:lnTo>
                    <a:pt x="355" y="280796"/>
                  </a:lnTo>
                  <a:lnTo>
                    <a:pt x="5673" y="237658"/>
                  </a:lnTo>
                  <a:lnTo>
                    <a:pt x="17260" y="195791"/>
                  </a:lnTo>
                  <a:lnTo>
                    <a:pt x="34865" y="156086"/>
                  </a:lnTo>
                  <a:lnTo>
                    <a:pt x="58107" y="119364"/>
                  </a:lnTo>
                  <a:lnTo>
                    <a:pt x="86484" y="86467"/>
                  </a:lnTo>
                  <a:lnTo>
                    <a:pt x="119379" y="58119"/>
                  </a:lnTo>
                  <a:lnTo>
                    <a:pt x="156083" y="34880"/>
                  </a:lnTo>
                  <a:lnTo>
                    <a:pt x="195799" y="17255"/>
                  </a:lnTo>
                  <a:lnTo>
                    <a:pt x="237669" y="5657"/>
                  </a:lnTo>
                  <a:lnTo>
                    <a:pt x="280786" y="360"/>
                  </a:lnTo>
                  <a:lnTo>
                    <a:pt x="295274" y="0"/>
                  </a:lnTo>
                  <a:lnTo>
                    <a:pt x="309763" y="360"/>
                  </a:lnTo>
                  <a:lnTo>
                    <a:pt x="352880" y="5657"/>
                  </a:lnTo>
                  <a:lnTo>
                    <a:pt x="394750" y="17255"/>
                  </a:lnTo>
                  <a:lnTo>
                    <a:pt x="434466" y="34880"/>
                  </a:lnTo>
                  <a:lnTo>
                    <a:pt x="471170" y="58119"/>
                  </a:lnTo>
                  <a:lnTo>
                    <a:pt x="504065" y="86467"/>
                  </a:lnTo>
                  <a:lnTo>
                    <a:pt x="532442" y="119364"/>
                  </a:lnTo>
                  <a:lnTo>
                    <a:pt x="555684" y="156086"/>
                  </a:lnTo>
                  <a:lnTo>
                    <a:pt x="573289" y="195793"/>
                  </a:lnTo>
                  <a:lnTo>
                    <a:pt x="584876" y="237658"/>
                  </a:lnTo>
                  <a:lnTo>
                    <a:pt x="590194" y="280796"/>
                  </a:lnTo>
                  <a:lnTo>
                    <a:pt x="590549" y="295274"/>
                  </a:lnTo>
                  <a:lnTo>
                    <a:pt x="590194" y="309752"/>
                  </a:lnTo>
                  <a:lnTo>
                    <a:pt x="584876" y="352853"/>
                  </a:lnTo>
                  <a:lnTo>
                    <a:pt x="573289" y="394730"/>
                  </a:lnTo>
                  <a:lnTo>
                    <a:pt x="555684" y="434463"/>
                  </a:lnTo>
                  <a:lnTo>
                    <a:pt x="532442" y="471163"/>
                  </a:lnTo>
                  <a:lnTo>
                    <a:pt x="504065" y="504062"/>
                  </a:lnTo>
                  <a:lnTo>
                    <a:pt x="471170" y="532437"/>
                  </a:lnTo>
                  <a:lnTo>
                    <a:pt x="434466" y="555688"/>
                  </a:lnTo>
                  <a:lnTo>
                    <a:pt x="394750" y="573275"/>
                  </a:lnTo>
                  <a:lnTo>
                    <a:pt x="352880" y="584854"/>
                  </a:lnTo>
                  <a:lnTo>
                    <a:pt x="309763" y="590198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3C2F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057274" y="6095993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49" y="295274"/>
                  </a:moveTo>
                  <a:lnTo>
                    <a:pt x="587354" y="338585"/>
                  </a:lnTo>
                  <a:lnTo>
                    <a:pt x="577835" y="380980"/>
                  </a:lnTo>
                  <a:lnTo>
                    <a:pt x="562200" y="421514"/>
                  </a:lnTo>
                  <a:lnTo>
                    <a:pt x="540786" y="459304"/>
                  </a:lnTo>
                  <a:lnTo>
                    <a:pt x="514059" y="493556"/>
                  </a:lnTo>
                  <a:lnTo>
                    <a:pt x="482595" y="523522"/>
                  </a:lnTo>
                  <a:lnTo>
                    <a:pt x="447076" y="548542"/>
                  </a:lnTo>
                  <a:lnTo>
                    <a:pt x="408271" y="568061"/>
                  </a:lnTo>
                  <a:lnTo>
                    <a:pt x="367020" y="581689"/>
                  </a:lnTo>
                  <a:lnTo>
                    <a:pt x="324217" y="589140"/>
                  </a:lnTo>
                  <a:lnTo>
                    <a:pt x="295274" y="590549"/>
                  </a:lnTo>
                  <a:lnTo>
                    <a:pt x="288026" y="590462"/>
                  </a:lnTo>
                  <a:lnTo>
                    <a:pt x="244796" y="586182"/>
                  </a:lnTo>
                  <a:lnTo>
                    <a:pt x="202650" y="575625"/>
                  </a:lnTo>
                  <a:lnTo>
                    <a:pt x="162517" y="559005"/>
                  </a:lnTo>
                  <a:lnTo>
                    <a:pt x="125251" y="536681"/>
                  </a:lnTo>
                  <a:lnTo>
                    <a:pt x="91672" y="509120"/>
                  </a:lnTo>
                  <a:lnTo>
                    <a:pt x="62494" y="476932"/>
                  </a:lnTo>
                  <a:lnTo>
                    <a:pt x="38360" y="440811"/>
                  </a:lnTo>
                  <a:lnTo>
                    <a:pt x="19784" y="401517"/>
                  </a:lnTo>
                  <a:lnTo>
                    <a:pt x="7174" y="359958"/>
                  </a:lnTo>
                  <a:lnTo>
                    <a:pt x="799" y="316982"/>
                  </a:lnTo>
                  <a:lnTo>
                    <a:pt x="0" y="295274"/>
                  </a:lnTo>
                  <a:lnTo>
                    <a:pt x="88" y="288033"/>
                  </a:lnTo>
                  <a:lnTo>
                    <a:pt x="4346" y="244787"/>
                  </a:lnTo>
                  <a:lnTo>
                    <a:pt x="14903" y="202641"/>
                  </a:lnTo>
                  <a:lnTo>
                    <a:pt x="31527" y="162511"/>
                  </a:lnTo>
                  <a:lnTo>
                    <a:pt x="53863" y="125234"/>
                  </a:lnTo>
                  <a:lnTo>
                    <a:pt x="81421" y="91662"/>
                  </a:lnTo>
                  <a:lnTo>
                    <a:pt x="113614" y="62506"/>
                  </a:lnTo>
                  <a:lnTo>
                    <a:pt x="149732" y="38377"/>
                  </a:lnTo>
                  <a:lnTo>
                    <a:pt x="189008" y="19780"/>
                  </a:lnTo>
                  <a:lnTo>
                    <a:pt x="230577" y="7155"/>
                  </a:lnTo>
                  <a:lnTo>
                    <a:pt x="273555" y="807"/>
                  </a:lnTo>
                  <a:lnTo>
                    <a:pt x="295274" y="0"/>
                  </a:lnTo>
                  <a:lnTo>
                    <a:pt x="302523" y="90"/>
                  </a:lnTo>
                  <a:lnTo>
                    <a:pt x="345753" y="4335"/>
                  </a:lnTo>
                  <a:lnTo>
                    <a:pt x="387899" y="14897"/>
                  </a:lnTo>
                  <a:lnTo>
                    <a:pt x="428031" y="31541"/>
                  </a:lnTo>
                  <a:lnTo>
                    <a:pt x="465298" y="53871"/>
                  </a:lnTo>
                  <a:lnTo>
                    <a:pt x="498877" y="81410"/>
                  </a:lnTo>
                  <a:lnTo>
                    <a:pt x="528055" y="113598"/>
                  </a:lnTo>
                  <a:lnTo>
                    <a:pt x="552188" y="149727"/>
                  </a:lnTo>
                  <a:lnTo>
                    <a:pt x="570765" y="188997"/>
                  </a:lnTo>
                  <a:lnTo>
                    <a:pt x="583374" y="230567"/>
                  </a:lnTo>
                  <a:lnTo>
                    <a:pt x="589750" y="273567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B890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222275" y="6216649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B89056"/>
                </a:solidFill>
                <a:latin typeface="Times New Roman"/>
                <a:cs typeface="Times New Roman"/>
              </a:rPr>
              <a:t>04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8F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35050" y="939800"/>
            <a:ext cx="9588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214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K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Y</a:t>
            </a:r>
            <a:r>
              <a:rPr sz="1050" spc="-434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80730" y="939800"/>
            <a:ext cx="7454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105" algn="l"/>
                <a:tab pos="54546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/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1</a:t>
            </a:r>
            <a:r>
              <a:rPr sz="1050" spc="-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algn="ctr">
              <a:lnSpc>
                <a:spcPts val="7740"/>
              </a:lnSpc>
              <a:spcBef>
                <a:spcPts val="100"/>
              </a:spcBef>
            </a:pPr>
            <a:r>
              <a:rPr spc="-210" dirty="0"/>
              <a:t>No</a:t>
            </a:r>
            <a:r>
              <a:rPr spc="-280" dirty="0"/>
              <a:t> </a:t>
            </a:r>
            <a:r>
              <a:rPr spc="-70" dirty="0"/>
              <a:t>girl</a:t>
            </a:r>
            <a:r>
              <a:rPr spc="-315" dirty="0"/>
              <a:t> </a:t>
            </a:r>
            <a:r>
              <a:rPr spc="-245" dirty="0"/>
              <a:t>should</a:t>
            </a:r>
            <a:r>
              <a:rPr spc="-280" dirty="0"/>
              <a:t> </a:t>
            </a:r>
            <a:r>
              <a:rPr spc="-120" dirty="0"/>
              <a:t>miss</a:t>
            </a:r>
            <a:r>
              <a:rPr spc="-290" dirty="0"/>
              <a:t> </a:t>
            </a:r>
            <a:r>
              <a:rPr spc="-10" dirty="0"/>
              <a:t>school</a:t>
            </a:r>
          </a:p>
          <a:p>
            <a:pPr marL="17145" algn="ctr">
              <a:lnSpc>
                <a:spcPts val="7740"/>
              </a:lnSpc>
            </a:pPr>
            <a:r>
              <a:rPr i="1" spc="-195" dirty="0">
                <a:solidFill>
                  <a:srgbClr val="77292E"/>
                </a:solidFill>
                <a:latin typeface="Times New Roman"/>
                <a:cs typeface="Times New Roman"/>
              </a:rPr>
              <a:t>because</a:t>
            </a:r>
            <a:r>
              <a:rPr i="1" spc="-345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i="1" spc="55" dirty="0">
                <a:solidFill>
                  <a:srgbClr val="77292E"/>
                </a:solidFill>
                <a:latin typeface="Times New Roman"/>
                <a:cs typeface="Times New Roman"/>
              </a:rPr>
              <a:t>of</a:t>
            </a:r>
            <a:r>
              <a:rPr i="1" spc="-340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i="1" spc="-204" dirty="0">
                <a:solidFill>
                  <a:srgbClr val="77292E"/>
                </a:solidFill>
                <a:latin typeface="Times New Roman"/>
                <a:cs typeface="Times New Roman"/>
              </a:rPr>
              <a:t>her</a:t>
            </a:r>
            <a:r>
              <a:rPr i="1" spc="-345" dirty="0">
                <a:solidFill>
                  <a:srgbClr val="77292E"/>
                </a:solidFill>
                <a:latin typeface="Times New Roman"/>
                <a:cs typeface="Times New Roman"/>
              </a:rPr>
              <a:t> </a:t>
            </a:r>
            <a:r>
              <a:rPr i="1" spc="-10" dirty="0">
                <a:solidFill>
                  <a:srgbClr val="77292E"/>
                </a:solidFill>
                <a:latin typeface="Times New Roman"/>
                <a:cs typeface="Times New Roman"/>
              </a:rPr>
              <a:t>period.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89189" y="3597275"/>
            <a:ext cx="9509760" cy="122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700"/>
              </a:lnSpc>
              <a:spcBef>
                <a:spcPts val="100"/>
              </a:spcBef>
            </a:pPr>
            <a:r>
              <a:rPr sz="2250" spc="-20" dirty="0">
                <a:solidFill>
                  <a:srgbClr val="3B3C43"/>
                </a:solidFill>
                <a:latin typeface="Palatino Linotype"/>
                <a:cs typeface="Palatino Linotype"/>
              </a:rPr>
              <a:t>No</a:t>
            </a:r>
            <a:r>
              <a:rPr sz="2250" spc="-12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45" dirty="0">
                <a:solidFill>
                  <a:srgbClr val="3B3C43"/>
                </a:solidFill>
                <a:latin typeface="Palatino Linotype"/>
                <a:cs typeface="Palatino Linotype"/>
              </a:rPr>
              <a:t>campus</a:t>
            </a:r>
            <a:r>
              <a:rPr sz="2250" spc="-55" dirty="0">
                <a:solidFill>
                  <a:srgbClr val="3B3C43"/>
                </a:solidFill>
                <a:latin typeface="Palatino Linotype"/>
                <a:cs typeface="Palatino Linotype"/>
              </a:rPr>
              <a:t> should</a:t>
            </a:r>
            <a:r>
              <a:rPr sz="22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lack</a:t>
            </a:r>
            <a:r>
              <a:rPr sz="2250" spc="-5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a</a:t>
            </a:r>
            <a:r>
              <a:rPr sz="22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safe</a:t>
            </a:r>
            <a:r>
              <a:rPr sz="22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195" dirty="0">
                <a:solidFill>
                  <a:srgbClr val="3B3C43"/>
                </a:solidFill>
                <a:latin typeface="Palatino Linotype"/>
                <a:cs typeface="Palatino Linotype"/>
              </a:rPr>
              <a:t>way</a:t>
            </a:r>
            <a:r>
              <a:rPr sz="2250" spc="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to</a:t>
            </a:r>
            <a:r>
              <a:rPr sz="22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20" dirty="0">
                <a:solidFill>
                  <a:srgbClr val="3B3C43"/>
                </a:solidFill>
                <a:latin typeface="Palatino Linotype"/>
                <a:cs typeface="Palatino Linotype"/>
              </a:rPr>
              <a:t>dispose</a:t>
            </a:r>
            <a:r>
              <a:rPr sz="22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of</a:t>
            </a:r>
            <a:r>
              <a:rPr sz="2250" spc="-5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35" dirty="0">
                <a:solidFill>
                  <a:srgbClr val="3B3C43"/>
                </a:solidFill>
                <a:latin typeface="Palatino Linotype"/>
                <a:cs typeface="Palatino Linotype"/>
              </a:rPr>
              <a:t>menstrual</a:t>
            </a:r>
            <a:r>
              <a:rPr sz="22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45" dirty="0">
                <a:solidFill>
                  <a:srgbClr val="3B3C43"/>
                </a:solidFill>
                <a:latin typeface="Palatino Linotype"/>
                <a:cs typeface="Palatino Linotype"/>
              </a:rPr>
              <a:t>waste.</a:t>
            </a:r>
            <a:r>
              <a:rPr sz="2250" spc="-6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55" dirty="0">
                <a:solidFill>
                  <a:srgbClr val="3B3C43"/>
                </a:solidFill>
                <a:latin typeface="Palatino Linotype"/>
                <a:cs typeface="Palatino Linotype"/>
              </a:rPr>
              <a:t>Your </a:t>
            </a:r>
            <a:r>
              <a:rPr sz="2250" spc="-25" dirty="0">
                <a:solidFill>
                  <a:srgbClr val="3B3C43"/>
                </a:solidFill>
                <a:latin typeface="Palatino Linotype"/>
                <a:cs typeface="Palatino Linotype"/>
              </a:rPr>
              <a:t>CSR partnership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35" dirty="0">
                <a:solidFill>
                  <a:srgbClr val="3B3C43"/>
                </a:solidFill>
                <a:latin typeface="Palatino Linotype"/>
                <a:cs typeface="Palatino Linotype"/>
              </a:rPr>
              <a:t>makes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both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possible</a:t>
            </a:r>
            <a:r>
              <a:rPr sz="2250" spc="-6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—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for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1,23,000</a:t>
            </a:r>
            <a:r>
              <a:rPr sz="2250" spc="-6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girls,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across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275</a:t>
            </a:r>
            <a:r>
              <a:rPr sz="2250" spc="-7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3B3C43"/>
                </a:solidFill>
                <a:latin typeface="Palatino Linotype"/>
                <a:cs typeface="Palatino Linotype"/>
              </a:rPr>
              <a:t>institutions,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starting</a:t>
            </a:r>
            <a:r>
              <a:rPr sz="2250" spc="-80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dirty="0">
                <a:solidFill>
                  <a:srgbClr val="3B3C43"/>
                </a:solidFill>
                <a:latin typeface="Palatino Linotype"/>
                <a:cs typeface="Palatino Linotype"/>
              </a:rPr>
              <a:t>this</a:t>
            </a:r>
            <a:r>
              <a:rPr sz="2250" spc="-7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3B3C43"/>
                </a:solidFill>
                <a:latin typeface="Palatino Linotype"/>
                <a:cs typeface="Palatino Linotype"/>
              </a:rPr>
              <a:t>academic</a:t>
            </a:r>
            <a:r>
              <a:rPr sz="2250" spc="-75" dirty="0">
                <a:solidFill>
                  <a:srgbClr val="3B3C43"/>
                </a:solidFill>
                <a:latin typeface="Palatino Linotype"/>
                <a:cs typeface="Palatino Linotype"/>
              </a:rPr>
              <a:t> </a:t>
            </a:r>
            <a:r>
              <a:rPr sz="2250" spc="-10" dirty="0">
                <a:solidFill>
                  <a:srgbClr val="3B3C43"/>
                </a:solidFill>
                <a:latin typeface="Palatino Linotype"/>
                <a:cs typeface="Palatino Linotype"/>
              </a:rPr>
              <a:t>year.</a:t>
            </a:r>
            <a:endParaRPr sz="2250">
              <a:latin typeface="Palatino Linotype"/>
              <a:cs typeface="Palatino Linotyp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67274" y="5553068"/>
            <a:ext cx="8553450" cy="2609850"/>
            <a:chOff x="4867274" y="5553068"/>
            <a:chExt cx="8553450" cy="2609850"/>
          </a:xfrm>
        </p:grpSpPr>
        <p:sp>
          <p:nvSpPr>
            <p:cNvPr id="8" name="object 8"/>
            <p:cNvSpPr/>
            <p:nvPr/>
          </p:nvSpPr>
          <p:spPr>
            <a:xfrm>
              <a:off x="4867274" y="5553068"/>
              <a:ext cx="8553450" cy="2609850"/>
            </a:xfrm>
            <a:custGeom>
              <a:avLst/>
              <a:gdLst/>
              <a:ahLst/>
              <a:cxnLst/>
              <a:rect l="l" t="t" r="r" b="b"/>
              <a:pathLst>
                <a:path w="8553450" h="2609850">
                  <a:moveTo>
                    <a:pt x="8553449" y="2609849"/>
                  </a:moveTo>
                  <a:lnTo>
                    <a:pt x="0" y="2609849"/>
                  </a:lnTo>
                  <a:lnTo>
                    <a:pt x="0" y="0"/>
                  </a:lnTo>
                  <a:lnTo>
                    <a:pt x="8553449" y="0"/>
                  </a:lnTo>
                  <a:lnTo>
                    <a:pt x="8553449" y="2609849"/>
                  </a:lnTo>
                  <a:close/>
                </a:path>
              </a:pathLst>
            </a:custGeom>
            <a:solidFill>
              <a:srgbClr val="F4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72037" y="5557830"/>
              <a:ext cx="8543925" cy="2600325"/>
            </a:xfrm>
            <a:custGeom>
              <a:avLst/>
              <a:gdLst/>
              <a:ahLst/>
              <a:cxnLst/>
              <a:rect l="l" t="t" r="r" b="b"/>
              <a:pathLst>
                <a:path w="8543925" h="2600325">
                  <a:moveTo>
                    <a:pt x="0" y="0"/>
                  </a:moveTo>
                  <a:lnTo>
                    <a:pt x="8543924" y="0"/>
                  </a:lnTo>
                  <a:lnTo>
                    <a:pt x="8543924" y="2600324"/>
                  </a:lnTo>
                  <a:lnTo>
                    <a:pt x="0" y="26003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3CC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Give For Society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0224" y="5905499"/>
              <a:ext cx="1238249" cy="12382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409901" y="7234967"/>
            <a:ext cx="1622425" cy="5810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280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endParaRPr sz="800">
              <a:latin typeface="Courier New"/>
              <a:cs typeface="Courier New"/>
            </a:endParaRPr>
          </a:p>
          <a:p>
            <a:pPr marL="10160" algn="ctr">
              <a:lnSpc>
                <a:spcPct val="100000"/>
              </a:lnSpc>
              <a:spcBef>
                <a:spcPts val="290"/>
              </a:spcBef>
            </a:pPr>
            <a:r>
              <a:rPr sz="1500" dirty="0">
                <a:solidFill>
                  <a:srgbClr val="16171F"/>
                </a:solidFill>
                <a:latin typeface="Times New Roman"/>
                <a:cs typeface="Times New Roman"/>
              </a:rPr>
              <a:t>Give</a:t>
            </a:r>
            <a:r>
              <a:rPr sz="1500" spc="7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500" spc="65" dirty="0">
                <a:solidFill>
                  <a:srgbClr val="16171F"/>
                </a:solidFill>
                <a:latin typeface="Times New Roman"/>
                <a:cs typeface="Times New Roman"/>
              </a:rPr>
              <a:t>For</a:t>
            </a:r>
            <a:r>
              <a:rPr sz="1500" spc="7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500" spc="35" dirty="0">
                <a:solidFill>
                  <a:srgbClr val="16171F"/>
                </a:solidFill>
                <a:latin typeface="Times New Roman"/>
                <a:cs typeface="Times New Roman"/>
              </a:rPr>
              <a:t>Society</a:t>
            </a:r>
            <a:endParaRPr sz="150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  <a:spcBef>
                <a:spcPts val="17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/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1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96174" y="5905499"/>
            <a:ext cx="5381625" cy="1571625"/>
            <a:chOff x="7496174" y="5905499"/>
            <a:chExt cx="5381625" cy="1571625"/>
          </a:xfrm>
        </p:grpSpPr>
        <p:sp>
          <p:nvSpPr>
            <p:cNvPr id="13" name="object 13"/>
            <p:cNvSpPr/>
            <p:nvPr/>
          </p:nvSpPr>
          <p:spPr>
            <a:xfrm>
              <a:off x="7496174" y="6238868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9524" y="1238249"/>
                  </a:moveTo>
                  <a:lnTo>
                    <a:pt x="0" y="12382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1238249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 descr="Sthree Swabhima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8674" y="5905499"/>
              <a:ext cx="1238250" cy="123825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629899" y="6238868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9524" y="1238249"/>
                  </a:moveTo>
                  <a:lnTo>
                    <a:pt x="0" y="12382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1238249"/>
                  </a:lnTo>
                  <a:close/>
                </a:path>
              </a:pathLst>
            </a:custGeom>
            <a:solidFill>
              <a:srgbClr val="D3C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 descr="MJPTBCWREIS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96624" y="6000749"/>
              <a:ext cx="1781174" cy="104774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966323" y="7234967"/>
            <a:ext cx="2200910" cy="5810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280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2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endParaRPr sz="800">
              <a:latin typeface="Courier New"/>
              <a:cs typeface="Courier New"/>
            </a:endParaRPr>
          </a:p>
          <a:p>
            <a:pPr marL="5715" algn="ctr">
              <a:lnSpc>
                <a:spcPct val="100000"/>
              </a:lnSpc>
              <a:spcBef>
                <a:spcPts val="290"/>
              </a:spcBef>
            </a:pPr>
            <a:r>
              <a:rPr sz="1500" spc="75" dirty="0">
                <a:solidFill>
                  <a:srgbClr val="16171F"/>
                </a:solidFill>
                <a:latin typeface="Times New Roman"/>
                <a:cs typeface="Times New Roman"/>
              </a:rPr>
              <a:t>Sthree</a:t>
            </a:r>
            <a:r>
              <a:rPr sz="1500" spc="25" dirty="0">
                <a:solidFill>
                  <a:srgbClr val="16171F"/>
                </a:solidFill>
                <a:latin typeface="Times New Roman"/>
                <a:cs typeface="Times New Roman"/>
              </a:rPr>
              <a:t> </a:t>
            </a:r>
            <a:r>
              <a:rPr sz="1500" spc="70" dirty="0">
                <a:solidFill>
                  <a:srgbClr val="16171F"/>
                </a:solidFill>
                <a:latin typeface="Times New Roman"/>
                <a:cs typeface="Times New Roman"/>
              </a:rPr>
              <a:t>Swabhiman</a:t>
            </a:r>
            <a:endParaRPr sz="15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17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u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37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37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&amp;</a:t>
            </a:r>
            <a:r>
              <a:rPr sz="800" spc="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214198" y="7234967"/>
            <a:ext cx="1536700" cy="5810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280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28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endParaRPr sz="800">
              <a:latin typeface="Courier New"/>
              <a:cs typeface="Courier New"/>
            </a:endParaRPr>
          </a:p>
          <a:p>
            <a:pPr marL="10160" algn="ctr">
              <a:lnSpc>
                <a:spcPct val="100000"/>
              </a:lnSpc>
              <a:spcBef>
                <a:spcPts val="290"/>
              </a:spcBef>
            </a:pPr>
            <a:r>
              <a:rPr sz="1500" spc="45" dirty="0">
                <a:solidFill>
                  <a:srgbClr val="16171F"/>
                </a:solidFill>
                <a:latin typeface="Times New Roman"/>
                <a:cs typeface="Times New Roman"/>
              </a:rPr>
              <a:t>MJPTBCWREIS</a:t>
            </a:r>
            <a:endParaRPr sz="150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  <a:spcBef>
                <a:spcPts val="175"/>
              </a:spcBef>
            </a:pP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800" spc="37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f</a:t>
            </a:r>
            <a:r>
              <a:rPr sz="800" spc="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800" spc="-3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800" spc="-3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632176" y="8762978"/>
            <a:ext cx="41275" cy="9525"/>
          </a:xfrm>
          <a:custGeom>
            <a:avLst/>
            <a:gdLst/>
            <a:ahLst/>
            <a:cxnLst/>
            <a:rect l="l" t="t" r="r" b="b"/>
            <a:pathLst>
              <a:path w="41275" h="9525">
                <a:moveTo>
                  <a:pt x="40680" y="9524"/>
                </a:moveTo>
                <a:lnTo>
                  <a:pt x="0" y="9524"/>
                </a:lnTo>
                <a:lnTo>
                  <a:pt x="0" y="0"/>
                </a:lnTo>
                <a:lnTo>
                  <a:pt x="40680" y="0"/>
                </a:lnTo>
                <a:lnTo>
                  <a:pt x="40680" y="9524"/>
                </a:lnTo>
                <a:close/>
              </a:path>
            </a:pathLst>
          </a:custGeom>
          <a:solidFill>
            <a:srgbClr val="0000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891930" y="8446971"/>
            <a:ext cx="2301627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0410" algn="l"/>
              </a:tabLst>
            </a:pPr>
            <a:r>
              <a:rPr lang="en-US" sz="1200" dirty="0">
                <a:solidFill>
                  <a:srgbClr val="0000ED"/>
                </a:solidFill>
                <a:latin typeface="Courier New"/>
                <a:cs typeface="Courier Ne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contact@give4soiety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.org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0410" algn="l"/>
              </a:tabLst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+91 94407 27071</a:t>
            </a:r>
            <a:endParaRPr sz="1200" dirty="0">
              <a:solidFill>
                <a:schemeClr val="tx1">
                  <a:lumMod val="50000"/>
                  <a:lumOff val="5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93557" y="8607425"/>
            <a:ext cx="1054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30988" y="8607425"/>
            <a:ext cx="208216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633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Y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,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T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endParaRPr sz="1050" dirty="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44707" y="8607425"/>
            <a:ext cx="1054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082138" y="8607425"/>
            <a:ext cx="22898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8625" algn="l"/>
              </a:tabLst>
            </a:pP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	L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.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/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3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3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7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/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1050" spc="-44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47749" y="9039218"/>
            <a:ext cx="16192500" cy="9525"/>
          </a:xfrm>
          <a:custGeom>
            <a:avLst/>
            <a:gdLst/>
            <a:ahLst/>
            <a:cxnLst/>
            <a:rect l="l" t="t" r="r" b="b"/>
            <a:pathLst>
              <a:path w="16192500" h="9525">
                <a:moveTo>
                  <a:pt x="16192498" y="9524"/>
                </a:moveTo>
                <a:lnTo>
                  <a:pt x="0" y="9524"/>
                </a:lnTo>
                <a:lnTo>
                  <a:pt x="0" y="0"/>
                </a:lnTo>
                <a:lnTo>
                  <a:pt x="16192498" y="0"/>
                </a:lnTo>
                <a:lnTo>
                  <a:pt x="16192498" y="9524"/>
                </a:lnTo>
                <a:close/>
              </a:path>
            </a:pathLst>
          </a:custGeom>
          <a:solidFill>
            <a:srgbClr val="D3CC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35050" y="9255125"/>
            <a:ext cx="438848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Segoe UI Symbol"/>
                <a:cs typeface="Segoe UI Symbol"/>
              </a:rPr>
              <a:t>★</a:t>
            </a:r>
            <a:r>
              <a:rPr sz="950" spc="235" dirty="0">
                <a:solidFill>
                  <a:srgbClr val="67686E"/>
                </a:solidFill>
                <a:latin typeface="Segoe UI Symbol"/>
                <a:cs typeface="Segoe UI Symbol"/>
              </a:rPr>
              <a:t> 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G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V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'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X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43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D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0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2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5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967939" y="9255125"/>
            <a:ext cx="426021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W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B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M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·</a:t>
            </a:r>
            <a:r>
              <a:rPr sz="950" spc="42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C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T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N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E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H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I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50" spc="42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R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P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O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S</a:t>
            </a:r>
            <a:r>
              <a:rPr sz="950" spc="-380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7686E"/>
                </a:solidFill>
                <a:latin typeface="Courier New"/>
                <a:cs typeface="Courier New"/>
              </a:rPr>
              <a:t>A</a:t>
            </a:r>
            <a:r>
              <a:rPr sz="950" spc="-375" dirty="0">
                <a:solidFill>
                  <a:srgbClr val="67686E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67686E"/>
                </a:solidFill>
                <a:latin typeface="Courier New"/>
                <a:cs typeface="Courier New"/>
              </a:rPr>
              <a:t>L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E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1999</TotalTime>
  <Words>4879</Words>
  <Application>Microsoft Office PowerPoint</Application>
  <PresentationFormat>Custom</PresentationFormat>
  <Paragraphs>861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Calibri</vt:lpstr>
      <vt:lpstr>Cambria Math</vt:lpstr>
      <vt:lpstr>Consolas</vt:lpstr>
      <vt:lpstr>Courier New</vt:lpstr>
      <vt:lpstr>Palatino Linotype</vt:lpstr>
      <vt:lpstr>Segoe UI Symbol</vt:lpstr>
      <vt:lpstr>Source Sans 3</vt:lpstr>
      <vt:lpstr>Tahoma</vt:lpstr>
      <vt:lpstr>Times New Roman</vt:lpstr>
      <vt:lpstr>Office Theme</vt:lpstr>
      <vt:lpstr>PowerPoint Presentation</vt:lpstr>
      <vt:lpstr>PowerPoint Presentation</vt:lpstr>
      <vt:lpstr>For a girl in a rural residential school, her period costs her four school days every month.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 girl should miss school because of her period.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Sthree Swabhiman — CSR Partnership Proposal</dc:title>
  <dc:creator>Satya Narayana Rapelly (INFOSYS LIMITED)</dc:creator>
  <cp:lastModifiedBy>Satya Narayana Rapelly (INFOSYS LIMITED)</cp:lastModifiedBy>
  <cp:revision>8</cp:revision>
  <dcterms:created xsi:type="dcterms:W3CDTF">2026-05-15T00:57:10Z</dcterms:created>
  <dcterms:modified xsi:type="dcterms:W3CDTF">2026-05-16T10:18:12Z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2026-05-14T00:00:00Z</vt:filetime>
  </property>
  <property fmtid="{D5CDD505-2E9C-101B-9397-08002B2CF9AE}" pid="3" name="Creator">
    <vt:lpwstr>Mozilla/5.0 (Windows NT 10.0; Win64; x64) AppleWebKit/537.36 (KHTML, like Gecko) Chrome/148.0.0.0 Safari/537.36 Edg/148.0.0.0</vt:lpwstr>
  </property>
  <property fmtid="{D5CDD505-2E9C-101B-9397-08002B2CF9AE}" pid="4" name="LastSaved">
    <vt:filetime>2026-05-15T00:00:00Z</vt:filetime>
  </property>
  <property fmtid="{D5CDD505-2E9C-101B-9397-08002B2CF9AE}" pid="5" name="Producer">
    <vt:lpwstr>Skia/PDF m148</vt:lpwstr>
  </property>
</Properties>
</file>